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charts/chart1.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charts/chart2.xml" ContentType="application/vnd.openxmlformats-officedocument.drawingml.chart+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charts/chart3.xml" ContentType="application/vnd.openxmlformats-officedocument.drawingml.chart+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charts/chart4.xml" ContentType="application/vnd.openxmlformats-officedocument.drawingml.chart+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charts/chart5.xml" ContentType="application/vnd.openxmlformats-officedocument.drawingml.chart+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charts/chart6.xml" ContentType="application/vnd.openxmlformats-officedocument.drawingml.chart+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charts/chart7.xml" ContentType="application/vnd.openxmlformats-officedocument.drawingml.chart+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charts/chart8.xml" ContentType="application/vnd.openxmlformats-officedocument.drawingml.chart+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Lst>
  <p:notesMasterIdLst>
    <p:notesMasterId r:id="rId19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notesMaster" Target="notesMasters/notesMaster1.xml"/><Relationship Id="rId194" Type="http://schemas.openxmlformats.org/officeDocument/2006/relationships/presProps" Target="presProps.xml"/><Relationship Id="rId195" Type="http://schemas.openxmlformats.org/officeDocument/2006/relationships/viewProps" Target="viewProps.xml"/><Relationship Id="rId196" Type="http://schemas.openxmlformats.org/officeDocument/2006/relationships/theme" Target="theme/theme1.xml"/><Relationship Id="rId19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HumanEval+ pass@1</c:v>
                </c:pt>
              </c:strCache>
            </c:strRef>
          </c:tx>
          <c:spPr>
            <a:solidFill>
              <a:srgbClr val="D98E32"/>
            </a:solidFill>
            <a:effectLst/>
          </c:spPr>
          <c:invertIfNegative val="0"/>
          <c:dLbls>
            <c:numFmt formatCode="#,##0" sourceLinked="0"/>
            <c:txPr>
              <a:bodyPr/>
              <a:lstStyle/>
              <a:p>
                <a:pPr>
                  <a:defRPr b="0" i="0" strike="noStrike" sz="1200" u="none">
                    <a:solidFill>
                      <a:srgbClr val="16211B"/>
                    </a:solidFill>
                    <a:latin typeface="Calibri"/>
                  </a:defRPr>
                </a:pPr>
              </a:p>
            </c:txPr>
            <c:showLegendKey val="0"/>
            <c:showVal val="1"/>
            <c:showCatName val="0"/>
            <c:showSerName val="0"/>
            <c:showPercent val="0"/>
            <c:showBubbleSize val="0"/>
            <c:showLeaderLines val="0"/>
          </c:dLbls>
          <c:dPt>
            <c:idx val="0"/>
            <c:invertIfNegative val="0"/>
            <c:bubble3D val="0"/>
            <c:spPr>
              <a:solidFill>
                <a:srgbClr val="D98E32"/>
              </a:solidFill>
              <a:effectLst/>
            </c:spPr>
          </c:dPt>
          <c:dPt>
            <c:idx val="1"/>
            <c:invertIfNegative val="0"/>
            <c:bubble3D val="0"/>
            <c:spPr>
              <a:solidFill>
                <a:srgbClr val="8FB573"/>
              </a:solidFill>
              <a:effectLst/>
            </c:spPr>
          </c:dPt>
          <c:dPt>
            <c:idx val="2"/>
            <c:invertIfNegative val="0"/>
            <c:bubble3D val="0"/>
            <c:spPr>
              <a:solidFill>
                <a:srgbClr val="8FB573"/>
              </a:solidFill>
              <a:effectLst/>
            </c:spPr>
          </c:dPt>
          <c:dPt>
            <c:idx val="3"/>
            <c:invertIfNegative val="0"/>
            <c:bubble3D val="0"/>
            <c:spPr>
              <a:solidFill>
                <a:srgbClr val="D98E32"/>
              </a:solidFill>
              <a:effectLst/>
            </c:spPr>
          </c:dPt>
          <c:cat>
            <c:multiLvlStrRef>
              <c:f>Sheet1!$A$2:$A$5</c:f>
              <c:multiLvlStrCache>
                <c:ptCount val="4"/>
                <c:lvl>
                  <c:pt idx="0">
                    <c:v>Raw completion</c:v>
                  </c:pt>
                  <c:pt idx="1">
                    <c:v>Chat template</c:v>
                  </c:pt>
                  <c:pt idx="2">
                    <c:v>+ system prompt</c:v>
                  </c:pt>
                  <c:pt idx="3">
                    <c:v>+ 'think first'</c:v>
                  </c:pt>
                </c:lvl>
              </c:multiLvlStrCache>
            </c:multiLvlStrRef>
          </c:cat>
          <c:val>
            <c:numRef>
              <c:f>Sheet1!$B$2:$B$5</c:f>
              <c:numCache>
                <c:formatCode>General</c:formatCode>
                <c:ptCount val="4"/>
                <c:pt idx="0">
                  <c:v>24.4</c:v>
                </c:pt>
                <c:pt idx="1">
                  <c:v>28.7</c:v>
                </c:pt>
                <c:pt idx="2">
                  <c:v>30.5</c:v>
                </c:pt>
                <c:pt idx="3">
                  <c:v>26.2</c:v>
                </c:pt>
              </c:numCache>
            </c:numRef>
          </c:val>
        </c:ser>
        <c:dLbls>
          <c:numFmt formatCode="#,##0" sourceLinked="0"/>
          <c:txPr>
            <a:bodyPr/>
            <a:lstStyle/>
            <a:p>
              <a:pPr>
                <a:defRPr b="0" i="0" strike="noStrike" sz="1200" u="none">
                  <a:solidFill>
                    <a:srgbClr val="1621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6211B"/>
                </a:solidFill>
                <a:latin typeface="Calibri"/>
              </a:defRPr>
            </a:pPr>
            <a:endParaRPr lang="en-US"/>
          </a:p>
        </c:txPr>
        <c:crossAx val="2094734552"/>
        <c:crosses val="autoZero"/>
        <c:auto val="1"/>
        <c:lblAlgn val="ctr"/>
        <c:noMultiLvlLbl val="1"/>
      </c:catAx>
      <c:valAx>
        <c:axId val="2094734552"/>
        <c:scaling>
          <c:orientation val="minMax"/>
          <c:max val="35"/>
          <c:min val="15"/>
        </c:scaling>
        <c:delete val="0"/>
        <c:axPos val="l"/>
        <c:majorGridlines>
          <c:spPr>
            <a:ln w="12700" cap="flat">
              <a:solidFill>
                <a:srgbClr val="DDD9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6B7A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6B7A70"/>
                </a:solidFill>
                <a:latin typeface="Calibri"/>
              </a:defRPr>
            </a:pPr>
            <a:r>
              <a:rPr sz="1250" b="0" i="0" u="none" strike="noStrike">
                <a:solidFill>
                  <a:srgbClr val="6B7A70"/>
                </a:solidFill>
                <a:latin typeface="Calibri"/>
              </a:rPr>
              <a:t>Same model, same hyperparameters, same compute budget</a:t>
            </a:r>
          </a:p>
        </c:rich>
      </c:tx>
      <c:layout/>
      <c:overlay val="0"/>
    </c:title>
    <c:autoTitleDeleted val="0"/>
    <c:plotArea>
      <c:layout/>
      <c:barChart>
        <c:barDir val="col"/>
        <c:grouping val="clustered"/>
        <c:varyColors val="0"/>
        <c:ser>
          <c:idx val="0"/>
          <c:order val="0"/>
          <c:tx>
            <c:strRef>
              <c:f>Sheet1!$B$1</c:f>
              <c:strCache>
                <c:ptCount val="1"/>
                <c:pt idx="0">
                  <c:v>HumanEval+ pass@1</c:v>
                </c:pt>
              </c:strCache>
            </c:strRef>
          </c:tx>
          <c:spPr>
            <a:solidFill>
              <a:srgbClr val="D98E32"/>
            </a:solidFill>
            <a:effectLst/>
          </c:spPr>
          <c:invertIfNegative val="0"/>
          <c:dLbls>
            <c:numFmt formatCode="#,##0" sourceLinked="0"/>
            <c:txPr>
              <a:bodyPr/>
              <a:lstStyle/>
              <a:p>
                <a:pPr>
                  <a:defRPr b="0" i="0" strike="noStrike" sz="1150" u="none">
                    <a:solidFill>
                      <a:srgbClr val="16211B"/>
                    </a:solidFill>
                    <a:latin typeface="Calibri"/>
                  </a:defRPr>
                </a:pPr>
              </a:p>
            </c:txPr>
            <c:showLegendKey val="0"/>
            <c:showVal val="1"/>
            <c:showCatName val="0"/>
            <c:showSerName val="0"/>
            <c:showPercent val="0"/>
            <c:showBubbleSize val="0"/>
            <c:showLeaderLines val="0"/>
          </c:dLbls>
          <c:dPt>
            <c:idx val="0"/>
            <c:invertIfNegative val="0"/>
            <c:bubble3D val="0"/>
            <c:spPr>
              <a:solidFill>
                <a:srgbClr val="D98E32"/>
              </a:solidFill>
              <a:effectLst/>
            </c:spPr>
          </c:dPt>
          <c:dPt>
            <c:idx val="1"/>
            <c:invertIfNegative val="0"/>
            <c:bubble3D val="0"/>
            <c:spPr>
              <a:solidFill>
                <a:srgbClr val="C9DDB4"/>
              </a:solidFill>
              <a:effectLst/>
            </c:spPr>
          </c:dPt>
          <c:dPt>
            <c:idx val="2"/>
            <c:invertIfNegative val="0"/>
            <c:bubble3D val="0"/>
            <c:spPr>
              <a:solidFill>
                <a:srgbClr val="8FB573"/>
              </a:solidFill>
              <a:effectLst/>
            </c:spPr>
          </c:dPt>
          <c:dPt>
            <c:idx val="3"/>
            <c:invertIfNegative val="0"/>
            <c:bubble3D val="0"/>
            <c:spPr>
              <a:solidFill>
                <a:srgbClr val="2A5240"/>
              </a:solidFill>
              <a:effectLst/>
            </c:spPr>
          </c:dPt>
          <c:dPt>
            <c:idx val="4"/>
            <c:invertIfNegative val="0"/>
            <c:bubble3D val="0"/>
            <c:spPr>
              <a:solidFill>
                <a:srgbClr val="1F3D2E"/>
              </a:solidFill>
              <a:effectLst/>
            </c:spPr>
          </c:dPt>
          <c:cat>
            <c:multiLvlStrRef>
              <c:f>Sheet1!$A$2:$A$6</c:f>
              <c:multiLvlStrCache>
                <c:ptCount val="5"/>
                <c:lvl>
                  <c:pt idx="0">
                    <c:v>100k raw</c:v>
                  </c:pt>
                  <c:pt idx="1">
                    <c:v>100k deduped</c:v>
                  </c:pt>
                  <c:pt idx="2">
                    <c:v>30k filtered</c:v>
                  </c:pt>
                  <c:pt idx="3">
                    <c:v>10k curated</c:v>
                  </c:pt>
                  <c:pt idx="4">
                    <c:v>10k + verified</c:v>
                  </c:pt>
                </c:lvl>
              </c:multiLvlStrCache>
            </c:multiLvlStrRef>
          </c:cat>
          <c:val>
            <c:numRef>
              <c:f>Sheet1!$B$2:$B$6</c:f>
              <c:numCache>
                <c:formatCode>General</c:formatCode>
                <c:ptCount val="5"/>
                <c:pt idx="0">
                  <c:v>28.7</c:v>
                </c:pt>
                <c:pt idx="1">
                  <c:v>31.2</c:v>
                </c:pt>
                <c:pt idx="2">
                  <c:v>33.9</c:v>
                </c:pt>
                <c:pt idx="3">
                  <c:v>35.4</c:v>
                </c:pt>
                <c:pt idx="4">
                  <c:v>37.1</c:v>
                </c:pt>
              </c:numCache>
            </c:numRef>
          </c:val>
        </c:ser>
        <c:dLbls>
          <c:numFmt formatCode="#,##0" sourceLinked="0"/>
          <c:txPr>
            <a:bodyPr/>
            <a:lstStyle/>
            <a:p>
              <a:pPr>
                <a:defRPr b="0" i="0" strike="noStrike" sz="1150" u="none">
                  <a:solidFill>
                    <a:srgbClr val="1621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6211B"/>
                </a:solidFill>
                <a:latin typeface="Calibri"/>
              </a:defRPr>
            </a:pPr>
            <a:endParaRPr lang="en-US"/>
          </a:p>
        </c:txPr>
        <c:crossAx val="2094734552"/>
        <c:crosses val="autoZero"/>
        <c:auto val="1"/>
        <c:lblAlgn val="ctr"/>
        <c:noMultiLvlLbl val="1"/>
      </c:catAx>
      <c:valAx>
        <c:axId val="2094734552"/>
        <c:scaling>
          <c:orientation val="minMax"/>
          <c:max val="42"/>
          <c:min val="20"/>
        </c:scaling>
        <c:delete val="0"/>
        <c:axPos val="l"/>
        <c:majorGridlines>
          <c:spPr>
            <a:ln w="12700" cap="flat">
              <a:solidFill>
                <a:srgbClr val="DDD9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6B7A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7A70"/>
                </a:solidFill>
                <a:latin typeface="Calibri"/>
              </a:defRPr>
            </a:pPr>
            <a:r>
              <a:rPr sz="1200" b="0" i="0" u="none" strike="noStrike">
                <a:solidFill>
                  <a:srgbClr val="6B7A70"/>
                </a:solidFill>
                <a:latin typeface="Calibri"/>
              </a:rPr>
              <a:t>Epochs — train loss keeps falling long after the model stops improving</a:t>
            </a:r>
          </a:p>
        </c:rich>
      </c:tx>
      <c:layout/>
      <c:overlay val="0"/>
    </c:title>
    <c:autoTitleDeleted val="0"/>
    <c:plotArea>
      <c:layout/>
      <c:lineChart>
        <c:varyColors val="0"/>
        <c:ser>
          <c:idx val="0"/>
          <c:order val="0"/>
          <c:tx>
            <c:strRef>
              <c:f>Sheet1!$B$1</c:f>
              <c:strCache>
                <c:ptCount val="1"/>
                <c:pt idx="0">
                  <c:v>Train loss (normalized)</c:v>
                </c:pt>
              </c:strCache>
            </c:strRef>
          </c:tx>
          <c:spPr>
            <a:solidFill>
              <a:srgbClr val="D98E32"/>
            </a:solidFill>
            <a:ln w="38100" cap="flat">
              <a:solidFill>
                <a:srgbClr val="D98E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8E32"/>
              </a:solidFill>
              <a:ln w="9525" cap="flat">
                <a:solidFill>
                  <a:srgbClr val="D98E32"/>
                </a:solidFill>
                <a:prstDash val="solid"/>
                <a:round/>
              </a:ln>
              <a:effectLst/>
            </c:spPr>
          </c:marker>
          <c:cat>
            <c:multiLvlStrRef>
              <c:f>Sheet1!$A$2:$A$10</c:f>
              <c:multiLvlStrCache>
                <c:ptCount val="9"/>
                <c:lvl>
                  <c:pt idx="0">
                    <c:v>0</c:v>
                  </c:pt>
                  <c:pt idx="1">
                    <c:v>0.5</c:v>
                  </c:pt>
                  <c:pt idx="2">
                    <c:v>1</c:v>
                  </c:pt>
                  <c:pt idx="3">
                    <c:v>1.5</c:v>
                  </c:pt>
                  <c:pt idx="4">
                    <c:v>2</c:v>
                  </c:pt>
                  <c:pt idx="5">
                    <c:v>2.5</c:v>
                  </c:pt>
                  <c:pt idx="6">
                    <c:v>3</c:v>
                  </c:pt>
                  <c:pt idx="7">
                    <c:v>4</c:v>
                  </c:pt>
                  <c:pt idx="8">
                    <c:v>5</c:v>
                  </c:pt>
                </c:lvl>
              </c:multiLvlStrCache>
            </c:multiLvlStrRef>
          </c:cat>
          <c:val>
            <c:numRef>
              <c:f>Sheet1!$B$2:$B$10</c:f>
              <c:numCache>
                <c:formatCode>General</c:formatCode>
                <c:ptCount val="9"/>
                <c:pt idx="0">
                  <c:v>1</c:v>
                </c:pt>
                <c:pt idx="1">
                  <c:v>0.71</c:v>
                </c:pt>
                <c:pt idx="2">
                  <c:v>0.58</c:v>
                </c:pt>
                <c:pt idx="3">
                  <c:v>0.47</c:v>
                </c:pt>
                <c:pt idx="4">
                  <c:v>0.39</c:v>
                </c:pt>
                <c:pt idx="5">
                  <c:v>0.31</c:v>
                </c:pt>
                <c:pt idx="6">
                  <c:v>0.25</c:v>
                </c:pt>
                <c:pt idx="7">
                  <c:v>0.15</c:v>
                </c:pt>
                <c:pt idx="8">
                  <c:v>0.08</c:v>
                </c:pt>
              </c:numCache>
            </c:numRef>
          </c:val>
          <c:smooth val="1"/>
        </c:ser>
        <c:ser>
          <c:idx val="1"/>
          <c:order val="1"/>
          <c:tx>
            <c:strRef>
              <c:f>Sheet1!$C$1</c:f>
              <c:strCache>
                <c:ptCount val="1"/>
                <c:pt idx="0">
                  <c:v>Held-out pass@1 (normalized)</c:v>
                </c:pt>
              </c:strCache>
            </c:strRef>
          </c:tx>
          <c:spPr>
            <a:solidFill>
              <a:srgbClr val="8FB573"/>
            </a:solidFill>
            <a:ln w="38100" cap="flat">
              <a:solidFill>
                <a:srgbClr val="8FB57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FB573"/>
              </a:solidFill>
              <a:ln w="9525" cap="flat">
                <a:solidFill>
                  <a:srgbClr val="8FB573"/>
                </a:solidFill>
                <a:prstDash val="solid"/>
                <a:round/>
              </a:ln>
              <a:effectLst/>
            </c:spPr>
          </c:marker>
          <c:cat>
            <c:multiLvlStrRef>
              <c:f>Sheet1!$A$2:$A$10</c:f>
              <c:multiLvlStrCache>
                <c:ptCount val="9"/>
                <c:lvl>
                  <c:pt idx="0">
                    <c:v>0</c:v>
                  </c:pt>
                  <c:pt idx="1">
                    <c:v>0.5</c:v>
                  </c:pt>
                  <c:pt idx="2">
                    <c:v>1</c:v>
                  </c:pt>
                  <c:pt idx="3">
                    <c:v>1.5</c:v>
                  </c:pt>
                  <c:pt idx="4">
                    <c:v>2</c:v>
                  </c:pt>
                  <c:pt idx="5">
                    <c:v>2.5</c:v>
                  </c:pt>
                  <c:pt idx="6">
                    <c:v>3</c:v>
                  </c:pt>
                  <c:pt idx="7">
                    <c:v>4</c:v>
                  </c:pt>
                  <c:pt idx="8">
                    <c:v>5</c:v>
                  </c:pt>
                </c:lvl>
              </c:multiLvlStrCache>
            </c:multiLvlStrRef>
          </c:cat>
          <c:val>
            <c:numRef>
              <c:f>Sheet1!$C$2:$C$10</c:f>
              <c:numCache>
                <c:formatCode>General</c:formatCode>
                <c:ptCount val="9"/>
                <c:pt idx="0">
                  <c:v>0.7</c:v>
                </c:pt>
                <c:pt idx="1">
                  <c:v>0.86</c:v>
                </c:pt>
                <c:pt idx="2">
                  <c:v>0.95</c:v>
                </c:pt>
                <c:pt idx="3">
                  <c:v>1</c:v>
                </c:pt>
                <c:pt idx="4">
                  <c:v>0.99</c:v>
                </c:pt>
                <c:pt idx="5">
                  <c:v>0.96</c:v>
                </c:pt>
                <c:pt idx="6">
                  <c:v>0.93</c:v>
                </c:pt>
                <c:pt idx="7">
                  <c:v>0.88</c:v>
                </c:pt>
                <c:pt idx="8">
                  <c:v>0.82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6211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D9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6B7A7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5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7A70"/>
                </a:solidFill>
                <a:latin typeface="Calibri"/>
              </a:defRPr>
            </a:pPr>
            <a:r>
              <a:rPr sz="1200" b="0" i="0" u="none" strike="noStrike">
                <a:solidFill>
                  <a:srgbClr val="6B7A70"/>
                </a:solidFill>
                <a:latin typeface="Calibri"/>
              </a:rPr>
              <a:t>What survives filtering is not what you started with (%)</a:t>
            </a:r>
          </a:p>
        </c:rich>
      </c:tx>
      <c:layout/>
      <c:overlay val="0"/>
    </c:title>
    <c:autoTitleDeleted val="0"/>
    <c:plotArea>
      <c:layout/>
      <c:barChart>
        <c:barDir val="col"/>
        <c:grouping val="clustered"/>
        <c:varyColors val="0"/>
        <c:ser>
          <c:idx val="0"/>
          <c:order val="0"/>
          <c:tx>
            <c:strRef>
              <c:f>Sheet1!$B$1</c:f>
              <c:strCache>
                <c:ptCount val="1"/>
                <c:pt idx="0">
                  <c:v>Problems in source set</c:v>
                </c:pt>
              </c:strCache>
            </c:strRef>
          </c:tx>
          <c:spPr>
            <a:solidFill>
              <a:srgbClr val="C9DDB4"/>
            </a:solidFill>
            <a:effectLst/>
          </c:spPr>
          <c:invertIfNegative val="0"/>
          <c:dLbls>
            <c:numFmt formatCode="#,##0" sourceLinked="0"/>
            <c:txPr>
              <a:bodyPr/>
              <a:lstStyle/>
              <a:p>
                <a:pPr>
                  <a:defRPr b="0" i="0" strike="noStrike" sz="1100" u="none">
                    <a:solidFill>
                      <a:srgbClr val="16211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Easy</c:v>
                  </c:pt>
                  <c:pt idx="1">
                    <c:v>Medium</c:v>
                  </c:pt>
                  <c:pt idx="2">
                    <c:v>Hard</c:v>
                  </c:pt>
                </c:lvl>
              </c:multiLvlStrCache>
            </c:multiLvlStrRef>
          </c:cat>
          <c:val>
            <c:numRef>
              <c:f>Sheet1!$B$2:$B$4</c:f>
              <c:numCache>
                <c:formatCode>General</c:formatCode>
                <c:ptCount val="3"/>
                <c:pt idx="0">
                  <c:v>30</c:v>
                </c:pt>
                <c:pt idx="1">
                  <c:v>40</c:v>
                </c:pt>
                <c:pt idx="2">
                  <c:v>30</c:v>
                </c:pt>
              </c:numCache>
            </c:numRef>
          </c:val>
        </c:ser>
        <c:ser>
          <c:idx val="1"/>
          <c:order val="1"/>
          <c:tx>
            <c:strRef>
              <c:f>Sheet1!$C$1</c:f>
              <c:strCache>
                <c:ptCount val="1"/>
                <c:pt idx="0">
                  <c:v>Surviving samples (naive RFT)</c:v>
                </c:pt>
              </c:strCache>
            </c:strRef>
          </c:tx>
          <c:spPr>
            <a:solidFill>
              <a:srgbClr val="D98E32"/>
            </a:solidFill>
            <a:effectLst/>
          </c:spPr>
          <c:invertIfNegative val="0"/>
          <c:dLbls>
            <c:numFmt formatCode="#,##0" sourceLinked="0"/>
            <c:txPr>
              <a:bodyPr/>
              <a:lstStyle/>
              <a:p>
                <a:pPr>
                  <a:defRPr b="0" i="0" strike="noStrike" sz="1100" u="none">
                    <a:solidFill>
                      <a:srgbClr val="16211B"/>
                    </a:solidFill>
                    <a:latin typeface="Calibri"/>
                  </a:defRPr>
                </a:pPr>
              </a:p>
            </c:txPr>
            <c:showLegendKey val="0"/>
            <c:showVal val="1"/>
            <c:showCatName val="0"/>
            <c:showSerName val="0"/>
            <c:showPercent val="0"/>
            <c:showBubbleSize val="0"/>
            <c:showLeaderLines val="0"/>
          </c:dLbls>
          <c:cat>
            <c:multiLvlStrRef>
              <c:f>Sheet1!$A$2:$A$4</c:f>
              <c:multiLvlStrCache>
                <c:ptCount val="3"/>
                <c:lvl>
                  <c:pt idx="0">
                    <c:v>Easy</c:v>
                  </c:pt>
                  <c:pt idx="1">
                    <c:v>Medium</c:v>
                  </c:pt>
                  <c:pt idx="2">
                    <c:v>Hard</c:v>
                  </c:pt>
                </c:lvl>
              </c:multiLvlStrCache>
            </c:multiLvlStrRef>
          </c:cat>
          <c:val>
            <c:numRef>
              <c:f>Sheet1!$C$2:$C$4</c:f>
              <c:numCache>
                <c:formatCode>General</c:formatCode>
                <c:ptCount val="3"/>
                <c:pt idx="0">
                  <c:v>71</c:v>
                </c:pt>
                <c:pt idx="1">
                  <c:v>26</c:v>
                </c:pt>
                <c:pt idx="2">
                  <c:v>3</c:v>
                </c:pt>
              </c:numCache>
            </c:numRef>
          </c:val>
        </c:ser>
        <c:dLbls>
          <c:numFmt formatCode="#,##0" sourceLinked="0"/>
          <c:txPr>
            <a:bodyPr/>
            <a:lstStyle/>
            <a:p>
              <a:pPr>
                <a:defRPr b="0" i="0" strike="noStrike" sz="1100" u="none">
                  <a:solidFill>
                    <a:srgbClr val="1621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6211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D9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6B7A7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5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7A70"/>
                </a:solidFill>
                <a:latin typeface="Calibri"/>
              </a:defRPr>
            </a:pPr>
            <a:r>
              <a:rPr sz="1200" b="0" i="0" u="none" strike="noStrike">
                <a:solidFill>
                  <a:srgbClr val="6B7A70"/>
                </a:solidFill>
                <a:latin typeface="Calibri"/>
              </a:rPr>
              <a:t>Output length across phases — DPO is the discontinuity</a:t>
            </a:r>
          </a:p>
        </c:rich>
      </c:tx>
      <c:layout/>
      <c:overlay val="0"/>
    </c:title>
    <c:autoTitleDeleted val="0"/>
    <c:plotArea>
      <c:layout/>
      <c:barChart>
        <c:barDir val="col"/>
        <c:grouping val="clustered"/>
        <c:varyColors val="0"/>
        <c:ser>
          <c:idx val="0"/>
          <c:order val="0"/>
          <c:tx>
            <c:strRef>
              <c:f>Sheet1!$B$1</c:f>
              <c:strCache>
                <c:ptCount val="1"/>
                <c:pt idx="0">
                  <c:v>Mean output length (lines)</c:v>
                </c:pt>
              </c:strCache>
            </c:strRef>
          </c:tx>
          <c:spPr>
            <a:solidFill>
              <a:srgbClr val="C9DDB4"/>
            </a:solidFill>
            <a:effectLst/>
          </c:spPr>
          <c:invertIfNegative val="0"/>
          <c:dLbls>
            <c:numFmt formatCode="#,##0" sourceLinked="0"/>
            <c:txPr>
              <a:bodyPr/>
              <a:lstStyle/>
              <a:p>
                <a:pPr>
                  <a:defRPr b="0" i="0" strike="noStrike" sz="1200" u="none">
                    <a:solidFill>
                      <a:srgbClr val="16211B"/>
                    </a:solidFill>
                    <a:latin typeface="Calibri"/>
                  </a:defRPr>
                </a:pPr>
              </a:p>
            </c:txPr>
            <c:showLegendKey val="0"/>
            <c:showVal val="1"/>
            <c:showCatName val="0"/>
            <c:showSerName val="0"/>
            <c:showPercent val="0"/>
            <c:showBubbleSize val="0"/>
            <c:showLeaderLines val="0"/>
          </c:dLbls>
          <c:dPt>
            <c:idx val="0"/>
            <c:invertIfNegative val="0"/>
            <c:bubble3D val="0"/>
            <c:spPr>
              <a:solidFill>
                <a:srgbClr val="C9DDB4"/>
              </a:solidFill>
              <a:effectLst/>
            </c:spPr>
          </c:dPt>
          <c:dPt>
            <c:idx val="1"/>
            <c:invertIfNegative val="0"/>
            <c:bubble3D val="0"/>
            <c:spPr>
              <a:solidFill>
                <a:srgbClr val="C9DDB4"/>
              </a:solidFill>
              <a:effectLst/>
            </c:spPr>
          </c:dPt>
          <c:dPt>
            <c:idx val="2"/>
            <c:invertIfNegative val="0"/>
            <c:bubble3D val="0"/>
            <c:spPr>
              <a:solidFill>
                <a:srgbClr val="8FB573"/>
              </a:solidFill>
              <a:effectLst/>
            </c:spPr>
          </c:dPt>
          <c:dPt>
            <c:idx val="3"/>
            <c:invertIfNegative val="0"/>
            <c:bubble3D val="0"/>
            <c:spPr>
              <a:solidFill>
                <a:srgbClr val="A8482A"/>
              </a:solidFill>
              <a:effectLst/>
            </c:spPr>
          </c:dPt>
          <c:cat>
            <c:multiLvlStrRef>
              <c:f>Sheet1!$A$2:$A$5</c:f>
              <c:multiLvlStrCache>
                <c:ptCount val="4"/>
                <c:lvl>
                  <c:pt idx="0">
                    <c:v>Base</c:v>
                  </c:pt>
                  <c:pt idx="1">
                    <c:v>After SFT</c:v>
                  </c:pt>
                  <c:pt idx="2">
                    <c:v>After RFT</c:v>
                  </c:pt>
                  <c:pt idx="3">
                    <c:v>After DPO</c:v>
                  </c:pt>
                </c:lvl>
              </c:multiLvlStrCache>
            </c:multiLvlStrRef>
          </c:cat>
          <c:val>
            <c:numRef>
              <c:f>Sheet1!$B$2:$B$5</c:f>
              <c:numCache>
                <c:formatCode>General</c:formatCode>
                <c:ptCount val="4"/>
                <c:pt idx="0">
                  <c:v>38</c:v>
                </c:pt>
                <c:pt idx="1">
                  <c:v>41</c:v>
                </c:pt>
                <c:pt idx="2">
                  <c:v>44</c:v>
                </c:pt>
                <c:pt idx="3">
                  <c:v>96</c:v>
                </c:pt>
              </c:numCache>
            </c:numRef>
          </c:val>
        </c:ser>
        <c:dLbls>
          <c:numFmt formatCode="#,##0" sourceLinked="0"/>
          <c:txPr>
            <a:bodyPr/>
            <a:lstStyle/>
            <a:p>
              <a:pPr>
                <a:defRPr b="0" i="0" strike="noStrike" sz="1200" u="none">
                  <a:solidFill>
                    <a:srgbClr val="1621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6211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D9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6B7A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7A70"/>
                </a:solidFill>
                <a:latin typeface="Calibri"/>
              </a:defRPr>
            </a:pPr>
            <a:r>
              <a:rPr sz="1200" b="0" i="0" u="none" strike="noStrike">
                <a:solidFill>
                  <a:srgbClr val="6B7A70"/>
                </a:solidFill>
                <a:latin typeface="Calibri"/>
              </a:rPr>
              <a:t>Mean reward over training steps — same problems, same model</a:t>
            </a:r>
          </a:p>
        </c:rich>
      </c:tx>
      <c:layout/>
      <c:overlay val="0"/>
    </c:title>
    <c:autoTitleDeleted val="0"/>
    <c:plotArea>
      <c:layout/>
      <c:lineChart>
        <c:varyColors val="0"/>
        <c:ser>
          <c:idx val="0"/>
          <c:order val="0"/>
          <c:tx>
            <c:strRef>
              <c:f>Sheet1!$B$1</c:f>
              <c:strCache>
                <c:ptCount val="1"/>
                <c:pt idx="0">
                  <c:v>Binary reward (pass/fail)</c:v>
                </c:pt>
              </c:strCache>
            </c:strRef>
          </c:tx>
          <c:spPr>
            <a:solidFill>
              <a:srgbClr val="D98E32"/>
            </a:solidFill>
            <a:ln w="38100" cap="flat">
              <a:solidFill>
                <a:srgbClr val="D98E3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8E32"/>
              </a:solidFill>
              <a:ln w="9525" cap="flat">
                <a:solidFill>
                  <a:srgbClr val="D98E32"/>
                </a:solidFill>
                <a:prstDash val="solid"/>
                <a:round/>
              </a:ln>
              <a:effectLst/>
            </c:spPr>
          </c:marker>
          <c:cat>
            <c:multiLvlStrRef>
              <c:f>Sheet1!$A$2:$A$8</c:f>
              <c:multiLvlStrCache>
                <c:ptCount val="7"/>
                <c:lvl>
                  <c:pt idx="0">
                    <c:v>0</c:v>
                  </c:pt>
                  <c:pt idx="1">
                    <c:v>100</c:v>
                  </c:pt>
                  <c:pt idx="2">
                    <c:v>200</c:v>
                  </c:pt>
                  <c:pt idx="3">
                    <c:v>300</c:v>
                  </c:pt>
                  <c:pt idx="4">
                    <c:v>400</c:v>
                  </c:pt>
                  <c:pt idx="5">
                    <c:v>500</c:v>
                  </c:pt>
                  <c:pt idx="6">
                    <c:v>600</c:v>
                  </c:pt>
                </c:lvl>
              </c:multiLvlStrCache>
            </c:multiLvlStrRef>
          </c:cat>
          <c:val>
            <c:numRef>
              <c:f>Sheet1!$B$2:$B$8</c:f>
              <c:numCache>
                <c:formatCode>General</c:formatCode>
                <c:ptCount val="7"/>
                <c:pt idx="0">
                  <c:v>0.2</c:v>
                </c:pt>
                <c:pt idx="1">
                  <c:v>0.21</c:v>
                </c:pt>
                <c:pt idx="2">
                  <c:v>0.22</c:v>
                </c:pt>
                <c:pt idx="3">
                  <c:v>0.21</c:v>
                </c:pt>
                <c:pt idx="4">
                  <c:v>0.23</c:v>
                </c:pt>
                <c:pt idx="5">
                  <c:v>0.24</c:v>
                </c:pt>
                <c:pt idx="6">
                  <c:v>0.25</c:v>
                </c:pt>
              </c:numCache>
            </c:numRef>
          </c:val>
          <c:smooth val="1"/>
        </c:ser>
        <c:ser>
          <c:idx val="1"/>
          <c:order val="1"/>
          <c:tx>
            <c:strRef>
              <c:f>Sheet1!$C$1</c:f>
              <c:strCache>
                <c:ptCount val="1"/>
                <c:pt idx="0">
                  <c:v>Dense reward (fraction passed)</c:v>
                </c:pt>
              </c:strCache>
            </c:strRef>
          </c:tx>
          <c:spPr>
            <a:solidFill>
              <a:srgbClr val="8FB573"/>
            </a:solidFill>
            <a:ln w="38100" cap="flat">
              <a:solidFill>
                <a:srgbClr val="8FB57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FB573"/>
              </a:solidFill>
              <a:ln w="9525" cap="flat">
                <a:solidFill>
                  <a:srgbClr val="8FB573"/>
                </a:solidFill>
                <a:prstDash val="solid"/>
                <a:round/>
              </a:ln>
              <a:effectLst/>
            </c:spPr>
          </c:marker>
          <c:cat>
            <c:multiLvlStrRef>
              <c:f>Sheet1!$A$2:$A$8</c:f>
              <c:multiLvlStrCache>
                <c:ptCount val="7"/>
                <c:lvl>
                  <c:pt idx="0">
                    <c:v>0</c:v>
                  </c:pt>
                  <c:pt idx="1">
                    <c:v>100</c:v>
                  </c:pt>
                  <c:pt idx="2">
                    <c:v>200</c:v>
                  </c:pt>
                  <c:pt idx="3">
                    <c:v>300</c:v>
                  </c:pt>
                  <c:pt idx="4">
                    <c:v>400</c:v>
                  </c:pt>
                  <c:pt idx="5">
                    <c:v>500</c:v>
                  </c:pt>
                  <c:pt idx="6">
                    <c:v>600</c:v>
                  </c:pt>
                </c:lvl>
              </c:multiLvlStrCache>
            </c:multiLvlStrRef>
          </c:cat>
          <c:val>
            <c:numRef>
              <c:f>Sheet1!$C$2:$C$8</c:f>
              <c:numCache>
                <c:formatCode>General</c:formatCode>
                <c:ptCount val="7"/>
                <c:pt idx="0">
                  <c:v>0.2</c:v>
                </c:pt>
                <c:pt idx="1">
                  <c:v>0.27</c:v>
                </c:pt>
                <c:pt idx="2">
                  <c:v>0.34</c:v>
                </c:pt>
                <c:pt idx="3">
                  <c:v>0.39</c:v>
                </c:pt>
                <c:pt idx="4">
                  <c:v>0.43</c:v>
                </c:pt>
                <c:pt idx="5">
                  <c:v>0.46</c:v>
                </c:pt>
                <c:pt idx="6">
                  <c:v>0.48</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6211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DD9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6B7A7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5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7A70"/>
                </a:solidFill>
                <a:latin typeface="Calibri"/>
              </a:defRPr>
            </a:pPr>
            <a:r>
              <a:rPr sz="1200" b="0" i="0" u="none" strike="noStrike">
                <a:solidFill>
                  <a:srgbClr val="6B7A70"/>
                </a:solidFill>
                <a:latin typeface="Calibri"/>
              </a:rPr>
              <a:t>HumanEval+ pass@1 — first attempt vs after one repair round</a:t>
            </a:r>
          </a:p>
        </c:rich>
      </c:tx>
      <c:layout/>
      <c:overlay val="0"/>
    </c:title>
    <c:autoTitleDeleted val="0"/>
    <c:plotArea>
      <c:layout/>
      <c:barChart>
        <c:barDir val="col"/>
        <c:grouping val="clustered"/>
        <c:varyColors val="0"/>
        <c:ser>
          <c:idx val="0"/>
          <c:order val="0"/>
          <c:tx>
            <c:strRef>
              <c:f>Sheet1!$B$1</c:f>
              <c:strCache>
                <c:ptCount val="1"/>
                <c:pt idx="0">
                  <c:v>First attempt</c:v>
                </c:pt>
              </c:strCache>
            </c:strRef>
          </c:tx>
          <c:spPr>
            <a:solidFill>
              <a:srgbClr val="8FB573"/>
            </a:solidFill>
            <a:effectLst/>
          </c:spPr>
          <c:invertIfNegative val="0"/>
          <c:dLbls>
            <c:numFmt formatCode="#,##0" sourceLinked="0"/>
            <c:txPr>
              <a:bodyPr/>
              <a:lstStyle/>
              <a:p>
                <a:pPr>
                  <a:defRPr b="0" i="0" strike="noStrike" sz="1000" u="none">
                    <a:solidFill>
                      <a:srgbClr val="16211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Phase 6 SFT</c:v>
                  </c:pt>
                  <c:pt idx="1">
                    <c:v>Phase 9 GRPO</c:v>
                  </c:pt>
                  <c:pt idx="2">
                    <c:v>Phase 10 repair (bad reward)</c:v>
                  </c:pt>
                  <c:pt idx="3">
                    <c:v>Phase 10 repair (weighted)</c:v>
                  </c:pt>
                </c:lvl>
              </c:multiLvlStrCache>
            </c:multiLvlStrRef>
          </c:cat>
          <c:val>
            <c:numRef>
              <c:f>Sheet1!$B$2:$B$5</c:f>
              <c:numCache>
                <c:formatCode>General</c:formatCode>
                <c:ptCount val="4"/>
                <c:pt idx="0">
                  <c:v>31.2</c:v>
                </c:pt>
                <c:pt idx="1">
                  <c:v>36.8</c:v>
                </c:pt>
                <c:pt idx="2">
                  <c:v>34.9</c:v>
                </c:pt>
                <c:pt idx="3">
                  <c:v>37.4</c:v>
                </c:pt>
              </c:numCache>
            </c:numRef>
          </c:val>
        </c:ser>
        <c:ser>
          <c:idx val="1"/>
          <c:order val="1"/>
          <c:tx>
            <c:strRef>
              <c:f>Sheet1!$C$1</c:f>
              <c:strCache>
                <c:ptCount val="1"/>
                <c:pt idx="0">
                  <c:v>After one repair</c:v>
                </c:pt>
              </c:strCache>
            </c:strRef>
          </c:tx>
          <c:spPr>
            <a:solidFill>
              <a:srgbClr val="2A5240"/>
            </a:solidFill>
            <a:effectLst/>
          </c:spPr>
          <c:invertIfNegative val="0"/>
          <c:dLbls>
            <c:numFmt formatCode="#,##0" sourceLinked="0"/>
            <c:txPr>
              <a:bodyPr/>
              <a:lstStyle/>
              <a:p>
                <a:pPr>
                  <a:defRPr b="0" i="0" strike="noStrike" sz="1000" u="none">
                    <a:solidFill>
                      <a:srgbClr val="16211B"/>
                    </a:solidFill>
                    <a:latin typeface="Calibri"/>
                  </a:defRPr>
                </a:pPr>
              </a:p>
            </c:txPr>
            <c:showLegendKey val="0"/>
            <c:showVal val="1"/>
            <c:showCatName val="0"/>
            <c:showSerName val="0"/>
            <c:showPercent val="0"/>
            <c:showBubbleSize val="0"/>
            <c:showLeaderLines val="0"/>
          </c:dLbls>
          <c:cat>
            <c:multiLvlStrRef>
              <c:f>Sheet1!$A$2:$A$5</c:f>
              <c:multiLvlStrCache>
                <c:ptCount val="4"/>
                <c:lvl>
                  <c:pt idx="0">
                    <c:v>Phase 6 SFT</c:v>
                  </c:pt>
                  <c:pt idx="1">
                    <c:v>Phase 9 GRPO</c:v>
                  </c:pt>
                  <c:pt idx="2">
                    <c:v>Phase 10 repair (bad reward)</c:v>
                  </c:pt>
                  <c:pt idx="3">
                    <c:v>Phase 10 repair (weighted)</c:v>
                  </c:pt>
                </c:lvl>
              </c:multiLvlStrCache>
            </c:multiLvlStrRef>
          </c:cat>
          <c:val>
            <c:numRef>
              <c:f>Sheet1!$C$2:$C$5</c:f>
              <c:numCache>
                <c:formatCode>General</c:formatCode>
                <c:ptCount val="4"/>
                <c:pt idx="0">
                  <c:v>33</c:v>
                </c:pt>
                <c:pt idx="1">
                  <c:v>39.1</c:v>
                </c:pt>
                <c:pt idx="2">
                  <c:v>46.2</c:v>
                </c:pt>
                <c:pt idx="3">
                  <c:v>48.8</c:v>
                </c:pt>
              </c:numCache>
            </c:numRef>
          </c:val>
        </c:ser>
        <c:dLbls>
          <c:numFmt formatCode="#,##0" sourceLinked="0"/>
          <c:txPr>
            <a:bodyPr/>
            <a:lstStyle/>
            <a:p>
              <a:pPr>
                <a:defRPr b="0" i="0" strike="noStrike" sz="1000" u="none">
                  <a:solidFill>
                    <a:srgbClr val="1621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6211B"/>
                </a:solidFill>
                <a:latin typeface="Calibri"/>
              </a:defRPr>
            </a:pPr>
            <a:endParaRPr lang="en-US"/>
          </a:p>
        </c:txPr>
        <c:crossAx val="2094734552"/>
        <c:crosses val="autoZero"/>
        <c:auto val="1"/>
        <c:lblAlgn val="ctr"/>
        <c:noMultiLvlLbl val="1"/>
      </c:catAx>
      <c:valAx>
        <c:axId val="2094734552"/>
        <c:scaling>
          <c:orientation val="minMax"/>
          <c:max val="55"/>
          <c:min val="25"/>
        </c:scaling>
        <c:delete val="0"/>
        <c:axPos val="l"/>
        <c:majorGridlines>
          <c:spPr>
            <a:ln w="12700" cap="flat">
              <a:solidFill>
                <a:srgbClr val="DDD9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7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5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7A70"/>
                </a:solidFill>
                <a:latin typeface="Calibri"/>
              </a:defRPr>
            </a:pPr>
            <a:r>
              <a:rPr sz="1200" b="0" i="0" u="none" strike="noStrike">
                <a:solidFill>
                  <a:srgbClr val="6B7A70"/>
                </a:solidFill>
                <a:latin typeface="Calibri"/>
              </a:rPr>
              <a:t>Quality vs quantization level — 0.5B model, your own eval</a:t>
            </a:r>
          </a:p>
        </c:rich>
      </c:tx>
      <c:layout/>
      <c:overlay val="0"/>
    </c:title>
    <c:autoTitleDeleted val="0"/>
    <c:plotArea>
      <c:layout/>
      <c:barChart>
        <c:barDir val="col"/>
        <c:grouping val="clustered"/>
        <c:varyColors val="0"/>
        <c:ser>
          <c:idx val="0"/>
          <c:order val="0"/>
          <c:tx>
            <c:strRef>
              <c:f>Sheet1!$B$1</c:f>
              <c:strCache>
                <c:ptCount val="1"/>
                <c:pt idx="0">
                  <c:v>HumanEval+ pass@1</c:v>
                </c:pt>
              </c:strCache>
            </c:strRef>
          </c:tx>
          <c:spPr>
            <a:solidFill>
              <a:srgbClr val="1F3D2E"/>
            </a:solidFill>
            <a:effectLst/>
          </c:spPr>
          <c:invertIfNegative val="0"/>
          <c:dLbls>
            <c:numFmt formatCode="#,##0" sourceLinked="0"/>
            <c:txPr>
              <a:bodyPr/>
              <a:lstStyle/>
              <a:p>
                <a:pPr>
                  <a:defRPr b="0" i="0" strike="noStrike" sz="1100" u="none">
                    <a:solidFill>
                      <a:srgbClr val="16211B"/>
                    </a:solidFill>
                    <a:latin typeface="Calibri"/>
                  </a:defRPr>
                </a:pPr>
              </a:p>
            </c:txPr>
            <c:showLegendKey val="0"/>
            <c:showVal val="1"/>
            <c:showCatName val="0"/>
            <c:showSerName val="0"/>
            <c:showPercent val="0"/>
            <c:showBubbleSize val="0"/>
            <c:showLeaderLines val="0"/>
          </c:dLbls>
          <c:dPt>
            <c:idx val="0"/>
            <c:invertIfNegative val="0"/>
            <c:bubble3D val="0"/>
            <c:spPr>
              <a:solidFill>
                <a:srgbClr val="1F3D2E"/>
              </a:solidFill>
              <a:effectLst/>
            </c:spPr>
          </c:dPt>
          <c:dPt>
            <c:idx val="1"/>
            <c:invertIfNegative val="0"/>
            <c:bubble3D val="0"/>
            <c:spPr>
              <a:solidFill>
                <a:srgbClr val="2A5240"/>
              </a:solidFill>
              <a:effectLst/>
            </c:spPr>
          </c:dPt>
          <c:dPt>
            <c:idx val="2"/>
            <c:invertIfNegative val="0"/>
            <c:bubble3D val="0"/>
            <c:spPr>
              <a:solidFill>
                <a:srgbClr val="8FB573"/>
              </a:solidFill>
              <a:effectLst/>
            </c:spPr>
          </c:dPt>
          <c:dPt>
            <c:idx val="3"/>
            <c:invertIfNegative val="0"/>
            <c:bubble3D val="0"/>
            <c:spPr>
              <a:solidFill>
                <a:srgbClr val="8FB573"/>
              </a:solidFill>
              <a:effectLst/>
            </c:spPr>
          </c:dPt>
          <c:dPt>
            <c:idx val="4"/>
            <c:invertIfNegative val="0"/>
            <c:bubble3D val="0"/>
            <c:spPr>
              <a:solidFill>
                <a:srgbClr val="D98E32"/>
              </a:solidFill>
              <a:effectLst/>
            </c:spPr>
          </c:dPt>
          <c:dPt>
            <c:idx val="5"/>
            <c:invertIfNegative val="0"/>
            <c:bubble3D val="0"/>
            <c:spPr>
              <a:solidFill>
                <a:srgbClr val="A8482A"/>
              </a:solidFill>
              <a:effectLst/>
            </c:spPr>
          </c:dPt>
          <c:cat>
            <c:multiLvlStrRef>
              <c:f>Sheet1!$A$2:$A$7</c:f>
              <c:multiLvlStrCache>
                <c:ptCount val="6"/>
                <c:lvl>
                  <c:pt idx="0">
                    <c:v>bf16</c:v>
                  </c:pt>
                  <c:pt idx="1">
                    <c:v>Q8_0</c:v>
                  </c:pt>
                  <c:pt idx="2">
                    <c:v>Q5_K_M</c:v>
                  </c:pt>
                  <c:pt idx="3">
                    <c:v>Q4_K_M</c:v>
                  </c:pt>
                  <c:pt idx="4">
                    <c:v>Q3_K_M</c:v>
                  </c:pt>
                  <c:pt idx="5">
                    <c:v>Q2_K</c:v>
                  </c:pt>
                </c:lvl>
              </c:multiLvlStrCache>
            </c:multiLvlStrRef>
          </c:cat>
          <c:val>
            <c:numRef>
              <c:f>Sheet1!$B$2:$B$7</c:f>
              <c:numCache>
                <c:formatCode>General</c:formatCode>
                <c:ptCount val="6"/>
                <c:pt idx="0">
                  <c:v>37.4</c:v>
                </c:pt>
                <c:pt idx="1">
                  <c:v>37.2</c:v>
                </c:pt>
                <c:pt idx="2">
                  <c:v>36.8</c:v>
                </c:pt>
                <c:pt idx="3">
                  <c:v>35.9</c:v>
                </c:pt>
                <c:pt idx="4">
                  <c:v>32.1</c:v>
                </c:pt>
                <c:pt idx="5">
                  <c:v>24.6</c:v>
                </c:pt>
              </c:numCache>
            </c:numRef>
          </c:val>
        </c:ser>
        <c:dLbls>
          <c:numFmt formatCode="#,##0" sourceLinked="0"/>
          <c:txPr>
            <a:bodyPr/>
            <a:lstStyle/>
            <a:p>
              <a:pPr>
                <a:defRPr b="0" i="0" strike="noStrike" sz="1100" u="none">
                  <a:solidFill>
                    <a:srgbClr val="16211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6211B"/>
                </a:solidFill>
                <a:latin typeface="Calibri"/>
              </a:defRPr>
            </a:pPr>
            <a:endParaRPr lang="en-US"/>
          </a:p>
        </c:txPr>
        <c:crossAx val="2094734552"/>
        <c:crosses val="autoZero"/>
        <c:auto val="1"/>
        <c:lblAlgn val="ctr"/>
        <c:noMultiLvlLbl val="1"/>
      </c:catAx>
      <c:valAx>
        <c:axId val="2094734552"/>
        <c:scaling>
          <c:orientation val="minMax"/>
          <c:max val="42"/>
          <c:min val="20"/>
        </c:scaling>
        <c:delete val="0"/>
        <c:axPos val="l"/>
        <c:majorGridlines>
          <c:spPr>
            <a:ln w="12700" cap="flat">
              <a:solidFill>
                <a:srgbClr val="DDD9D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6B7A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front-to-back once. After that, the Trap Index and False Positive Index at the back are the working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every FIELD NOTE with your own results as you run each phase. The deck is designed to become a lab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691640"/>
            <a:ext cx="10607040" cy="365760"/>
          </a:xfrm>
          <a:prstGeom prst="rect">
            <a:avLst/>
          </a:prstGeom>
          <a:noFill/>
          <a:ln/>
        </p:spPr>
        <p:txBody>
          <a:bodyPr wrap="square" lIns="0" tIns="0" rIns="0" bIns="0" rtlCol="0" anchor="ctr"/>
          <a:lstStyle/>
          <a:p>
            <a:pPr indent="0" marL="0">
              <a:buNone/>
            </a:pPr>
            <a:r>
              <a:rPr lang="en-US" sz="1300" b="1" spc="600" kern="0" dirty="0">
                <a:solidFill>
                  <a:srgbClr val="8FB573"/>
                </a:solidFill>
                <a:latin typeface="Calibri" pitchFamily="34" charset="0"/>
                <a:ea typeface="Calibri" pitchFamily="34" charset="-122"/>
                <a:cs typeface="Calibri" pitchFamily="34" charset="-120"/>
              </a:rPr>
              <a:t>FIELD GUIDE</a:t>
            </a:r>
            <a:endParaRPr lang="en-US" sz="1300" dirty="0"/>
          </a:p>
        </p:txBody>
      </p:sp>
      <p:sp>
        <p:nvSpPr>
          <p:cNvPr id="3" name="Text 1"/>
          <p:cNvSpPr/>
          <p:nvPr/>
        </p:nvSpPr>
        <p:spPr>
          <a:xfrm>
            <a:off x="777240" y="2103120"/>
            <a:ext cx="106070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Post-Training a Code Model</a:t>
            </a:r>
            <a:endParaRPr lang="en-US" sz="4600" dirty="0"/>
          </a:p>
        </p:txBody>
      </p:sp>
      <p:sp>
        <p:nvSpPr>
          <p:cNvPr id="4" name="Text 2"/>
          <p:cNvSpPr/>
          <p:nvPr/>
        </p:nvSpPr>
        <p:spPr>
          <a:xfrm>
            <a:off x="777240" y="3063240"/>
            <a:ext cx="9875520" cy="457200"/>
          </a:xfrm>
          <a:prstGeom prst="rect">
            <a:avLst/>
          </a:prstGeom>
          <a:noFill/>
          <a:ln/>
        </p:spPr>
        <p:txBody>
          <a:bodyPr wrap="square" lIns="0" tIns="0" rIns="0" bIns="0" rtlCol="0" anchor="ctr"/>
          <a:lstStyle/>
          <a:p>
            <a:pPr indent="0" marL="0">
              <a:buNone/>
            </a:pPr>
            <a:r>
              <a:rPr lang="en-US" sz="1800" i="1" dirty="0">
                <a:solidFill>
                  <a:srgbClr val="C9DDB4"/>
                </a:solidFill>
                <a:latin typeface="Calibri" pitchFamily="34" charset="0"/>
                <a:ea typeface="Calibri" pitchFamily="34" charset="-122"/>
                <a:cs typeface="Calibri" pitchFamily="34" charset="-120"/>
              </a:rPr>
              <a:t>What worked, what wasted my time, and what lied to me.</a:t>
            </a:r>
            <a:endParaRPr lang="en-US" sz="1800" dirty="0"/>
          </a:p>
        </p:txBody>
      </p:sp>
      <p:sp>
        <p:nvSpPr>
          <p:cNvPr id="5" name="Shape 3"/>
          <p:cNvSpPr/>
          <p:nvPr/>
        </p:nvSpPr>
        <p:spPr>
          <a:xfrm>
            <a:off x="777240" y="3794760"/>
            <a:ext cx="1280160" cy="36576"/>
          </a:xfrm>
          <a:prstGeom prst="rect">
            <a:avLst/>
          </a:prstGeom>
          <a:solidFill>
            <a:srgbClr val="8FB573"/>
          </a:solidFill>
          <a:ln/>
        </p:spPr>
      </p:sp>
      <p:sp>
        <p:nvSpPr>
          <p:cNvPr id="6" name="Text 4"/>
          <p:cNvSpPr/>
          <p:nvPr/>
        </p:nvSpPr>
        <p:spPr>
          <a:xfrm>
            <a:off x="777240" y="4069080"/>
            <a:ext cx="9875520" cy="822960"/>
          </a:xfrm>
          <a:prstGeom prst="rect">
            <a:avLst/>
          </a:prstGeom>
          <a:noFill/>
          <a:ln/>
        </p:spPr>
        <p:txBody>
          <a:bodyPr wrap="square" lIns="0" tIns="0" rIns="0" bIns="0" rtlCol="0" anchor="t"/>
          <a:lstStyle/>
          <a:p>
            <a:pPr indent="0" marL="0">
              <a:buNone/>
            </a:pPr>
            <a:r>
              <a:rPr lang="en-US" sz="1350" dirty="0">
                <a:solidFill>
                  <a:srgbClr val="6B7A70"/>
                </a:solidFill>
                <a:latin typeface="Calibri" pitchFamily="34" charset="0"/>
                <a:ea typeface="Calibri" pitchFamily="34" charset="-122"/>
                <a:cs typeface="Calibri" pitchFamily="34" charset="-120"/>
              </a:rPr>
              <a:t>A complete cookbook, written backwards from the far side of the jungle.</a:t>
            </a:r>
            <a:endParaRPr lang="en-US" sz="1350" dirty="0"/>
          </a:p>
          <a:p>
            <a:pPr indent="0" marL="0">
              <a:buNone/>
            </a:pPr>
            <a:r>
              <a:rPr lang="en-US" sz="1350" dirty="0">
                <a:solidFill>
                  <a:srgbClr val="6B7A70"/>
                </a:solidFill>
                <a:latin typeface="Calibri" pitchFamily="34" charset="0"/>
                <a:ea typeface="Calibri" pitchFamily="34" charset="-122"/>
                <a:cs typeface="Calibri" pitchFamily="34" charset="-120"/>
              </a:rPr>
              <a:t>Ordered the way you will actually build it — day one to shipped model.</a:t>
            </a:r>
            <a:endParaRPr lang="en-US" sz="1350" dirty="0"/>
          </a:p>
        </p:txBody>
      </p:sp>
      <p:sp>
        <p:nvSpPr>
          <p:cNvPr id="8" name="Text 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How to read this guide</a:t>
            </a:r>
            <a:endParaRPr lang="en-US" sz="2900" dirty="0"/>
          </a:p>
        </p:txBody>
      </p:sp>
      <p:sp>
        <p:nvSpPr>
          <p:cNvPr id="4" name="Shape 2"/>
          <p:cNvSpPr/>
          <p:nvPr/>
        </p:nvSpPr>
        <p:spPr>
          <a:xfrm>
            <a:off x="502920" y="1298448"/>
            <a:ext cx="11155680" cy="1005840"/>
          </a:xfrm>
          <a:prstGeom prst="roundRect">
            <a:avLst>
              <a:gd name="adj" fmla="val 636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77240" y="1499616"/>
            <a:ext cx="292608" cy="292608"/>
          </a:xfrm>
          <a:prstGeom prst="ellipse">
            <a:avLst/>
          </a:prstGeom>
          <a:solidFill>
            <a:srgbClr val="8FB573"/>
          </a:solidFill>
          <a:ln/>
        </p:spPr>
      </p:sp>
      <p:sp>
        <p:nvSpPr>
          <p:cNvPr id="6" name="Text 4"/>
          <p:cNvSpPr/>
          <p:nvPr/>
        </p:nvSpPr>
        <p:spPr>
          <a:xfrm>
            <a:off x="777240" y="1499616"/>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170432" y="1517904"/>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PATH</a:t>
            </a:r>
            <a:endParaRPr lang="en-US" sz="1100" dirty="0"/>
          </a:p>
        </p:txBody>
      </p:sp>
      <p:sp>
        <p:nvSpPr>
          <p:cNvPr id="8" name="Text 6"/>
          <p:cNvSpPr/>
          <p:nvPr/>
        </p:nvSpPr>
        <p:spPr>
          <a:xfrm>
            <a:off x="1188720" y="1810512"/>
            <a:ext cx="10149840" cy="438912"/>
          </a:xfrm>
          <a:prstGeom prst="rect">
            <a:avLst/>
          </a:prstGeom>
          <a:noFill/>
          <a:ln/>
        </p:spPr>
        <p:txBody>
          <a:bodyPr wrap="square" lIns="0" tIns="0" rIns="0" bIns="0" rtlCol="0" anchor="t"/>
          <a:lstStyle/>
          <a:p>
            <a:pPr indent="0" marL="0">
              <a:buNone/>
            </a:pPr>
            <a:r>
              <a:rPr lang="en-US" sz="1180" dirty="0">
                <a:solidFill>
                  <a:srgbClr val="16211B"/>
                </a:solidFill>
                <a:latin typeface="Calibri" pitchFamily="34" charset="0"/>
                <a:ea typeface="Calibri" pitchFamily="34" charset="-122"/>
                <a:cs typeface="Calibri" pitchFamily="34" charset="-120"/>
              </a:rPr>
              <a:t>The technique, why it works, and the two or three parameters that actually move the needle. If a slide only had one of these blocks, it would be this one.</a:t>
            </a:r>
            <a:endParaRPr lang="en-US" sz="1180" dirty="0"/>
          </a:p>
        </p:txBody>
      </p:sp>
      <p:sp>
        <p:nvSpPr>
          <p:cNvPr id="9" name="Shape 7"/>
          <p:cNvSpPr/>
          <p:nvPr/>
        </p:nvSpPr>
        <p:spPr>
          <a:xfrm>
            <a:off x="502920" y="2414016"/>
            <a:ext cx="11155680" cy="1005840"/>
          </a:xfrm>
          <a:prstGeom prst="roundRect">
            <a:avLst>
              <a:gd name="adj" fmla="val 636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77240" y="2615184"/>
            <a:ext cx="292608" cy="292608"/>
          </a:xfrm>
          <a:prstGeom prst="ellipse">
            <a:avLst/>
          </a:prstGeom>
          <a:solidFill>
            <a:srgbClr val="D98E32"/>
          </a:solidFill>
          <a:ln/>
        </p:spPr>
      </p:sp>
      <p:sp>
        <p:nvSpPr>
          <p:cNvPr id="11" name="Text 9"/>
          <p:cNvSpPr/>
          <p:nvPr/>
        </p:nvSpPr>
        <p:spPr>
          <a:xfrm>
            <a:off x="777240" y="261518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170432" y="263347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TRAPS</a:t>
            </a:r>
            <a:endParaRPr lang="en-US" sz="1100" dirty="0"/>
          </a:p>
        </p:txBody>
      </p:sp>
      <p:sp>
        <p:nvSpPr>
          <p:cNvPr id="13" name="Text 11"/>
          <p:cNvSpPr/>
          <p:nvPr/>
        </p:nvSpPr>
        <p:spPr>
          <a:xfrm>
            <a:off x="1188720" y="2926080"/>
            <a:ext cx="10149840" cy="438912"/>
          </a:xfrm>
          <a:prstGeom prst="rect">
            <a:avLst/>
          </a:prstGeom>
          <a:noFill/>
          <a:ln/>
        </p:spPr>
        <p:txBody>
          <a:bodyPr wrap="square" lIns="0" tIns="0" rIns="0" bIns="0" rtlCol="0" anchor="t"/>
          <a:lstStyle/>
          <a:p>
            <a:pPr indent="0" marL="0">
              <a:buNone/>
            </a:pPr>
            <a:r>
              <a:rPr lang="en-US" sz="1180" dirty="0">
                <a:solidFill>
                  <a:srgbClr val="16211B"/>
                </a:solidFill>
                <a:latin typeface="Calibri" pitchFamily="34" charset="0"/>
                <a:ea typeface="Calibri" pitchFamily="34" charset="-122"/>
                <a:cs typeface="Calibri" pitchFamily="34" charset="-120"/>
              </a:rPr>
              <a:t>Loopholes, diversions, and outright traps. Things that cost me days and are not written down anywhere in the papers.</a:t>
            </a:r>
            <a:endParaRPr lang="en-US" sz="1180" dirty="0"/>
          </a:p>
        </p:txBody>
      </p:sp>
      <p:sp>
        <p:nvSpPr>
          <p:cNvPr id="14" name="Shape 12"/>
          <p:cNvSpPr/>
          <p:nvPr/>
        </p:nvSpPr>
        <p:spPr>
          <a:xfrm>
            <a:off x="502920" y="3529584"/>
            <a:ext cx="11155680" cy="1005840"/>
          </a:xfrm>
          <a:prstGeom prst="roundRect">
            <a:avLst>
              <a:gd name="adj" fmla="val 636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77240" y="3730752"/>
            <a:ext cx="292608" cy="292608"/>
          </a:xfrm>
          <a:prstGeom prst="ellipse">
            <a:avLst/>
          </a:prstGeom>
          <a:solidFill>
            <a:srgbClr val="A8482A"/>
          </a:solidFill>
          <a:ln/>
        </p:spPr>
      </p:sp>
      <p:sp>
        <p:nvSpPr>
          <p:cNvPr id="16" name="Text 14"/>
          <p:cNvSpPr/>
          <p:nvPr/>
        </p:nvSpPr>
        <p:spPr>
          <a:xfrm>
            <a:off x="777240" y="3730752"/>
            <a:ext cx="292608" cy="29260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170432" y="3749040"/>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FALSE POSITIVE</a:t>
            </a:r>
            <a:endParaRPr lang="en-US" sz="1100" dirty="0"/>
          </a:p>
        </p:txBody>
      </p:sp>
      <p:sp>
        <p:nvSpPr>
          <p:cNvPr id="18" name="Text 16"/>
          <p:cNvSpPr/>
          <p:nvPr/>
        </p:nvSpPr>
        <p:spPr>
          <a:xfrm>
            <a:off x="1188720" y="4041648"/>
            <a:ext cx="10149840" cy="438912"/>
          </a:xfrm>
          <a:prstGeom prst="rect">
            <a:avLst/>
          </a:prstGeom>
          <a:noFill/>
          <a:ln/>
        </p:spPr>
        <p:txBody>
          <a:bodyPr wrap="square" lIns="0" tIns="0" rIns="0" bIns="0" rtlCol="0" anchor="t"/>
          <a:lstStyle/>
          <a:p>
            <a:pPr indent="0" marL="0">
              <a:buNone/>
            </a:pPr>
            <a:r>
              <a:rPr lang="en-US" sz="1180" dirty="0">
                <a:solidFill>
                  <a:srgbClr val="16211B"/>
                </a:solidFill>
                <a:latin typeface="Calibri" pitchFamily="34" charset="0"/>
                <a:ea typeface="Calibri" pitchFamily="34" charset="-122"/>
                <a:cs typeface="Calibri" pitchFamily="34" charset="-120"/>
              </a:rPr>
              <a:t>The expensive category. These do not fail — they succeed, incorrectly, and you believe them. Every one of these has burned me at least once.</a:t>
            </a:r>
            <a:endParaRPr lang="en-US" sz="1180" dirty="0"/>
          </a:p>
        </p:txBody>
      </p:sp>
      <p:sp>
        <p:nvSpPr>
          <p:cNvPr id="19" name="Shape 17"/>
          <p:cNvSpPr/>
          <p:nvPr/>
        </p:nvSpPr>
        <p:spPr>
          <a:xfrm>
            <a:off x="502920" y="4645152"/>
            <a:ext cx="11155680" cy="1005840"/>
          </a:xfrm>
          <a:prstGeom prst="roundRect">
            <a:avLst>
              <a:gd name="adj" fmla="val 636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77240" y="4846320"/>
            <a:ext cx="292608" cy="292608"/>
          </a:xfrm>
          <a:prstGeom prst="ellipse">
            <a:avLst/>
          </a:prstGeom>
          <a:solidFill>
            <a:srgbClr val="1F3D2E"/>
          </a:solidFill>
          <a:ln/>
        </p:spPr>
      </p:sp>
      <p:sp>
        <p:nvSpPr>
          <p:cNvPr id="21" name="Text 19"/>
          <p:cNvSpPr/>
          <p:nvPr/>
        </p:nvSpPr>
        <p:spPr>
          <a:xfrm>
            <a:off x="777240" y="48463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2" name="Text 20"/>
          <p:cNvSpPr/>
          <p:nvPr/>
        </p:nvSpPr>
        <p:spPr>
          <a:xfrm>
            <a:off x="1170432" y="48646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3" name="Text 21"/>
          <p:cNvSpPr/>
          <p:nvPr/>
        </p:nvSpPr>
        <p:spPr>
          <a:xfrm>
            <a:off x="1188720" y="5157216"/>
            <a:ext cx="10149840" cy="438912"/>
          </a:xfrm>
          <a:prstGeom prst="rect">
            <a:avLst/>
          </a:prstGeom>
          <a:noFill/>
          <a:ln/>
        </p:spPr>
        <p:txBody>
          <a:bodyPr wrap="square" lIns="0" tIns="0" rIns="0" bIns="0" rtlCol="0" anchor="t"/>
          <a:lstStyle/>
          <a:p>
            <a:pPr indent="0" marL="0">
              <a:buNone/>
            </a:pPr>
            <a:r>
              <a:rPr lang="en-US" sz="1180" dirty="0">
                <a:solidFill>
                  <a:srgbClr val="16211B"/>
                </a:solidFill>
                <a:latin typeface="Calibri" pitchFamily="34" charset="0"/>
                <a:ea typeface="Calibri" pitchFamily="34" charset="-122"/>
                <a:cs typeface="Calibri" pitchFamily="34" charset="-120"/>
              </a:rPr>
              <a:t>First-person, with numbers. Replace these with your own results as you go; the deck is designed to become your lab notebook.</a:t>
            </a:r>
            <a:endParaRPr lang="en-US" sz="1180" dirty="0"/>
          </a:p>
        </p:txBody>
      </p:sp>
      <p:sp>
        <p:nvSpPr>
          <p:cNvPr id="24" name="Shape 22"/>
          <p:cNvSpPr/>
          <p:nvPr/>
        </p:nvSpPr>
        <p:spPr>
          <a:xfrm>
            <a:off x="502920" y="5806440"/>
            <a:ext cx="11155680" cy="566928"/>
          </a:xfrm>
          <a:prstGeom prst="roundRect">
            <a:avLst>
              <a:gd name="adj" fmla="val 9677"/>
            </a:avLst>
          </a:prstGeom>
          <a:solidFill>
            <a:srgbClr val="1F3D2E"/>
          </a:solidFill>
          <a:ln/>
        </p:spPr>
      </p:sp>
      <p:sp>
        <p:nvSpPr>
          <p:cNvPr id="25" name="Text 23"/>
          <p:cNvSpPr/>
          <p:nvPr/>
        </p:nvSpPr>
        <p:spPr>
          <a:xfrm>
            <a:off x="777240" y="580644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Every phase repeats this pattern. The order of the deck is the order of the work.</a:t>
            </a:r>
            <a:endParaRPr lang="en-US" sz="1450" dirty="0"/>
          </a:p>
        </p:txBody>
      </p:sp>
      <p:sp>
        <p:nvSpPr>
          <p:cNvPr id="26" name="Text 2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full lifecycle, and your slice of it</a:t>
            </a:r>
            <a:endParaRPr lang="en-US" sz="2900" dirty="0"/>
          </a:p>
        </p:txBody>
      </p:sp>
      <p:sp>
        <p:nvSpPr>
          <p:cNvPr id="4" name="Shape 2"/>
          <p:cNvSpPr/>
          <p:nvPr/>
        </p:nvSpPr>
        <p:spPr>
          <a:xfrm>
            <a:off x="502920" y="1325880"/>
            <a:ext cx="2528316"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667512" y="1463040"/>
            <a:ext cx="2199132" cy="256032"/>
          </a:xfrm>
          <a:prstGeom prst="rect">
            <a:avLst/>
          </a:prstGeom>
          <a:noFill/>
          <a:ln/>
        </p:spPr>
        <p:txBody>
          <a:bodyPr wrap="square" lIns="0" tIns="0" rIns="0" bIns="0" rtlCol="0" anchor="ctr"/>
          <a:lstStyle/>
          <a:p>
            <a:pPr indent="0" marL="0">
              <a:buNone/>
            </a:pPr>
            <a:r>
              <a:rPr lang="en-US" sz="1100" b="1" spc="120" kern="0" dirty="0">
                <a:solidFill>
                  <a:srgbClr val="6B7A70"/>
                </a:solidFill>
                <a:latin typeface="Calibri" pitchFamily="34" charset="0"/>
                <a:ea typeface="Calibri" pitchFamily="34" charset="-122"/>
                <a:cs typeface="Calibri" pitchFamily="34" charset="-120"/>
              </a:rPr>
              <a:t>PRETRAINING</a:t>
            </a:r>
            <a:endParaRPr lang="en-US" sz="1100" dirty="0"/>
          </a:p>
        </p:txBody>
      </p:sp>
      <p:sp>
        <p:nvSpPr>
          <p:cNvPr id="6" name="Text 4"/>
          <p:cNvSpPr/>
          <p:nvPr/>
        </p:nvSpPr>
        <p:spPr>
          <a:xfrm>
            <a:off x="667512" y="1746504"/>
            <a:ext cx="2199132" cy="105156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Trillions of tokens. Months. Millions of dollars. Produces a base model that completes text and follows nothing.</a:t>
            </a:r>
            <a:endParaRPr lang="en-US" sz="1050" dirty="0"/>
          </a:p>
        </p:txBody>
      </p:sp>
      <p:sp>
        <p:nvSpPr>
          <p:cNvPr id="7" name="Text 5"/>
          <p:cNvSpPr/>
          <p:nvPr/>
        </p:nvSpPr>
        <p:spPr>
          <a:xfrm>
            <a:off x="3031236" y="1325880"/>
            <a:ext cx="347472" cy="160020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8" name="Shape 6"/>
          <p:cNvSpPr/>
          <p:nvPr/>
        </p:nvSpPr>
        <p:spPr>
          <a:xfrm>
            <a:off x="3378708" y="1325880"/>
            <a:ext cx="2528316"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3543300" y="1463040"/>
            <a:ext cx="2199132" cy="256032"/>
          </a:xfrm>
          <a:prstGeom prst="rect">
            <a:avLst/>
          </a:prstGeom>
          <a:noFill/>
          <a:ln/>
        </p:spPr>
        <p:txBody>
          <a:bodyPr wrap="square" lIns="0" tIns="0" rIns="0" bIns="0" rtlCol="0" anchor="ctr"/>
          <a:lstStyle/>
          <a:p>
            <a:pPr indent="0" marL="0">
              <a:buNone/>
            </a:pPr>
            <a:r>
              <a:rPr lang="en-US" sz="1100" b="1" spc="120" kern="0" dirty="0">
                <a:solidFill>
                  <a:srgbClr val="6B7A70"/>
                </a:solidFill>
                <a:latin typeface="Calibri" pitchFamily="34" charset="0"/>
                <a:ea typeface="Calibri" pitchFamily="34" charset="-122"/>
                <a:cs typeface="Calibri" pitchFamily="34" charset="-120"/>
              </a:rPr>
              <a:t>MID-TRAINING</a:t>
            </a:r>
            <a:endParaRPr lang="en-US" sz="1100" dirty="0"/>
          </a:p>
        </p:txBody>
      </p:sp>
      <p:sp>
        <p:nvSpPr>
          <p:cNvPr id="10" name="Text 8"/>
          <p:cNvSpPr/>
          <p:nvPr/>
        </p:nvSpPr>
        <p:spPr>
          <a:xfrm>
            <a:off x="3543300" y="1746504"/>
            <a:ext cx="2199132" cy="105156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Domain adaptation, long-context extension, capability injection. Increasingly its own stage.</a:t>
            </a:r>
            <a:endParaRPr lang="en-US" sz="1050" dirty="0"/>
          </a:p>
        </p:txBody>
      </p:sp>
      <p:sp>
        <p:nvSpPr>
          <p:cNvPr id="11" name="Text 9"/>
          <p:cNvSpPr/>
          <p:nvPr/>
        </p:nvSpPr>
        <p:spPr>
          <a:xfrm>
            <a:off x="5907024" y="1325880"/>
            <a:ext cx="347472" cy="160020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2" name="Shape 10"/>
          <p:cNvSpPr/>
          <p:nvPr/>
        </p:nvSpPr>
        <p:spPr>
          <a:xfrm>
            <a:off x="6254496" y="1325880"/>
            <a:ext cx="2528316"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Text 11"/>
          <p:cNvSpPr/>
          <p:nvPr/>
        </p:nvSpPr>
        <p:spPr>
          <a:xfrm>
            <a:off x="6419088" y="1463040"/>
            <a:ext cx="2199132"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POST-TRAINING</a:t>
            </a:r>
            <a:endParaRPr lang="en-US" sz="1100" dirty="0"/>
          </a:p>
        </p:txBody>
      </p:sp>
      <p:sp>
        <p:nvSpPr>
          <p:cNvPr id="14" name="Text 12"/>
          <p:cNvSpPr/>
          <p:nvPr/>
        </p:nvSpPr>
        <p:spPr>
          <a:xfrm>
            <a:off x="6419088" y="1746504"/>
            <a:ext cx="2199132" cy="105156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SFT, preference optimization, RL. Turns a completion engine into something that follows instructions and does tasks.</a:t>
            </a:r>
            <a:endParaRPr lang="en-US" sz="1050" dirty="0"/>
          </a:p>
        </p:txBody>
      </p:sp>
      <p:sp>
        <p:nvSpPr>
          <p:cNvPr id="15" name="Text 13"/>
          <p:cNvSpPr/>
          <p:nvPr/>
        </p:nvSpPr>
        <p:spPr>
          <a:xfrm>
            <a:off x="8782812" y="1325880"/>
            <a:ext cx="347472" cy="160020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6" name="Shape 14"/>
          <p:cNvSpPr/>
          <p:nvPr/>
        </p:nvSpPr>
        <p:spPr>
          <a:xfrm>
            <a:off x="9130284" y="1325880"/>
            <a:ext cx="2528316"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9294876" y="1463040"/>
            <a:ext cx="2199132" cy="256032"/>
          </a:xfrm>
          <a:prstGeom prst="rect">
            <a:avLst/>
          </a:prstGeom>
          <a:noFill/>
          <a:ln/>
        </p:spPr>
        <p:txBody>
          <a:bodyPr wrap="square" lIns="0" tIns="0" rIns="0" bIns="0" rtlCol="0" anchor="ctr"/>
          <a:lstStyle/>
          <a:p>
            <a:pPr indent="0" marL="0">
              <a:buNone/>
            </a:pPr>
            <a:r>
              <a:rPr lang="en-US" sz="1100" b="1" spc="120" kern="0" dirty="0">
                <a:solidFill>
                  <a:srgbClr val="6B7A70"/>
                </a:solidFill>
                <a:latin typeface="Calibri" pitchFamily="34" charset="0"/>
                <a:ea typeface="Calibri" pitchFamily="34" charset="-122"/>
                <a:cs typeface="Calibri" pitchFamily="34" charset="-120"/>
              </a:rPr>
              <a:t>INFERENCE</a:t>
            </a:r>
            <a:endParaRPr lang="en-US" sz="1100" dirty="0"/>
          </a:p>
        </p:txBody>
      </p:sp>
      <p:sp>
        <p:nvSpPr>
          <p:cNvPr id="18" name="Text 16"/>
          <p:cNvSpPr/>
          <p:nvPr/>
        </p:nvSpPr>
        <p:spPr>
          <a:xfrm>
            <a:off x="9294876" y="1746504"/>
            <a:ext cx="2199132" cy="105156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Quantize, serve, decode. Where all the capability actually gets delivered to a user.</a:t>
            </a:r>
            <a:endParaRPr lang="en-US" sz="1050" dirty="0"/>
          </a:p>
        </p:txBody>
      </p:sp>
      <p:sp>
        <p:nvSpPr>
          <p:cNvPr id="19" name="Shape 17"/>
          <p:cNvSpPr/>
          <p:nvPr/>
        </p:nvSpPr>
        <p:spPr>
          <a:xfrm>
            <a:off x="502920" y="3154680"/>
            <a:ext cx="11155680" cy="566928"/>
          </a:xfrm>
          <a:prstGeom prst="roundRect">
            <a:avLst>
              <a:gd name="adj" fmla="val 9677"/>
            </a:avLst>
          </a:prstGeom>
          <a:solidFill>
            <a:srgbClr val="8FB573"/>
          </a:solidFill>
          <a:ln/>
        </p:spPr>
      </p:sp>
      <p:sp>
        <p:nvSpPr>
          <p:cNvPr id="20" name="Text 18"/>
          <p:cNvSpPr/>
          <p:nvPr/>
        </p:nvSpPr>
        <p:spPr>
          <a:xfrm>
            <a:off x="777240" y="315468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Everything in this deck lives in box three — and box three is reachable on a laptop.</a:t>
            </a:r>
            <a:endParaRPr lang="en-US" sz="1450" dirty="0"/>
          </a:p>
        </p:txBody>
      </p:sp>
      <p:sp>
        <p:nvSpPr>
          <p:cNvPr id="21" name="Shape 19"/>
          <p:cNvSpPr/>
          <p:nvPr/>
        </p:nvSpPr>
        <p:spPr>
          <a:xfrm>
            <a:off x="502920" y="3931920"/>
            <a:ext cx="3621024" cy="1737360"/>
          </a:xfrm>
          <a:prstGeom prst="roundRect">
            <a:avLst>
              <a:gd name="adj" fmla="val 368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2" name="Text 20"/>
          <p:cNvSpPr/>
          <p:nvPr/>
        </p:nvSpPr>
        <p:spPr>
          <a:xfrm>
            <a:off x="722376" y="407822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What pretraining gives you</a:t>
            </a:r>
            <a:endParaRPr lang="en-US" sz="1250" dirty="0"/>
          </a:p>
        </p:txBody>
      </p:sp>
      <p:sp>
        <p:nvSpPr>
          <p:cNvPr id="23" name="Text 21"/>
          <p:cNvSpPr/>
          <p:nvPr/>
        </p:nvSpPr>
        <p:spPr>
          <a:xfrm>
            <a:off x="722376" y="4389120"/>
            <a:ext cx="3182112" cy="11338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Raw capability. Knowledge, syntax, reasoning substrate. You cannot add much of this in post-training — you can only surface it.</a:t>
            </a:r>
            <a:endParaRPr lang="en-US" sz="1100" dirty="0"/>
          </a:p>
        </p:txBody>
      </p:sp>
      <p:sp>
        <p:nvSpPr>
          <p:cNvPr id="24" name="Shape 22"/>
          <p:cNvSpPr/>
          <p:nvPr/>
        </p:nvSpPr>
        <p:spPr>
          <a:xfrm>
            <a:off x="4270248" y="3931920"/>
            <a:ext cx="3621024" cy="1737360"/>
          </a:xfrm>
          <a:prstGeom prst="roundRect">
            <a:avLst>
              <a:gd name="adj" fmla="val 368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Text 23"/>
          <p:cNvSpPr/>
          <p:nvPr/>
        </p:nvSpPr>
        <p:spPr>
          <a:xfrm>
            <a:off x="4489704" y="407822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What post-training gives you</a:t>
            </a:r>
            <a:endParaRPr lang="en-US" sz="1250" dirty="0"/>
          </a:p>
        </p:txBody>
      </p:sp>
      <p:sp>
        <p:nvSpPr>
          <p:cNvPr id="26" name="Text 24"/>
          <p:cNvSpPr/>
          <p:nvPr/>
        </p:nvSpPr>
        <p:spPr>
          <a:xfrm>
            <a:off x="4489704" y="4389120"/>
            <a:ext cx="3182112" cy="11338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Format, instruction-following, task competence, refusal behavior, tool use, and reasoning depth. Enormous behavioral change, tiny compute.</a:t>
            </a:r>
            <a:endParaRPr lang="en-US" sz="1100" dirty="0"/>
          </a:p>
        </p:txBody>
      </p:sp>
      <p:sp>
        <p:nvSpPr>
          <p:cNvPr id="27" name="Shape 25"/>
          <p:cNvSpPr/>
          <p:nvPr/>
        </p:nvSpPr>
        <p:spPr>
          <a:xfrm>
            <a:off x="8037576" y="3931920"/>
            <a:ext cx="3621024" cy="1737360"/>
          </a:xfrm>
          <a:prstGeom prst="roundRect">
            <a:avLst>
              <a:gd name="adj" fmla="val 368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8" name="Text 26"/>
          <p:cNvSpPr/>
          <p:nvPr/>
        </p:nvSpPr>
        <p:spPr>
          <a:xfrm>
            <a:off x="8257032" y="407822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What inference gives you</a:t>
            </a:r>
            <a:endParaRPr lang="en-US" sz="1250" dirty="0"/>
          </a:p>
        </p:txBody>
      </p:sp>
      <p:sp>
        <p:nvSpPr>
          <p:cNvPr id="29" name="Text 27"/>
          <p:cNvSpPr/>
          <p:nvPr/>
        </p:nvSpPr>
        <p:spPr>
          <a:xfrm>
            <a:off x="8257032" y="4389120"/>
            <a:ext cx="3182112" cy="11338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Cost, latency, and reach. A 0.5B model on-device serves people a 400B model never will.</a:t>
            </a:r>
            <a:endParaRPr lang="en-US" sz="1100" dirty="0"/>
          </a:p>
        </p:txBody>
      </p:sp>
      <p:sp>
        <p:nvSpPr>
          <p:cNvPr id="30" name="Shape 28"/>
          <p:cNvSpPr/>
          <p:nvPr/>
        </p:nvSpPr>
        <p:spPr>
          <a:xfrm>
            <a:off x="502920" y="5806440"/>
            <a:ext cx="11155680" cy="777240"/>
          </a:xfrm>
          <a:prstGeom prst="roundRect">
            <a:avLst>
              <a:gd name="adj" fmla="val 8235"/>
            </a:avLst>
          </a:prstGeom>
          <a:solidFill>
            <a:srgbClr val="1F3D2E"/>
          </a:solidFill>
          <a:ln/>
        </p:spPr>
      </p:sp>
      <p:sp>
        <p:nvSpPr>
          <p:cNvPr id="31" name="Shape 29"/>
          <p:cNvSpPr/>
          <p:nvPr/>
        </p:nvSpPr>
        <p:spPr>
          <a:xfrm>
            <a:off x="740664" y="5989320"/>
            <a:ext cx="292608" cy="292608"/>
          </a:xfrm>
          <a:prstGeom prst="ellipse">
            <a:avLst/>
          </a:prstGeom>
          <a:solidFill>
            <a:srgbClr val="1F3D2E"/>
          </a:solidFill>
          <a:ln/>
        </p:spPr>
      </p:sp>
      <p:sp>
        <p:nvSpPr>
          <p:cNvPr id="32" name="Text 30"/>
          <p:cNvSpPr/>
          <p:nvPr/>
        </p:nvSpPr>
        <p:spPr>
          <a:xfrm>
            <a:off x="740664" y="59893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33" name="Text 31"/>
          <p:cNvSpPr/>
          <p:nvPr/>
        </p:nvSpPr>
        <p:spPr>
          <a:xfrm>
            <a:off x="1133856" y="60076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34" name="Text 32"/>
          <p:cNvSpPr/>
          <p:nvPr/>
        </p:nvSpPr>
        <p:spPr>
          <a:xfrm>
            <a:off x="740664" y="6382512"/>
            <a:ext cx="10680192" cy="274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spent two weeks reading pretraining scaling laws before touching anything. Interesting, and completely irrelevant to the work in front of me.</a:t>
            </a:r>
            <a:endParaRPr lang="en-US" sz="1150" dirty="0"/>
          </a:p>
        </p:txBody>
      </p:sp>
      <p:sp>
        <p:nvSpPr>
          <p:cNvPr id="35" name="Text 3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thing nobody tells you first</a:t>
            </a:r>
            <a:endParaRPr lang="en-US" sz="2900" dirty="0"/>
          </a:p>
        </p:txBody>
      </p:sp>
      <p:sp>
        <p:nvSpPr>
          <p:cNvPr id="4" name="Text 2"/>
          <p:cNvSpPr/>
          <p:nvPr/>
        </p:nvSpPr>
        <p:spPr>
          <a:xfrm>
            <a:off x="502920" y="1207008"/>
            <a:ext cx="2926080" cy="1188720"/>
          </a:xfrm>
          <a:prstGeom prst="rect">
            <a:avLst/>
          </a:prstGeom>
          <a:noFill/>
          <a:ln/>
        </p:spPr>
        <p:txBody>
          <a:bodyPr wrap="square" lIns="0" tIns="0" rIns="0" bIns="0" rtlCol="0" anchor="ctr"/>
          <a:lstStyle/>
          <a:p>
            <a:pPr indent="0" marL="0">
              <a:buNone/>
            </a:pPr>
            <a:r>
              <a:rPr lang="en-US" sz="7600" b="1" dirty="0">
                <a:solidFill>
                  <a:srgbClr val="8FB573"/>
                </a:solidFill>
                <a:latin typeface="Cambria" pitchFamily="34" charset="0"/>
                <a:ea typeface="Cambria" pitchFamily="34" charset="-122"/>
                <a:cs typeface="Cambria" pitchFamily="34" charset="-120"/>
              </a:rPr>
              <a:t>80%</a:t>
            </a:r>
            <a:endParaRPr lang="en-US" sz="7600" dirty="0"/>
          </a:p>
        </p:txBody>
      </p:sp>
      <p:sp>
        <p:nvSpPr>
          <p:cNvPr id="5" name="Text 3"/>
          <p:cNvSpPr/>
          <p:nvPr/>
        </p:nvSpPr>
        <p:spPr>
          <a:xfrm>
            <a:off x="3566160" y="1554480"/>
            <a:ext cx="8046720" cy="548640"/>
          </a:xfrm>
          <a:prstGeom prst="rect">
            <a:avLst/>
          </a:prstGeom>
          <a:noFill/>
          <a:ln/>
        </p:spPr>
        <p:txBody>
          <a:bodyPr wrap="square" lIns="0" tIns="0" rIns="0" bIns="0" rtlCol="0" anchor="ctr"/>
          <a:lstStyle/>
          <a:p>
            <a:pPr indent="0" marL="0">
              <a:buNone/>
            </a:pPr>
            <a:r>
              <a:rPr lang="en-US" sz="2400" b="1" dirty="0">
                <a:solidFill>
                  <a:srgbClr val="16211B"/>
                </a:solidFill>
                <a:latin typeface="Cambria" pitchFamily="34" charset="0"/>
                <a:ea typeface="Cambria" pitchFamily="34" charset="-122"/>
                <a:cs typeface="Cambria" pitchFamily="34" charset="-120"/>
              </a:rPr>
              <a:t>of this job is data and evaluation.</a:t>
            </a:r>
            <a:endParaRPr lang="en-US" sz="2400" dirty="0"/>
          </a:p>
        </p:txBody>
      </p:sp>
      <p:sp>
        <p:nvSpPr>
          <p:cNvPr id="6" name="Text 4"/>
          <p:cNvSpPr/>
          <p:nvPr/>
        </p:nvSpPr>
        <p:spPr>
          <a:xfrm>
            <a:off x="502920" y="2606040"/>
            <a:ext cx="11155680" cy="82296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The training code is a solved problem. TRL, PEFT, and Unsloth run your job in twenty lines and are not where you will struggle. What separates good post-training from bad is whether your data is clean and whether you can tell the model actually improved.</a:t>
            </a:r>
            <a:endParaRPr lang="en-US" sz="1350" dirty="0"/>
          </a:p>
        </p:txBody>
      </p:sp>
      <p:sp>
        <p:nvSpPr>
          <p:cNvPr id="7" name="Shape 5"/>
          <p:cNvSpPr/>
          <p:nvPr/>
        </p:nvSpPr>
        <p:spPr>
          <a:xfrm>
            <a:off x="502920" y="3611880"/>
            <a:ext cx="5020056" cy="475488"/>
          </a:xfrm>
          <a:prstGeom prst="rect">
            <a:avLst/>
          </a:prstGeom>
          <a:solidFill>
            <a:srgbClr val="8FB573"/>
          </a:solidFill>
          <a:ln/>
        </p:spPr>
      </p:sp>
      <p:sp>
        <p:nvSpPr>
          <p:cNvPr id="8" name="Text 6"/>
          <p:cNvSpPr/>
          <p:nvPr/>
        </p:nvSpPr>
        <p:spPr>
          <a:xfrm>
            <a:off x="502920" y="3611880"/>
            <a:ext cx="5020056" cy="475488"/>
          </a:xfrm>
          <a:prstGeom prst="rect">
            <a:avLst/>
          </a:prstGeom>
          <a:noFill/>
          <a:ln/>
        </p:spPr>
        <p:txBody>
          <a:bodyPr wrap="square" lIns="0" tIns="0" rIns="0" bIns="0" rtlCol="0" anchor="ctr"/>
          <a:lstStyle/>
          <a:p>
            <a:pPr algn="ctr" indent="0" marL="0">
              <a:buNone/>
            </a:pPr>
            <a:r>
              <a:rPr lang="en-US" sz="1150" b="1" dirty="0">
                <a:solidFill>
                  <a:srgbClr val="14291F"/>
                </a:solidFill>
                <a:latin typeface="Calibri" pitchFamily="34" charset="0"/>
                <a:ea typeface="Calibri" pitchFamily="34" charset="-122"/>
                <a:cs typeface="Calibri" pitchFamily="34" charset="-120"/>
              </a:rPr>
              <a:t>Data curation  45%</a:t>
            </a:r>
            <a:endParaRPr lang="en-US" sz="1150" dirty="0"/>
          </a:p>
        </p:txBody>
      </p:sp>
      <p:sp>
        <p:nvSpPr>
          <p:cNvPr id="9" name="Shape 7"/>
          <p:cNvSpPr/>
          <p:nvPr/>
        </p:nvSpPr>
        <p:spPr>
          <a:xfrm>
            <a:off x="5522976" y="3611880"/>
            <a:ext cx="3904488" cy="475488"/>
          </a:xfrm>
          <a:prstGeom prst="rect">
            <a:avLst/>
          </a:prstGeom>
          <a:solidFill>
            <a:srgbClr val="C9DDB4"/>
          </a:solidFill>
          <a:ln/>
        </p:spPr>
      </p:sp>
      <p:sp>
        <p:nvSpPr>
          <p:cNvPr id="10" name="Text 8"/>
          <p:cNvSpPr/>
          <p:nvPr/>
        </p:nvSpPr>
        <p:spPr>
          <a:xfrm>
            <a:off x="5522976" y="3611880"/>
            <a:ext cx="3904488" cy="475488"/>
          </a:xfrm>
          <a:prstGeom prst="rect">
            <a:avLst/>
          </a:prstGeom>
          <a:noFill/>
          <a:ln/>
        </p:spPr>
        <p:txBody>
          <a:bodyPr wrap="square" lIns="0" tIns="0" rIns="0" bIns="0" rtlCol="0" anchor="ctr"/>
          <a:lstStyle/>
          <a:p>
            <a:pPr algn="ctr" indent="0" marL="0">
              <a:buNone/>
            </a:pPr>
            <a:r>
              <a:rPr lang="en-US" sz="1150" b="1" dirty="0">
                <a:solidFill>
                  <a:srgbClr val="14291F"/>
                </a:solidFill>
                <a:latin typeface="Calibri" pitchFamily="34" charset="0"/>
                <a:ea typeface="Calibri" pitchFamily="34" charset="-122"/>
                <a:cs typeface="Calibri" pitchFamily="34" charset="-120"/>
              </a:rPr>
              <a:t>Evaluation  35%</a:t>
            </a:r>
            <a:endParaRPr lang="en-US" sz="1150" dirty="0"/>
          </a:p>
        </p:txBody>
      </p:sp>
      <p:sp>
        <p:nvSpPr>
          <p:cNvPr id="11" name="Shape 9"/>
          <p:cNvSpPr/>
          <p:nvPr/>
        </p:nvSpPr>
        <p:spPr>
          <a:xfrm>
            <a:off x="9427464" y="3611880"/>
            <a:ext cx="1673352" cy="475488"/>
          </a:xfrm>
          <a:prstGeom prst="rect">
            <a:avLst/>
          </a:prstGeom>
          <a:solidFill>
            <a:srgbClr val="D98E32"/>
          </a:solidFill>
          <a:ln/>
        </p:spPr>
      </p:sp>
      <p:sp>
        <p:nvSpPr>
          <p:cNvPr id="12" name="Text 10"/>
          <p:cNvSpPr/>
          <p:nvPr/>
        </p:nvSpPr>
        <p:spPr>
          <a:xfrm>
            <a:off x="9427464" y="3611880"/>
            <a:ext cx="1673352" cy="475488"/>
          </a:xfrm>
          <a:prstGeom prst="rect">
            <a:avLst/>
          </a:prstGeom>
          <a:noFill/>
          <a:ln/>
        </p:spPr>
        <p:txBody>
          <a:bodyPr wrap="square" lIns="0" tIns="0" rIns="0" bIns="0" rtlCol="0" anchor="ctr"/>
          <a:lstStyle/>
          <a:p>
            <a:pPr algn="ctr" indent="0" marL="0">
              <a:buNone/>
            </a:pPr>
            <a:r>
              <a:rPr lang="en-US" sz="1150" b="1" dirty="0">
                <a:solidFill>
                  <a:srgbClr val="14291F"/>
                </a:solidFill>
                <a:latin typeface="Calibri" pitchFamily="34" charset="0"/>
                <a:ea typeface="Calibri" pitchFamily="34" charset="-122"/>
                <a:cs typeface="Calibri" pitchFamily="34" charset="-120"/>
              </a:rPr>
              <a:t>Training code  15%</a:t>
            </a:r>
            <a:endParaRPr lang="en-US" sz="1150" dirty="0"/>
          </a:p>
        </p:txBody>
      </p:sp>
      <p:sp>
        <p:nvSpPr>
          <p:cNvPr id="13" name="Shape 11"/>
          <p:cNvSpPr/>
          <p:nvPr/>
        </p:nvSpPr>
        <p:spPr>
          <a:xfrm>
            <a:off x="11100816" y="3611880"/>
            <a:ext cx="557784" cy="475488"/>
          </a:xfrm>
          <a:prstGeom prst="rect">
            <a:avLst/>
          </a:prstGeom>
          <a:solidFill>
            <a:srgbClr val="6B7A70"/>
          </a:solidFill>
          <a:ln/>
        </p:spPr>
      </p:sp>
      <p:sp>
        <p:nvSpPr>
          <p:cNvPr id="14" name="Text 12"/>
          <p:cNvSpPr/>
          <p:nvPr/>
        </p:nvSpPr>
        <p:spPr>
          <a:xfrm>
            <a:off x="502920" y="4187952"/>
            <a:ext cx="11155680" cy="274320"/>
          </a:xfrm>
          <a:prstGeom prst="rect">
            <a:avLst/>
          </a:prstGeom>
          <a:noFill/>
          <a:ln/>
        </p:spPr>
        <p:txBody>
          <a:bodyPr wrap="square" lIns="0" tIns="0" rIns="0" bIns="0" rtlCol="0" anchor="ctr"/>
          <a:lstStyle/>
          <a:p>
            <a:pPr indent="0" marL="0">
              <a:buNone/>
            </a:pPr>
            <a:r>
              <a:rPr lang="en-US" sz="1100" i="1" dirty="0">
                <a:solidFill>
                  <a:srgbClr val="6B7A70"/>
                </a:solidFill>
                <a:latin typeface="Calibri" pitchFamily="34" charset="0"/>
                <a:ea typeface="Calibri" pitchFamily="34" charset="-122"/>
                <a:cs typeface="Calibri" pitchFamily="34" charset="-120"/>
              </a:rPr>
              <a:t>Where my hours actually went, measured after the fact — not where I expected them to go.</a:t>
            </a:r>
            <a:endParaRPr lang="en-US" sz="1100" dirty="0"/>
          </a:p>
        </p:txBody>
      </p:sp>
      <p:sp>
        <p:nvSpPr>
          <p:cNvPr id="15" name="Shape 13"/>
          <p:cNvSpPr/>
          <p:nvPr/>
        </p:nvSpPr>
        <p:spPr>
          <a:xfrm>
            <a:off x="502920" y="4617720"/>
            <a:ext cx="11155680" cy="1051560"/>
          </a:xfrm>
          <a:prstGeom prst="roundRect">
            <a:avLst>
              <a:gd name="adj" fmla="val 6087"/>
            </a:avLst>
          </a:prstGeom>
          <a:solidFill>
            <a:srgbClr val="1F3D2E"/>
          </a:solidFill>
          <a:ln/>
        </p:spPr>
      </p:sp>
      <p:sp>
        <p:nvSpPr>
          <p:cNvPr id="16" name="Shape 14"/>
          <p:cNvSpPr/>
          <p:nvPr/>
        </p:nvSpPr>
        <p:spPr>
          <a:xfrm>
            <a:off x="740664" y="4800600"/>
            <a:ext cx="292608" cy="292608"/>
          </a:xfrm>
          <a:prstGeom prst="ellipse">
            <a:avLst/>
          </a:prstGeom>
          <a:solidFill>
            <a:srgbClr val="1F3D2E"/>
          </a:solidFill>
          <a:ln/>
        </p:spPr>
      </p:sp>
      <p:sp>
        <p:nvSpPr>
          <p:cNvPr id="17" name="Text 15"/>
          <p:cNvSpPr/>
          <p:nvPr/>
        </p:nvSpPr>
        <p:spPr>
          <a:xfrm>
            <a:off x="740664" y="480060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8" name="Text 16"/>
          <p:cNvSpPr/>
          <p:nvPr/>
        </p:nvSpPr>
        <p:spPr>
          <a:xfrm>
            <a:off x="1133856" y="481888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9" name="Text 17"/>
          <p:cNvSpPr/>
          <p:nvPr/>
        </p:nvSpPr>
        <p:spPr>
          <a:xfrm>
            <a:off x="740664" y="5193792"/>
            <a:ext cx="10680192" cy="3017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rewrote my training loop four separate times before I ever checked my dataset for duplicates. It was 31% near-duplicate. Fixing that beat every hyperparameter I have ever tuned, combined, and it took an afternoon.</a:t>
            </a:r>
            <a:endParaRPr lang="en-US" sz="1150" dirty="0"/>
          </a:p>
        </p:txBody>
      </p:sp>
      <p:sp>
        <p:nvSpPr>
          <p:cNvPr id="20" name="Shape 18"/>
          <p:cNvSpPr/>
          <p:nvPr/>
        </p:nvSpPr>
        <p:spPr>
          <a:xfrm>
            <a:off x="502920" y="5806440"/>
            <a:ext cx="11155680" cy="566928"/>
          </a:xfrm>
          <a:prstGeom prst="roundRect">
            <a:avLst>
              <a:gd name="adj" fmla="val 9677"/>
            </a:avLst>
          </a:prstGeom>
          <a:solidFill>
            <a:srgbClr val="8FB573"/>
          </a:solidFill>
          <a:ln/>
        </p:spPr>
      </p:sp>
      <p:sp>
        <p:nvSpPr>
          <p:cNvPr id="21" name="Text 19"/>
          <p:cNvSpPr/>
          <p:nvPr/>
        </p:nvSpPr>
        <p:spPr>
          <a:xfrm>
            <a:off x="777240" y="580644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If you take one thing from this deck: build the ruler, then clean the data, then train.</a:t>
            </a:r>
            <a:endParaRPr lang="en-US" sz="1450" dirty="0"/>
          </a:p>
        </p:txBody>
      </p:sp>
      <p:sp>
        <p:nvSpPr>
          <p:cNvPr id="22" name="Text 20"/>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Vocabulary, part 1</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Terms used from here on without further explanation.</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55680" cy="914400"/>
        </p:xfrm>
        <a:graphic>
          <a:graphicData uri="http://schemas.openxmlformats.org/drawingml/2006/table">
            <a:tbl>
              <a:tblPr/>
              <a:tblGrid>
                <a:gridCol w="2377440"/>
                <a:gridCol w="8778240"/>
              </a:tblGrid>
              <a:tr h="3429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Term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means in practice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4290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Base model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Pretrained weights, no instruction tuning. Completes text; does not answer questions.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Instruct model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Base + post-training. Follows instructions, has a chat template, knows when to stop.</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SFT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Supervised fine-tuning. Train on (prompt, ideal completion) pairs. Teaches format and task shape.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PEFT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Parameter-efficient fine-tuning. Train a small number of added parameters, freeze the rest.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LoRA</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dominant PEFT method. Learns two small matrices whose product approximates the weight update.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QLoRA</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LoRA on top of a 4-bit quantized frozen base. ~20× memory reduction vs full fine-tuning.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Adapter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trained LoRA weights, stored separately. Tens of MB, hot-swappable at serve time.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Preference optimization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Training on comparisons (A is better than B) rather than on a single target.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DPO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Direct Preference Optimization. Preference learning with no reward model and no rollouts.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Reward model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 model trained to score outputs. Needed for PPO; DPO removes the need for it.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RLVR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RL with Verifiable Rewards. The reward comes from a program (tests, checker), not a model.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GRPO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Group Relative Policy Optimization. Scores a group of rollouts against each other; no value model.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Text 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Vocabulary, part 2</a:t>
            </a:r>
            <a:endParaRPr lang="en-US" sz="2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377440"/>
                <a:gridCol w="8778240"/>
              </a:tblGrid>
              <a:tr h="3246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Term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means in practice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Rollout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One generated sample from the policy during RL. You will read thousands of these.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Policy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model being trained, in RL terminology.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Reference model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 frozen copy of the starting model. KL divergence from it is penalized to prevent drift.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KL penalty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leash. Stops the policy wandering into gibberish that happens to score well.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pass@k</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Probability at least one of k sampled solutions passes the tests. The core code metric.</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Contamination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Eval problems present in training data. Inflates scores without improving the model.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Decontamination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Removing them. Must be re-run on every data change, not once.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Loss masking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Computing loss only on completion tokens, not prompt tokens. The classic silent bug.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Chat template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exact token format wrapping turns. Mismatch between train and eval silently destroys scores.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Catastrophic forgetting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Gaining the new task while losing general ability. Measure it or it happens invisibly.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Reward hacking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Model satisfies the reward function without doing the task. Guaranteed, not hypothetical.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Distillation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Training a small student on a large teacher's outputs. Your two machines make this free.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Merging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Averaging several fine-tuned checkpoints into one. Costs no GPU time, often free gains.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Quantization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Storing weights at lower precision. 4-bit is the practical floor for quality.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Text 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Two machines, and their distinct jobs</a:t>
            </a:r>
            <a:endParaRPr lang="en-US" sz="2900" dirty="0"/>
          </a:p>
        </p:txBody>
      </p:sp>
      <p:sp>
        <p:nvSpPr>
          <p:cNvPr id="4" name="Shape 2"/>
          <p:cNvSpPr/>
          <p:nvPr/>
        </p:nvSpPr>
        <p:spPr>
          <a:xfrm>
            <a:off x="502920" y="1298448"/>
            <a:ext cx="5486400" cy="2743200"/>
          </a:xfrm>
          <a:prstGeom prst="roundRect">
            <a:avLst>
              <a:gd name="adj" fmla="val 233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77240" y="1481328"/>
            <a:ext cx="4937760" cy="237744"/>
          </a:xfrm>
          <a:prstGeom prst="rect">
            <a:avLst/>
          </a:prstGeom>
          <a:noFill/>
          <a:ln/>
        </p:spPr>
        <p:txBody>
          <a:bodyPr wrap="square" lIns="0" tIns="0" rIns="0" bIns="0" rtlCol="0" anchor="ctr"/>
          <a:lstStyle/>
          <a:p>
            <a:pPr indent="0" marL="0">
              <a:buNone/>
            </a:pPr>
            <a:r>
              <a:rPr lang="en-US" sz="1050" b="1" spc="200" kern="0" dirty="0">
                <a:solidFill>
                  <a:srgbClr val="D98E32"/>
                </a:solidFill>
                <a:latin typeface="Calibri" pitchFamily="34" charset="0"/>
                <a:ea typeface="Calibri" pitchFamily="34" charset="-122"/>
                <a:cs typeface="Calibri" pitchFamily="34" charset="-120"/>
              </a:rPr>
              <a:t>THE CLASSROOM</a:t>
            </a:r>
            <a:endParaRPr lang="en-US" sz="1050" dirty="0"/>
          </a:p>
        </p:txBody>
      </p:sp>
      <p:sp>
        <p:nvSpPr>
          <p:cNvPr id="6" name="Text 4"/>
          <p:cNvSpPr/>
          <p:nvPr/>
        </p:nvSpPr>
        <p:spPr>
          <a:xfrm>
            <a:off x="777240" y="1737360"/>
            <a:ext cx="4937760" cy="292608"/>
          </a:xfrm>
          <a:prstGeom prst="rect">
            <a:avLst/>
          </a:prstGeom>
          <a:noFill/>
          <a:ln/>
        </p:spPr>
        <p:txBody>
          <a:bodyPr wrap="square" lIns="0" tIns="0" rIns="0" bIns="0" rtlCol="0" anchor="ctr"/>
          <a:lstStyle/>
          <a:p>
            <a:pPr indent="0" marL="0">
              <a:buNone/>
            </a:pPr>
            <a:r>
              <a:rPr lang="en-US" sz="1500" b="1" dirty="0">
                <a:solidFill>
                  <a:srgbClr val="16211B"/>
                </a:solidFill>
                <a:latin typeface="Cambria" pitchFamily="34" charset="0"/>
                <a:ea typeface="Cambria" pitchFamily="34" charset="-122"/>
                <a:cs typeface="Cambria" pitchFamily="34" charset="-120"/>
              </a:rPr>
              <a:t>Asus TUF A17 · Ubuntu 26.04 · RTX 3050 4GB</a:t>
            </a:r>
            <a:endParaRPr lang="en-US" sz="1500" dirty="0"/>
          </a:p>
        </p:txBody>
      </p:sp>
      <p:sp>
        <p:nvSpPr>
          <p:cNvPr id="7" name="Text 5"/>
          <p:cNvSpPr/>
          <p:nvPr/>
        </p:nvSpPr>
        <p:spPr>
          <a:xfrm>
            <a:off x="777240" y="2103120"/>
            <a:ext cx="4937760" cy="18288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6211B"/>
                </a:solidFill>
                <a:latin typeface="Calibri" pitchFamily="34" charset="0"/>
                <a:ea typeface="Calibri" pitchFamily="34" charset="-122"/>
                <a:cs typeface="Calibri" pitchFamily="34" charset="-120"/>
              </a:rPr>
              <a:t>CUDA — the real industry stack runs here</a:t>
            </a:r>
            <a:endParaRPr lang="en-US" sz="1100" dirty="0"/>
          </a:p>
          <a:p>
            <a:pPr marL="342900" indent="-342900">
              <a:spcAft>
                <a:spcPts val="600"/>
              </a:spcAft>
              <a:buSzPct val="100000"/>
              <a:buChar char="•"/>
            </a:pPr>
            <a:r>
              <a:rPr lang="en-US" sz="1100" dirty="0">
                <a:solidFill>
                  <a:srgbClr val="16211B"/>
                </a:solidFill>
                <a:latin typeface="Calibri" pitchFamily="34" charset="0"/>
                <a:ea typeface="Calibri" pitchFamily="34" charset="-122"/>
                <a:cs typeface="Calibri" pitchFamily="34" charset="-120"/>
              </a:rPr>
              <a:t>bitsandbytes, Unsloth, TRL, PEFT, Flash Attention 2</a:t>
            </a:r>
            <a:endParaRPr lang="en-US" sz="1100" dirty="0"/>
          </a:p>
          <a:p>
            <a:pPr marL="342900" indent="-342900">
              <a:spcAft>
                <a:spcPts val="600"/>
              </a:spcAft>
              <a:buSzPct val="100000"/>
              <a:buChar char="•"/>
            </a:pPr>
            <a:r>
              <a:rPr lang="en-US" sz="1100" dirty="0">
                <a:solidFill>
                  <a:srgbClr val="16211B"/>
                </a:solidFill>
                <a:latin typeface="Calibri" pitchFamily="34" charset="0"/>
                <a:ea typeface="Calibri" pitchFamily="34" charset="-122"/>
                <a:cs typeface="Calibri" pitchFamily="34" charset="-120"/>
              </a:rPr>
              <a:t>Linux keeps ~3.95 of the 4GB free — no compositor tax</a:t>
            </a:r>
            <a:endParaRPr lang="en-US" sz="1100" dirty="0"/>
          </a:p>
          <a:p>
            <a:pPr marL="342900" indent="-342900">
              <a:spcAft>
                <a:spcPts val="600"/>
              </a:spcAft>
              <a:buSzPct val="100000"/>
              <a:buChar char="•"/>
            </a:pPr>
            <a:r>
              <a:rPr lang="en-US" sz="1100" dirty="0">
                <a:solidFill>
                  <a:srgbClr val="16211B"/>
                </a:solidFill>
                <a:latin typeface="Calibri" pitchFamily="34" charset="0"/>
                <a:ea typeface="Calibri" pitchFamily="34" charset="-122"/>
                <a:cs typeface="Calibri" pitchFamily="34" charset="-120"/>
              </a:rPr>
              <a:t>0.5B QLoRA comfortably; 1.5B workable with Unsloth</a:t>
            </a:r>
            <a:endParaRPr lang="en-US" sz="1100" dirty="0"/>
          </a:p>
          <a:p>
            <a:pPr marL="342900" indent="-342900">
              <a:spcAft>
                <a:spcPts val="600"/>
              </a:spcAft>
              <a:buSzPct val="100000"/>
              <a:buChar char="•"/>
            </a:pPr>
            <a:r>
              <a:rPr lang="en-US" sz="1100" dirty="0">
                <a:solidFill>
                  <a:srgbClr val="16211B"/>
                </a:solidFill>
                <a:latin typeface="Calibri" pitchFamily="34" charset="0"/>
                <a:ea typeface="Calibri" pitchFamily="34" charset="-122"/>
                <a:cs typeface="Calibri" pitchFamily="34" charset="-120"/>
              </a:rPr>
              <a:t>512GB root + 1TB /data · 16GB RAM is the real ceiling</a:t>
            </a:r>
            <a:endParaRPr lang="en-US" sz="1100" dirty="0"/>
          </a:p>
        </p:txBody>
      </p:sp>
      <p:sp>
        <p:nvSpPr>
          <p:cNvPr id="8" name="Shape 6"/>
          <p:cNvSpPr/>
          <p:nvPr/>
        </p:nvSpPr>
        <p:spPr>
          <a:xfrm>
            <a:off x="6355080" y="1298448"/>
            <a:ext cx="5486400" cy="2743200"/>
          </a:xfrm>
          <a:prstGeom prst="roundRect">
            <a:avLst>
              <a:gd name="adj" fmla="val 233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6629400" y="1481328"/>
            <a:ext cx="4937760" cy="237744"/>
          </a:xfrm>
          <a:prstGeom prst="rect">
            <a:avLst/>
          </a:prstGeom>
          <a:noFill/>
          <a:ln/>
        </p:spPr>
        <p:txBody>
          <a:bodyPr wrap="square" lIns="0" tIns="0" rIns="0" bIns="0" rtlCol="0" anchor="ctr"/>
          <a:lstStyle/>
          <a:p>
            <a:pPr indent="0" marL="0">
              <a:buNone/>
            </a:pPr>
            <a:r>
              <a:rPr lang="en-US" sz="1050" b="1" spc="200" kern="0" dirty="0">
                <a:solidFill>
                  <a:srgbClr val="8FB573"/>
                </a:solidFill>
                <a:latin typeface="Calibri" pitchFamily="34" charset="0"/>
                <a:ea typeface="Calibri" pitchFamily="34" charset="-122"/>
                <a:cs typeface="Calibri" pitchFamily="34" charset="-120"/>
              </a:rPr>
              <a:t>THE WORKSHOP</a:t>
            </a:r>
            <a:endParaRPr lang="en-US" sz="1050" dirty="0"/>
          </a:p>
        </p:txBody>
      </p:sp>
      <p:sp>
        <p:nvSpPr>
          <p:cNvPr id="10" name="Text 8"/>
          <p:cNvSpPr/>
          <p:nvPr/>
        </p:nvSpPr>
        <p:spPr>
          <a:xfrm>
            <a:off x="6629400" y="1737360"/>
            <a:ext cx="4937760" cy="292608"/>
          </a:xfrm>
          <a:prstGeom prst="rect">
            <a:avLst/>
          </a:prstGeom>
          <a:noFill/>
          <a:ln/>
        </p:spPr>
        <p:txBody>
          <a:bodyPr wrap="square" lIns="0" tIns="0" rIns="0" bIns="0" rtlCol="0" anchor="ctr"/>
          <a:lstStyle/>
          <a:p>
            <a:pPr indent="0" marL="0">
              <a:buNone/>
            </a:pPr>
            <a:r>
              <a:rPr lang="en-US" sz="1500" b="1" dirty="0">
                <a:solidFill>
                  <a:srgbClr val="16211B"/>
                </a:solidFill>
                <a:latin typeface="Cambria" pitchFamily="34" charset="0"/>
                <a:ea typeface="Cambria" pitchFamily="34" charset="-122"/>
                <a:cs typeface="Cambria" pitchFamily="34" charset="-120"/>
              </a:rPr>
              <a:t>MacBook Pro · M5 Pro · 48GB unified · 3TB</a:t>
            </a:r>
            <a:endParaRPr lang="en-US" sz="1500" dirty="0"/>
          </a:p>
        </p:txBody>
      </p:sp>
      <p:sp>
        <p:nvSpPr>
          <p:cNvPr id="11" name="Text 9"/>
          <p:cNvSpPr/>
          <p:nvPr/>
        </p:nvSpPr>
        <p:spPr>
          <a:xfrm>
            <a:off x="6629400" y="2103120"/>
            <a:ext cx="4937760" cy="18288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6211B"/>
                </a:solidFill>
                <a:latin typeface="Calibri" pitchFamily="34" charset="0"/>
                <a:ea typeface="Calibri" pitchFamily="34" charset="-122"/>
                <a:cs typeface="Calibri" pitchFamily="34" charset="-120"/>
              </a:rPr>
              <a:t>Data pipeline, eval harness, sandbox — CPU/RAM bound</a:t>
            </a:r>
            <a:endParaRPr lang="en-US" sz="1100" dirty="0"/>
          </a:p>
          <a:p>
            <a:pPr marL="342900" indent="-342900">
              <a:spcAft>
                <a:spcPts val="600"/>
              </a:spcAft>
              <a:buSzPct val="100000"/>
              <a:buChar char="•"/>
            </a:pPr>
            <a:r>
              <a:rPr lang="en-US" sz="1100" dirty="0">
                <a:solidFill>
                  <a:srgbClr val="16211B"/>
                </a:solidFill>
                <a:latin typeface="Calibri" pitchFamily="34" charset="0"/>
                <a:ea typeface="Calibri" pitchFamily="34" charset="-122"/>
                <a:cs typeface="Calibri" pitchFamily="34" charset="-120"/>
              </a:rPr>
              <a:t>14B–30B quantized inference: the teacher model</a:t>
            </a:r>
            <a:endParaRPr lang="en-US" sz="1100" dirty="0"/>
          </a:p>
          <a:p>
            <a:pPr marL="342900" indent="-342900">
              <a:spcAft>
                <a:spcPts val="600"/>
              </a:spcAft>
              <a:buSzPct val="100000"/>
              <a:buChar char="•"/>
            </a:pPr>
            <a:r>
              <a:rPr lang="en-US" sz="1100" dirty="0">
                <a:solidFill>
                  <a:srgbClr val="16211B"/>
                </a:solidFill>
                <a:latin typeface="Calibri" pitchFamily="34" charset="0"/>
                <a:ea typeface="Calibri" pitchFamily="34" charset="-122"/>
                <a:cs typeface="Calibri" pitchFamily="34" charset="-120"/>
              </a:rPr>
              <a:t>MLX for local training and serving</a:t>
            </a:r>
            <a:endParaRPr lang="en-US" sz="1100" dirty="0"/>
          </a:p>
          <a:p>
            <a:pPr marL="342900" indent="-342900">
              <a:spcAft>
                <a:spcPts val="600"/>
              </a:spcAft>
              <a:buSzPct val="100000"/>
              <a:buChar char="•"/>
            </a:pPr>
            <a:r>
              <a:rPr lang="en-US" sz="1100" dirty="0">
                <a:solidFill>
                  <a:srgbClr val="16211B"/>
                </a:solidFill>
                <a:latin typeface="Calibri" pitchFamily="34" charset="0"/>
                <a:ea typeface="Calibri" pitchFamily="34" charset="-122"/>
                <a:cs typeface="Calibri" pitchFamily="34" charset="-120"/>
              </a:rPr>
              <a:t>No CUDA: no bitsandbytes, Unsloth, vLLM, or DeepSpeed</a:t>
            </a:r>
            <a:endParaRPr lang="en-US" sz="1100" dirty="0"/>
          </a:p>
          <a:p>
            <a:pPr marL="342900" indent="-342900">
              <a:spcAft>
                <a:spcPts val="600"/>
              </a:spcAft>
              <a:buSzPct val="100000"/>
              <a:buChar char="•"/>
            </a:pPr>
            <a:r>
              <a:rPr lang="en-US" sz="1100" dirty="0">
                <a:solidFill>
                  <a:srgbClr val="16211B"/>
                </a:solidFill>
                <a:latin typeface="Calibri" pitchFamily="34" charset="0"/>
                <a:ea typeface="Calibri" pitchFamily="34" charset="-122"/>
                <a:cs typeface="Calibri" pitchFamily="34" charset="-120"/>
              </a:rPr>
              <a:t>48GB unified runs teachers most single GPUs cannot</a:t>
            </a:r>
            <a:endParaRPr lang="en-US" sz="1100" dirty="0"/>
          </a:p>
        </p:txBody>
      </p:sp>
      <p:sp>
        <p:nvSpPr>
          <p:cNvPr id="12" name="Shape 10"/>
          <p:cNvSpPr/>
          <p:nvPr/>
        </p:nvSpPr>
        <p:spPr>
          <a:xfrm>
            <a:off x="502920" y="4206240"/>
            <a:ext cx="11155680" cy="566928"/>
          </a:xfrm>
          <a:prstGeom prst="roundRect">
            <a:avLst>
              <a:gd name="adj" fmla="val 9677"/>
            </a:avLst>
          </a:prstGeom>
          <a:solidFill>
            <a:srgbClr val="1F3D2E"/>
          </a:solidFill>
          <a:ln/>
        </p:spPr>
      </p:sp>
      <p:sp>
        <p:nvSpPr>
          <p:cNvPr id="13" name="Text 11"/>
          <p:cNvSpPr/>
          <p:nvPr/>
        </p:nvSpPr>
        <p:spPr>
          <a:xfrm>
            <a:off x="777240" y="420624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Neither machine can do the whole job. Together they cover all of it.</a:t>
            </a:r>
            <a:endParaRPr lang="en-US" sz="1450" dirty="0"/>
          </a:p>
        </p:txBody>
      </p:sp>
      <p:sp>
        <p:nvSpPr>
          <p:cNvPr id="14" name="Shape 12"/>
          <p:cNvSpPr/>
          <p:nvPr/>
        </p:nvSpPr>
        <p:spPr>
          <a:xfrm>
            <a:off x="502920" y="4937760"/>
            <a:ext cx="3621024" cy="960120"/>
          </a:xfrm>
          <a:prstGeom prst="roundRect">
            <a:avLst>
              <a:gd name="adj" fmla="val 6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3"/>
          <p:cNvSpPr/>
          <p:nvPr/>
        </p:nvSpPr>
        <p:spPr>
          <a:xfrm>
            <a:off x="722376" y="50840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Rule 1</a:t>
            </a:r>
            <a:endParaRPr lang="en-US" sz="1250" dirty="0"/>
          </a:p>
        </p:txBody>
      </p:sp>
      <p:sp>
        <p:nvSpPr>
          <p:cNvPr id="16" name="Text 14"/>
          <p:cNvSpPr/>
          <p:nvPr/>
        </p:nvSpPr>
        <p:spPr>
          <a:xfrm>
            <a:off x="722376" y="5394960"/>
            <a:ext cx="3182112" cy="3566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Mac owns data. 16GB will not hold a deduplication index.</a:t>
            </a:r>
            <a:endParaRPr lang="en-US" sz="1100" dirty="0"/>
          </a:p>
        </p:txBody>
      </p:sp>
      <p:sp>
        <p:nvSpPr>
          <p:cNvPr id="17" name="Shape 15"/>
          <p:cNvSpPr/>
          <p:nvPr/>
        </p:nvSpPr>
        <p:spPr>
          <a:xfrm>
            <a:off x="4270248" y="4937760"/>
            <a:ext cx="3621024" cy="960120"/>
          </a:xfrm>
          <a:prstGeom prst="roundRect">
            <a:avLst>
              <a:gd name="adj" fmla="val 6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Text 16"/>
          <p:cNvSpPr/>
          <p:nvPr/>
        </p:nvSpPr>
        <p:spPr>
          <a:xfrm>
            <a:off x="4489704" y="5084064"/>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Rule 2</a:t>
            </a:r>
            <a:endParaRPr lang="en-US" sz="1250" dirty="0"/>
          </a:p>
        </p:txBody>
      </p:sp>
      <p:sp>
        <p:nvSpPr>
          <p:cNvPr id="19" name="Text 17"/>
          <p:cNvSpPr/>
          <p:nvPr/>
        </p:nvSpPr>
        <p:spPr>
          <a:xfrm>
            <a:off x="4489704" y="5394960"/>
            <a:ext cx="3182112" cy="3566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Asus owns training. It is the only CUDA you have.</a:t>
            </a:r>
            <a:endParaRPr lang="en-US" sz="1100" dirty="0"/>
          </a:p>
        </p:txBody>
      </p:sp>
      <p:sp>
        <p:nvSpPr>
          <p:cNvPr id="20" name="Shape 18"/>
          <p:cNvSpPr/>
          <p:nvPr/>
        </p:nvSpPr>
        <p:spPr>
          <a:xfrm>
            <a:off x="8037576" y="4937760"/>
            <a:ext cx="3621024" cy="960120"/>
          </a:xfrm>
          <a:prstGeom prst="roundRect">
            <a:avLst>
              <a:gd name="adj" fmla="val 6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Text 19"/>
          <p:cNvSpPr/>
          <p:nvPr/>
        </p:nvSpPr>
        <p:spPr>
          <a:xfrm>
            <a:off x="8257032" y="50840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Rule 3</a:t>
            </a:r>
            <a:endParaRPr lang="en-US" sz="1250" dirty="0"/>
          </a:p>
        </p:txBody>
      </p:sp>
      <p:sp>
        <p:nvSpPr>
          <p:cNvPr id="22" name="Text 20"/>
          <p:cNvSpPr/>
          <p:nvPr/>
        </p:nvSpPr>
        <p:spPr>
          <a:xfrm>
            <a:off x="8257032" y="5394960"/>
            <a:ext cx="3182112" cy="3566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Prototype at 0.5B before anything else. Always.</a:t>
            </a:r>
            <a:endParaRPr lang="en-US" sz="1100" dirty="0"/>
          </a:p>
        </p:txBody>
      </p:sp>
      <p:sp>
        <p:nvSpPr>
          <p:cNvPr id="23" name="Text 21"/>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Your two machines are already a distillation rig</a:t>
            </a:r>
            <a:endParaRPr lang="en-US" sz="2900" dirty="0"/>
          </a:p>
        </p:txBody>
      </p:sp>
      <p:sp>
        <p:nvSpPr>
          <p:cNvPr id="4" name="Shape 2"/>
          <p:cNvSpPr/>
          <p:nvPr/>
        </p:nvSpPr>
        <p:spPr>
          <a:xfrm>
            <a:off x="502920" y="1325880"/>
            <a:ext cx="2528316"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667512" y="1463040"/>
            <a:ext cx="2199132"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TEACHER (Mac)</a:t>
            </a:r>
            <a:endParaRPr lang="en-US" sz="1100" dirty="0"/>
          </a:p>
        </p:txBody>
      </p:sp>
      <p:sp>
        <p:nvSpPr>
          <p:cNvPr id="6" name="Text 4"/>
          <p:cNvSpPr/>
          <p:nvPr/>
        </p:nvSpPr>
        <p:spPr>
          <a:xfrm>
            <a:off x="667512" y="1746504"/>
            <a:ext cx="2199132" cy="100584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Qwen2.5-Coder-14B quantized generates N candidate solutions per problem.</a:t>
            </a:r>
            <a:endParaRPr lang="en-US" sz="1050" dirty="0"/>
          </a:p>
        </p:txBody>
      </p:sp>
      <p:sp>
        <p:nvSpPr>
          <p:cNvPr id="7" name="Text 5"/>
          <p:cNvSpPr/>
          <p:nvPr/>
        </p:nvSpPr>
        <p:spPr>
          <a:xfrm>
            <a:off x="3031236" y="1325880"/>
            <a:ext cx="347472" cy="155448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8" name="Shape 6"/>
          <p:cNvSpPr/>
          <p:nvPr/>
        </p:nvSpPr>
        <p:spPr>
          <a:xfrm>
            <a:off x="3378708" y="1325880"/>
            <a:ext cx="2528316"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3543300" y="1463040"/>
            <a:ext cx="2199132" cy="256032"/>
          </a:xfrm>
          <a:prstGeom prst="rect">
            <a:avLst/>
          </a:prstGeom>
          <a:noFill/>
          <a:ln/>
        </p:spPr>
        <p:txBody>
          <a:bodyPr wrap="square" lIns="0" tIns="0" rIns="0" bIns="0" rtlCol="0" anchor="ctr"/>
          <a:lstStyle/>
          <a:p>
            <a:pPr indent="0" marL="0">
              <a:buNone/>
            </a:pPr>
            <a:r>
              <a:rPr lang="en-US" sz="1100" b="1" spc="120" kern="0" dirty="0">
                <a:solidFill>
                  <a:srgbClr val="D98E32"/>
                </a:solidFill>
                <a:latin typeface="Calibri" pitchFamily="34" charset="0"/>
                <a:ea typeface="Calibri" pitchFamily="34" charset="-122"/>
                <a:cs typeface="Calibri" pitchFamily="34" charset="-120"/>
              </a:rPr>
              <a:t>VERIFIER (Mac)</a:t>
            </a:r>
            <a:endParaRPr lang="en-US" sz="1100" dirty="0"/>
          </a:p>
        </p:txBody>
      </p:sp>
      <p:sp>
        <p:nvSpPr>
          <p:cNvPr id="10" name="Text 8"/>
          <p:cNvSpPr/>
          <p:nvPr/>
        </p:nvSpPr>
        <p:spPr>
          <a:xfrm>
            <a:off x="3543300" y="1746504"/>
            <a:ext cx="2199132" cy="100584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Sandbox executes every candidate against real tests. Keeps only what passes.</a:t>
            </a:r>
            <a:endParaRPr lang="en-US" sz="1050" dirty="0"/>
          </a:p>
        </p:txBody>
      </p:sp>
      <p:sp>
        <p:nvSpPr>
          <p:cNvPr id="11" name="Text 9"/>
          <p:cNvSpPr/>
          <p:nvPr/>
        </p:nvSpPr>
        <p:spPr>
          <a:xfrm>
            <a:off x="5907024" y="1325880"/>
            <a:ext cx="347472" cy="155448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2" name="Shape 10"/>
          <p:cNvSpPr/>
          <p:nvPr/>
        </p:nvSpPr>
        <p:spPr>
          <a:xfrm>
            <a:off x="6254496" y="1325880"/>
            <a:ext cx="2528316"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Text 11"/>
          <p:cNvSpPr/>
          <p:nvPr/>
        </p:nvSpPr>
        <p:spPr>
          <a:xfrm>
            <a:off x="6419088" y="1463040"/>
            <a:ext cx="2199132"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STUDENT (Asus)</a:t>
            </a:r>
            <a:endParaRPr lang="en-US" sz="1100" dirty="0"/>
          </a:p>
        </p:txBody>
      </p:sp>
      <p:sp>
        <p:nvSpPr>
          <p:cNvPr id="14" name="Text 12"/>
          <p:cNvSpPr/>
          <p:nvPr/>
        </p:nvSpPr>
        <p:spPr>
          <a:xfrm>
            <a:off x="6419088" y="1746504"/>
            <a:ext cx="2199132" cy="100584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0.5B model trains via QLoRA on the verified survivors.</a:t>
            </a:r>
            <a:endParaRPr lang="en-US" sz="1050" dirty="0"/>
          </a:p>
        </p:txBody>
      </p:sp>
      <p:sp>
        <p:nvSpPr>
          <p:cNvPr id="15" name="Text 13"/>
          <p:cNvSpPr/>
          <p:nvPr/>
        </p:nvSpPr>
        <p:spPr>
          <a:xfrm>
            <a:off x="8782812" y="1325880"/>
            <a:ext cx="347472" cy="155448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6" name="Shape 14"/>
          <p:cNvSpPr/>
          <p:nvPr/>
        </p:nvSpPr>
        <p:spPr>
          <a:xfrm>
            <a:off x="9130284" y="1325880"/>
            <a:ext cx="2528316"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9294876" y="1463040"/>
            <a:ext cx="2199132" cy="256032"/>
          </a:xfrm>
          <a:prstGeom prst="rect">
            <a:avLst/>
          </a:prstGeom>
          <a:noFill/>
          <a:ln/>
        </p:spPr>
        <p:txBody>
          <a:bodyPr wrap="square" lIns="0" tIns="0" rIns="0" bIns="0" rtlCol="0" anchor="ctr"/>
          <a:lstStyle/>
          <a:p>
            <a:pPr indent="0" marL="0">
              <a:buNone/>
            </a:pPr>
            <a:r>
              <a:rPr lang="en-US" sz="1100" b="1" spc="120" kern="0" dirty="0">
                <a:solidFill>
                  <a:srgbClr val="2A5240"/>
                </a:solidFill>
                <a:latin typeface="Calibri" pitchFamily="34" charset="0"/>
                <a:ea typeface="Calibri" pitchFamily="34" charset="-122"/>
                <a:cs typeface="Calibri" pitchFamily="34" charset="-120"/>
              </a:rPr>
              <a:t>MEASURE (Mac)</a:t>
            </a:r>
            <a:endParaRPr lang="en-US" sz="1100" dirty="0"/>
          </a:p>
        </p:txBody>
      </p:sp>
      <p:sp>
        <p:nvSpPr>
          <p:cNvPr id="18" name="Text 16"/>
          <p:cNvSpPr/>
          <p:nvPr/>
        </p:nvSpPr>
        <p:spPr>
          <a:xfrm>
            <a:off x="9294876" y="1746504"/>
            <a:ext cx="2199132" cy="100584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Eval harness scores the student on held-out problems.</a:t>
            </a:r>
            <a:endParaRPr lang="en-US" sz="1050" dirty="0"/>
          </a:p>
        </p:txBody>
      </p:sp>
      <p:sp>
        <p:nvSpPr>
          <p:cNvPr id="19" name="Shape 17"/>
          <p:cNvSpPr/>
          <p:nvPr/>
        </p:nvSpPr>
        <p:spPr>
          <a:xfrm>
            <a:off x="502920" y="3127248"/>
            <a:ext cx="11155680" cy="566928"/>
          </a:xfrm>
          <a:prstGeom prst="roundRect">
            <a:avLst>
              <a:gd name="adj" fmla="val 9677"/>
            </a:avLst>
          </a:prstGeom>
          <a:solidFill>
            <a:srgbClr val="8FB573"/>
          </a:solidFill>
          <a:ln/>
        </p:spPr>
      </p:sp>
      <p:sp>
        <p:nvSpPr>
          <p:cNvPr id="20" name="Text 18"/>
          <p:cNvSpPr/>
          <p:nvPr/>
        </p:nvSpPr>
        <p:spPr>
          <a:xfrm>
            <a:off x="777240" y="3127248"/>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This is verified distillation. It costs nothing but electricity and it is the core loop of the whole project.</a:t>
            </a:r>
            <a:endParaRPr lang="en-US" sz="1450" dirty="0"/>
          </a:p>
        </p:txBody>
      </p:sp>
      <p:sp>
        <p:nvSpPr>
          <p:cNvPr id="21" name="Text 19"/>
          <p:cNvSpPr/>
          <p:nvPr/>
        </p:nvSpPr>
        <p:spPr>
          <a:xfrm>
            <a:off x="502920" y="3913632"/>
            <a:ext cx="11155680" cy="777240"/>
          </a:xfrm>
          <a:prstGeom prst="rect">
            <a:avLst/>
          </a:prstGeom>
          <a:noFill/>
          <a:ln/>
        </p:spPr>
        <p:txBody>
          <a:bodyPr wrap="square" lIns="0" tIns="0" rIns="0" bIns="0" rtlCol="0" anchor="t"/>
          <a:lstStyle/>
          <a:p>
            <a:pPr indent="0" marL="0">
              <a:buNone/>
            </a:pPr>
            <a:r>
              <a:rPr lang="en-US" sz="1300" dirty="0">
                <a:solidFill>
                  <a:srgbClr val="16211B"/>
                </a:solidFill>
                <a:latin typeface="Calibri" pitchFamily="34" charset="0"/>
                <a:ea typeface="Calibri" pitchFamily="34" charset="-122"/>
                <a:cs typeface="Calibri" pitchFamily="34" charset="-120"/>
              </a:rPr>
              <a:t>The teacher never needs to be trained. It only needs to be smart enough to occasionally produce a correct solution — and the verifier guarantees you only learn from the correct ones. That guarantee is what makes this work with a weak teacher and a tiny student.</a:t>
            </a:r>
            <a:endParaRPr lang="en-US" sz="1300" dirty="0"/>
          </a:p>
        </p:txBody>
      </p:sp>
      <p:sp>
        <p:nvSpPr>
          <p:cNvPr id="22" name="Shape 20"/>
          <p:cNvSpPr/>
          <p:nvPr/>
        </p:nvSpPr>
        <p:spPr>
          <a:xfrm>
            <a:off x="502920" y="4800600"/>
            <a:ext cx="3621024" cy="1051560"/>
          </a:xfrm>
          <a:prstGeom prst="roundRect">
            <a:avLst>
              <a:gd name="adj" fmla="val 608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3" name="Text 21"/>
          <p:cNvSpPr/>
          <p:nvPr/>
        </p:nvSpPr>
        <p:spPr>
          <a:xfrm>
            <a:off x="722376" y="494690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Why it beats plain SFT</a:t>
            </a:r>
            <a:endParaRPr lang="en-US" sz="1250" dirty="0"/>
          </a:p>
        </p:txBody>
      </p:sp>
      <p:sp>
        <p:nvSpPr>
          <p:cNvPr id="24" name="Text 22"/>
          <p:cNvSpPr/>
          <p:nvPr/>
        </p:nvSpPr>
        <p:spPr>
          <a:xfrm>
            <a:off x="722376" y="5257800"/>
            <a:ext cx="3182112" cy="4480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Every training example is known-correct, not merely plausible. No noisy labels at all.</a:t>
            </a:r>
            <a:endParaRPr lang="en-US" sz="1100" dirty="0"/>
          </a:p>
        </p:txBody>
      </p:sp>
      <p:sp>
        <p:nvSpPr>
          <p:cNvPr id="25" name="Shape 23"/>
          <p:cNvSpPr/>
          <p:nvPr/>
        </p:nvSpPr>
        <p:spPr>
          <a:xfrm>
            <a:off x="4270248" y="4800600"/>
            <a:ext cx="3621024" cy="1051560"/>
          </a:xfrm>
          <a:prstGeom prst="roundRect">
            <a:avLst>
              <a:gd name="adj" fmla="val 608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6" name="Text 24"/>
          <p:cNvSpPr/>
          <p:nvPr/>
        </p:nvSpPr>
        <p:spPr>
          <a:xfrm>
            <a:off x="4489704" y="494690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Why it beats the teacher</a:t>
            </a:r>
            <a:endParaRPr lang="en-US" sz="1250" dirty="0"/>
          </a:p>
        </p:txBody>
      </p:sp>
      <p:sp>
        <p:nvSpPr>
          <p:cNvPr id="27" name="Text 25"/>
          <p:cNvSpPr/>
          <p:nvPr/>
        </p:nvSpPr>
        <p:spPr>
          <a:xfrm>
            <a:off x="4489704" y="5257800"/>
            <a:ext cx="3182112" cy="4480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student learns the teacher's successes without its failures — the filter is the whole trick.</a:t>
            </a:r>
            <a:endParaRPr lang="en-US" sz="1100" dirty="0"/>
          </a:p>
        </p:txBody>
      </p:sp>
      <p:sp>
        <p:nvSpPr>
          <p:cNvPr id="28" name="Shape 26"/>
          <p:cNvSpPr/>
          <p:nvPr/>
        </p:nvSpPr>
        <p:spPr>
          <a:xfrm>
            <a:off x="8037576" y="4800600"/>
            <a:ext cx="3621024" cy="1051560"/>
          </a:xfrm>
          <a:prstGeom prst="roundRect">
            <a:avLst>
              <a:gd name="adj" fmla="val 608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9" name="Text 27"/>
          <p:cNvSpPr/>
          <p:nvPr/>
        </p:nvSpPr>
        <p:spPr>
          <a:xfrm>
            <a:off x="8257032" y="494690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Why it costs nothing</a:t>
            </a:r>
            <a:endParaRPr lang="en-US" sz="1250" dirty="0"/>
          </a:p>
        </p:txBody>
      </p:sp>
      <p:sp>
        <p:nvSpPr>
          <p:cNvPr id="30" name="Text 28"/>
          <p:cNvSpPr/>
          <p:nvPr/>
        </p:nvSpPr>
        <p:spPr>
          <a:xfrm>
            <a:off x="8257032" y="5257800"/>
            <a:ext cx="3182112" cy="4480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Both machines are yours. Generation is the expensive part, and it runs on the Mac overnight.</a:t>
            </a:r>
            <a:endParaRPr lang="en-US" sz="1100" dirty="0"/>
          </a:p>
        </p:txBody>
      </p:sp>
      <p:sp>
        <p:nvSpPr>
          <p:cNvPr id="31" name="Text 2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Why 0.5B is the right size to learn on</a:t>
            </a:r>
            <a:endParaRPr lang="en-US" sz="2900" dirty="0"/>
          </a:p>
        </p:txBody>
      </p:sp>
      <p:sp>
        <p:nvSpPr>
          <p:cNvPr id="4" name="Shape 2"/>
          <p:cNvSpPr/>
          <p:nvPr/>
        </p:nvSpPr>
        <p:spPr>
          <a:xfrm>
            <a:off x="502920" y="1298448"/>
            <a:ext cx="11155680" cy="914400"/>
          </a:xfrm>
          <a:prstGeom prst="roundRect">
            <a:avLst>
              <a:gd name="adj" fmla="val 7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554480"/>
            <a:ext cx="402336" cy="402336"/>
          </a:xfrm>
          <a:prstGeom prst="ellipse">
            <a:avLst/>
          </a:prstGeom>
          <a:solidFill>
            <a:srgbClr val="8FB573"/>
          </a:solidFill>
          <a:ln/>
        </p:spPr>
      </p:sp>
      <p:sp>
        <p:nvSpPr>
          <p:cNvPr id="6" name="Text 4"/>
          <p:cNvSpPr/>
          <p:nvPr/>
        </p:nvSpPr>
        <p:spPr>
          <a:xfrm>
            <a:off x="749808" y="155448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2646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Every failure mode still appears</a:t>
            </a:r>
            <a:endParaRPr lang="en-US" sz="1300" dirty="0"/>
          </a:p>
        </p:txBody>
      </p:sp>
      <p:sp>
        <p:nvSpPr>
          <p:cNvPr id="8" name="Text 6"/>
          <p:cNvSpPr/>
          <p:nvPr/>
        </p:nvSpPr>
        <p:spPr>
          <a:xfrm>
            <a:off x="1316736" y="1719072"/>
            <a:ext cx="10058400" cy="40233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Reward hacking, memorization, verbosity bias, contamination, policy collapse — all of them show up at 0.5B. Scale changes the absolute numbers, not the lessons. You are not learning a watered-down version.</a:t>
            </a:r>
            <a:endParaRPr lang="en-US" sz="1150" dirty="0"/>
          </a:p>
        </p:txBody>
      </p:sp>
      <p:sp>
        <p:nvSpPr>
          <p:cNvPr id="9" name="Shape 7"/>
          <p:cNvSpPr/>
          <p:nvPr/>
        </p:nvSpPr>
        <p:spPr>
          <a:xfrm>
            <a:off x="502920" y="2322576"/>
            <a:ext cx="11155680" cy="914400"/>
          </a:xfrm>
          <a:prstGeom prst="roundRect">
            <a:avLst>
              <a:gd name="adj" fmla="val 7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578608"/>
            <a:ext cx="402336" cy="402336"/>
          </a:xfrm>
          <a:prstGeom prst="ellipse">
            <a:avLst/>
          </a:prstGeom>
          <a:solidFill>
            <a:srgbClr val="8FB573"/>
          </a:solidFill>
          <a:ln/>
        </p:spPr>
      </p:sp>
      <p:sp>
        <p:nvSpPr>
          <p:cNvPr id="11" name="Text 9"/>
          <p:cNvSpPr/>
          <p:nvPr/>
        </p:nvSpPr>
        <p:spPr>
          <a:xfrm>
            <a:off x="749808" y="257860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450592"/>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Twenty experiments a day, not three</a:t>
            </a:r>
            <a:endParaRPr lang="en-US" sz="1300" dirty="0"/>
          </a:p>
        </p:txBody>
      </p:sp>
      <p:sp>
        <p:nvSpPr>
          <p:cNvPr id="13" name="Text 11"/>
          <p:cNvSpPr/>
          <p:nvPr/>
        </p:nvSpPr>
        <p:spPr>
          <a:xfrm>
            <a:off x="1316736" y="2743200"/>
            <a:ext cx="10058400" cy="40233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Experiments per week is the single variable that determines how fast you get good at this. A ten-minute training run teaches more than a six-hour one, because you run thirty of them.</a:t>
            </a:r>
            <a:endParaRPr lang="en-US" sz="1150" dirty="0"/>
          </a:p>
        </p:txBody>
      </p:sp>
      <p:sp>
        <p:nvSpPr>
          <p:cNvPr id="14" name="Shape 12"/>
          <p:cNvSpPr/>
          <p:nvPr/>
        </p:nvSpPr>
        <p:spPr>
          <a:xfrm>
            <a:off x="502920" y="3346704"/>
            <a:ext cx="11155680" cy="914400"/>
          </a:xfrm>
          <a:prstGeom prst="roundRect">
            <a:avLst>
              <a:gd name="adj" fmla="val 7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3602736"/>
            <a:ext cx="402336" cy="402336"/>
          </a:xfrm>
          <a:prstGeom prst="ellipse">
            <a:avLst/>
          </a:prstGeom>
          <a:solidFill>
            <a:srgbClr val="8FB573"/>
          </a:solidFill>
          <a:ln/>
        </p:spPr>
      </p:sp>
      <p:sp>
        <p:nvSpPr>
          <p:cNvPr id="16" name="Text 14"/>
          <p:cNvSpPr/>
          <p:nvPr/>
        </p:nvSpPr>
        <p:spPr>
          <a:xfrm>
            <a:off x="749808" y="3602736"/>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347472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Nothing is hidden by raw capability</a:t>
            </a:r>
            <a:endParaRPr lang="en-US" sz="1300" dirty="0"/>
          </a:p>
        </p:txBody>
      </p:sp>
      <p:sp>
        <p:nvSpPr>
          <p:cNvPr id="18" name="Text 16"/>
          <p:cNvSpPr/>
          <p:nvPr/>
        </p:nvSpPr>
        <p:spPr>
          <a:xfrm>
            <a:off x="1316736" y="3767328"/>
            <a:ext cx="10058400" cy="40233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A large model papers over bad data with brute ability. A small model fails loudly and specifically — which is exactly what you want while you are learning to read failures.</a:t>
            </a:r>
            <a:endParaRPr lang="en-US" sz="1150" dirty="0"/>
          </a:p>
        </p:txBody>
      </p:sp>
      <p:sp>
        <p:nvSpPr>
          <p:cNvPr id="19" name="Shape 17"/>
          <p:cNvSpPr/>
          <p:nvPr/>
        </p:nvSpPr>
        <p:spPr>
          <a:xfrm>
            <a:off x="502920" y="4370832"/>
            <a:ext cx="11155680" cy="914400"/>
          </a:xfrm>
          <a:prstGeom prst="roundRect">
            <a:avLst>
              <a:gd name="adj" fmla="val 7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4626864"/>
            <a:ext cx="402336" cy="402336"/>
          </a:xfrm>
          <a:prstGeom prst="ellipse">
            <a:avLst/>
          </a:prstGeom>
          <a:solidFill>
            <a:srgbClr val="8FB573"/>
          </a:solidFill>
          <a:ln/>
        </p:spPr>
      </p:sp>
      <p:sp>
        <p:nvSpPr>
          <p:cNvPr id="21" name="Text 19"/>
          <p:cNvSpPr/>
          <p:nvPr/>
        </p:nvSpPr>
        <p:spPr>
          <a:xfrm>
            <a:off x="749808" y="4626864"/>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4498848"/>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Zero cost anxiety</a:t>
            </a:r>
            <a:endParaRPr lang="en-US" sz="1300" dirty="0"/>
          </a:p>
        </p:txBody>
      </p:sp>
      <p:sp>
        <p:nvSpPr>
          <p:cNvPr id="23" name="Text 21"/>
          <p:cNvSpPr/>
          <p:nvPr/>
        </p:nvSpPr>
        <p:spPr>
          <a:xfrm>
            <a:off x="1316736" y="4791456"/>
            <a:ext cx="10058400" cy="40233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You will make mistakes. Making them for free means making more of them, faster, which is the entire point of a learning phase.</a:t>
            </a:r>
            <a:endParaRPr lang="en-US" sz="1150" dirty="0"/>
          </a:p>
        </p:txBody>
      </p:sp>
      <p:sp>
        <p:nvSpPr>
          <p:cNvPr id="24" name="Shape 22"/>
          <p:cNvSpPr/>
          <p:nvPr/>
        </p:nvSpPr>
        <p:spPr>
          <a:xfrm>
            <a:off x="502920" y="5394960"/>
            <a:ext cx="11155680" cy="914400"/>
          </a:xfrm>
          <a:prstGeom prst="roundRect">
            <a:avLst>
              <a:gd name="adj" fmla="val 7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5650992"/>
            <a:ext cx="402336" cy="402336"/>
          </a:xfrm>
          <a:prstGeom prst="ellipse">
            <a:avLst/>
          </a:prstGeom>
          <a:solidFill>
            <a:srgbClr val="8FB573"/>
          </a:solidFill>
          <a:ln/>
        </p:spPr>
      </p:sp>
      <p:sp>
        <p:nvSpPr>
          <p:cNvPr id="26" name="Text 24"/>
          <p:cNvSpPr/>
          <p:nvPr/>
        </p:nvSpPr>
        <p:spPr>
          <a:xfrm>
            <a:off x="749808" y="565099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55229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It is a real deliverable</a:t>
            </a:r>
            <a:endParaRPr lang="en-US" sz="1300" dirty="0"/>
          </a:p>
        </p:txBody>
      </p:sp>
      <p:sp>
        <p:nvSpPr>
          <p:cNvPr id="28" name="Text 26"/>
          <p:cNvSpPr/>
          <p:nvPr/>
        </p:nvSpPr>
        <p:spPr>
          <a:xfrm>
            <a:off x="1316736" y="5815584"/>
            <a:ext cx="10058400" cy="40233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A good 0.5B code model runs on a phone. That is a genuinely useful artifact, not a toy — and nobody else is building it.</a:t>
            </a:r>
            <a:endParaRPr lang="en-US" sz="1150" dirty="0"/>
          </a:p>
        </p:txBody>
      </p:sp>
      <p:sp>
        <p:nvSpPr>
          <p:cNvPr id="29" name="Text 2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complete curriculum, in build order</a:t>
            </a:r>
            <a:endParaRPr lang="en-US" sz="2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457200"/>
                <a:gridCol w="1371600"/>
                <a:gridCol w="1005840"/>
                <a:gridCol w="4114800"/>
                <a:gridCol w="4206240"/>
              </a:tblGrid>
              <a:tr h="32461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Phase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Machine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you build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Done when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Setup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Both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Working environments, W&amp;B, disk layout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Smoke tests pass on both machines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Mac</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Base model chosen, template verified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Model generates sane output from your template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Sandbox</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Mac</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Untrusted-code executor + adversarial suite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Survives infinite loop, fork bomb, network, escape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Eval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Mac</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pass@k harness, baselines, held-out split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Reproducible score ± std, three seeds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Mac</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Curated, deduped, decontaminated corpus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Curated-10k beats raw-100k at equal compute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SFT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Asus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First fine-tuned model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Beats baseline across three seeds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RFT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Both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Rejection-sampled self-improvement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Beats SFT; you can explain why without RL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DPO</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Asus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Preference-optimized model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Beats RFT; length tracked before/after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GRPO</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Asus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RL with verifiable rewards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Beats DPO AND two documented hacks with fixes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Repair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Both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Self-repair from tracebacks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First-attempt and after-repair reported separately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Merge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Mac</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Merged checkpoint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Merged beats every individual checkpoint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Serve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Both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Quantized, on-device model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Runs in your editor, offline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Text 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Prerequisites — be honest with yourself here</a:t>
            </a:r>
            <a:endParaRPr lang="en-US" sz="2900" dirty="0"/>
          </a:p>
        </p:txBody>
      </p:sp>
      <p:sp>
        <p:nvSpPr>
          <p:cNvPr id="4" name="Shape 2"/>
          <p:cNvSpPr/>
          <p:nvPr/>
        </p:nvSpPr>
        <p:spPr>
          <a:xfrm>
            <a:off x="502920" y="1298448"/>
            <a:ext cx="5486400" cy="2286000"/>
          </a:xfrm>
          <a:prstGeom prst="roundRect">
            <a:avLst>
              <a:gd name="adj" fmla="val 28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63040"/>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YOU NEED THESE</a:t>
            </a:r>
            <a:endParaRPr lang="en-US" sz="1250" dirty="0"/>
          </a:p>
        </p:txBody>
      </p:sp>
      <p:sp>
        <p:nvSpPr>
          <p:cNvPr id="6" name="Text 4"/>
          <p:cNvSpPr/>
          <p:nvPr/>
        </p:nvSpPr>
        <p:spPr>
          <a:xfrm>
            <a:off x="758952" y="1828800"/>
            <a:ext cx="4974336" cy="159105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Python: comfortable with classes, generators, context managers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PyTorch: tensors, autograd, what .backward() does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The transformer block, at least conceptually</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Git, virtualenv/conda, the shell</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Willingness to read tracebacks instead of guessing</a:t>
            </a:r>
            <a:endParaRPr lang="en-US" sz="1150" dirty="0"/>
          </a:p>
        </p:txBody>
      </p:sp>
      <p:sp>
        <p:nvSpPr>
          <p:cNvPr id="7" name="Shape 5"/>
          <p:cNvSpPr/>
          <p:nvPr/>
        </p:nvSpPr>
        <p:spPr>
          <a:xfrm>
            <a:off x="6172200" y="1298448"/>
            <a:ext cx="5486400" cy="2286000"/>
          </a:xfrm>
          <a:prstGeom prst="roundRect">
            <a:avLst>
              <a:gd name="adj" fmla="val 28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63040"/>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YOU DO NOT NEED THESE</a:t>
            </a:r>
            <a:endParaRPr lang="en-US" sz="1250" dirty="0"/>
          </a:p>
        </p:txBody>
      </p:sp>
      <p:sp>
        <p:nvSpPr>
          <p:cNvPr id="9" name="Text 7"/>
          <p:cNvSpPr/>
          <p:nvPr/>
        </p:nvSpPr>
        <p:spPr>
          <a:xfrm>
            <a:off x="6428232" y="1828800"/>
            <a:ext cx="4974336" cy="159105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CUDA kernel programming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Distributed training theory</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The math of attention derived from scratch</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A GPU cluster, or any rented compute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Prior ML research experience</a:t>
            </a:r>
            <a:endParaRPr lang="en-US" sz="1150" dirty="0"/>
          </a:p>
        </p:txBody>
      </p:sp>
      <p:sp>
        <p:nvSpPr>
          <p:cNvPr id="10" name="Text 8"/>
          <p:cNvSpPr/>
          <p:nvPr/>
        </p:nvSpPr>
        <p:spPr>
          <a:xfrm>
            <a:off x="502920" y="3794760"/>
            <a:ext cx="11155680" cy="731520"/>
          </a:xfrm>
          <a:prstGeom prst="rect">
            <a:avLst/>
          </a:prstGeom>
          <a:noFill/>
          <a:ln/>
        </p:spPr>
        <p:txBody>
          <a:bodyPr wrap="square" lIns="0" tIns="0" rIns="0" bIns="0" rtlCol="0" anchor="t"/>
          <a:lstStyle/>
          <a:p>
            <a:pPr indent="0" marL="0">
              <a:buNone/>
            </a:pPr>
            <a:r>
              <a:rPr lang="en-US" sz="1250" dirty="0">
                <a:solidFill>
                  <a:srgbClr val="16211B"/>
                </a:solidFill>
                <a:latin typeface="Calibri" pitchFamily="34" charset="0"/>
                <a:ea typeface="Calibri" pitchFamily="34" charset="-122"/>
                <a:cs typeface="Calibri" pitchFamily="34" charset="-120"/>
              </a:rPr>
              <a:t>If PyTorch autograd is genuinely unfamiliar, spend three days on it first. Everything downstream assumes you can read a training loop and know what a gradient is. Nothing else on the left-hand list takes more than a weekend to reach 'comfortable'.</a:t>
            </a:r>
            <a:endParaRPr lang="en-US" sz="1250" dirty="0"/>
          </a:p>
        </p:txBody>
      </p:sp>
      <p:sp>
        <p:nvSpPr>
          <p:cNvPr id="11" name="Shape 9"/>
          <p:cNvSpPr/>
          <p:nvPr/>
        </p:nvSpPr>
        <p:spPr>
          <a:xfrm>
            <a:off x="502920" y="4663440"/>
            <a:ext cx="11155680" cy="1005840"/>
          </a:xfrm>
          <a:prstGeom prst="roundRect">
            <a:avLst>
              <a:gd name="adj" fmla="val 6364"/>
            </a:avLst>
          </a:prstGeom>
          <a:solidFill>
            <a:srgbClr val="1F3D2E"/>
          </a:solidFill>
          <a:ln/>
        </p:spPr>
      </p:sp>
      <p:sp>
        <p:nvSpPr>
          <p:cNvPr id="12" name="Shape 10"/>
          <p:cNvSpPr/>
          <p:nvPr/>
        </p:nvSpPr>
        <p:spPr>
          <a:xfrm>
            <a:off x="740664" y="4846320"/>
            <a:ext cx="292608" cy="292608"/>
          </a:xfrm>
          <a:prstGeom prst="ellipse">
            <a:avLst/>
          </a:prstGeom>
          <a:solidFill>
            <a:srgbClr val="1F3D2E"/>
          </a:solidFill>
          <a:ln/>
        </p:spPr>
      </p:sp>
      <p:sp>
        <p:nvSpPr>
          <p:cNvPr id="13" name="Text 11"/>
          <p:cNvSpPr/>
          <p:nvPr/>
        </p:nvSpPr>
        <p:spPr>
          <a:xfrm>
            <a:off x="740664" y="48463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4" name="Text 12"/>
          <p:cNvSpPr/>
          <p:nvPr/>
        </p:nvSpPr>
        <p:spPr>
          <a:xfrm>
            <a:off x="1133856" y="48646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5" name="Text 13"/>
          <p:cNvSpPr/>
          <p:nvPr/>
        </p:nvSpPr>
        <p:spPr>
          <a:xfrm>
            <a:off x="740664" y="5239512"/>
            <a:ext cx="10680192" cy="2560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started this without really understanding gradient accumulation and lost a week to a bug where my effective batch size was 1 instead of 16. The concepts on the left are not optional background — they are the debugging vocabulary.</a:t>
            </a:r>
            <a:endParaRPr lang="en-US" sz="1150" dirty="0"/>
          </a:p>
        </p:txBody>
      </p:sp>
      <p:sp>
        <p:nvSpPr>
          <p:cNvPr id="16" name="Text 1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Repository structure</a:t>
            </a:r>
            <a:endParaRPr lang="en-US" sz="2900" dirty="0"/>
          </a:p>
        </p:txBody>
      </p:sp>
      <p:sp>
        <p:nvSpPr>
          <p:cNvPr id="4" name="Shape 2"/>
          <p:cNvSpPr/>
          <p:nvPr/>
        </p:nvSpPr>
        <p:spPr>
          <a:xfrm>
            <a:off x="502920" y="1280160"/>
            <a:ext cx="6035040" cy="4206240"/>
          </a:xfrm>
          <a:prstGeom prst="roundRect">
            <a:avLst>
              <a:gd name="adj" fmla="val 1304"/>
            </a:avLst>
          </a:prstGeom>
          <a:solidFill>
            <a:srgbClr val="0F1F17"/>
          </a:solidFill>
          <a:ln/>
        </p:spPr>
      </p:sp>
      <p:sp>
        <p:nvSpPr>
          <p:cNvPr id="5" name="Text 3"/>
          <p:cNvSpPr/>
          <p:nvPr/>
        </p:nvSpPr>
        <p:spPr>
          <a:xfrm>
            <a:off x="722376" y="1426464"/>
            <a:ext cx="559612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LAYOUT</a:t>
            </a:r>
            <a:endParaRPr lang="en-US" sz="950" dirty="0"/>
          </a:p>
        </p:txBody>
      </p:sp>
      <p:sp>
        <p:nvSpPr>
          <p:cNvPr id="6" name="Text 4"/>
          <p:cNvSpPr/>
          <p:nvPr/>
        </p:nvSpPr>
        <p:spPr>
          <a:xfrm>
            <a:off x="722376" y="1700784"/>
            <a:ext cx="5596128" cy="3639312"/>
          </a:xfrm>
          <a:prstGeom prst="rect">
            <a:avLst/>
          </a:prstGeom>
          <a:noFill/>
          <a:ln/>
        </p:spPr>
        <p:txBody>
          <a:bodyPr wrap="square" lIns="0" tIns="0" rIns="0" bIns="0" rtlCol="0" anchor="t"/>
          <a:lstStyle/>
          <a:p>
            <a:pPr indent="0" marL="0">
              <a:lnSpc>
                <a:spcPct val="112000"/>
              </a:lnSpc>
              <a:buNone/>
            </a:pPr>
            <a:r>
              <a:rPr lang="en-US" sz="1000" b="1" dirty="0">
                <a:solidFill>
                  <a:srgbClr val="8FB573"/>
                </a:solidFill>
                <a:latin typeface="Courier New" pitchFamily="34" charset="0"/>
                <a:ea typeface="Courier New" pitchFamily="34" charset="-122"/>
                <a:cs typeface="Courier New" pitchFamily="34" charset="-120"/>
              </a:rPr>
              <a:t>ULTRON/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data/</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raw/          downloaded, never modified</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interim/      filtered, deduped, decontam.</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processed/    templated, versioned v1..vN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src/</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sandbox/      executor.py  ← trust boundary</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data/         download filter dedup synth</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eval/         harness.py  pass_at_k.py</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train/        sft rft dpo grpo repair</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serve/        mlx / llama.cpp entrypoints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configs/          ONE YAML PER EXPERIMENT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results/          NN-phase.md  numbers + seeds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checkpoints/      adapters only, not full models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notebooks/        scratch only, never canonical</a:t>
            </a:r>
            <a:endParaRPr lang="en-US" sz="1000" dirty="0"/>
          </a:p>
        </p:txBody>
      </p:sp>
      <p:sp>
        <p:nvSpPr>
          <p:cNvPr id="7" name="Shape 5"/>
          <p:cNvSpPr/>
          <p:nvPr/>
        </p:nvSpPr>
        <p:spPr>
          <a:xfrm>
            <a:off x="6675120" y="1280160"/>
            <a:ext cx="4983480" cy="996696"/>
          </a:xfrm>
          <a:prstGeom prst="roundRect">
            <a:avLst>
              <a:gd name="adj" fmla="val 642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894576" y="1426464"/>
            <a:ext cx="454456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data/ is append-only</a:t>
            </a:r>
            <a:endParaRPr lang="en-US" sz="1250" dirty="0"/>
          </a:p>
        </p:txBody>
      </p:sp>
      <p:sp>
        <p:nvSpPr>
          <p:cNvPr id="9" name="Text 7"/>
          <p:cNvSpPr/>
          <p:nvPr/>
        </p:nvSpPr>
        <p:spPr>
          <a:xfrm>
            <a:off x="6894576" y="1737360"/>
            <a:ext cx="4544568" cy="393192"/>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raw/ is never edited. Every transformation writes a new directory. Disk is cheap; a lost provenance chain is not.</a:t>
            </a:r>
            <a:endParaRPr lang="en-US" sz="1100" dirty="0"/>
          </a:p>
        </p:txBody>
      </p:sp>
      <p:sp>
        <p:nvSpPr>
          <p:cNvPr id="10" name="Shape 8"/>
          <p:cNvSpPr/>
          <p:nvPr/>
        </p:nvSpPr>
        <p:spPr>
          <a:xfrm>
            <a:off x="6675120" y="2386584"/>
            <a:ext cx="4983480" cy="996696"/>
          </a:xfrm>
          <a:prstGeom prst="roundRect">
            <a:avLst>
              <a:gd name="adj" fmla="val 642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6894576" y="2532888"/>
            <a:ext cx="454456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configs/ IS the lab notebook</a:t>
            </a:r>
            <a:endParaRPr lang="en-US" sz="1250" dirty="0"/>
          </a:p>
        </p:txBody>
      </p:sp>
      <p:sp>
        <p:nvSpPr>
          <p:cNvPr id="12" name="Text 10"/>
          <p:cNvSpPr/>
          <p:nvPr/>
        </p:nvSpPr>
        <p:spPr>
          <a:xfrm>
            <a:off x="6894576" y="2843784"/>
            <a:ext cx="4544568" cy="393192"/>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If an experiment is not a committed config file, it did not happen and cannot be reproduced.</a:t>
            </a:r>
            <a:endParaRPr lang="en-US" sz="1100" dirty="0"/>
          </a:p>
        </p:txBody>
      </p:sp>
      <p:sp>
        <p:nvSpPr>
          <p:cNvPr id="13" name="Shape 11"/>
          <p:cNvSpPr/>
          <p:nvPr/>
        </p:nvSpPr>
        <p:spPr>
          <a:xfrm>
            <a:off x="6675120" y="3493008"/>
            <a:ext cx="4983480" cy="996696"/>
          </a:xfrm>
          <a:prstGeom prst="roundRect">
            <a:avLst>
              <a:gd name="adj" fmla="val 642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6894576" y="3639312"/>
            <a:ext cx="454456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results/ is written by hand</a:t>
            </a:r>
            <a:endParaRPr lang="en-US" sz="1250" dirty="0"/>
          </a:p>
        </p:txBody>
      </p:sp>
      <p:sp>
        <p:nvSpPr>
          <p:cNvPr id="15" name="Text 13"/>
          <p:cNvSpPr/>
          <p:nvPr/>
        </p:nvSpPr>
        <p:spPr>
          <a:xfrm>
            <a:off x="6894576" y="3950208"/>
            <a:ext cx="4544568" cy="393192"/>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One markdown file per phase, with numbers, seeds, and what failed. Your future self reads only this.</a:t>
            </a:r>
            <a:endParaRPr lang="en-US" sz="1100" dirty="0"/>
          </a:p>
        </p:txBody>
      </p:sp>
      <p:sp>
        <p:nvSpPr>
          <p:cNvPr id="16" name="Shape 14"/>
          <p:cNvSpPr/>
          <p:nvPr/>
        </p:nvSpPr>
        <p:spPr>
          <a:xfrm>
            <a:off x="6675120" y="4599432"/>
            <a:ext cx="4983480" cy="996696"/>
          </a:xfrm>
          <a:prstGeom prst="roundRect">
            <a:avLst>
              <a:gd name="adj" fmla="val 642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6894576" y="4745736"/>
            <a:ext cx="454456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checkpoints/ holds adapters</a:t>
            </a:r>
            <a:endParaRPr lang="en-US" sz="1250" dirty="0"/>
          </a:p>
        </p:txBody>
      </p:sp>
      <p:sp>
        <p:nvSpPr>
          <p:cNvPr id="18" name="Text 16"/>
          <p:cNvSpPr/>
          <p:nvPr/>
        </p:nvSpPr>
        <p:spPr>
          <a:xfrm>
            <a:off x="6894576" y="5056632"/>
            <a:ext cx="4544568" cy="393192"/>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LoRA adapters are tens of MB. Never commit merged full models — regenerate from adapter + base.</a:t>
            </a:r>
            <a:endParaRPr lang="en-US" sz="1100" dirty="0"/>
          </a:p>
        </p:txBody>
      </p:sp>
      <p:sp>
        <p:nvSpPr>
          <p:cNvPr id="19" name="Shape 17"/>
          <p:cNvSpPr/>
          <p:nvPr/>
        </p:nvSpPr>
        <p:spPr>
          <a:xfrm>
            <a:off x="502920" y="5669280"/>
            <a:ext cx="11155680" cy="777240"/>
          </a:xfrm>
          <a:prstGeom prst="roundRect">
            <a:avLst>
              <a:gd name="adj" fmla="val 8235"/>
            </a:avLst>
          </a:prstGeom>
          <a:solidFill>
            <a:srgbClr val="1F3D2E"/>
          </a:solidFill>
          <a:ln/>
        </p:spPr>
      </p:sp>
      <p:sp>
        <p:nvSpPr>
          <p:cNvPr id="20" name="Shape 18"/>
          <p:cNvSpPr/>
          <p:nvPr/>
        </p:nvSpPr>
        <p:spPr>
          <a:xfrm>
            <a:off x="740664" y="5852160"/>
            <a:ext cx="292608" cy="292608"/>
          </a:xfrm>
          <a:prstGeom prst="ellipse">
            <a:avLst/>
          </a:prstGeom>
          <a:solidFill>
            <a:srgbClr val="1F3D2E"/>
          </a:solidFill>
          <a:ln/>
        </p:spPr>
      </p:sp>
      <p:sp>
        <p:nvSpPr>
          <p:cNvPr id="21" name="Text 19"/>
          <p:cNvSpPr/>
          <p:nvPr/>
        </p:nvSpPr>
        <p:spPr>
          <a:xfrm>
            <a:off x="740664" y="585216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2" name="Text 20"/>
          <p:cNvSpPr/>
          <p:nvPr/>
        </p:nvSpPr>
        <p:spPr>
          <a:xfrm>
            <a:off x="1133856" y="587044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3" name="Text 21"/>
          <p:cNvSpPr/>
          <p:nvPr/>
        </p:nvSpPr>
        <p:spPr>
          <a:xfrm>
            <a:off x="740664" y="6245352"/>
            <a:ext cx="10680192" cy="274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Two directories carry the whole project: configs/ tells you what you ran, results/ tells you what happened. Everything else is regenerable.</a:t>
            </a:r>
            <a:endParaRPr lang="en-US" sz="1150" dirty="0"/>
          </a:p>
        </p:txBody>
      </p:sp>
      <p:sp>
        <p:nvSpPr>
          <p:cNvPr id="24" name="Text 2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ORIENTATION</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Config-driven experiments, from day one</a:t>
            </a:r>
            <a:endParaRPr lang="en-US" sz="2900" dirty="0"/>
          </a:p>
        </p:txBody>
      </p:sp>
      <p:sp>
        <p:nvSpPr>
          <p:cNvPr id="4" name="Text 2"/>
          <p:cNvSpPr/>
          <p:nvPr/>
        </p:nvSpPr>
        <p:spPr>
          <a:xfrm>
            <a:off x="502920" y="1280160"/>
            <a:ext cx="11155680" cy="68580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The single habit that separates people who learn this quickly from people who spin: every run is defined by a committed config file, and every result names the config that produced it. No exceptions, no 'quick manual test'.</a:t>
            </a:r>
            <a:endParaRPr lang="en-US" sz="1350" dirty="0"/>
          </a:p>
        </p:txBody>
      </p:sp>
      <p:sp>
        <p:nvSpPr>
          <p:cNvPr id="5" name="Shape 3"/>
          <p:cNvSpPr/>
          <p:nvPr/>
        </p:nvSpPr>
        <p:spPr>
          <a:xfrm>
            <a:off x="502920" y="2057400"/>
            <a:ext cx="5806440" cy="3017520"/>
          </a:xfrm>
          <a:prstGeom prst="roundRect">
            <a:avLst>
              <a:gd name="adj" fmla="val 1818"/>
            </a:avLst>
          </a:prstGeom>
          <a:solidFill>
            <a:srgbClr val="0F1F17"/>
          </a:solidFill>
          <a:ln/>
        </p:spPr>
      </p:sp>
      <p:sp>
        <p:nvSpPr>
          <p:cNvPr id="6" name="Text 4"/>
          <p:cNvSpPr/>
          <p:nvPr/>
        </p:nvSpPr>
        <p:spPr>
          <a:xfrm>
            <a:off x="722376" y="2203704"/>
            <a:ext cx="5367528" cy="272491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configs/06-sft-r16-lr2e4.yaml</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base_model: Qwen/Qwen2.5-Coder-0.5B</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data_version: v3-curated-10k</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template: qwen-chatml-v1</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lora:</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 16</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alpha: 32</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dropout: 0.05</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target: all-linear</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train: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lr: 2.0e-4</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epochs: 2</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seq_len: 512</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batch: 1</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grad_accum: 16</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seed: [0, 1, 2]</a:t>
            </a:r>
            <a:endParaRPr lang="en-US" sz="1000" dirty="0"/>
          </a:p>
        </p:txBody>
      </p:sp>
      <p:sp>
        <p:nvSpPr>
          <p:cNvPr id="7" name="Shape 5"/>
          <p:cNvSpPr/>
          <p:nvPr/>
        </p:nvSpPr>
        <p:spPr>
          <a:xfrm>
            <a:off x="6675120" y="2057400"/>
            <a:ext cx="4983480" cy="694944"/>
          </a:xfrm>
          <a:prstGeom prst="roundRect">
            <a:avLst>
              <a:gd name="adj" fmla="val 921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894576" y="2203704"/>
            <a:ext cx="454456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Every field matters</a:t>
            </a:r>
            <a:endParaRPr lang="en-US" sz="1250" dirty="0"/>
          </a:p>
        </p:txBody>
      </p:sp>
      <p:sp>
        <p:nvSpPr>
          <p:cNvPr id="9" name="Text 7"/>
          <p:cNvSpPr/>
          <p:nvPr/>
        </p:nvSpPr>
        <p:spPr>
          <a:xfrm>
            <a:off x="6894576" y="2514600"/>
            <a:ext cx="4544568" cy="9144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data_version and template are as load-bearing as the learning rate. A run that does not record them is not reproducible.</a:t>
            </a:r>
            <a:endParaRPr lang="en-US" sz="1100" dirty="0"/>
          </a:p>
        </p:txBody>
      </p:sp>
      <p:sp>
        <p:nvSpPr>
          <p:cNvPr id="10" name="Shape 8"/>
          <p:cNvSpPr/>
          <p:nvPr/>
        </p:nvSpPr>
        <p:spPr>
          <a:xfrm>
            <a:off x="6675120" y="2852928"/>
            <a:ext cx="4983480" cy="694944"/>
          </a:xfrm>
          <a:prstGeom prst="roundRect">
            <a:avLst>
              <a:gd name="adj" fmla="val 921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6894576" y="2999232"/>
            <a:ext cx="454456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Seeds are a list</a:t>
            </a:r>
            <a:endParaRPr lang="en-US" sz="1250" dirty="0"/>
          </a:p>
        </p:txBody>
      </p:sp>
      <p:sp>
        <p:nvSpPr>
          <p:cNvPr id="12" name="Text 10"/>
          <p:cNvSpPr/>
          <p:nvPr/>
        </p:nvSpPr>
        <p:spPr>
          <a:xfrm>
            <a:off x="6894576" y="3310128"/>
            <a:ext cx="4544568" cy="9144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Three seeds is the minimum honest experiment. Bake it into the config so you cannot forget.</a:t>
            </a:r>
            <a:endParaRPr lang="en-US" sz="1100" dirty="0"/>
          </a:p>
        </p:txBody>
      </p:sp>
      <p:sp>
        <p:nvSpPr>
          <p:cNvPr id="13" name="Shape 11"/>
          <p:cNvSpPr/>
          <p:nvPr/>
        </p:nvSpPr>
        <p:spPr>
          <a:xfrm>
            <a:off x="6675120" y="3648456"/>
            <a:ext cx="4983480" cy="694944"/>
          </a:xfrm>
          <a:prstGeom prst="roundRect">
            <a:avLst>
              <a:gd name="adj" fmla="val 921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6894576" y="3794760"/>
            <a:ext cx="454456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Name files by what changed</a:t>
            </a:r>
            <a:endParaRPr lang="en-US" sz="1250" dirty="0"/>
          </a:p>
        </p:txBody>
      </p:sp>
      <p:sp>
        <p:nvSpPr>
          <p:cNvPr id="15" name="Text 13"/>
          <p:cNvSpPr/>
          <p:nvPr/>
        </p:nvSpPr>
        <p:spPr>
          <a:xfrm>
            <a:off x="6894576" y="4105656"/>
            <a:ext cx="4544568" cy="9144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06-sft-r16-lr2e4 names the phase and the variable. You will have two hundred of these.</a:t>
            </a:r>
            <a:endParaRPr lang="en-US" sz="1100" dirty="0"/>
          </a:p>
        </p:txBody>
      </p:sp>
      <p:sp>
        <p:nvSpPr>
          <p:cNvPr id="16" name="Shape 14"/>
          <p:cNvSpPr/>
          <p:nvPr/>
        </p:nvSpPr>
        <p:spPr>
          <a:xfrm>
            <a:off x="6675120" y="4443984"/>
            <a:ext cx="4983480" cy="694944"/>
          </a:xfrm>
          <a:prstGeom prst="roundRect">
            <a:avLst>
              <a:gd name="adj" fmla="val 921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6894576" y="4590288"/>
            <a:ext cx="454456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Commit before running</a:t>
            </a:r>
            <a:endParaRPr lang="en-US" sz="1250" dirty="0"/>
          </a:p>
        </p:txBody>
      </p:sp>
      <p:sp>
        <p:nvSpPr>
          <p:cNvPr id="18" name="Text 16"/>
          <p:cNvSpPr/>
          <p:nvPr/>
        </p:nvSpPr>
        <p:spPr>
          <a:xfrm>
            <a:off x="6894576" y="4901184"/>
            <a:ext cx="4544568" cy="9144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 config committed after the fact is a reconstruction, not a record.</a:t>
            </a:r>
            <a:endParaRPr lang="en-US" sz="1100" dirty="0"/>
          </a:p>
        </p:txBody>
      </p:sp>
      <p:sp>
        <p:nvSpPr>
          <p:cNvPr id="19" name="Shape 17"/>
          <p:cNvSpPr/>
          <p:nvPr/>
        </p:nvSpPr>
        <p:spPr>
          <a:xfrm>
            <a:off x="502920" y="5257800"/>
            <a:ext cx="11155680" cy="1097280"/>
          </a:xfrm>
          <a:prstGeom prst="roundRect">
            <a:avLst>
              <a:gd name="adj" fmla="val 5833"/>
            </a:avLst>
          </a:prstGeom>
          <a:solidFill>
            <a:srgbClr val="1F3D2E"/>
          </a:solidFill>
          <a:ln/>
        </p:spPr>
      </p:sp>
      <p:sp>
        <p:nvSpPr>
          <p:cNvPr id="20" name="Shape 18"/>
          <p:cNvSpPr/>
          <p:nvPr/>
        </p:nvSpPr>
        <p:spPr>
          <a:xfrm>
            <a:off x="740664" y="5440680"/>
            <a:ext cx="292608" cy="292608"/>
          </a:xfrm>
          <a:prstGeom prst="ellipse">
            <a:avLst/>
          </a:prstGeom>
          <a:solidFill>
            <a:srgbClr val="1F3D2E"/>
          </a:solidFill>
          <a:ln/>
        </p:spPr>
      </p:sp>
      <p:sp>
        <p:nvSpPr>
          <p:cNvPr id="21" name="Text 19"/>
          <p:cNvSpPr/>
          <p:nvPr/>
        </p:nvSpPr>
        <p:spPr>
          <a:xfrm>
            <a:off x="740664" y="544068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2" name="Text 20"/>
          <p:cNvSpPr/>
          <p:nvPr/>
        </p:nvSpPr>
        <p:spPr>
          <a:xfrm>
            <a:off x="1133856" y="545896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3" name="Text 21"/>
          <p:cNvSpPr/>
          <p:nvPr/>
        </p:nvSpPr>
        <p:spPr>
          <a:xfrm>
            <a:off x="740664" y="5833872"/>
            <a:ext cx="10680192" cy="3474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Three weeks in I had a checkpoint that scored better than anything since, and no idea what produced it. I never reproduced it. Every config has been committed before the run ever since — that one lost result cost me more than the discipline ever has.</a:t>
            </a:r>
            <a:endParaRPr lang="en-US" sz="1150" dirty="0"/>
          </a:p>
        </p:txBody>
      </p:sp>
      <p:sp>
        <p:nvSpPr>
          <p:cNvPr id="24" name="Text 2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PHASE 1</a:t>
            </a:r>
            <a:endParaRPr lang="en-US" sz="1250" dirty="0"/>
          </a:p>
        </p:txBody>
      </p:sp>
      <p:sp>
        <p:nvSpPr>
          <p:cNvPr id="3" name="Text 1"/>
          <p:cNvSpPr/>
          <p:nvPr/>
        </p:nvSpPr>
        <p:spPr>
          <a:xfrm>
            <a:off x="777240" y="23317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Getting Both Machines Working</a:t>
            </a:r>
            <a:endParaRPr lang="en-US" sz="4000" dirty="0"/>
          </a:p>
        </p:txBody>
      </p:sp>
      <p:sp>
        <p:nvSpPr>
          <p:cNvPr id="4" name="Text 2"/>
          <p:cNvSpPr/>
          <p:nvPr/>
        </p:nvSpPr>
        <p:spPr>
          <a:xfrm>
            <a:off x="777240" y="32004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Two days, and it is genuinely the least fun part. Do it properly once —</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every hour spent here is repaid in not debugging phantom problems later.</a:t>
            </a:r>
            <a:endParaRPr lang="en-US" sz="1550" dirty="0"/>
          </a:p>
        </p:txBody>
      </p:sp>
      <p:sp>
        <p:nvSpPr>
          <p:cNvPr id="5" name="Text 3"/>
          <p:cNvSpPr/>
          <p:nvPr/>
        </p:nvSpPr>
        <p:spPr>
          <a:xfrm>
            <a:off x="777240" y="4892040"/>
            <a:ext cx="10607040" cy="237744"/>
          </a:xfrm>
          <a:prstGeom prst="rect">
            <a:avLst/>
          </a:prstGeom>
          <a:noFill/>
          <a:ln/>
        </p:spPr>
        <p:txBody>
          <a:bodyPr wrap="square" lIns="0" tIns="0" rIns="0" bIns="0" rtlCol="0" anchor="ctr"/>
          <a:lstStyle/>
          <a:p>
            <a:pPr indent="0" marL="0">
              <a:buNone/>
            </a:pPr>
            <a:r>
              <a:rPr lang="en-US" sz="900" b="1" spc="250" kern="0" dirty="0">
                <a:solidFill>
                  <a:srgbClr val="2A5240"/>
                </a:solidFill>
                <a:latin typeface="Calibri" pitchFamily="34" charset="0"/>
                <a:ea typeface="Calibri" pitchFamily="34" charset="-122"/>
                <a:cs typeface="Calibri" pitchFamily="34" charset="-120"/>
              </a:rPr>
              <a:t>WHERE YOU ARE</a:t>
            </a:r>
            <a:endParaRPr lang="en-US" sz="900" dirty="0"/>
          </a:p>
        </p:txBody>
      </p:sp>
      <p:sp>
        <p:nvSpPr>
          <p:cNvPr id="6" name="Shape 4"/>
          <p:cNvSpPr/>
          <p:nvPr/>
        </p:nvSpPr>
        <p:spPr>
          <a:xfrm>
            <a:off x="777240" y="5212080"/>
            <a:ext cx="829056" cy="182880"/>
          </a:xfrm>
          <a:prstGeom prst="rect">
            <a:avLst/>
          </a:prstGeom>
          <a:solidFill>
            <a:srgbClr val="8FB573"/>
          </a:solidFill>
          <a:ln/>
        </p:spPr>
      </p:sp>
      <p:sp>
        <p:nvSpPr>
          <p:cNvPr id="7" name="Text 5"/>
          <p:cNvSpPr/>
          <p:nvPr/>
        </p:nvSpPr>
        <p:spPr>
          <a:xfrm>
            <a:off x="685800" y="5468112"/>
            <a:ext cx="1011936" cy="219456"/>
          </a:xfrm>
          <a:prstGeom prst="rect">
            <a:avLst/>
          </a:prstGeom>
          <a:noFill/>
          <a:ln/>
        </p:spPr>
        <p:txBody>
          <a:bodyPr wrap="square" lIns="0" tIns="0" rIns="0" bIns="0" rtlCol="0" anchor="ctr"/>
          <a:lstStyle/>
          <a:p>
            <a:pPr algn="ctr" indent="0" marL="0">
              <a:buNone/>
            </a:pPr>
            <a:r>
              <a:rPr lang="en-US" sz="750" b="1" dirty="0">
                <a:solidFill>
                  <a:srgbClr val="8FB573"/>
                </a:solidFill>
                <a:latin typeface="Calibri" pitchFamily="34" charset="0"/>
                <a:ea typeface="Calibri" pitchFamily="34" charset="-122"/>
                <a:cs typeface="Calibri" pitchFamily="34" charset="-120"/>
              </a:rPr>
              <a:t>SETUP</a:t>
            </a:r>
            <a:endParaRPr lang="en-US" sz="750" dirty="0"/>
          </a:p>
        </p:txBody>
      </p:sp>
      <p:sp>
        <p:nvSpPr>
          <p:cNvPr id="8" name="Shape 6"/>
          <p:cNvSpPr/>
          <p:nvPr/>
        </p:nvSpPr>
        <p:spPr>
          <a:xfrm>
            <a:off x="1661160" y="5212080"/>
            <a:ext cx="829056" cy="73152"/>
          </a:xfrm>
          <a:prstGeom prst="rect">
            <a:avLst/>
          </a:prstGeom>
          <a:solidFill>
            <a:srgbClr val="27452F"/>
          </a:solidFill>
          <a:ln/>
        </p:spPr>
      </p:sp>
      <p:sp>
        <p:nvSpPr>
          <p:cNvPr id="9" name="Text 7"/>
          <p:cNvSpPr/>
          <p:nvPr/>
        </p:nvSpPr>
        <p:spPr>
          <a:xfrm>
            <a:off x="15697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MODEL</a:t>
            </a:r>
            <a:endParaRPr lang="en-US" sz="750" dirty="0"/>
          </a:p>
        </p:txBody>
      </p:sp>
      <p:sp>
        <p:nvSpPr>
          <p:cNvPr id="10" name="Shape 8"/>
          <p:cNvSpPr/>
          <p:nvPr/>
        </p:nvSpPr>
        <p:spPr>
          <a:xfrm>
            <a:off x="2545080" y="5212080"/>
            <a:ext cx="829056" cy="73152"/>
          </a:xfrm>
          <a:prstGeom prst="rect">
            <a:avLst/>
          </a:prstGeom>
          <a:solidFill>
            <a:srgbClr val="27452F"/>
          </a:solidFill>
          <a:ln/>
        </p:spPr>
      </p:sp>
      <p:sp>
        <p:nvSpPr>
          <p:cNvPr id="11" name="Text 9"/>
          <p:cNvSpPr/>
          <p:nvPr/>
        </p:nvSpPr>
        <p:spPr>
          <a:xfrm>
            <a:off x="245364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SANDBOX</a:t>
            </a:r>
            <a:endParaRPr lang="en-US" sz="750" dirty="0"/>
          </a:p>
        </p:txBody>
      </p:sp>
      <p:sp>
        <p:nvSpPr>
          <p:cNvPr id="12" name="Shape 10"/>
          <p:cNvSpPr/>
          <p:nvPr/>
        </p:nvSpPr>
        <p:spPr>
          <a:xfrm>
            <a:off x="3429000" y="5212080"/>
            <a:ext cx="829056" cy="73152"/>
          </a:xfrm>
          <a:prstGeom prst="rect">
            <a:avLst/>
          </a:prstGeom>
          <a:solidFill>
            <a:srgbClr val="27452F"/>
          </a:solidFill>
          <a:ln/>
        </p:spPr>
      </p:sp>
      <p:sp>
        <p:nvSpPr>
          <p:cNvPr id="13" name="Text 11"/>
          <p:cNvSpPr/>
          <p:nvPr/>
        </p:nvSpPr>
        <p:spPr>
          <a:xfrm>
            <a:off x="333756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EVAL</a:t>
            </a:r>
            <a:endParaRPr lang="en-US" sz="750" dirty="0"/>
          </a:p>
        </p:txBody>
      </p:sp>
      <p:sp>
        <p:nvSpPr>
          <p:cNvPr id="14" name="Shape 12"/>
          <p:cNvSpPr/>
          <p:nvPr/>
        </p:nvSpPr>
        <p:spPr>
          <a:xfrm>
            <a:off x="4312920" y="5212080"/>
            <a:ext cx="829056" cy="73152"/>
          </a:xfrm>
          <a:prstGeom prst="rect">
            <a:avLst/>
          </a:prstGeom>
          <a:solidFill>
            <a:srgbClr val="27452F"/>
          </a:solidFill>
          <a:ln/>
        </p:spPr>
      </p:sp>
      <p:sp>
        <p:nvSpPr>
          <p:cNvPr id="15" name="Text 13"/>
          <p:cNvSpPr/>
          <p:nvPr/>
        </p:nvSpPr>
        <p:spPr>
          <a:xfrm>
            <a:off x="422148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DATA</a:t>
            </a:r>
            <a:endParaRPr lang="en-US" sz="750" dirty="0"/>
          </a:p>
        </p:txBody>
      </p:sp>
      <p:sp>
        <p:nvSpPr>
          <p:cNvPr id="16" name="Shape 14"/>
          <p:cNvSpPr/>
          <p:nvPr/>
        </p:nvSpPr>
        <p:spPr>
          <a:xfrm>
            <a:off x="5196840" y="5212080"/>
            <a:ext cx="829056" cy="73152"/>
          </a:xfrm>
          <a:prstGeom prst="rect">
            <a:avLst/>
          </a:prstGeom>
          <a:solidFill>
            <a:srgbClr val="27452F"/>
          </a:solidFill>
          <a:ln/>
        </p:spPr>
      </p:sp>
      <p:sp>
        <p:nvSpPr>
          <p:cNvPr id="17" name="Text 15"/>
          <p:cNvSpPr/>
          <p:nvPr/>
        </p:nvSpPr>
        <p:spPr>
          <a:xfrm>
            <a:off x="51054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SFT</a:t>
            </a:r>
            <a:endParaRPr lang="en-US" sz="750" dirty="0"/>
          </a:p>
        </p:txBody>
      </p:sp>
      <p:sp>
        <p:nvSpPr>
          <p:cNvPr id="18" name="Shape 16"/>
          <p:cNvSpPr/>
          <p:nvPr/>
        </p:nvSpPr>
        <p:spPr>
          <a:xfrm>
            <a:off x="6080760" y="5212080"/>
            <a:ext cx="829056" cy="73152"/>
          </a:xfrm>
          <a:prstGeom prst="rect">
            <a:avLst/>
          </a:prstGeom>
          <a:solidFill>
            <a:srgbClr val="27452F"/>
          </a:solidFill>
          <a:ln/>
        </p:spPr>
      </p:sp>
      <p:sp>
        <p:nvSpPr>
          <p:cNvPr id="19" name="Text 17"/>
          <p:cNvSpPr/>
          <p:nvPr/>
        </p:nvSpPr>
        <p:spPr>
          <a:xfrm>
            <a:off x="59893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RFT</a:t>
            </a:r>
            <a:endParaRPr lang="en-US" sz="750" dirty="0"/>
          </a:p>
        </p:txBody>
      </p:sp>
      <p:sp>
        <p:nvSpPr>
          <p:cNvPr id="20" name="Shape 18"/>
          <p:cNvSpPr/>
          <p:nvPr/>
        </p:nvSpPr>
        <p:spPr>
          <a:xfrm>
            <a:off x="6964680" y="5212080"/>
            <a:ext cx="829056" cy="73152"/>
          </a:xfrm>
          <a:prstGeom prst="rect">
            <a:avLst/>
          </a:prstGeom>
          <a:solidFill>
            <a:srgbClr val="27452F"/>
          </a:solidFill>
          <a:ln/>
        </p:spPr>
      </p:sp>
      <p:sp>
        <p:nvSpPr>
          <p:cNvPr id="21" name="Text 19"/>
          <p:cNvSpPr/>
          <p:nvPr/>
        </p:nvSpPr>
        <p:spPr>
          <a:xfrm>
            <a:off x="687324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DPO</a:t>
            </a:r>
            <a:endParaRPr lang="en-US" sz="750" dirty="0"/>
          </a:p>
        </p:txBody>
      </p:sp>
      <p:sp>
        <p:nvSpPr>
          <p:cNvPr id="22" name="Shape 20"/>
          <p:cNvSpPr/>
          <p:nvPr/>
        </p:nvSpPr>
        <p:spPr>
          <a:xfrm>
            <a:off x="7848600" y="5212080"/>
            <a:ext cx="829056" cy="73152"/>
          </a:xfrm>
          <a:prstGeom prst="rect">
            <a:avLst/>
          </a:prstGeom>
          <a:solidFill>
            <a:srgbClr val="27452F"/>
          </a:solidFill>
          <a:ln/>
        </p:spPr>
      </p:sp>
      <p:sp>
        <p:nvSpPr>
          <p:cNvPr id="23" name="Text 21"/>
          <p:cNvSpPr/>
          <p:nvPr/>
        </p:nvSpPr>
        <p:spPr>
          <a:xfrm>
            <a:off x="775716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GRPO</a:t>
            </a:r>
            <a:endParaRPr lang="en-US" sz="750" dirty="0"/>
          </a:p>
        </p:txBody>
      </p:sp>
      <p:sp>
        <p:nvSpPr>
          <p:cNvPr id="24" name="Shape 22"/>
          <p:cNvSpPr/>
          <p:nvPr/>
        </p:nvSpPr>
        <p:spPr>
          <a:xfrm>
            <a:off x="8732520" y="5212080"/>
            <a:ext cx="829056" cy="73152"/>
          </a:xfrm>
          <a:prstGeom prst="rect">
            <a:avLst/>
          </a:prstGeom>
          <a:solidFill>
            <a:srgbClr val="27452F"/>
          </a:solidFill>
          <a:ln/>
        </p:spPr>
      </p:sp>
      <p:sp>
        <p:nvSpPr>
          <p:cNvPr id="25" name="Text 23"/>
          <p:cNvSpPr/>
          <p:nvPr/>
        </p:nvSpPr>
        <p:spPr>
          <a:xfrm>
            <a:off x="864108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REPAIR</a:t>
            </a:r>
            <a:endParaRPr lang="en-US" sz="750" dirty="0"/>
          </a:p>
        </p:txBody>
      </p:sp>
      <p:sp>
        <p:nvSpPr>
          <p:cNvPr id="26" name="Shape 24"/>
          <p:cNvSpPr/>
          <p:nvPr/>
        </p:nvSpPr>
        <p:spPr>
          <a:xfrm>
            <a:off x="9616440" y="5212080"/>
            <a:ext cx="829056" cy="73152"/>
          </a:xfrm>
          <a:prstGeom prst="rect">
            <a:avLst/>
          </a:prstGeom>
          <a:solidFill>
            <a:srgbClr val="27452F"/>
          </a:solidFill>
          <a:ln/>
        </p:spPr>
      </p:sp>
      <p:sp>
        <p:nvSpPr>
          <p:cNvPr id="27" name="Text 25"/>
          <p:cNvSpPr/>
          <p:nvPr/>
        </p:nvSpPr>
        <p:spPr>
          <a:xfrm>
            <a:off x="95250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MERGE</a:t>
            </a:r>
            <a:endParaRPr lang="en-US" sz="750" dirty="0"/>
          </a:p>
        </p:txBody>
      </p:sp>
      <p:sp>
        <p:nvSpPr>
          <p:cNvPr id="28" name="Shape 26"/>
          <p:cNvSpPr/>
          <p:nvPr/>
        </p:nvSpPr>
        <p:spPr>
          <a:xfrm>
            <a:off x="10500360" y="5212080"/>
            <a:ext cx="829056" cy="73152"/>
          </a:xfrm>
          <a:prstGeom prst="rect">
            <a:avLst/>
          </a:prstGeom>
          <a:solidFill>
            <a:srgbClr val="27452F"/>
          </a:solidFill>
          <a:ln/>
        </p:spPr>
      </p:sp>
      <p:sp>
        <p:nvSpPr>
          <p:cNvPr id="29" name="Text 27"/>
          <p:cNvSpPr/>
          <p:nvPr/>
        </p:nvSpPr>
        <p:spPr>
          <a:xfrm>
            <a:off x="104089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SERVE</a:t>
            </a:r>
            <a:endParaRPr lang="en-US" sz="7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SETUP</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What runs where — the dependency matrix</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Print this. It answers 90% of the 'why doesn't this work on my Mac' questions.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55680" cy="914400"/>
        </p:xfrm>
        <a:graphic>
          <a:graphicData uri="http://schemas.openxmlformats.org/drawingml/2006/table">
            <a:tbl>
              <a:tblPr/>
              <a:tblGrid>
                <a:gridCol w="1737360"/>
                <a:gridCol w="3108960"/>
                <a:gridCol w="3017520"/>
                <a:gridCol w="3291840"/>
              </a:tblGrid>
              <a:tr h="2743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Library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Asus (Ubuntu + CUDA)</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Mac (macOS + Metal)</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torch</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Everything</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 — cu12x/cu13x wheels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 — MPS backend, partial op coverage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transformers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Model loading, generation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datasets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Data loading, streaming</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peft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LoRA / adapters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 (slow on MPS)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trl</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SFT / DPO / GRPO trainers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Partial — no vLLM backend</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bitsandbytes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4-bit / 8-bit quantization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 — this is why QLoRA works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NO — CUDA only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unsloth</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2x faster, ~50% less VRAM</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 — Triton native on Linux</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NO — CUDA only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flash-attn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Fused attention kernel</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 (Ampere) — ~20 min build</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NO — CUDA only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triton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Kernel compiler under Unsloth</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 — first-class on Linux</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vllm</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Fast batched inference / RL rollouts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Installs, but 4GB caps it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NO — not practical</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deepspeed</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Multi-GPU sharding</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Irrelevant (single GPU)</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mlx / mlx-lm</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Apple-native training + serving</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NO</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 — the native path</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llama.cpp</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GGUF inference, accelerated</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 (CUDA build)</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 — excellent (Metal)</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docker</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Level-2 sandbox isolation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Native — ~50ms/container</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VM-backed — 1–3s/container</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resource / os.setsid</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Level-1 sandbox limits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 — POSIX</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 — POSIX</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evalplus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HumanEval+ / MBPP+ harness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mergekit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Checkpoint merging</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Yes (CPU)</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Text 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SETUP</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Asus — your CUDA classroom</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Ubuntu 26.04 LTS. Windows was removed — see TUF/01-SETUP.md.</a:t>
            </a:r>
            <a:endParaRPr lang="en-US" sz="1300" dirty="0"/>
          </a:p>
        </p:txBody>
      </p:sp>
      <p:sp>
        <p:nvSpPr>
          <p:cNvPr id="5" name="Shape 3"/>
          <p:cNvSpPr/>
          <p:nvPr/>
        </p:nvSpPr>
        <p:spPr>
          <a:xfrm>
            <a:off x="502920" y="1481328"/>
            <a:ext cx="5943600" cy="3931920"/>
          </a:xfrm>
          <a:prstGeom prst="roundRect">
            <a:avLst>
              <a:gd name="adj" fmla="val 1395"/>
            </a:avLst>
          </a:prstGeom>
          <a:solidFill>
            <a:srgbClr val="0F1F17"/>
          </a:solidFill>
          <a:ln/>
        </p:spPr>
      </p:sp>
      <p:sp>
        <p:nvSpPr>
          <p:cNvPr id="6" name="Text 4"/>
          <p:cNvSpPr/>
          <p:nvPr/>
        </p:nvSpPr>
        <p:spPr>
          <a:xfrm>
            <a:off x="722376" y="1627632"/>
            <a:ext cx="550468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ASUS TUF A17 · UBUNTU 26.04 LTS · RTX 3050 4GB</a:t>
            </a:r>
            <a:endParaRPr lang="en-US" sz="950" dirty="0"/>
          </a:p>
        </p:txBody>
      </p:sp>
      <p:sp>
        <p:nvSpPr>
          <p:cNvPr id="7" name="Text 5"/>
          <p:cNvSpPr/>
          <p:nvPr/>
        </p:nvSpPr>
        <p:spPr>
          <a:xfrm>
            <a:off x="722376" y="1901952"/>
            <a:ext cx="5504688" cy="336499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1. NVIDIA driver (the ONLY system-level piece)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ubuntu-drivers devices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sudo ubuntu-drivers autoinstall &amp;&amp; sudo reboot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nvidia-smi        # RTX 3050, 4096MiB</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2. Build tools — gcc is NOT optional (Triton JITs)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sudo apt install -y build-essential git tmux</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curl -LsSf https://astral.sh/uv/install.sh | sh</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uv venv --python 3.12 .venv &amp;&amp; source .venv/bin/activate</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3. Torch — CUDA runtime ships INSIDE the wheel</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pip install torch --index-url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https://download.pytorch.org/whl/cu128</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4. The training stack</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pip install transformers datasets accelerate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pip install peft trl bitsandbytes unsloth wandb</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5. Optional — ~20 min to compile, worth it once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pip install flash-attn --no-build-isolation</a:t>
            </a:r>
            <a:endParaRPr lang="en-US" sz="1000" dirty="0"/>
          </a:p>
        </p:txBody>
      </p:sp>
      <p:sp>
        <p:nvSpPr>
          <p:cNvPr id="8" name="Shape 6"/>
          <p:cNvSpPr/>
          <p:nvPr/>
        </p:nvSpPr>
        <p:spPr>
          <a:xfrm>
            <a:off x="6675120" y="1481328"/>
            <a:ext cx="4983480" cy="950976"/>
          </a:xfrm>
          <a:prstGeom prst="roundRect">
            <a:avLst>
              <a:gd name="adj" fmla="val 673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6894576" y="1627632"/>
            <a:ext cx="454456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Linux buys you ~0.5–1 GB of VRAM</a:t>
            </a:r>
            <a:endParaRPr lang="en-US" sz="1250" dirty="0"/>
          </a:p>
        </p:txBody>
      </p:sp>
      <p:sp>
        <p:nvSpPr>
          <p:cNvPr id="10" name="Text 8"/>
          <p:cNvSpPr/>
          <p:nvPr/>
        </p:nvSpPr>
        <p:spPr>
          <a:xfrm>
            <a:off x="6894576" y="1938528"/>
            <a:ext cx="4544568" cy="347472"/>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Windows' desktop compositor held 500–1000 MB permanently — 12–25% of a 4GB card. With the display on the integrated Radeon, idle dGPU usage is single-digit MB. That reclaimed headroom is what makes 1.5B comfortable.</a:t>
            </a:r>
            <a:endParaRPr lang="en-US" sz="1100" dirty="0"/>
          </a:p>
        </p:txBody>
      </p:sp>
      <p:sp>
        <p:nvSpPr>
          <p:cNvPr id="11" name="Shape 9"/>
          <p:cNvSpPr/>
          <p:nvPr/>
        </p:nvSpPr>
        <p:spPr>
          <a:xfrm>
            <a:off x="6675120" y="2532888"/>
            <a:ext cx="4983480" cy="950976"/>
          </a:xfrm>
          <a:prstGeom prst="roundRect">
            <a:avLst>
              <a:gd name="adj" fmla="val 673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10"/>
          <p:cNvSpPr/>
          <p:nvPr/>
        </p:nvSpPr>
        <p:spPr>
          <a:xfrm>
            <a:off x="6894576" y="2679192"/>
            <a:ext cx="454456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You do NOT need the CUDA Toolkit</a:t>
            </a:r>
            <a:endParaRPr lang="en-US" sz="1250" dirty="0"/>
          </a:p>
        </p:txBody>
      </p:sp>
      <p:sp>
        <p:nvSpPr>
          <p:cNvPr id="13" name="Text 11"/>
          <p:cNvSpPr/>
          <p:nvPr/>
        </p:nvSpPr>
        <p:spPr>
          <a:xfrm>
            <a:off x="6894576" y="2990088"/>
            <a:ext cx="4544568" cy="347472"/>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PyTorch's wheels bundle their own CUDA runtime; only the DRIVER is system-wide. Most guides tell you to install the full toolkit — a large download you do not need.</a:t>
            </a:r>
            <a:endParaRPr lang="en-US" sz="1100" dirty="0"/>
          </a:p>
        </p:txBody>
      </p:sp>
      <p:sp>
        <p:nvSpPr>
          <p:cNvPr id="14" name="Shape 12"/>
          <p:cNvSpPr/>
          <p:nvPr/>
        </p:nvSpPr>
        <p:spPr>
          <a:xfrm>
            <a:off x="6675120" y="3584448"/>
            <a:ext cx="4983480" cy="950976"/>
          </a:xfrm>
          <a:prstGeom prst="roundRect">
            <a:avLst>
              <a:gd name="adj" fmla="val 673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3"/>
          <p:cNvSpPr/>
          <p:nvPr/>
        </p:nvSpPr>
        <p:spPr>
          <a:xfrm>
            <a:off x="6894576" y="3730752"/>
            <a:ext cx="454456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Unsloth: measured, not assumed</a:t>
            </a:r>
            <a:endParaRPr lang="en-US" sz="1250" dirty="0"/>
          </a:p>
        </p:txBody>
      </p:sp>
      <p:sp>
        <p:nvSpPr>
          <p:cNvPr id="16" name="Text 14"/>
          <p:cNvSpPr/>
          <p:nvPr/>
        </p:nvSpPr>
        <p:spPr>
          <a:xfrm>
            <a:off x="6894576" y="4041648"/>
            <a:ext cx="4544568" cy="347472"/>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1.5B at seq512 batch1 trains WITHOUT it — 2,239 MiB, 580 tok/s (2026-08-23). Its real value is the fused cross-entropy that never materializes the fp32 logits tensor. Unmeasured here: Triton needs a C compiler.</a:t>
            </a:r>
            <a:endParaRPr lang="en-US" sz="1100" dirty="0"/>
          </a:p>
        </p:txBody>
      </p:sp>
      <p:sp>
        <p:nvSpPr>
          <p:cNvPr id="17" name="Shape 15"/>
          <p:cNvSpPr/>
          <p:nvPr/>
        </p:nvSpPr>
        <p:spPr>
          <a:xfrm>
            <a:off x="6675120" y="4636008"/>
            <a:ext cx="4983480" cy="950976"/>
          </a:xfrm>
          <a:prstGeom prst="roundRect">
            <a:avLst>
              <a:gd name="adj" fmla="val 673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Text 16"/>
          <p:cNvSpPr/>
          <p:nvPr/>
        </p:nvSpPr>
        <p:spPr>
          <a:xfrm>
            <a:off x="6894576" y="4782312"/>
            <a:ext cx="454456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16GB system RAM is the real ceiling</a:t>
            </a:r>
            <a:endParaRPr lang="en-US" sz="1250" dirty="0"/>
          </a:p>
        </p:txBody>
      </p:sp>
      <p:sp>
        <p:nvSpPr>
          <p:cNvPr id="19" name="Text 17"/>
          <p:cNvSpPr/>
          <p:nvPr/>
        </p:nvSpPr>
        <p:spPr>
          <a:xfrm>
            <a:off x="6894576" y="5093208"/>
            <a:ext cx="4544568" cy="347472"/>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You hit host-RAM limits during dataset loading long before VRAM limits. Stream, don't load. Keep 16GB of swap.</a:t>
            </a:r>
            <a:endParaRPr lang="en-US" sz="1100" dirty="0"/>
          </a:p>
        </p:txBody>
      </p:sp>
      <p:sp>
        <p:nvSpPr>
          <p:cNvPr id="20" name="Text 1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SETUP</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Freeing the card — the Linux-specific win</a:t>
            </a:r>
            <a:endParaRPr lang="en-US" sz="2900" dirty="0"/>
          </a:p>
        </p:txBody>
      </p:sp>
      <p:sp>
        <p:nvSpPr>
          <p:cNvPr id="4" name="Text 2"/>
          <p:cNvSpPr/>
          <p:nvPr/>
        </p:nvSpPr>
        <p:spPr>
          <a:xfrm>
            <a:off x="502920" y="1234440"/>
            <a:ext cx="11155680" cy="54864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On a 4GB card, half a gigabyte is 12% of your entire budget. This is the single most concrete reason the Asus runs Ubuntu rather than Windows.</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55680" cy="914400"/>
        </p:xfrm>
        <a:graphic>
          <a:graphicData uri="http://schemas.openxmlformats.org/drawingml/2006/table">
            <a:tbl>
              <a:tblPr/>
              <a:tblGrid>
                <a:gridCol w="3566160"/>
                <a:gridCol w="2103120"/>
                <a:gridCol w="2468880"/>
                <a:gridCol w="301752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Setup</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Idle VRAM held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Usable for training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Windows 11 + browser open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500–1000 MiB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~3,100–3,600 MiB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DWM compositor + browser GPU process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Ubuntu, desktop on dGPU</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150–300 MiB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~3,800 MiB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avoid this — no reason to drive the display from the 3050</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Ubuntu, hybrid — MEASURED 2026-08-23</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47 MiB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3,770 MiB (torch)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number to budget against. 4,096 total; the display reserves the rest.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…of which practically allocatable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3,174–3,584 MiB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moves with desktop use. Budget the FLOOR, not the peak.</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3931920"/>
            <a:ext cx="6766560" cy="1234440"/>
          </a:xfrm>
          <a:prstGeom prst="roundRect">
            <a:avLst>
              <a:gd name="adj" fmla="val 4444"/>
            </a:avLst>
          </a:prstGeom>
          <a:solidFill>
            <a:srgbClr val="0F1F17"/>
          </a:solidFill>
          <a:ln/>
        </p:spPr>
      </p:sp>
      <p:sp>
        <p:nvSpPr>
          <p:cNvPr id="7" name="Text 4"/>
          <p:cNvSpPr/>
          <p:nvPr/>
        </p:nvSpPr>
        <p:spPr>
          <a:xfrm>
            <a:off x="722376" y="4078224"/>
            <a:ext cx="6327648" cy="94183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Verify before every long run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nvidia-smi --query-gpu=memory.used,memory.total --format=csv</a:t>
            </a:r>
            <a:endParaRPr lang="en-US" sz="1000" dirty="0"/>
          </a:p>
          <a:p>
            <a:pPr indent="0" marL="0">
              <a:lnSpc>
                <a:spcPct val="112000"/>
              </a:lnSpc>
              <a:buNone/>
            </a:pPr>
            <a:r>
              <a:rPr lang="en-US" sz="1000" dirty="0">
                <a:solidFill>
                  <a:srgbClr val="D98E32"/>
                </a:solidFill>
                <a:latin typeface="Courier New" pitchFamily="34" charset="0"/>
                <a:ea typeface="Courier New" pitchFamily="34" charset="-122"/>
                <a:cs typeface="Courier New" pitchFamily="34" charset="-120"/>
              </a:rPr>
              <a:t># measured 2026-08-23: 47 MiB held, 3770 usable</a:t>
            </a:r>
            <a:endParaRPr lang="en-US" sz="1000" dirty="0"/>
          </a:p>
        </p:txBody>
      </p:sp>
      <p:sp>
        <p:nvSpPr>
          <p:cNvPr id="8" name="Shape 5"/>
          <p:cNvSpPr/>
          <p:nvPr/>
        </p:nvSpPr>
        <p:spPr>
          <a:xfrm>
            <a:off x="7452360" y="3931920"/>
            <a:ext cx="4206240" cy="566928"/>
          </a:xfrm>
          <a:prstGeom prst="roundRect">
            <a:avLst>
              <a:gd name="adj" fmla="val 1129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7671816" y="4078224"/>
            <a:ext cx="376732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Stay in Hybrid mode</a:t>
            </a:r>
            <a:endParaRPr lang="en-US" sz="1250" dirty="0"/>
          </a:p>
        </p:txBody>
      </p:sp>
      <p:sp>
        <p:nvSpPr>
          <p:cNvPr id="10" name="Text 7"/>
          <p:cNvSpPr/>
          <p:nvPr/>
        </p:nvSpPr>
        <p:spPr>
          <a:xfrm>
            <a:off x="7671816" y="4389120"/>
            <a:ext cx="3767328" cy="-365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Do NOT switch to dGPU-only. Hybrid is what keeps the 3050 free.</a:t>
            </a:r>
            <a:endParaRPr lang="en-US" sz="1100" dirty="0"/>
          </a:p>
        </p:txBody>
      </p:sp>
      <p:sp>
        <p:nvSpPr>
          <p:cNvPr id="11" name="Shape 8"/>
          <p:cNvSpPr/>
          <p:nvPr/>
        </p:nvSpPr>
        <p:spPr>
          <a:xfrm>
            <a:off x="7452360" y="4599432"/>
            <a:ext cx="4206240" cy="566928"/>
          </a:xfrm>
          <a:prstGeom prst="roundRect">
            <a:avLst>
              <a:gd name="adj" fmla="val 1129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7671816" y="4745736"/>
            <a:ext cx="376732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The budgets assume a clean card</a:t>
            </a:r>
            <a:endParaRPr lang="en-US" sz="1250" dirty="0"/>
          </a:p>
        </p:txBody>
      </p:sp>
      <p:sp>
        <p:nvSpPr>
          <p:cNvPr id="13" name="Text 10"/>
          <p:cNvSpPr/>
          <p:nvPr/>
        </p:nvSpPr>
        <p:spPr>
          <a:xfrm>
            <a:off x="7671816" y="5056632"/>
            <a:ext cx="3767328" cy="-365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Every VRAM table in this deck assumes hybrid mode.</a:t>
            </a:r>
            <a:endParaRPr lang="en-US" sz="1100" dirty="0"/>
          </a:p>
        </p:txBody>
      </p:sp>
      <p:sp>
        <p:nvSpPr>
          <p:cNvPr id="14" name="Shape 11"/>
          <p:cNvSpPr/>
          <p:nvPr/>
        </p:nvSpPr>
        <p:spPr>
          <a:xfrm>
            <a:off x="502920" y="5349240"/>
            <a:ext cx="11155680" cy="868680"/>
          </a:xfrm>
          <a:prstGeom prst="roundRect">
            <a:avLst>
              <a:gd name="adj" fmla="val 7368"/>
            </a:avLst>
          </a:prstGeom>
          <a:solidFill>
            <a:srgbClr val="1F3D2E"/>
          </a:solidFill>
          <a:ln/>
        </p:spPr>
      </p:sp>
      <p:sp>
        <p:nvSpPr>
          <p:cNvPr id="15" name="Shape 12"/>
          <p:cNvSpPr/>
          <p:nvPr/>
        </p:nvSpPr>
        <p:spPr>
          <a:xfrm>
            <a:off x="740664" y="5532120"/>
            <a:ext cx="292608" cy="292608"/>
          </a:xfrm>
          <a:prstGeom prst="ellipse">
            <a:avLst/>
          </a:prstGeom>
          <a:solidFill>
            <a:srgbClr val="1F3D2E"/>
          </a:solidFill>
          <a:ln/>
        </p:spPr>
      </p:sp>
      <p:sp>
        <p:nvSpPr>
          <p:cNvPr id="16" name="Text 13"/>
          <p:cNvSpPr/>
          <p:nvPr/>
        </p:nvSpPr>
        <p:spPr>
          <a:xfrm>
            <a:off x="740664" y="55321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7" name="Text 14"/>
          <p:cNvSpPr/>
          <p:nvPr/>
        </p:nvSpPr>
        <p:spPr>
          <a:xfrm>
            <a:off x="1133856" y="55504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8" name="Text 15"/>
          <p:cNvSpPr/>
          <p:nvPr/>
        </p:nvSpPr>
        <p:spPr>
          <a:xfrm>
            <a:off x="740664" y="5925312"/>
            <a:ext cx="10680192" cy="1188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Always reason in MiB — nvidia-smi and torch both report MiB, and 3,770 MiB is 3.68 GiB but 3.95 GB. Mixing the units is how a budget quietly gains 300 MiB it does not have.</a:t>
            </a:r>
            <a:endParaRPr lang="en-US" sz="1150" dirty="0"/>
          </a:p>
        </p:txBody>
      </p:sp>
      <p:sp>
        <p:nvSpPr>
          <p:cNvPr id="19" name="Text 16"/>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SETUP</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Mac — your workshop</a:t>
            </a:r>
            <a:endParaRPr lang="en-US" sz="2900" dirty="0"/>
          </a:p>
        </p:txBody>
      </p:sp>
      <p:sp>
        <p:nvSpPr>
          <p:cNvPr id="4" name="Shape 2"/>
          <p:cNvSpPr/>
          <p:nvPr/>
        </p:nvSpPr>
        <p:spPr>
          <a:xfrm>
            <a:off x="502920" y="1234440"/>
            <a:ext cx="5943600" cy="4114800"/>
          </a:xfrm>
          <a:prstGeom prst="roundRect">
            <a:avLst>
              <a:gd name="adj" fmla="val 1333"/>
            </a:avLst>
          </a:prstGeom>
          <a:solidFill>
            <a:srgbClr val="0F1F17"/>
          </a:solidFill>
          <a:ln/>
        </p:spPr>
      </p:sp>
      <p:sp>
        <p:nvSpPr>
          <p:cNvPr id="5" name="Text 3"/>
          <p:cNvSpPr/>
          <p:nvPr/>
        </p:nvSpPr>
        <p:spPr>
          <a:xfrm>
            <a:off x="722376" y="1380744"/>
            <a:ext cx="550468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MACBOOK PRO M5 PRO · 48GB</a:t>
            </a:r>
            <a:endParaRPr lang="en-US" sz="950" dirty="0"/>
          </a:p>
        </p:txBody>
      </p:sp>
      <p:sp>
        <p:nvSpPr>
          <p:cNvPr id="6" name="Text 4"/>
          <p:cNvSpPr/>
          <p:nvPr/>
        </p:nvSpPr>
        <p:spPr>
          <a:xfrm>
            <a:off x="722376" y="1655064"/>
            <a:ext cx="5504688" cy="354787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1. Environment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uv venv --python 3.12 .venv</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source .venv/bin/activate</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2. Torch (MPS backend ships by default)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pip install torch</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python -c "import torch;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print(torch.backends.mps.is_available())"</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3. Apple-native training + serving</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pip install mlx mlx-lm</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4. Data + eval (the Mac's real job)</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pip install transformers datasets evalplus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pip install datasketch      # MinHash dedup</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pip install sentence-transformers</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5. GGUF inference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brew install llama.cpp</a:t>
            </a:r>
            <a:endParaRPr lang="en-US" sz="1000" dirty="0"/>
          </a:p>
        </p:txBody>
      </p:sp>
      <p:sp>
        <p:nvSpPr>
          <p:cNvPr id="7" name="Shape 5"/>
          <p:cNvSpPr/>
          <p:nvPr/>
        </p:nvSpPr>
        <p:spPr>
          <a:xfrm>
            <a:off x="6675120" y="1234440"/>
            <a:ext cx="4983480" cy="987552"/>
          </a:xfrm>
          <a:prstGeom prst="roundRect">
            <a:avLst>
              <a:gd name="adj" fmla="val 648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894576" y="1380744"/>
            <a:ext cx="454456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48GB unified is the superpower</a:t>
            </a:r>
            <a:endParaRPr lang="en-US" sz="1250" dirty="0"/>
          </a:p>
        </p:txBody>
      </p:sp>
      <p:sp>
        <p:nvSpPr>
          <p:cNvPr id="9" name="Text 7"/>
          <p:cNvSpPr/>
          <p:nvPr/>
        </p:nvSpPr>
        <p:spPr>
          <a:xfrm>
            <a:off x="6894576" y="1691640"/>
            <a:ext cx="4544568" cy="38404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You can hold a 14B model in 4-bit AND a dedup index in RAM simultaneously. Most rented GPUs cannot.</a:t>
            </a:r>
            <a:endParaRPr lang="en-US" sz="1100" dirty="0"/>
          </a:p>
        </p:txBody>
      </p:sp>
      <p:sp>
        <p:nvSpPr>
          <p:cNvPr id="10" name="Shape 8"/>
          <p:cNvSpPr/>
          <p:nvPr/>
        </p:nvSpPr>
        <p:spPr>
          <a:xfrm>
            <a:off x="6675120" y="2331720"/>
            <a:ext cx="4983480" cy="987552"/>
          </a:xfrm>
          <a:prstGeom prst="roundRect">
            <a:avLst>
              <a:gd name="adj" fmla="val 648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6894576" y="2478024"/>
            <a:ext cx="454456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MPS is a trap for training</a:t>
            </a:r>
            <a:endParaRPr lang="en-US" sz="1250" dirty="0"/>
          </a:p>
        </p:txBody>
      </p:sp>
      <p:sp>
        <p:nvSpPr>
          <p:cNvPr id="12" name="Text 10"/>
          <p:cNvSpPr/>
          <p:nvPr/>
        </p:nvSpPr>
        <p:spPr>
          <a:xfrm>
            <a:off x="6894576" y="2788920"/>
            <a:ext cx="4544568" cy="38404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It works, but many ops silently fall back to CPU. You get correct results at 1/10th the speed and no warning. Use MLX instead.</a:t>
            </a:r>
            <a:endParaRPr lang="en-US" sz="1100" dirty="0"/>
          </a:p>
        </p:txBody>
      </p:sp>
      <p:sp>
        <p:nvSpPr>
          <p:cNvPr id="13" name="Shape 11"/>
          <p:cNvSpPr/>
          <p:nvPr/>
        </p:nvSpPr>
        <p:spPr>
          <a:xfrm>
            <a:off x="6675120" y="3429000"/>
            <a:ext cx="4983480" cy="987552"/>
          </a:xfrm>
          <a:prstGeom prst="roundRect">
            <a:avLst>
              <a:gd name="adj" fmla="val 648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6894576" y="3575304"/>
            <a:ext cx="454456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MLX is the native path</a:t>
            </a:r>
            <a:endParaRPr lang="en-US" sz="1250" dirty="0"/>
          </a:p>
        </p:txBody>
      </p:sp>
      <p:sp>
        <p:nvSpPr>
          <p:cNvPr id="15" name="Text 13"/>
          <p:cNvSpPr/>
          <p:nvPr/>
        </p:nvSpPr>
        <p:spPr>
          <a:xfrm>
            <a:off x="6894576" y="3886200"/>
            <a:ext cx="4544568" cy="38404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mlx_lm.lora trains, mlx_lm.generate serves, mlx_lm.convert quantizes. Fast, but Apple-specific — not transferable knowledge.</a:t>
            </a:r>
            <a:endParaRPr lang="en-US" sz="1100" dirty="0"/>
          </a:p>
        </p:txBody>
      </p:sp>
      <p:sp>
        <p:nvSpPr>
          <p:cNvPr id="16" name="Shape 14"/>
          <p:cNvSpPr/>
          <p:nvPr/>
        </p:nvSpPr>
        <p:spPr>
          <a:xfrm>
            <a:off x="6675120" y="4526280"/>
            <a:ext cx="4983480" cy="987552"/>
          </a:xfrm>
          <a:prstGeom prst="roundRect">
            <a:avLst>
              <a:gd name="adj" fmla="val 648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6894576" y="4672584"/>
            <a:ext cx="454456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This machine owns the data pipeline</a:t>
            </a:r>
            <a:endParaRPr lang="en-US" sz="1250" dirty="0"/>
          </a:p>
        </p:txBody>
      </p:sp>
      <p:sp>
        <p:nvSpPr>
          <p:cNvPr id="18" name="Text 16"/>
          <p:cNvSpPr/>
          <p:nvPr/>
        </p:nvSpPr>
        <p:spPr>
          <a:xfrm>
            <a:off x="6894576" y="4983480"/>
            <a:ext cx="4544568" cy="38404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Dedup, decontamination, and synthetic generation are all RAM-bound. They belong here, not on the Asus.</a:t>
            </a:r>
            <a:endParaRPr lang="en-US" sz="1100" dirty="0"/>
          </a:p>
        </p:txBody>
      </p:sp>
      <p:sp>
        <p:nvSpPr>
          <p:cNvPr id="19" name="Text 1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SETUP</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Smoke tests — catch 90% of setup bugs in 5 minutes</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Run every one of these before you write a single line of project code.</a:t>
            </a:r>
            <a:endParaRPr lang="en-US" sz="1300" dirty="0"/>
          </a:p>
        </p:txBody>
      </p:sp>
      <p:sp>
        <p:nvSpPr>
          <p:cNvPr id="5" name="Shape 3"/>
          <p:cNvSpPr/>
          <p:nvPr/>
        </p:nvSpPr>
        <p:spPr>
          <a:xfrm>
            <a:off x="502920" y="1481328"/>
            <a:ext cx="11155680" cy="630936"/>
          </a:xfrm>
          <a:prstGeom prst="roundRect">
            <a:avLst>
              <a:gd name="adj" fmla="val 1014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Shape 4"/>
          <p:cNvSpPr/>
          <p:nvPr/>
        </p:nvSpPr>
        <p:spPr>
          <a:xfrm>
            <a:off x="502920" y="1481328"/>
            <a:ext cx="91440" cy="630936"/>
          </a:xfrm>
          <a:prstGeom prst="rect">
            <a:avLst/>
          </a:prstGeom>
          <a:solidFill>
            <a:srgbClr val="8FB573"/>
          </a:solidFill>
          <a:ln/>
        </p:spPr>
      </p:sp>
      <p:sp>
        <p:nvSpPr>
          <p:cNvPr id="7" name="Text 5"/>
          <p:cNvSpPr/>
          <p:nvPr/>
        </p:nvSpPr>
        <p:spPr>
          <a:xfrm>
            <a:off x="822960" y="1591056"/>
            <a:ext cx="24688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CUDA visible</a:t>
            </a:r>
            <a:endParaRPr lang="en-US" sz="1250" dirty="0"/>
          </a:p>
        </p:txBody>
      </p:sp>
      <p:sp>
        <p:nvSpPr>
          <p:cNvPr id="8" name="Text 6"/>
          <p:cNvSpPr/>
          <p:nvPr/>
        </p:nvSpPr>
        <p:spPr>
          <a:xfrm>
            <a:off x="822960" y="1883664"/>
            <a:ext cx="24688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torch.cuda.is_available()</a:t>
            </a:r>
            <a:endParaRPr lang="en-US" sz="950" dirty="0"/>
          </a:p>
        </p:txBody>
      </p:sp>
      <p:sp>
        <p:nvSpPr>
          <p:cNvPr id="9" name="Text 7"/>
          <p:cNvSpPr/>
          <p:nvPr/>
        </p:nvSpPr>
        <p:spPr>
          <a:xfrm>
            <a:off x="3520440" y="1572768"/>
            <a:ext cx="8138160" cy="448056"/>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Must print True on the Asus. If False: driver/torch CUDA version mismatch. Reinstall torch with the matching cuXXX index URL.</a:t>
            </a:r>
            <a:endParaRPr lang="en-US" sz="1180" dirty="0"/>
          </a:p>
        </p:txBody>
      </p:sp>
      <p:sp>
        <p:nvSpPr>
          <p:cNvPr id="10" name="Shape 8"/>
          <p:cNvSpPr/>
          <p:nvPr/>
        </p:nvSpPr>
        <p:spPr>
          <a:xfrm>
            <a:off x="502920" y="2203704"/>
            <a:ext cx="11155680" cy="630936"/>
          </a:xfrm>
          <a:prstGeom prst="roundRect">
            <a:avLst>
              <a:gd name="adj" fmla="val 1014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9"/>
          <p:cNvSpPr/>
          <p:nvPr/>
        </p:nvSpPr>
        <p:spPr>
          <a:xfrm>
            <a:off x="502920" y="2203704"/>
            <a:ext cx="91440" cy="630936"/>
          </a:xfrm>
          <a:prstGeom prst="rect">
            <a:avLst/>
          </a:prstGeom>
          <a:solidFill>
            <a:srgbClr val="8FB573"/>
          </a:solidFill>
          <a:ln/>
        </p:spPr>
      </p:sp>
      <p:sp>
        <p:nvSpPr>
          <p:cNvPr id="12" name="Text 10"/>
          <p:cNvSpPr/>
          <p:nvPr/>
        </p:nvSpPr>
        <p:spPr>
          <a:xfrm>
            <a:off x="822960" y="2313432"/>
            <a:ext cx="24688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bitsandbytes works</a:t>
            </a:r>
            <a:endParaRPr lang="en-US" sz="1250" dirty="0"/>
          </a:p>
        </p:txBody>
      </p:sp>
      <p:sp>
        <p:nvSpPr>
          <p:cNvPr id="13" name="Text 11"/>
          <p:cNvSpPr/>
          <p:nvPr/>
        </p:nvSpPr>
        <p:spPr>
          <a:xfrm>
            <a:off x="822960" y="2606040"/>
            <a:ext cx="24688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python -m bitsandbytes</a:t>
            </a:r>
            <a:endParaRPr lang="en-US" sz="950" dirty="0"/>
          </a:p>
        </p:txBody>
      </p:sp>
      <p:sp>
        <p:nvSpPr>
          <p:cNvPr id="14" name="Text 12"/>
          <p:cNvSpPr/>
          <p:nvPr/>
        </p:nvSpPr>
        <p:spPr>
          <a:xfrm>
            <a:off x="3520440" y="2295144"/>
            <a:ext cx="8138160" cy="448056"/>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Runs a self-test. This is the single most common broken install — it fails silently at training time otherwise.</a:t>
            </a:r>
            <a:endParaRPr lang="en-US" sz="1180" dirty="0"/>
          </a:p>
        </p:txBody>
      </p:sp>
      <p:sp>
        <p:nvSpPr>
          <p:cNvPr id="15" name="Shape 13"/>
          <p:cNvSpPr/>
          <p:nvPr/>
        </p:nvSpPr>
        <p:spPr>
          <a:xfrm>
            <a:off x="502920" y="2926080"/>
            <a:ext cx="11155680" cy="630936"/>
          </a:xfrm>
          <a:prstGeom prst="roundRect">
            <a:avLst>
              <a:gd name="adj" fmla="val 1014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4"/>
          <p:cNvSpPr/>
          <p:nvPr/>
        </p:nvSpPr>
        <p:spPr>
          <a:xfrm>
            <a:off x="502920" y="2926080"/>
            <a:ext cx="91440" cy="630936"/>
          </a:xfrm>
          <a:prstGeom prst="rect">
            <a:avLst/>
          </a:prstGeom>
          <a:solidFill>
            <a:srgbClr val="8FB573"/>
          </a:solidFill>
          <a:ln/>
        </p:spPr>
      </p:sp>
      <p:sp>
        <p:nvSpPr>
          <p:cNvPr id="17" name="Text 15"/>
          <p:cNvSpPr/>
          <p:nvPr/>
        </p:nvSpPr>
        <p:spPr>
          <a:xfrm>
            <a:off x="822960" y="3035808"/>
            <a:ext cx="24688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4-bit load succeeds</a:t>
            </a:r>
            <a:endParaRPr lang="en-US" sz="1250" dirty="0"/>
          </a:p>
        </p:txBody>
      </p:sp>
      <p:sp>
        <p:nvSpPr>
          <p:cNvPr id="18" name="Text 16"/>
          <p:cNvSpPr/>
          <p:nvPr/>
        </p:nvSpPr>
        <p:spPr>
          <a:xfrm>
            <a:off x="822960" y="3328416"/>
            <a:ext cx="24688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load_in_4bit=True on 0.5B</a:t>
            </a:r>
            <a:endParaRPr lang="en-US" sz="950" dirty="0"/>
          </a:p>
        </p:txBody>
      </p:sp>
      <p:sp>
        <p:nvSpPr>
          <p:cNvPr id="19" name="Text 17"/>
          <p:cNvSpPr/>
          <p:nvPr/>
        </p:nvSpPr>
        <p:spPr>
          <a:xfrm>
            <a:off x="3520440" y="3017520"/>
            <a:ext cx="8138160" cy="448056"/>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Loads Qwen2.5-Coder-0.5B in NF4. If this OOMs on a 4GB card, something else is holding VRAM.</a:t>
            </a:r>
            <a:endParaRPr lang="en-US" sz="1180" dirty="0"/>
          </a:p>
        </p:txBody>
      </p:sp>
      <p:sp>
        <p:nvSpPr>
          <p:cNvPr id="20" name="Shape 18"/>
          <p:cNvSpPr/>
          <p:nvPr/>
        </p:nvSpPr>
        <p:spPr>
          <a:xfrm>
            <a:off x="502920" y="3648456"/>
            <a:ext cx="11155680" cy="630936"/>
          </a:xfrm>
          <a:prstGeom prst="roundRect">
            <a:avLst>
              <a:gd name="adj" fmla="val 1014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Shape 19"/>
          <p:cNvSpPr/>
          <p:nvPr/>
        </p:nvSpPr>
        <p:spPr>
          <a:xfrm>
            <a:off x="502920" y="3648456"/>
            <a:ext cx="91440" cy="630936"/>
          </a:xfrm>
          <a:prstGeom prst="rect">
            <a:avLst/>
          </a:prstGeom>
          <a:solidFill>
            <a:srgbClr val="8FB573"/>
          </a:solidFill>
          <a:ln/>
        </p:spPr>
      </p:sp>
      <p:sp>
        <p:nvSpPr>
          <p:cNvPr id="22" name="Text 20"/>
          <p:cNvSpPr/>
          <p:nvPr/>
        </p:nvSpPr>
        <p:spPr>
          <a:xfrm>
            <a:off x="822960" y="3758184"/>
            <a:ext cx="24688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A 10-step LoRA run completes</a:t>
            </a:r>
            <a:endParaRPr lang="en-US" sz="1250" dirty="0"/>
          </a:p>
        </p:txBody>
      </p:sp>
      <p:sp>
        <p:nvSpPr>
          <p:cNvPr id="23" name="Text 21"/>
          <p:cNvSpPr/>
          <p:nvPr/>
        </p:nvSpPr>
        <p:spPr>
          <a:xfrm>
            <a:off x="822960" y="4050792"/>
            <a:ext cx="24688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trl SFTTrainer, max_steps=10</a:t>
            </a:r>
            <a:endParaRPr lang="en-US" sz="950" dirty="0"/>
          </a:p>
        </p:txBody>
      </p:sp>
      <p:sp>
        <p:nvSpPr>
          <p:cNvPr id="24" name="Text 22"/>
          <p:cNvSpPr/>
          <p:nvPr/>
        </p:nvSpPr>
        <p:spPr>
          <a:xfrm>
            <a:off x="3520440" y="3739896"/>
            <a:ext cx="8138160" cy="448056"/>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End-to-end proof: data → tokenizer → model → optimizer → backward → save. Ten steps, two minutes.</a:t>
            </a:r>
            <a:endParaRPr lang="en-US" sz="1180" dirty="0"/>
          </a:p>
        </p:txBody>
      </p:sp>
      <p:sp>
        <p:nvSpPr>
          <p:cNvPr id="25" name="Shape 23"/>
          <p:cNvSpPr/>
          <p:nvPr/>
        </p:nvSpPr>
        <p:spPr>
          <a:xfrm>
            <a:off x="502920" y="4370832"/>
            <a:ext cx="11155680" cy="630936"/>
          </a:xfrm>
          <a:prstGeom prst="roundRect">
            <a:avLst>
              <a:gd name="adj" fmla="val 1014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6" name="Shape 24"/>
          <p:cNvSpPr/>
          <p:nvPr/>
        </p:nvSpPr>
        <p:spPr>
          <a:xfrm>
            <a:off x="502920" y="4370832"/>
            <a:ext cx="91440" cy="630936"/>
          </a:xfrm>
          <a:prstGeom prst="rect">
            <a:avLst/>
          </a:prstGeom>
          <a:solidFill>
            <a:srgbClr val="C9DDB4"/>
          </a:solidFill>
          <a:ln/>
        </p:spPr>
      </p:sp>
      <p:sp>
        <p:nvSpPr>
          <p:cNvPr id="27" name="Text 25"/>
          <p:cNvSpPr/>
          <p:nvPr/>
        </p:nvSpPr>
        <p:spPr>
          <a:xfrm>
            <a:off x="822960" y="4480560"/>
            <a:ext cx="24688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MPS available</a:t>
            </a:r>
            <a:endParaRPr lang="en-US" sz="1250" dirty="0"/>
          </a:p>
        </p:txBody>
      </p:sp>
      <p:sp>
        <p:nvSpPr>
          <p:cNvPr id="28" name="Text 26"/>
          <p:cNvSpPr/>
          <p:nvPr/>
        </p:nvSpPr>
        <p:spPr>
          <a:xfrm>
            <a:off x="822960" y="4773168"/>
            <a:ext cx="24688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torch.backends.mps.is_available()</a:t>
            </a:r>
            <a:endParaRPr lang="en-US" sz="950" dirty="0"/>
          </a:p>
        </p:txBody>
      </p:sp>
      <p:sp>
        <p:nvSpPr>
          <p:cNvPr id="29" name="Text 27"/>
          <p:cNvSpPr/>
          <p:nvPr/>
        </p:nvSpPr>
        <p:spPr>
          <a:xfrm>
            <a:off x="3520440" y="4462272"/>
            <a:ext cx="8138160" cy="448056"/>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On the Mac. True means the backend exists — it does not mean every op is implemented.</a:t>
            </a:r>
            <a:endParaRPr lang="en-US" sz="1180" dirty="0"/>
          </a:p>
        </p:txBody>
      </p:sp>
      <p:sp>
        <p:nvSpPr>
          <p:cNvPr id="30" name="Shape 28"/>
          <p:cNvSpPr/>
          <p:nvPr/>
        </p:nvSpPr>
        <p:spPr>
          <a:xfrm>
            <a:off x="502920" y="5093208"/>
            <a:ext cx="11155680" cy="630936"/>
          </a:xfrm>
          <a:prstGeom prst="roundRect">
            <a:avLst>
              <a:gd name="adj" fmla="val 1014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1" name="Shape 29"/>
          <p:cNvSpPr/>
          <p:nvPr/>
        </p:nvSpPr>
        <p:spPr>
          <a:xfrm>
            <a:off x="502920" y="5093208"/>
            <a:ext cx="91440" cy="630936"/>
          </a:xfrm>
          <a:prstGeom prst="rect">
            <a:avLst/>
          </a:prstGeom>
          <a:solidFill>
            <a:srgbClr val="C9DDB4"/>
          </a:solidFill>
          <a:ln/>
        </p:spPr>
      </p:sp>
      <p:sp>
        <p:nvSpPr>
          <p:cNvPr id="32" name="Text 30"/>
          <p:cNvSpPr/>
          <p:nvPr/>
        </p:nvSpPr>
        <p:spPr>
          <a:xfrm>
            <a:off x="822960" y="5202936"/>
            <a:ext cx="24688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MLX generates</a:t>
            </a:r>
            <a:endParaRPr lang="en-US" sz="1250" dirty="0"/>
          </a:p>
        </p:txBody>
      </p:sp>
      <p:sp>
        <p:nvSpPr>
          <p:cNvPr id="33" name="Text 31"/>
          <p:cNvSpPr/>
          <p:nvPr/>
        </p:nvSpPr>
        <p:spPr>
          <a:xfrm>
            <a:off x="822960" y="5495544"/>
            <a:ext cx="24688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mlx_lm.generate --model ...</a:t>
            </a:r>
            <a:endParaRPr lang="en-US" sz="950" dirty="0"/>
          </a:p>
        </p:txBody>
      </p:sp>
      <p:sp>
        <p:nvSpPr>
          <p:cNvPr id="34" name="Text 32"/>
          <p:cNvSpPr/>
          <p:nvPr/>
        </p:nvSpPr>
        <p:spPr>
          <a:xfrm>
            <a:off x="3520440" y="5184648"/>
            <a:ext cx="8138160" cy="448056"/>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Confirms the Apple path works and the model downloads correctly.</a:t>
            </a:r>
            <a:endParaRPr lang="en-US" sz="1180" dirty="0"/>
          </a:p>
        </p:txBody>
      </p:sp>
      <p:sp>
        <p:nvSpPr>
          <p:cNvPr id="35" name="Shape 33"/>
          <p:cNvSpPr/>
          <p:nvPr/>
        </p:nvSpPr>
        <p:spPr>
          <a:xfrm>
            <a:off x="502920" y="5815584"/>
            <a:ext cx="11155680" cy="630936"/>
          </a:xfrm>
          <a:prstGeom prst="roundRect">
            <a:avLst>
              <a:gd name="adj" fmla="val 1014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6" name="Shape 34"/>
          <p:cNvSpPr/>
          <p:nvPr/>
        </p:nvSpPr>
        <p:spPr>
          <a:xfrm>
            <a:off x="502920" y="5815584"/>
            <a:ext cx="91440" cy="630936"/>
          </a:xfrm>
          <a:prstGeom prst="rect">
            <a:avLst/>
          </a:prstGeom>
          <a:solidFill>
            <a:srgbClr val="C9DDB4"/>
          </a:solidFill>
          <a:ln/>
        </p:spPr>
      </p:sp>
      <p:sp>
        <p:nvSpPr>
          <p:cNvPr id="37" name="Text 35"/>
          <p:cNvSpPr/>
          <p:nvPr/>
        </p:nvSpPr>
        <p:spPr>
          <a:xfrm>
            <a:off x="822960" y="5925312"/>
            <a:ext cx="24688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W&amp;B logs</a:t>
            </a:r>
            <a:endParaRPr lang="en-US" sz="1250" dirty="0"/>
          </a:p>
        </p:txBody>
      </p:sp>
      <p:sp>
        <p:nvSpPr>
          <p:cNvPr id="38" name="Text 36"/>
          <p:cNvSpPr/>
          <p:nvPr/>
        </p:nvSpPr>
        <p:spPr>
          <a:xfrm>
            <a:off x="822960" y="6217920"/>
            <a:ext cx="24688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wandb.init() + one metric</a:t>
            </a:r>
            <a:endParaRPr lang="en-US" sz="950" dirty="0"/>
          </a:p>
        </p:txBody>
      </p:sp>
      <p:sp>
        <p:nvSpPr>
          <p:cNvPr id="39" name="Text 37"/>
          <p:cNvSpPr/>
          <p:nvPr/>
        </p:nvSpPr>
        <p:spPr>
          <a:xfrm>
            <a:off x="3520440" y="5907024"/>
            <a:ext cx="8138160" cy="448056"/>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Confirms auth and network. Do this before a 6-hour run, not during.</a:t>
            </a:r>
            <a:endParaRPr lang="en-US" sz="1180" dirty="0"/>
          </a:p>
        </p:txBody>
      </p:sp>
      <p:sp>
        <p:nvSpPr>
          <p:cNvPr id="40" name="Text 3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SETUP</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setup failures you will actually hit</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The first four are Ubuntu-specific and all happen in your first hour.</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55680" cy="914400"/>
        </p:xfrm>
        <a:graphic>
          <a:graphicData uri="http://schemas.openxmlformats.org/drawingml/2006/table">
            <a:tbl>
              <a:tblPr/>
              <a:tblGrid>
                <a:gridCol w="3657600"/>
                <a:gridCol w="3566160"/>
                <a:gridCol w="39319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Symptom</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Real cause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Fix</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27432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nvidia-smi: 'couldn't communicate with the NVIDIA driver'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Secure Boot rejected the unsigned kernel module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Enroll the MOK key at the blue boot screen, or disable Secure Boot in BIOS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Black screen after installing the driver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Wrong driver branch for the card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Boot with nomodeset, then sudo ubuntu-drivers autoinstall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/data is empty after a reboot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Second SSD not in /etc/fstab</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Add it by UUID; test with sudo mount -a BEFORE rebooting</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Permission denied writing to /data</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Mount owned by root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sudo chown -R $USER:$USER /data</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torch.cuda.is_available() is False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CPU-only torch wheel installed by default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Reinstall from the matching cuXXX index URL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bitsandbytes: 'CUDA Setup failed'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Library can't find libcudart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Match bnb version to torch CUDA; run python -m bitsandbytes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OOM immediately on a 0.5B model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Something else holds the card, or you left hybrid mode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nvidia-smi first; expect single-digit MB idle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Training is 20x slower than expected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Silently running on CPU (Mac MPS fallback)</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Assert device in code; watch it, don't assume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flash-attn install hangs forever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Compiling from source, single-threaded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MAX_JOBS=4, --no-build-isolation, or skip it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Disk fills up in a week</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HF cache defaulting to the 512GB root disk</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export HF_HOME=/data/hf early, not later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Unsloth import error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Installed on the Mac</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It is CUDA-only. Asus only.</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Dataset load kills the process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16GB RAM, non-streaming load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streaming=True, or do it on the Mac</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7432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NaN loss on step 1 with fp16</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fp16 overflow in attention</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Use bf16 — Ampere supports it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5440680"/>
            <a:ext cx="11155680" cy="914400"/>
          </a:xfrm>
          <a:prstGeom prst="roundRect">
            <a:avLst>
              <a:gd name="adj" fmla="val 7000"/>
            </a:avLst>
          </a:prstGeom>
          <a:solidFill>
            <a:srgbClr val="1F3D2E"/>
          </a:solidFill>
          <a:ln/>
        </p:spPr>
      </p:sp>
      <p:sp>
        <p:nvSpPr>
          <p:cNvPr id="7" name="Shape 4"/>
          <p:cNvSpPr/>
          <p:nvPr/>
        </p:nvSpPr>
        <p:spPr>
          <a:xfrm>
            <a:off x="740664" y="5623560"/>
            <a:ext cx="292608" cy="292608"/>
          </a:xfrm>
          <a:prstGeom prst="ellipse">
            <a:avLst/>
          </a:prstGeom>
          <a:solidFill>
            <a:srgbClr val="1F3D2E"/>
          </a:solidFill>
          <a:ln/>
        </p:spPr>
      </p:sp>
      <p:sp>
        <p:nvSpPr>
          <p:cNvPr id="8" name="Text 5"/>
          <p:cNvSpPr/>
          <p:nvPr/>
        </p:nvSpPr>
        <p:spPr>
          <a:xfrm>
            <a:off x="740664" y="562356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9" name="Text 6"/>
          <p:cNvSpPr/>
          <p:nvPr/>
        </p:nvSpPr>
        <p:spPr>
          <a:xfrm>
            <a:off x="1133856" y="564184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0" name="Text 7"/>
          <p:cNvSpPr/>
          <p:nvPr/>
        </p:nvSpPr>
        <p:spPr>
          <a:xfrm>
            <a:off x="740664" y="6016752"/>
            <a:ext cx="10680192" cy="1645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HF_HOME is the one that bites hardest on this machine. The OS SSD is only 512GB and the default cache lands in your home directory — a 200GB download will fill the root partition and take the desktop down with it. Set HF_HOME=/data/hf in ~/.bashrc before you download a single model.</a:t>
            </a:r>
            <a:endParaRPr lang="en-US" sz="1150" dirty="0"/>
          </a:p>
        </p:txBody>
      </p:sp>
      <p:sp>
        <p:nvSpPr>
          <p:cNvPr id="11" name="Text 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SETUP</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Experiment tracking — what to actually log</a:t>
            </a:r>
            <a:endParaRPr lang="en-US" sz="2900" dirty="0"/>
          </a:p>
        </p:txBody>
      </p:sp>
      <p:sp>
        <p:nvSpPr>
          <p:cNvPr id="4" name="Shape 2"/>
          <p:cNvSpPr/>
          <p:nvPr/>
        </p:nvSpPr>
        <p:spPr>
          <a:xfrm>
            <a:off x="502920" y="1280160"/>
            <a:ext cx="5486400" cy="2834640"/>
          </a:xfrm>
          <a:prstGeom prst="roundRect">
            <a:avLst>
              <a:gd name="adj" fmla="val 225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LOG THESE, ALWAYS</a:t>
            </a:r>
            <a:endParaRPr lang="en-US" sz="1250" dirty="0"/>
          </a:p>
        </p:txBody>
      </p:sp>
      <p:sp>
        <p:nvSpPr>
          <p:cNvPr id="6" name="Text 4"/>
          <p:cNvSpPr/>
          <p:nvPr/>
        </p:nvSpPr>
        <p:spPr>
          <a:xfrm>
            <a:off x="758952" y="1810512"/>
            <a:ext cx="4974336" cy="213969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train/loss and eval/loss per step</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learning rate (verify your schedule is real)</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grad_norm — spikes precede divergence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GPU memory allocated and reserved</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tokens/sec — your throughput baseline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The full config as a run artifact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Git SHA of the code that ran</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Data version tag</a:t>
            </a:r>
            <a:endParaRPr lang="en-US" sz="1150" dirty="0"/>
          </a:p>
        </p:txBody>
      </p:sp>
      <p:sp>
        <p:nvSpPr>
          <p:cNvPr id="7" name="Shape 5"/>
          <p:cNvSpPr/>
          <p:nvPr/>
        </p:nvSpPr>
        <p:spPr>
          <a:xfrm>
            <a:off x="6172200" y="1280160"/>
            <a:ext cx="5486400" cy="2834640"/>
          </a:xfrm>
          <a:prstGeom prst="roundRect">
            <a:avLst>
              <a:gd name="adj" fmla="val 225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PHASE-SPECIFIC, EASY TO FORGET</a:t>
            </a:r>
            <a:endParaRPr lang="en-US" sz="1250" dirty="0"/>
          </a:p>
        </p:txBody>
      </p:sp>
      <p:sp>
        <p:nvSpPr>
          <p:cNvPr id="9" name="Text 7"/>
          <p:cNvSpPr/>
          <p:nvPr/>
        </p:nvSpPr>
        <p:spPr>
          <a:xfrm>
            <a:off x="6428232" y="1810512"/>
            <a:ext cx="4974336" cy="213969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SFT: mean completion length</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DPO: implicit reward margin, chosen/rejected logps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DPO: output length before and after (verbosity)</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GRPO: mean reward, reward std within group</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GRPO: KL from the reference model</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GRPO: a sample of raw rollouts as a text table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All: held-out pass@1 at every checkpoint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All: a general benchmark, to catch forgetting</a:t>
            </a:r>
            <a:endParaRPr lang="en-US" sz="1150" dirty="0"/>
          </a:p>
        </p:txBody>
      </p:sp>
      <p:sp>
        <p:nvSpPr>
          <p:cNvPr id="10" name="Shape 8"/>
          <p:cNvSpPr/>
          <p:nvPr/>
        </p:nvSpPr>
        <p:spPr>
          <a:xfrm>
            <a:off x="502920" y="4297680"/>
            <a:ext cx="11155680" cy="566928"/>
          </a:xfrm>
          <a:prstGeom prst="roundRect">
            <a:avLst>
              <a:gd name="adj" fmla="val 9677"/>
            </a:avLst>
          </a:prstGeom>
          <a:solidFill>
            <a:srgbClr val="8FB573"/>
          </a:solidFill>
          <a:ln/>
        </p:spPr>
      </p:sp>
      <p:sp>
        <p:nvSpPr>
          <p:cNvPr id="11" name="Text 9"/>
          <p:cNvSpPr/>
          <p:nvPr/>
        </p:nvSpPr>
        <p:spPr>
          <a:xfrm>
            <a:off x="777240" y="429768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If a number is not logged, it did not happen. If a rollout is not sampled to the dashboard, you will never read it.</a:t>
            </a:r>
            <a:endParaRPr lang="en-US" sz="1450" dirty="0"/>
          </a:p>
        </p:txBody>
      </p:sp>
      <p:sp>
        <p:nvSpPr>
          <p:cNvPr id="12" name="Shape 10"/>
          <p:cNvSpPr/>
          <p:nvPr/>
        </p:nvSpPr>
        <p:spPr>
          <a:xfrm>
            <a:off x="502920" y="5074920"/>
            <a:ext cx="11155680" cy="1280160"/>
          </a:xfrm>
          <a:prstGeom prst="roundRect">
            <a:avLst>
              <a:gd name="adj" fmla="val 5000"/>
            </a:avLst>
          </a:prstGeom>
          <a:solidFill>
            <a:srgbClr val="1F3D2E"/>
          </a:solidFill>
          <a:ln/>
        </p:spPr>
      </p:sp>
      <p:sp>
        <p:nvSpPr>
          <p:cNvPr id="13" name="Shape 11"/>
          <p:cNvSpPr/>
          <p:nvPr/>
        </p:nvSpPr>
        <p:spPr>
          <a:xfrm>
            <a:off x="740664" y="5257800"/>
            <a:ext cx="292608" cy="292608"/>
          </a:xfrm>
          <a:prstGeom prst="ellipse">
            <a:avLst/>
          </a:prstGeom>
          <a:solidFill>
            <a:srgbClr val="1F3D2E"/>
          </a:solidFill>
          <a:ln/>
        </p:spPr>
      </p:sp>
      <p:sp>
        <p:nvSpPr>
          <p:cNvPr id="14" name="Text 12"/>
          <p:cNvSpPr/>
          <p:nvPr/>
        </p:nvSpPr>
        <p:spPr>
          <a:xfrm>
            <a:off x="740664" y="525780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27608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650992"/>
            <a:ext cx="10680192" cy="5303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Logging raw rollouts as a W&amp;B table felt like overkill until GRPO. That table is where I found every single reward hack — not in the loss curve, not in the reward curve, but in twenty lines of generated text that I only saw because I had made them easy to look at.</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SETUP</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Disk strategy across three volumes</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Mac 3TB · Asus 512GB root + 1TB /data. Sounds like plenty. It is not, once checkpoints accumulate.</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55680" cy="914400"/>
        </p:xfrm>
        <a:graphic>
          <a:graphicData uri="http://schemas.openxmlformats.org/drawingml/2006/table">
            <a:tbl>
              <a:tblPr/>
              <a:tblGrid>
                <a:gridCol w="2926080"/>
                <a:gridCol w="1737360"/>
                <a:gridCol w="2743200"/>
                <a:gridCol w="3749040"/>
              </a:tblGrid>
              <a:tr h="32461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Rough size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Where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Policy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HF model cache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150–400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Mac 3TB · Asus /data/hf</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Set HF_HOME day one. NEVER let it sit on the 512GB root.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The Stack v2 subset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50–200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Mac, data/raw/</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Download a language subset, not the whole thing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Instruction datasets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5–20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Mac, data/raw/</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Small. Keep all versions.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data/interim + processed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20–80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Mac (authoritative)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Every version kept. This is your provenance chain.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Training shards synced to Asus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1–10 GB per run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Asus /data/datasets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Copy only what a run needs. The Mac stays the source of truth.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Generated rollouts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10–100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Mac</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Grows fast during RFT and GRPO. Compress old ones.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LoRA adapters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20–200 MB each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Both, synced back to Mac</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Keep everything — they are tiny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Merged full models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1–15 GB each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Mac</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Do NOT keep. Regenerate from adapter + base.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24612">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Eval outputs / logs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1–10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Mac</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Keep. This is your results record.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4828032"/>
            <a:ext cx="3621024" cy="1051560"/>
          </a:xfrm>
          <a:prstGeom prst="roundRect">
            <a:avLst>
              <a:gd name="adj" fmla="val 608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7" name="Text 4"/>
          <p:cNvSpPr/>
          <p:nvPr/>
        </p:nvSpPr>
        <p:spPr>
          <a:xfrm>
            <a:off x="722376" y="4974336"/>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512GB rule</a:t>
            </a:r>
            <a:endParaRPr lang="en-US" sz="1250" dirty="0"/>
          </a:p>
        </p:txBody>
      </p:sp>
      <p:sp>
        <p:nvSpPr>
          <p:cNvPr id="8" name="Text 5"/>
          <p:cNvSpPr/>
          <p:nvPr/>
        </p:nvSpPr>
        <p:spPr>
          <a:xfrm>
            <a:off x="722376" y="5285232"/>
            <a:ext cx="3182112" cy="4480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Asus root SSD holds the OS, the venv and the repo — nothing else. Every large path points at /data, which is the 1TB ext4 (916 G, reformatted 2026-08-23).</a:t>
            </a:r>
            <a:endParaRPr lang="en-US" sz="1100" dirty="0"/>
          </a:p>
        </p:txBody>
      </p:sp>
      <p:sp>
        <p:nvSpPr>
          <p:cNvPr id="9" name="Shape 6"/>
          <p:cNvSpPr/>
          <p:nvPr/>
        </p:nvSpPr>
        <p:spPr>
          <a:xfrm>
            <a:off x="4270248" y="4828032"/>
            <a:ext cx="3621024" cy="1051560"/>
          </a:xfrm>
          <a:prstGeom prst="roundRect">
            <a:avLst>
              <a:gd name="adj" fmla="val 608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Text 7"/>
          <p:cNvSpPr/>
          <p:nvPr/>
        </p:nvSpPr>
        <p:spPr>
          <a:xfrm>
            <a:off x="4489704" y="4974336"/>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rule</a:t>
            </a:r>
            <a:endParaRPr lang="en-US" sz="1250" dirty="0"/>
          </a:p>
        </p:txBody>
      </p:sp>
      <p:sp>
        <p:nvSpPr>
          <p:cNvPr id="11" name="Text 8"/>
          <p:cNvSpPr/>
          <p:nvPr/>
        </p:nvSpPr>
        <p:spPr>
          <a:xfrm>
            <a:off x="4489704" y="5285232"/>
            <a:ext cx="3182112" cy="4480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Anything regenerable in under an hour gets deleted. Anything that took a day to produce gets kept forever.</a:t>
            </a:r>
            <a:endParaRPr lang="en-US" sz="1100" dirty="0"/>
          </a:p>
        </p:txBody>
      </p:sp>
      <p:sp>
        <p:nvSpPr>
          <p:cNvPr id="12" name="Shape 9"/>
          <p:cNvSpPr/>
          <p:nvPr/>
        </p:nvSpPr>
        <p:spPr>
          <a:xfrm>
            <a:off x="8037576" y="4828032"/>
            <a:ext cx="3621024" cy="1051560"/>
          </a:xfrm>
          <a:prstGeom prst="roundRect">
            <a:avLst>
              <a:gd name="adj" fmla="val 608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Text 10"/>
          <p:cNvSpPr/>
          <p:nvPr/>
        </p:nvSpPr>
        <p:spPr>
          <a:xfrm>
            <a:off x="8257032" y="4974336"/>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The trap</a:t>
            </a:r>
            <a:endParaRPr lang="en-US" sz="1250" dirty="0"/>
          </a:p>
        </p:txBody>
      </p:sp>
      <p:sp>
        <p:nvSpPr>
          <p:cNvPr id="14" name="Text 11"/>
          <p:cNvSpPr/>
          <p:nvPr/>
        </p:nvSpPr>
        <p:spPr>
          <a:xfrm>
            <a:off x="8257032" y="5285232"/>
            <a:ext cx="3182112" cy="4480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Merged models. Large, and a pure function of adapter + base. Never store them.</a:t>
            </a:r>
            <a:endParaRPr lang="en-US" sz="1100" dirty="0"/>
          </a:p>
        </p:txBody>
      </p:sp>
      <p:sp>
        <p:nvSpPr>
          <p:cNvPr id="15" name="Text 1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PHASE 2</a:t>
            </a:r>
            <a:endParaRPr lang="en-US" sz="1250" dirty="0"/>
          </a:p>
        </p:txBody>
      </p:sp>
      <p:sp>
        <p:nvSpPr>
          <p:cNvPr id="3" name="Text 1"/>
          <p:cNvSpPr/>
          <p:nvPr/>
        </p:nvSpPr>
        <p:spPr>
          <a:xfrm>
            <a:off x="777240" y="23317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Choosing and Understanding Your Base</a:t>
            </a:r>
            <a:endParaRPr lang="en-US" sz="4000" dirty="0"/>
          </a:p>
        </p:txBody>
      </p:sp>
      <p:sp>
        <p:nvSpPr>
          <p:cNvPr id="4" name="Text 2"/>
          <p:cNvSpPr/>
          <p:nvPr/>
        </p:nvSpPr>
        <p:spPr>
          <a:xfrm>
            <a:off x="777240" y="32004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One day. Get this wrong and every downstream number is contaminated by a</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format bug you will not find for three weeks.</a:t>
            </a:r>
            <a:endParaRPr lang="en-US" sz="1550" dirty="0"/>
          </a:p>
        </p:txBody>
      </p:sp>
      <p:sp>
        <p:nvSpPr>
          <p:cNvPr id="5" name="Text 3"/>
          <p:cNvSpPr/>
          <p:nvPr/>
        </p:nvSpPr>
        <p:spPr>
          <a:xfrm>
            <a:off x="777240" y="4892040"/>
            <a:ext cx="10607040" cy="237744"/>
          </a:xfrm>
          <a:prstGeom prst="rect">
            <a:avLst/>
          </a:prstGeom>
          <a:noFill/>
          <a:ln/>
        </p:spPr>
        <p:txBody>
          <a:bodyPr wrap="square" lIns="0" tIns="0" rIns="0" bIns="0" rtlCol="0" anchor="ctr"/>
          <a:lstStyle/>
          <a:p>
            <a:pPr indent="0" marL="0">
              <a:buNone/>
            </a:pPr>
            <a:r>
              <a:rPr lang="en-US" sz="900" b="1" spc="250" kern="0" dirty="0">
                <a:solidFill>
                  <a:srgbClr val="2A5240"/>
                </a:solidFill>
                <a:latin typeface="Calibri" pitchFamily="34" charset="0"/>
                <a:ea typeface="Calibri" pitchFamily="34" charset="-122"/>
                <a:cs typeface="Calibri" pitchFamily="34" charset="-120"/>
              </a:rPr>
              <a:t>WHERE YOU ARE</a:t>
            </a:r>
            <a:endParaRPr lang="en-US" sz="900" dirty="0"/>
          </a:p>
        </p:txBody>
      </p:sp>
      <p:sp>
        <p:nvSpPr>
          <p:cNvPr id="6" name="Shape 4"/>
          <p:cNvSpPr/>
          <p:nvPr/>
        </p:nvSpPr>
        <p:spPr>
          <a:xfrm>
            <a:off x="777240" y="5212080"/>
            <a:ext cx="829056" cy="73152"/>
          </a:xfrm>
          <a:prstGeom prst="rect">
            <a:avLst/>
          </a:prstGeom>
          <a:solidFill>
            <a:srgbClr val="2A5240"/>
          </a:solidFill>
          <a:ln/>
        </p:spPr>
      </p:sp>
      <p:sp>
        <p:nvSpPr>
          <p:cNvPr id="7" name="Text 5"/>
          <p:cNvSpPr/>
          <p:nvPr/>
        </p:nvSpPr>
        <p:spPr>
          <a:xfrm>
            <a:off x="6858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SETUP</a:t>
            </a:r>
            <a:endParaRPr lang="en-US" sz="750" dirty="0"/>
          </a:p>
        </p:txBody>
      </p:sp>
      <p:sp>
        <p:nvSpPr>
          <p:cNvPr id="8" name="Shape 6"/>
          <p:cNvSpPr/>
          <p:nvPr/>
        </p:nvSpPr>
        <p:spPr>
          <a:xfrm>
            <a:off x="1661160" y="5212080"/>
            <a:ext cx="829056" cy="182880"/>
          </a:xfrm>
          <a:prstGeom prst="rect">
            <a:avLst/>
          </a:prstGeom>
          <a:solidFill>
            <a:srgbClr val="8FB573"/>
          </a:solidFill>
          <a:ln/>
        </p:spPr>
      </p:sp>
      <p:sp>
        <p:nvSpPr>
          <p:cNvPr id="9" name="Text 7"/>
          <p:cNvSpPr/>
          <p:nvPr/>
        </p:nvSpPr>
        <p:spPr>
          <a:xfrm>
            <a:off x="1569720" y="5468112"/>
            <a:ext cx="1011936" cy="219456"/>
          </a:xfrm>
          <a:prstGeom prst="rect">
            <a:avLst/>
          </a:prstGeom>
          <a:noFill/>
          <a:ln/>
        </p:spPr>
        <p:txBody>
          <a:bodyPr wrap="square" lIns="0" tIns="0" rIns="0" bIns="0" rtlCol="0" anchor="ctr"/>
          <a:lstStyle/>
          <a:p>
            <a:pPr algn="ctr" indent="0" marL="0">
              <a:buNone/>
            </a:pPr>
            <a:r>
              <a:rPr lang="en-US" sz="750" b="1" dirty="0">
                <a:solidFill>
                  <a:srgbClr val="8FB573"/>
                </a:solidFill>
                <a:latin typeface="Calibri" pitchFamily="34" charset="0"/>
                <a:ea typeface="Calibri" pitchFamily="34" charset="-122"/>
                <a:cs typeface="Calibri" pitchFamily="34" charset="-120"/>
              </a:rPr>
              <a:t>MODEL</a:t>
            </a:r>
            <a:endParaRPr lang="en-US" sz="750" dirty="0"/>
          </a:p>
        </p:txBody>
      </p:sp>
      <p:sp>
        <p:nvSpPr>
          <p:cNvPr id="10" name="Shape 8"/>
          <p:cNvSpPr/>
          <p:nvPr/>
        </p:nvSpPr>
        <p:spPr>
          <a:xfrm>
            <a:off x="2545080" y="5212080"/>
            <a:ext cx="829056" cy="73152"/>
          </a:xfrm>
          <a:prstGeom prst="rect">
            <a:avLst/>
          </a:prstGeom>
          <a:solidFill>
            <a:srgbClr val="27452F"/>
          </a:solidFill>
          <a:ln/>
        </p:spPr>
      </p:sp>
      <p:sp>
        <p:nvSpPr>
          <p:cNvPr id="11" name="Text 9"/>
          <p:cNvSpPr/>
          <p:nvPr/>
        </p:nvSpPr>
        <p:spPr>
          <a:xfrm>
            <a:off x="245364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SANDBOX</a:t>
            </a:r>
            <a:endParaRPr lang="en-US" sz="750" dirty="0"/>
          </a:p>
        </p:txBody>
      </p:sp>
      <p:sp>
        <p:nvSpPr>
          <p:cNvPr id="12" name="Shape 10"/>
          <p:cNvSpPr/>
          <p:nvPr/>
        </p:nvSpPr>
        <p:spPr>
          <a:xfrm>
            <a:off x="3429000" y="5212080"/>
            <a:ext cx="829056" cy="73152"/>
          </a:xfrm>
          <a:prstGeom prst="rect">
            <a:avLst/>
          </a:prstGeom>
          <a:solidFill>
            <a:srgbClr val="27452F"/>
          </a:solidFill>
          <a:ln/>
        </p:spPr>
      </p:sp>
      <p:sp>
        <p:nvSpPr>
          <p:cNvPr id="13" name="Text 11"/>
          <p:cNvSpPr/>
          <p:nvPr/>
        </p:nvSpPr>
        <p:spPr>
          <a:xfrm>
            <a:off x="333756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EVAL</a:t>
            </a:r>
            <a:endParaRPr lang="en-US" sz="750" dirty="0"/>
          </a:p>
        </p:txBody>
      </p:sp>
      <p:sp>
        <p:nvSpPr>
          <p:cNvPr id="14" name="Shape 12"/>
          <p:cNvSpPr/>
          <p:nvPr/>
        </p:nvSpPr>
        <p:spPr>
          <a:xfrm>
            <a:off x="4312920" y="5212080"/>
            <a:ext cx="829056" cy="73152"/>
          </a:xfrm>
          <a:prstGeom prst="rect">
            <a:avLst/>
          </a:prstGeom>
          <a:solidFill>
            <a:srgbClr val="27452F"/>
          </a:solidFill>
          <a:ln/>
        </p:spPr>
      </p:sp>
      <p:sp>
        <p:nvSpPr>
          <p:cNvPr id="15" name="Text 13"/>
          <p:cNvSpPr/>
          <p:nvPr/>
        </p:nvSpPr>
        <p:spPr>
          <a:xfrm>
            <a:off x="422148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DATA</a:t>
            </a:r>
            <a:endParaRPr lang="en-US" sz="750" dirty="0"/>
          </a:p>
        </p:txBody>
      </p:sp>
      <p:sp>
        <p:nvSpPr>
          <p:cNvPr id="16" name="Shape 14"/>
          <p:cNvSpPr/>
          <p:nvPr/>
        </p:nvSpPr>
        <p:spPr>
          <a:xfrm>
            <a:off x="5196840" y="5212080"/>
            <a:ext cx="829056" cy="73152"/>
          </a:xfrm>
          <a:prstGeom prst="rect">
            <a:avLst/>
          </a:prstGeom>
          <a:solidFill>
            <a:srgbClr val="27452F"/>
          </a:solidFill>
          <a:ln/>
        </p:spPr>
      </p:sp>
      <p:sp>
        <p:nvSpPr>
          <p:cNvPr id="17" name="Text 15"/>
          <p:cNvSpPr/>
          <p:nvPr/>
        </p:nvSpPr>
        <p:spPr>
          <a:xfrm>
            <a:off x="51054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SFT</a:t>
            </a:r>
            <a:endParaRPr lang="en-US" sz="750" dirty="0"/>
          </a:p>
        </p:txBody>
      </p:sp>
      <p:sp>
        <p:nvSpPr>
          <p:cNvPr id="18" name="Shape 16"/>
          <p:cNvSpPr/>
          <p:nvPr/>
        </p:nvSpPr>
        <p:spPr>
          <a:xfrm>
            <a:off x="6080760" y="5212080"/>
            <a:ext cx="829056" cy="73152"/>
          </a:xfrm>
          <a:prstGeom prst="rect">
            <a:avLst/>
          </a:prstGeom>
          <a:solidFill>
            <a:srgbClr val="27452F"/>
          </a:solidFill>
          <a:ln/>
        </p:spPr>
      </p:sp>
      <p:sp>
        <p:nvSpPr>
          <p:cNvPr id="19" name="Text 17"/>
          <p:cNvSpPr/>
          <p:nvPr/>
        </p:nvSpPr>
        <p:spPr>
          <a:xfrm>
            <a:off x="59893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RFT</a:t>
            </a:r>
            <a:endParaRPr lang="en-US" sz="750" dirty="0"/>
          </a:p>
        </p:txBody>
      </p:sp>
      <p:sp>
        <p:nvSpPr>
          <p:cNvPr id="20" name="Shape 18"/>
          <p:cNvSpPr/>
          <p:nvPr/>
        </p:nvSpPr>
        <p:spPr>
          <a:xfrm>
            <a:off x="6964680" y="5212080"/>
            <a:ext cx="829056" cy="73152"/>
          </a:xfrm>
          <a:prstGeom prst="rect">
            <a:avLst/>
          </a:prstGeom>
          <a:solidFill>
            <a:srgbClr val="27452F"/>
          </a:solidFill>
          <a:ln/>
        </p:spPr>
      </p:sp>
      <p:sp>
        <p:nvSpPr>
          <p:cNvPr id="21" name="Text 19"/>
          <p:cNvSpPr/>
          <p:nvPr/>
        </p:nvSpPr>
        <p:spPr>
          <a:xfrm>
            <a:off x="687324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DPO</a:t>
            </a:r>
            <a:endParaRPr lang="en-US" sz="750" dirty="0"/>
          </a:p>
        </p:txBody>
      </p:sp>
      <p:sp>
        <p:nvSpPr>
          <p:cNvPr id="22" name="Shape 20"/>
          <p:cNvSpPr/>
          <p:nvPr/>
        </p:nvSpPr>
        <p:spPr>
          <a:xfrm>
            <a:off x="7848600" y="5212080"/>
            <a:ext cx="829056" cy="73152"/>
          </a:xfrm>
          <a:prstGeom prst="rect">
            <a:avLst/>
          </a:prstGeom>
          <a:solidFill>
            <a:srgbClr val="27452F"/>
          </a:solidFill>
          <a:ln/>
        </p:spPr>
      </p:sp>
      <p:sp>
        <p:nvSpPr>
          <p:cNvPr id="23" name="Text 21"/>
          <p:cNvSpPr/>
          <p:nvPr/>
        </p:nvSpPr>
        <p:spPr>
          <a:xfrm>
            <a:off x="775716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GRPO</a:t>
            </a:r>
            <a:endParaRPr lang="en-US" sz="750" dirty="0"/>
          </a:p>
        </p:txBody>
      </p:sp>
      <p:sp>
        <p:nvSpPr>
          <p:cNvPr id="24" name="Shape 22"/>
          <p:cNvSpPr/>
          <p:nvPr/>
        </p:nvSpPr>
        <p:spPr>
          <a:xfrm>
            <a:off x="8732520" y="5212080"/>
            <a:ext cx="829056" cy="73152"/>
          </a:xfrm>
          <a:prstGeom prst="rect">
            <a:avLst/>
          </a:prstGeom>
          <a:solidFill>
            <a:srgbClr val="27452F"/>
          </a:solidFill>
          <a:ln/>
        </p:spPr>
      </p:sp>
      <p:sp>
        <p:nvSpPr>
          <p:cNvPr id="25" name="Text 23"/>
          <p:cNvSpPr/>
          <p:nvPr/>
        </p:nvSpPr>
        <p:spPr>
          <a:xfrm>
            <a:off x="864108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REPAIR</a:t>
            </a:r>
            <a:endParaRPr lang="en-US" sz="750" dirty="0"/>
          </a:p>
        </p:txBody>
      </p:sp>
      <p:sp>
        <p:nvSpPr>
          <p:cNvPr id="26" name="Shape 24"/>
          <p:cNvSpPr/>
          <p:nvPr/>
        </p:nvSpPr>
        <p:spPr>
          <a:xfrm>
            <a:off x="9616440" y="5212080"/>
            <a:ext cx="829056" cy="73152"/>
          </a:xfrm>
          <a:prstGeom prst="rect">
            <a:avLst/>
          </a:prstGeom>
          <a:solidFill>
            <a:srgbClr val="27452F"/>
          </a:solidFill>
          <a:ln/>
        </p:spPr>
      </p:sp>
      <p:sp>
        <p:nvSpPr>
          <p:cNvPr id="27" name="Text 25"/>
          <p:cNvSpPr/>
          <p:nvPr/>
        </p:nvSpPr>
        <p:spPr>
          <a:xfrm>
            <a:off x="95250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MERGE</a:t>
            </a:r>
            <a:endParaRPr lang="en-US" sz="750" dirty="0"/>
          </a:p>
        </p:txBody>
      </p:sp>
      <p:sp>
        <p:nvSpPr>
          <p:cNvPr id="28" name="Shape 26"/>
          <p:cNvSpPr/>
          <p:nvPr/>
        </p:nvSpPr>
        <p:spPr>
          <a:xfrm>
            <a:off x="10500360" y="5212080"/>
            <a:ext cx="829056" cy="73152"/>
          </a:xfrm>
          <a:prstGeom prst="rect">
            <a:avLst/>
          </a:prstGeom>
          <a:solidFill>
            <a:srgbClr val="27452F"/>
          </a:solidFill>
          <a:ln/>
        </p:spPr>
      </p:sp>
      <p:sp>
        <p:nvSpPr>
          <p:cNvPr id="29" name="Text 27"/>
          <p:cNvSpPr/>
          <p:nvPr/>
        </p:nvSpPr>
        <p:spPr>
          <a:xfrm>
            <a:off x="104089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SERVE</a:t>
            </a:r>
            <a:endParaRPr lang="en-US" sz="7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MODEL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open-weight code model landscape</a:t>
            </a:r>
            <a:endParaRPr lang="en-US" sz="2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103120"/>
                <a:gridCol w="2377440"/>
                <a:gridCol w="2377440"/>
                <a:gridCol w="429768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Family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Sizes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License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Qwen2.5-Coder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0.5 / 1.5 / 3 / 7 / 14 / 32B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Apache 2.0 (3B differs)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Strongest small models available. The default choice.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Qwen3 / Qwen3-Coder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0.6B upward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Apache 2.0</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Newer generation; check current sizes and coder variants.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DeepSeek-Coder / V2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1.3 / 6.7 / 16 / 33B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Custom model license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Strong, especially at repo-level context. Read the license.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StarCoder2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3 / 7 / 15B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BigCode OpenRAIL-M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Fully transparent training data (The Stack v2). Great for research.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CodeLlama</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7 / 13 / 34 / 70B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Llama 2 Community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Older now. Historically important, rarely the right pick today.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Granite Code (IBM)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3 / 8 / 20 / 34B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Apache 2.0</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Clean licensing, enterprise-oriented, well documented.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CodeGemma</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2 / 7B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Gemma Terms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Decent small models; license has use restrictions.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315968"/>
            <a:ext cx="11155680" cy="566928"/>
          </a:xfrm>
          <a:prstGeom prst="roundRect">
            <a:avLst>
              <a:gd name="adj" fmla="val 9677"/>
            </a:avLst>
          </a:prstGeom>
          <a:solidFill>
            <a:srgbClr val="D98E32"/>
          </a:solidFill>
          <a:ln/>
        </p:spPr>
      </p:sp>
      <p:sp>
        <p:nvSpPr>
          <p:cNvPr id="6" name="Text 3"/>
          <p:cNvSpPr/>
          <p:nvPr/>
        </p:nvSpPr>
        <p:spPr>
          <a:xfrm>
            <a:off x="777240" y="4315968"/>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Verify every license yourself before you ship anything. They change, and they differ per size within one family.</a:t>
            </a:r>
            <a:endParaRPr lang="en-US" sz="1450" dirty="0"/>
          </a:p>
        </p:txBody>
      </p:sp>
      <p:sp>
        <p:nvSpPr>
          <p:cNvPr id="7" name="Shape 4"/>
          <p:cNvSpPr/>
          <p:nvPr/>
        </p:nvSpPr>
        <p:spPr>
          <a:xfrm>
            <a:off x="502920" y="5074920"/>
            <a:ext cx="11155680" cy="1280160"/>
          </a:xfrm>
          <a:prstGeom prst="roundRect">
            <a:avLst>
              <a:gd name="adj" fmla="val 5000"/>
            </a:avLst>
          </a:prstGeom>
          <a:solidFill>
            <a:srgbClr val="1F3D2E"/>
          </a:solidFill>
          <a:ln/>
        </p:spPr>
      </p:sp>
      <p:sp>
        <p:nvSpPr>
          <p:cNvPr id="8" name="Shape 5"/>
          <p:cNvSpPr/>
          <p:nvPr/>
        </p:nvSpPr>
        <p:spPr>
          <a:xfrm>
            <a:off x="740664" y="5257800"/>
            <a:ext cx="292608" cy="292608"/>
          </a:xfrm>
          <a:prstGeom prst="ellipse">
            <a:avLst/>
          </a:prstGeom>
          <a:solidFill>
            <a:srgbClr val="1F3D2E"/>
          </a:solidFill>
          <a:ln/>
        </p:spPr>
      </p:sp>
      <p:sp>
        <p:nvSpPr>
          <p:cNvPr id="9" name="Text 6"/>
          <p:cNvSpPr/>
          <p:nvPr/>
        </p:nvSpPr>
        <p:spPr>
          <a:xfrm>
            <a:off x="740664" y="525780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0" name="Text 7"/>
          <p:cNvSpPr/>
          <p:nvPr/>
        </p:nvSpPr>
        <p:spPr>
          <a:xfrm>
            <a:off x="1133856" y="527608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1" name="Text 8"/>
          <p:cNvSpPr/>
          <p:nvPr/>
        </p:nvSpPr>
        <p:spPr>
          <a:xfrm>
            <a:off x="740664" y="5650992"/>
            <a:ext cx="10680192" cy="5303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picked a model on benchmark scores alone and discovered three weeks later that its license prohibited exactly what I wanted to do with it. Read the license on day one — it takes ten minutes and it constrains everything downstream, including whether you can use its outputs as training data.</a:t>
            </a:r>
            <a:endParaRPr lang="en-US" sz="1150" dirty="0"/>
          </a:p>
        </p:txBody>
      </p:sp>
      <p:sp>
        <p:nvSpPr>
          <p:cNvPr id="12" name="Text 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MODEL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Qwen2.5-Coder — why it is the default here</a:t>
            </a:r>
            <a:endParaRPr lang="en-US" sz="2900" dirty="0"/>
          </a:p>
        </p:txBody>
      </p:sp>
      <p:sp>
        <p:nvSpPr>
          <p:cNvPr id="4" name="Shape 2"/>
          <p:cNvSpPr/>
          <p:nvPr/>
        </p:nvSpPr>
        <p:spPr>
          <a:xfrm>
            <a:off x="502920" y="1280160"/>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It goes small enough</a:t>
            </a:r>
            <a:endParaRPr lang="en-US" sz="1250" dirty="0"/>
          </a:p>
        </p:txBody>
      </p:sp>
      <p:sp>
        <p:nvSpPr>
          <p:cNvPr id="6" name="Text 4"/>
          <p:cNvSpPr/>
          <p:nvPr/>
        </p:nvSpPr>
        <p:spPr>
          <a:xfrm>
            <a:off x="722376" y="1737360"/>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0.5B is a real, usable code model. Most families start at 3B, which does not fit your 4GB training budget with any headroom.</a:t>
            </a:r>
            <a:endParaRPr lang="en-US" sz="1100" dirty="0"/>
          </a:p>
        </p:txBody>
      </p:sp>
      <p:sp>
        <p:nvSpPr>
          <p:cNvPr id="7" name="Shape 5"/>
          <p:cNvSpPr/>
          <p:nvPr/>
        </p:nvSpPr>
        <p:spPr>
          <a:xfrm>
            <a:off x="4270248" y="1280160"/>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4489704" y="14264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size ladder is complete</a:t>
            </a:r>
            <a:endParaRPr lang="en-US" sz="1250" dirty="0"/>
          </a:p>
        </p:txBody>
      </p:sp>
      <p:sp>
        <p:nvSpPr>
          <p:cNvPr id="9" name="Text 7"/>
          <p:cNvSpPr/>
          <p:nvPr/>
        </p:nvSpPr>
        <p:spPr>
          <a:xfrm>
            <a:off x="4489704" y="1737360"/>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0.5 → 1.5 → 3 → 7 → 14 → 32B. You can prototype at 0.5B and scale the exact same recipe, changing one config line.</a:t>
            </a:r>
            <a:endParaRPr lang="en-US" sz="1100" dirty="0"/>
          </a:p>
        </p:txBody>
      </p:sp>
      <p:sp>
        <p:nvSpPr>
          <p:cNvPr id="10" name="Shape 8"/>
          <p:cNvSpPr/>
          <p:nvPr/>
        </p:nvSpPr>
        <p:spPr>
          <a:xfrm>
            <a:off x="8037576" y="1280160"/>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8257032" y="14264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Mostly Apache 2.0</a:t>
            </a:r>
            <a:endParaRPr lang="en-US" sz="1250" dirty="0"/>
          </a:p>
        </p:txBody>
      </p:sp>
      <p:sp>
        <p:nvSpPr>
          <p:cNvPr id="12" name="Text 10"/>
          <p:cNvSpPr/>
          <p:nvPr/>
        </p:nvSpPr>
        <p:spPr>
          <a:xfrm>
            <a:off x="8257032" y="1737360"/>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Permissive for most sizes, which matters when you want to publish an adapter or use outputs as training data.</a:t>
            </a:r>
            <a:endParaRPr lang="en-US" sz="1100" dirty="0"/>
          </a:p>
        </p:txBody>
      </p:sp>
      <p:sp>
        <p:nvSpPr>
          <p:cNvPr id="13" name="Shape 11"/>
          <p:cNvSpPr/>
          <p:nvPr/>
        </p:nvSpPr>
        <p:spPr>
          <a:xfrm>
            <a:off x="502920" y="2889504"/>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22376" y="3035808"/>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Strong FIM support</a:t>
            </a:r>
            <a:endParaRPr lang="en-US" sz="1250" dirty="0"/>
          </a:p>
        </p:txBody>
      </p:sp>
      <p:sp>
        <p:nvSpPr>
          <p:cNvPr id="15" name="Text 13"/>
          <p:cNvSpPr/>
          <p:nvPr/>
        </p:nvSpPr>
        <p:spPr>
          <a:xfrm>
            <a:off x="722376" y="3346704"/>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Native fill-in-the-middle tokens, which matters if you ever want completion rather than instruction behavior.</a:t>
            </a:r>
            <a:endParaRPr lang="en-US" sz="1100" dirty="0"/>
          </a:p>
        </p:txBody>
      </p:sp>
      <p:sp>
        <p:nvSpPr>
          <p:cNvPr id="16" name="Shape 14"/>
          <p:cNvSpPr/>
          <p:nvPr/>
        </p:nvSpPr>
        <p:spPr>
          <a:xfrm>
            <a:off x="4270248" y="2889504"/>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4489704" y="3035808"/>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Well-documented template</a:t>
            </a:r>
            <a:endParaRPr lang="en-US" sz="1250" dirty="0"/>
          </a:p>
        </p:txBody>
      </p:sp>
      <p:sp>
        <p:nvSpPr>
          <p:cNvPr id="18" name="Text 16"/>
          <p:cNvSpPr/>
          <p:nvPr/>
        </p:nvSpPr>
        <p:spPr>
          <a:xfrm>
            <a:off x="4489704" y="3346704"/>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chat template ships in tokenizer_config.json and is correct. Not every family can say this.</a:t>
            </a:r>
            <a:endParaRPr lang="en-US" sz="1100" dirty="0"/>
          </a:p>
        </p:txBody>
      </p:sp>
      <p:sp>
        <p:nvSpPr>
          <p:cNvPr id="19" name="Shape 17"/>
          <p:cNvSpPr/>
          <p:nvPr/>
        </p:nvSpPr>
        <p:spPr>
          <a:xfrm>
            <a:off x="8037576" y="2889504"/>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8257032" y="303580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Big-brother teachers</a:t>
            </a:r>
            <a:endParaRPr lang="en-US" sz="1250" dirty="0"/>
          </a:p>
        </p:txBody>
      </p:sp>
      <p:sp>
        <p:nvSpPr>
          <p:cNvPr id="21" name="Text 19"/>
          <p:cNvSpPr/>
          <p:nvPr/>
        </p:nvSpPr>
        <p:spPr>
          <a:xfrm>
            <a:off x="8257032" y="3346704"/>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14B quantized runs on your 48GB Mac. Same tokenizer family as your 0.5B student — distillation is clean.</a:t>
            </a:r>
            <a:endParaRPr lang="en-US" sz="1100" dirty="0"/>
          </a:p>
        </p:txBody>
      </p:sp>
      <p:sp>
        <p:nvSpPr>
          <p:cNvPr id="22" name="Shape 20"/>
          <p:cNvSpPr/>
          <p:nvPr/>
        </p:nvSpPr>
        <p:spPr>
          <a:xfrm>
            <a:off x="502920" y="4434840"/>
            <a:ext cx="11155680" cy="566928"/>
          </a:xfrm>
          <a:prstGeom prst="roundRect">
            <a:avLst>
              <a:gd name="adj" fmla="val 1129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3" name="Shape 21"/>
          <p:cNvSpPr/>
          <p:nvPr/>
        </p:nvSpPr>
        <p:spPr>
          <a:xfrm>
            <a:off x="502920" y="4434840"/>
            <a:ext cx="91440" cy="566928"/>
          </a:xfrm>
          <a:prstGeom prst="rect">
            <a:avLst/>
          </a:prstGeom>
          <a:solidFill>
            <a:srgbClr val="8FB573"/>
          </a:solidFill>
          <a:ln/>
        </p:spPr>
      </p:sp>
      <p:sp>
        <p:nvSpPr>
          <p:cNvPr id="24" name="Text 22"/>
          <p:cNvSpPr/>
          <p:nvPr/>
        </p:nvSpPr>
        <p:spPr>
          <a:xfrm>
            <a:off x="822960" y="4544568"/>
            <a:ext cx="18288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Your student</a:t>
            </a:r>
            <a:endParaRPr lang="en-US" sz="1250" dirty="0"/>
          </a:p>
        </p:txBody>
      </p:sp>
      <p:sp>
        <p:nvSpPr>
          <p:cNvPr id="25" name="Text 23"/>
          <p:cNvSpPr/>
          <p:nvPr/>
        </p:nvSpPr>
        <p:spPr>
          <a:xfrm>
            <a:off x="822960" y="4837176"/>
            <a:ext cx="18288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Qwen2.5-Coder-0.5B</a:t>
            </a:r>
            <a:endParaRPr lang="en-US" sz="950" dirty="0"/>
          </a:p>
        </p:txBody>
      </p:sp>
      <p:sp>
        <p:nvSpPr>
          <p:cNvPr id="26" name="Text 24"/>
          <p:cNvSpPr/>
          <p:nvPr/>
        </p:nvSpPr>
        <p:spPr>
          <a:xfrm>
            <a:off x="2880360" y="4526280"/>
            <a:ext cx="8778240" cy="38404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Trains on 4GB with room to spare. This is where you run 90% of experiments.</a:t>
            </a:r>
            <a:endParaRPr lang="en-US" sz="1180" dirty="0"/>
          </a:p>
        </p:txBody>
      </p:sp>
      <p:sp>
        <p:nvSpPr>
          <p:cNvPr id="27" name="Shape 25"/>
          <p:cNvSpPr/>
          <p:nvPr/>
        </p:nvSpPr>
        <p:spPr>
          <a:xfrm>
            <a:off x="502920" y="5093208"/>
            <a:ext cx="11155680" cy="566928"/>
          </a:xfrm>
          <a:prstGeom prst="roundRect">
            <a:avLst>
              <a:gd name="adj" fmla="val 1129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8" name="Shape 26"/>
          <p:cNvSpPr/>
          <p:nvPr/>
        </p:nvSpPr>
        <p:spPr>
          <a:xfrm>
            <a:off x="502920" y="5093208"/>
            <a:ext cx="91440" cy="566928"/>
          </a:xfrm>
          <a:prstGeom prst="rect">
            <a:avLst/>
          </a:prstGeom>
          <a:solidFill>
            <a:srgbClr val="D98E32"/>
          </a:solidFill>
          <a:ln/>
        </p:spPr>
      </p:sp>
      <p:sp>
        <p:nvSpPr>
          <p:cNvPr id="29" name="Text 27"/>
          <p:cNvSpPr/>
          <p:nvPr/>
        </p:nvSpPr>
        <p:spPr>
          <a:xfrm>
            <a:off x="822960" y="5202936"/>
            <a:ext cx="18288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Your stretch</a:t>
            </a:r>
            <a:endParaRPr lang="en-US" sz="1250" dirty="0"/>
          </a:p>
        </p:txBody>
      </p:sp>
      <p:sp>
        <p:nvSpPr>
          <p:cNvPr id="30" name="Text 28"/>
          <p:cNvSpPr/>
          <p:nvPr/>
        </p:nvSpPr>
        <p:spPr>
          <a:xfrm>
            <a:off x="822960" y="5495544"/>
            <a:ext cx="18288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Qwen2.5-Coder-1.5B</a:t>
            </a:r>
            <a:endParaRPr lang="en-US" sz="950" dirty="0"/>
          </a:p>
        </p:txBody>
      </p:sp>
      <p:sp>
        <p:nvSpPr>
          <p:cNvPr id="31" name="Text 29"/>
          <p:cNvSpPr/>
          <p:nvPr/>
        </p:nvSpPr>
        <p:spPr>
          <a:xfrm>
            <a:off x="2880360" y="5184648"/>
            <a:ext cx="8778240" cy="38404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Trains on 4GB with Unsloth, seq 512, batch 1. Tight but real.</a:t>
            </a:r>
            <a:endParaRPr lang="en-US" sz="1180" dirty="0"/>
          </a:p>
        </p:txBody>
      </p:sp>
      <p:sp>
        <p:nvSpPr>
          <p:cNvPr id="32" name="Shape 30"/>
          <p:cNvSpPr/>
          <p:nvPr/>
        </p:nvSpPr>
        <p:spPr>
          <a:xfrm>
            <a:off x="502920" y="5751576"/>
            <a:ext cx="11155680" cy="566928"/>
          </a:xfrm>
          <a:prstGeom prst="roundRect">
            <a:avLst>
              <a:gd name="adj" fmla="val 1129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3" name="Shape 31"/>
          <p:cNvSpPr/>
          <p:nvPr/>
        </p:nvSpPr>
        <p:spPr>
          <a:xfrm>
            <a:off x="502920" y="5751576"/>
            <a:ext cx="91440" cy="566928"/>
          </a:xfrm>
          <a:prstGeom prst="rect">
            <a:avLst/>
          </a:prstGeom>
          <a:solidFill>
            <a:srgbClr val="2A5240"/>
          </a:solidFill>
          <a:ln/>
        </p:spPr>
      </p:sp>
      <p:sp>
        <p:nvSpPr>
          <p:cNvPr id="34" name="Text 32"/>
          <p:cNvSpPr/>
          <p:nvPr/>
        </p:nvSpPr>
        <p:spPr>
          <a:xfrm>
            <a:off x="822960" y="5861304"/>
            <a:ext cx="18288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Your teacher</a:t>
            </a:r>
            <a:endParaRPr lang="en-US" sz="1250" dirty="0"/>
          </a:p>
        </p:txBody>
      </p:sp>
      <p:sp>
        <p:nvSpPr>
          <p:cNvPr id="35" name="Text 33"/>
          <p:cNvSpPr/>
          <p:nvPr/>
        </p:nvSpPr>
        <p:spPr>
          <a:xfrm>
            <a:off x="822960" y="6153912"/>
            <a:ext cx="18288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Qwen2.5-Coder-14B (4-bit)</a:t>
            </a:r>
            <a:endParaRPr lang="en-US" sz="950" dirty="0"/>
          </a:p>
        </p:txBody>
      </p:sp>
      <p:sp>
        <p:nvSpPr>
          <p:cNvPr id="36" name="Text 34"/>
          <p:cNvSpPr/>
          <p:nvPr/>
        </p:nvSpPr>
        <p:spPr>
          <a:xfrm>
            <a:off x="2880360" y="5843016"/>
            <a:ext cx="8778240" cy="38404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Mac-only, inference only. Generates candidate solutions for verified distillation.</a:t>
            </a:r>
            <a:endParaRPr lang="en-US" sz="1180" dirty="0"/>
          </a:p>
        </p:txBody>
      </p:sp>
      <p:sp>
        <p:nvSpPr>
          <p:cNvPr id="37" name="Text 3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MODEL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Base vs Instruct — which do you start from?</a:t>
            </a:r>
            <a:endParaRPr lang="en-US" sz="2900" dirty="0"/>
          </a:p>
        </p:txBody>
      </p:sp>
      <p:sp>
        <p:nvSpPr>
          <p:cNvPr id="4" name="Shape 2"/>
          <p:cNvSpPr/>
          <p:nvPr/>
        </p:nvSpPr>
        <p:spPr>
          <a:xfrm>
            <a:off x="502920" y="1280160"/>
            <a:ext cx="5486400" cy="2926080"/>
          </a:xfrm>
          <a:prstGeom prst="roundRect">
            <a:avLst>
              <a:gd name="adj" fmla="val 218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START FROM BASE WHEN</a:t>
            </a:r>
            <a:endParaRPr lang="en-US" sz="1250" dirty="0"/>
          </a:p>
        </p:txBody>
      </p:sp>
      <p:sp>
        <p:nvSpPr>
          <p:cNvPr id="6" name="Text 4"/>
          <p:cNvSpPr/>
          <p:nvPr/>
        </p:nvSpPr>
        <p:spPr>
          <a:xfrm>
            <a:off x="758952" y="1810512"/>
            <a:ext cx="4974336" cy="223113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You have enough SFT data (10k+ good examples)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You want full control of the output format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You are teaching a genuinely new task shape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You want to avoid inheriting another team's alignment quirks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You are doing research and want a clean baseline</a:t>
            </a:r>
            <a:endParaRPr lang="en-US" sz="1150" dirty="0"/>
          </a:p>
        </p:txBody>
      </p:sp>
      <p:sp>
        <p:nvSpPr>
          <p:cNvPr id="7" name="Shape 5"/>
          <p:cNvSpPr/>
          <p:nvPr/>
        </p:nvSpPr>
        <p:spPr>
          <a:xfrm>
            <a:off x="6172200" y="1280160"/>
            <a:ext cx="5486400" cy="2926080"/>
          </a:xfrm>
          <a:prstGeom prst="roundRect">
            <a:avLst>
              <a:gd name="adj" fmla="val 218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START FROM INSTRUCT WHEN</a:t>
            </a:r>
            <a:endParaRPr lang="en-US" sz="1250" dirty="0"/>
          </a:p>
        </p:txBody>
      </p:sp>
      <p:sp>
        <p:nvSpPr>
          <p:cNvPr id="9" name="Text 7"/>
          <p:cNvSpPr/>
          <p:nvPr/>
        </p:nvSpPr>
        <p:spPr>
          <a:xfrm>
            <a:off x="6428232" y="1810512"/>
            <a:ext cx="4974336" cy="223113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You have limited data (&lt; 10k examples)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You want instruction-following for free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You are adding a skill, not replacing behavior</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You are learning — this is you, for now</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You want a strong baseline to beat on day one</a:t>
            </a:r>
            <a:endParaRPr lang="en-US" sz="1150" dirty="0"/>
          </a:p>
        </p:txBody>
      </p:sp>
      <p:sp>
        <p:nvSpPr>
          <p:cNvPr id="10" name="Text 8"/>
          <p:cNvSpPr/>
          <p:nvPr/>
        </p:nvSpPr>
        <p:spPr>
          <a:xfrm>
            <a:off x="502920" y="4389120"/>
            <a:ext cx="11155680" cy="822960"/>
          </a:xfrm>
          <a:prstGeom prst="rect">
            <a:avLst/>
          </a:prstGeom>
          <a:noFill/>
          <a:ln/>
        </p:spPr>
        <p:txBody>
          <a:bodyPr wrap="square" lIns="0" tIns="0" rIns="0" bIns="0" rtlCol="0" anchor="t"/>
          <a:lstStyle/>
          <a:p>
            <a:pPr indent="0" marL="0">
              <a:buNone/>
            </a:pPr>
            <a:r>
              <a:rPr lang="en-US" sz="1300" dirty="0">
                <a:solidFill>
                  <a:srgbClr val="16211B"/>
                </a:solidFill>
                <a:latin typeface="Calibri" pitchFamily="34" charset="0"/>
                <a:ea typeface="Calibri" pitchFamily="34" charset="-122"/>
                <a:cs typeface="Calibri" pitchFamily="34" charset="-120"/>
              </a:rPr>
              <a:t>For this curriculum: start from Instruct. You get a working baseline immediately, your first SFT run has something to beat, and you are learning the training mechanics rather than fighting a model that does not know what a question is. Come back to base later, once you have data volume — the comparison is a genuinely interesting Phase 6 experiment.</a:t>
            </a:r>
            <a:endParaRPr lang="en-US" sz="1300" dirty="0"/>
          </a:p>
        </p:txBody>
      </p:sp>
      <p:sp>
        <p:nvSpPr>
          <p:cNvPr id="11" name="Shape 9"/>
          <p:cNvSpPr/>
          <p:nvPr/>
        </p:nvSpPr>
        <p:spPr>
          <a:xfrm>
            <a:off x="502920" y="5303520"/>
            <a:ext cx="11155680" cy="1051560"/>
          </a:xfrm>
          <a:prstGeom prst="roundRect">
            <a:avLst>
              <a:gd name="adj" fmla="val 6087"/>
            </a:avLst>
          </a:prstGeom>
          <a:solidFill>
            <a:srgbClr val="1F3D2E"/>
          </a:solidFill>
          <a:ln/>
        </p:spPr>
      </p:sp>
      <p:sp>
        <p:nvSpPr>
          <p:cNvPr id="12" name="Shape 10"/>
          <p:cNvSpPr/>
          <p:nvPr/>
        </p:nvSpPr>
        <p:spPr>
          <a:xfrm>
            <a:off x="740664" y="5486400"/>
            <a:ext cx="292608" cy="292608"/>
          </a:xfrm>
          <a:prstGeom prst="ellipse">
            <a:avLst/>
          </a:prstGeom>
          <a:solidFill>
            <a:srgbClr val="1F3D2E"/>
          </a:solidFill>
          <a:ln/>
        </p:spPr>
      </p:sp>
      <p:sp>
        <p:nvSpPr>
          <p:cNvPr id="13" name="Text 11"/>
          <p:cNvSpPr/>
          <p:nvPr/>
        </p:nvSpPr>
        <p:spPr>
          <a:xfrm>
            <a:off x="740664" y="548640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4" name="Text 12"/>
          <p:cNvSpPr/>
          <p:nvPr/>
        </p:nvSpPr>
        <p:spPr>
          <a:xfrm>
            <a:off x="1133856" y="550468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5" name="Text 13"/>
          <p:cNvSpPr/>
          <p:nvPr/>
        </p:nvSpPr>
        <p:spPr>
          <a:xfrm>
            <a:off x="740664" y="5879592"/>
            <a:ext cx="10680192" cy="3017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Base models feel broken the first time you use them. You ask a question and get three more questions, because it is completing a document that looks like a forum post. That is correct behavior. It is not a bug, and it is why SFT exists.</a:t>
            </a:r>
            <a:endParaRPr lang="en-US" sz="1150" dirty="0"/>
          </a:p>
        </p:txBody>
      </p:sp>
      <p:sp>
        <p:nvSpPr>
          <p:cNvPr id="16" name="Text 1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MODEL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Tokenizers — why code is different from prose</a:t>
            </a:r>
            <a:endParaRPr lang="en-US" sz="2900" dirty="0"/>
          </a:p>
        </p:txBody>
      </p:sp>
      <p:sp>
        <p:nvSpPr>
          <p:cNvPr id="4" name="Shape 2"/>
          <p:cNvSpPr/>
          <p:nvPr/>
        </p:nvSpPr>
        <p:spPr>
          <a:xfrm>
            <a:off x="502920" y="1280160"/>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Whitespace is semantic</a:t>
            </a:r>
            <a:endParaRPr lang="en-US" sz="1250" dirty="0"/>
          </a:p>
        </p:txBody>
      </p:sp>
      <p:sp>
        <p:nvSpPr>
          <p:cNvPr id="6" name="Text 4"/>
          <p:cNvSpPr/>
          <p:nvPr/>
        </p:nvSpPr>
        <p:spPr>
          <a:xfrm>
            <a:off x="722376" y="1737360"/>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Python indentation carries meaning. Good code tokenizers have dedicated multi-space tokens; general ones shred indentation into many single-space tokens.</a:t>
            </a:r>
            <a:endParaRPr lang="en-US" sz="1100" dirty="0"/>
          </a:p>
        </p:txBody>
      </p:sp>
      <p:sp>
        <p:nvSpPr>
          <p:cNvPr id="7" name="Shape 5"/>
          <p:cNvSpPr/>
          <p:nvPr/>
        </p:nvSpPr>
        <p:spPr>
          <a:xfrm>
            <a:off x="4270248" y="1280160"/>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4489704" y="142646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Identifiers fragment</a:t>
            </a:r>
            <a:endParaRPr lang="en-US" sz="1250" dirty="0"/>
          </a:p>
        </p:txBody>
      </p:sp>
      <p:sp>
        <p:nvSpPr>
          <p:cNvPr id="9" name="Text 7"/>
          <p:cNvSpPr/>
          <p:nvPr/>
        </p:nvSpPr>
        <p:spPr>
          <a:xfrm>
            <a:off x="4489704" y="1737360"/>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get_user_by_id might be 6 tokens. Long descriptive names are expensive, and the model sees them as compounds.</a:t>
            </a:r>
            <a:endParaRPr lang="en-US" sz="1100" dirty="0"/>
          </a:p>
        </p:txBody>
      </p:sp>
      <p:sp>
        <p:nvSpPr>
          <p:cNvPr id="10" name="Shape 8"/>
          <p:cNvSpPr/>
          <p:nvPr/>
        </p:nvSpPr>
        <p:spPr>
          <a:xfrm>
            <a:off x="8037576" y="1280160"/>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8257032" y="1426464"/>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Tokens per line varies wildly</a:t>
            </a:r>
            <a:endParaRPr lang="en-US" sz="1250" dirty="0"/>
          </a:p>
        </p:txBody>
      </p:sp>
      <p:sp>
        <p:nvSpPr>
          <p:cNvPr id="12" name="Text 10"/>
          <p:cNvSpPr/>
          <p:nvPr/>
        </p:nvSpPr>
        <p:spPr>
          <a:xfrm>
            <a:off x="8257032" y="1737360"/>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Dense one-liners and sparse boilerplate differ 5x per line. Never budget context by line count.</a:t>
            </a:r>
            <a:endParaRPr lang="en-US" sz="1100" dirty="0"/>
          </a:p>
        </p:txBody>
      </p:sp>
      <p:sp>
        <p:nvSpPr>
          <p:cNvPr id="13" name="Shape 11"/>
          <p:cNvSpPr/>
          <p:nvPr/>
        </p:nvSpPr>
        <p:spPr>
          <a:xfrm>
            <a:off x="502920" y="2889504"/>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22376" y="3035808"/>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Special tokens for structure</a:t>
            </a:r>
            <a:endParaRPr lang="en-US" sz="1250" dirty="0"/>
          </a:p>
        </p:txBody>
      </p:sp>
      <p:sp>
        <p:nvSpPr>
          <p:cNvPr id="15" name="Text 13"/>
          <p:cNvSpPr/>
          <p:nvPr/>
        </p:nvSpPr>
        <p:spPr>
          <a:xfrm>
            <a:off x="722376" y="3346704"/>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FIM markers, file separators, repo metadata. Present in code tokenizers, absent in general ones.</a:t>
            </a:r>
            <a:endParaRPr lang="en-US" sz="1100" dirty="0"/>
          </a:p>
        </p:txBody>
      </p:sp>
      <p:sp>
        <p:nvSpPr>
          <p:cNvPr id="16" name="Shape 14"/>
          <p:cNvSpPr/>
          <p:nvPr/>
        </p:nvSpPr>
        <p:spPr>
          <a:xfrm>
            <a:off x="4270248" y="2889504"/>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4489704" y="3035808"/>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Byte fallback matters</a:t>
            </a:r>
            <a:endParaRPr lang="en-US" sz="1250" dirty="0"/>
          </a:p>
        </p:txBody>
      </p:sp>
      <p:sp>
        <p:nvSpPr>
          <p:cNvPr id="18" name="Text 16"/>
          <p:cNvSpPr/>
          <p:nvPr/>
        </p:nvSpPr>
        <p:spPr>
          <a:xfrm>
            <a:off x="4489704" y="3346704"/>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Unicode in strings and comments must round-trip exactly. A lossy tokenizer silently corrupts your data.</a:t>
            </a:r>
            <a:endParaRPr lang="en-US" sz="1100" dirty="0"/>
          </a:p>
        </p:txBody>
      </p:sp>
      <p:sp>
        <p:nvSpPr>
          <p:cNvPr id="19" name="Shape 17"/>
          <p:cNvSpPr/>
          <p:nvPr/>
        </p:nvSpPr>
        <p:spPr>
          <a:xfrm>
            <a:off x="8037576" y="2889504"/>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8257032" y="3035808"/>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Never assume ~4 chars/token</a:t>
            </a:r>
            <a:endParaRPr lang="en-US" sz="1250" dirty="0"/>
          </a:p>
        </p:txBody>
      </p:sp>
      <p:sp>
        <p:nvSpPr>
          <p:cNvPr id="21" name="Text 19"/>
          <p:cNvSpPr/>
          <p:nvPr/>
        </p:nvSpPr>
        <p:spPr>
          <a:xfrm>
            <a:off x="8257032" y="3346704"/>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That heuristic is for English prose. For code it is closer to 3, and for minified or dense code far less.</a:t>
            </a:r>
            <a:endParaRPr lang="en-US" sz="1100" dirty="0"/>
          </a:p>
        </p:txBody>
      </p:sp>
      <p:sp>
        <p:nvSpPr>
          <p:cNvPr id="22" name="Shape 20"/>
          <p:cNvSpPr/>
          <p:nvPr/>
        </p:nvSpPr>
        <p:spPr>
          <a:xfrm>
            <a:off x="502920" y="4434840"/>
            <a:ext cx="11155680" cy="1234440"/>
          </a:xfrm>
          <a:prstGeom prst="roundRect">
            <a:avLst>
              <a:gd name="adj" fmla="val 4444"/>
            </a:avLst>
          </a:prstGeom>
          <a:solidFill>
            <a:srgbClr val="0F1F17"/>
          </a:solidFill>
          <a:ln/>
        </p:spPr>
      </p:sp>
      <p:sp>
        <p:nvSpPr>
          <p:cNvPr id="23" name="Text 21"/>
          <p:cNvSpPr/>
          <p:nvPr/>
        </p:nvSpPr>
        <p:spPr>
          <a:xfrm>
            <a:off x="722376" y="4581144"/>
            <a:ext cx="10716768" cy="94183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Measure it yourself before you set seq_len — this takes 30 seconds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tok = AutoTokenizer.from_pretrained('Qwen/Qwen2.5-Coder-0.5B')</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lens = [len(tok(ex['text']).input_ids) for ex in dataset.select(range(2000))]</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print(np.percentile(lens, [50, 90, 95, 99]))   # pick seq_len from p95, not from a guess</a:t>
            </a:r>
            <a:endParaRPr lang="en-US" sz="1000" dirty="0"/>
          </a:p>
        </p:txBody>
      </p:sp>
      <p:sp>
        <p:nvSpPr>
          <p:cNvPr id="24" name="Shape 22"/>
          <p:cNvSpPr/>
          <p:nvPr/>
        </p:nvSpPr>
        <p:spPr>
          <a:xfrm>
            <a:off x="502920" y="5806440"/>
            <a:ext cx="11155680" cy="777240"/>
          </a:xfrm>
          <a:prstGeom prst="roundRect">
            <a:avLst>
              <a:gd name="adj" fmla="val 8235"/>
            </a:avLst>
          </a:prstGeom>
          <a:solidFill>
            <a:srgbClr val="1F3D2E"/>
          </a:solidFill>
          <a:ln/>
        </p:spPr>
      </p:sp>
      <p:sp>
        <p:nvSpPr>
          <p:cNvPr id="25" name="Shape 23"/>
          <p:cNvSpPr/>
          <p:nvPr/>
        </p:nvSpPr>
        <p:spPr>
          <a:xfrm>
            <a:off x="740664" y="5989320"/>
            <a:ext cx="292608" cy="292608"/>
          </a:xfrm>
          <a:prstGeom prst="ellipse">
            <a:avLst/>
          </a:prstGeom>
          <a:solidFill>
            <a:srgbClr val="1F3D2E"/>
          </a:solidFill>
          <a:ln/>
        </p:spPr>
      </p:sp>
      <p:sp>
        <p:nvSpPr>
          <p:cNvPr id="26" name="Text 24"/>
          <p:cNvSpPr/>
          <p:nvPr/>
        </p:nvSpPr>
        <p:spPr>
          <a:xfrm>
            <a:off x="740664" y="59893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7" name="Text 25"/>
          <p:cNvSpPr/>
          <p:nvPr/>
        </p:nvSpPr>
        <p:spPr>
          <a:xfrm>
            <a:off x="1133856" y="60076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8" name="Text 26"/>
          <p:cNvSpPr/>
          <p:nvPr/>
        </p:nvSpPr>
        <p:spPr>
          <a:xfrm>
            <a:off x="740664" y="6382512"/>
            <a:ext cx="10680192" cy="274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set seq_len=512 by intuition and silently truncated 23% of my training examples mid-function. The p95 was 1,100.</a:t>
            </a:r>
            <a:endParaRPr lang="en-US" sz="1150" dirty="0"/>
          </a:p>
        </p:txBody>
      </p:sp>
      <p:sp>
        <p:nvSpPr>
          <p:cNvPr id="29" name="Text 2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MODEL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Chat templates — the bug that costs everyone a week</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The exact token sequence wrapping each turn. Get it wrong and nothing errors — the score just quietly collapses.</a:t>
            </a:r>
            <a:endParaRPr lang="en-US" sz="1300" dirty="0"/>
          </a:p>
        </p:txBody>
      </p:sp>
      <p:sp>
        <p:nvSpPr>
          <p:cNvPr id="5" name="Shape 3"/>
          <p:cNvSpPr/>
          <p:nvPr/>
        </p:nvSpPr>
        <p:spPr>
          <a:xfrm>
            <a:off x="502920" y="1536192"/>
            <a:ext cx="5852160" cy="2286000"/>
          </a:xfrm>
          <a:prstGeom prst="roundRect">
            <a:avLst>
              <a:gd name="adj" fmla="val 2400"/>
            </a:avLst>
          </a:prstGeom>
          <a:solidFill>
            <a:srgbClr val="0F1F17"/>
          </a:solidFill>
          <a:ln/>
        </p:spPr>
      </p:sp>
      <p:sp>
        <p:nvSpPr>
          <p:cNvPr id="6" name="Text 4"/>
          <p:cNvSpPr/>
          <p:nvPr/>
        </p:nvSpPr>
        <p:spPr>
          <a:xfrm>
            <a:off x="722376" y="1682496"/>
            <a:ext cx="541324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WHAT THE MODEL ACTUALLY SEES</a:t>
            </a:r>
            <a:endParaRPr lang="en-US" sz="950" dirty="0"/>
          </a:p>
        </p:txBody>
      </p:sp>
      <p:sp>
        <p:nvSpPr>
          <p:cNvPr id="7" name="Text 5"/>
          <p:cNvSpPr/>
          <p:nvPr/>
        </p:nvSpPr>
        <p:spPr>
          <a:xfrm>
            <a:off x="722376" y="1956816"/>
            <a:ext cx="5413248" cy="171907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Qwen ChatML format — the ACTUAL bytes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&lt;|im_start|&gt;system</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You are a coding assistant.&lt;|im_end|&gt;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&lt;|im_start|&gt;user</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Write a function to reverse a list.&lt;|im_end|&gt;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&lt;|im_start|&gt;assistant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def reverse(xs): return xs[::-1]&lt;|im_end|&gt;</a:t>
            </a:r>
            <a:endParaRPr lang="en-US" sz="1000" dirty="0"/>
          </a:p>
        </p:txBody>
      </p:sp>
      <p:sp>
        <p:nvSpPr>
          <p:cNvPr id="8" name="Shape 6"/>
          <p:cNvSpPr/>
          <p:nvPr/>
        </p:nvSpPr>
        <p:spPr>
          <a:xfrm>
            <a:off x="6537960" y="1536192"/>
            <a:ext cx="5120640" cy="2286000"/>
          </a:xfrm>
          <a:prstGeom prst="roundRect">
            <a:avLst>
              <a:gd name="adj" fmla="val 2400"/>
            </a:avLst>
          </a:prstGeom>
          <a:solidFill>
            <a:srgbClr val="0F1F17"/>
          </a:solidFill>
          <a:ln/>
        </p:spPr>
      </p:sp>
      <p:sp>
        <p:nvSpPr>
          <p:cNvPr id="9" name="Text 7"/>
          <p:cNvSpPr/>
          <p:nvPr/>
        </p:nvSpPr>
        <p:spPr>
          <a:xfrm>
            <a:off x="6757416" y="1682496"/>
            <a:ext cx="468172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HOW TO PRODUCE IT</a:t>
            </a:r>
            <a:endParaRPr lang="en-US" sz="950" dirty="0"/>
          </a:p>
        </p:txBody>
      </p:sp>
      <p:sp>
        <p:nvSpPr>
          <p:cNvPr id="10" name="Text 8"/>
          <p:cNvSpPr/>
          <p:nvPr/>
        </p:nvSpPr>
        <p:spPr>
          <a:xfrm>
            <a:off x="6757416" y="1956816"/>
            <a:ext cx="4681728" cy="1719072"/>
          </a:xfrm>
          <a:prstGeom prst="rect">
            <a:avLst/>
          </a:prstGeom>
          <a:noFill/>
          <a:ln/>
        </p:spPr>
        <p:txBody>
          <a:bodyPr wrap="square" lIns="0" tIns="0" rIns="0" bIns="0" rtlCol="0" anchor="t"/>
          <a:lstStyle/>
          <a:p>
            <a:pPr indent="0" marL="0">
              <a:lnSpc>
                <a:spcPct val="112000"/>
              </a:lnSpc>
              <a:buNone/>
            </a:pPr>
            <a:r>
              <a:rPr lang="en-US" sz="1000" dirty="0">
                <a:solidFill>
                  <a:srgbClr val="A8482A"/>
                </a:solidFill>
                <a:latin typeface="Courier New" pitchFamily="34" charset="0"/>
                <a:ea typeface="Courier New" pitchFamily="34" charset="-122"/>
                <a:cs typeface="Courier New" pitchFamily="34" charset="-120"/>
              </a:rPr>
              <a:t># NEVER hand-write this. Ever.</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text = tok.apply_chat_template(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messages,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tokenize=False,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add_generation_prompt=True,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Then LOOK at it: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print(repr(text))</a:t>
            </a:r>
            <a:endParaRPr lang="en-US" sz="1000" dirty="0"/>
          </a:p>
        </p:txBody>
      </p:sp>
      <p:sp>
        <p:nvSpPr>
          <p:cNvPr id="11" name="Shape 9"/>
          <p:cNvSpPr/>
          <p:nvPr/>
        </p:nvSpPr>
        <p:spPr>
          <a:xfrm>
            <a:off x="502920" y="3977640"/>
            <a:ext cx="11155680" cy="548640"/>
          </a:xfrm>
          <a:prstGeom prst="roundRect">
            <a:avLst>
              <a:gd name="adj" fmla="val 11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Shape 10"/>
          <p:cNvSpPr/>
          <p:nvPr/>
        </p:nvSpPr>
        <p:spPr>
          <a:xfrm>
            <a:off x="502920" y="3977640"/>
            <a:ext cx="91440" cy="548640"/>
          </a:xfrm>
          <a:prstGeom prst="rect">
            <a:avLst/>
          </a:prstGeom>
          <a:solidFill>
            <a:srgbClr val="A8482A"/>
          </a:solidFill>
          <a:ln/>
        </p:spPr>
      </p:sp>
      <p:sp>
        <p:nvSpPr>
          <p:cNvPr id="13" name="Text 11"/>
          <p:cNvSpPr/>
          <p:nvPr/>
        </p:nvSpPr>
        <p:spPr>
          <a:xfrm>
            <a:off x="822960" y="4087368"/>
            <a:ext cx="21945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Train ≠ eval</a:t>
            </a:r>
            <a:endParaRPr lang="en-US" sz="1250" dirty="0"/>
          </a:p>
        </p:txBody>
      </p:sp>
      <p:sp>
        <p:nvSpPr>
          <p:cNvPr id="14" name="Text 12"/>
          <p:cNvSpPr/>
          <p:nvPr/>
        </p:nvSpPr>
        <p:spPr>
          <a:xfrm>
            <a:off x="822960" y="4379976"/>
            <a:ext cx="21945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different template</a:t>
            </a:r>
            <a:endParaRPr lang="en-US" sz="950" dirty="0"/>
          </a:p>
        </p:txBody>
      </p:sp>
      <p:sp>
        <p:nvSpPr>
          <p:cNvPr id="15" name="Text 13"/>
          <p:cNvSpPr/>
          <p:nvPr/>
        </p:nvSpPr>
        <p:spPr>
          <a:xfrm>
            <a:off x="3246120" y="4069080"/>
            <a:ext cx="8412480" cy="36576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The single most common cause of 'my fine-tune made it worse'. Both paths must use the identical template.</a:t>
            </a:r>
            <a:endParaRPr lang="en-US" sz="1180" dirty="0"/>
          </a:p>
        </p:txBody>
      </p:sp>
      <p:sp>
        <p:nvSpPr>
          <p:cNvPr id="16" name="Shape 14"/>
          <p:cNvSpPr/>
          <p:nvPr/>
        </p:nvSpPr>
        <p:spPr>
          <a:xfrm>
            <a:off x="502920" y="4617720"/>
            <a:ext cx="11155680" cy="548640"/>
          </a:xfrm>
          <a:prstGeom prst="roundRect">
            <a:avLst>
              <a:gd name="adj" fmla="val 11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Shape 15"/>
          <p:cNvSpPr/>
          <p:nvPr/>
        </p:nvSpPr>
        <p:spPr>
          <a:xfrm>
            <a:off x="502920" y="4617720"/>
            <a:ext cx="91440" cy="548640"/>
          </a:xfrm>
          <a:prstGeom prst="rect">
            <a:avLst/>
          </a:prstGeom>
          <a:solidFill>
            <a:srgbClr val="A8482A"/>
          </a:solidFill>
          <a:ln/>
        </p:spPr>
      </p:sp>
      <p:sp>
        <p:nvSpPr>
          <p:cNvPr id="18" name="Text 16"/>
          <p:cNvSpPr/>
          <p:nvPr/>
        </p:nvSpPr>
        <p:spPr>
          <a:xfrm>
            <a:off x="822960" y="4727448"/>
            <a:ext cx="21945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add_generation_prompt</a:t>
            </a:r>
            <a:endParaRPr lang="en-US" sz="1250" dirty="0"/>
          </a:p>
        </p:txBody>
      </p:sp>
      <p:sp>
        <p:nvSpPr>
          <p:cNvPr id="19" name="Text 17"/>
          <p:cNvSpPr/>
          <p:nvPr/>
        </p:nvSpPr>
        <p:spPr>
          <a:xfrm>
            <a:off x="822960" y="5020056"/>
            <a:ext cx="21945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True at inference</a:t>
            </a:r>
            <a:endParaRPr lang="en-US" sz="950" dirty="0"/>
          </a:p>
        </p:txBody>
      </p:sp>
      <p:sp>
        <p:nvSpPr>
          <p:cNvPr id="20" name="Text 18"/>
          <p:cNvSpPr/>
          <p:nvPr/>
        </p:nvSpPr>
        <p:spPr>
          <a:xfrm>
            <a:off x="3246120" y="4709160"/>
            <a:ext cx="8412480" cy="36576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Must be True when generating, False when building training text. Getting this backwards is a silent 10-point loss.</a:t>
            </a:r>
            <a:endParaRPr lang="en-US" sz="1180" dirty="0"/>
          </a:p>
        </p:txBody>
      </p:sp>
      <p:sp>
        <p:nvSpPr>
          <p:cNvPr id="21" name="Shape 19"/>
          <p:cNvSpPr/>
          <p:nvPr/>
        </p:nvSpPr>
        <p:spPr>
          <a:xfrm>
            <a:off x="502920" y="5257800"/>
            <a:ext cx="11155680" cy="548640"/>
          </a:xfrm>
          <a:prstGeom prst="roundRect">
            <a:avLst>
              <a:gd name="adj" fmla="val 11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2" name="Shape 20"/>
          <p:cNvSpPr/>
          <p:nvPr/>
        </p:nvSpPr>
        <p:spPr>
          <a:xfrm>
            <a:off x="502920" y="5257800"/>
            <a:ext cx="91440" cy="548640"/>
          </a:xfrm>
          <a:prstGeom prst="rect">
            <a:avLst/>
          </a:prstGeom>
          <a:solidFill>
            <a:srgbClr val="D98E32"/>
          </a:solidFill>
          <a:ln/>
        </p:spPr>
      </p:sp>
      <p:sp>
        <p:nvSpPr>
          <p:cNvPr id="23" name="Text 21"/>
          <p:cNvSpPr/>
          <p:nvPr/>
        </p:nvSpPr>
        <p:spPr>
          <a:xfrm>
            <a:off x="822960" y="5367528"/>
            <a:ext cx="21945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System prompt presence</a:t>
            </a:r>
            <a:endParaRPr lang="en-US" sz="1250" dirty="0"/>
          </a:p>
        </p:txBody>
      </p:sp>
      <p:sp>
        <p:nvSpPr>
          <p:cNvPr id="24" name="Text 22"/>
          <p:cNvSpPr/>
          <p:nvPr/>
        </p:nvSpPr>
        <p:spPr>
          <a:xfrm>
            <a:off x="822960" y="5660136"/>
            <a:ext cx="21945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train with, eval without</a:t>
            </a:r>
            <a:endParaRPr lang="en-US" sz="950" dirty="0"/>
          </a:p>
        </p:txBody>
      </p:sp>
      <p:sp>
        <p:nvSpPr>
          <p:cNvPr id="25" name="Text 23"/>
          <p:cNvSpPr/>
          <p:nvPr/>
        </p:nvSpPr>
        <p:spPr>
          <a:xfrm>
            <a:off x="3246120" y="5349240"/>
            <a:ext cx="8412480" cy="36576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If you train with a system prompt and evaluate without one, you have changed the distribution.</a:t>
            </a:r>
            <a:endParaRPr lang="en-US" sz="1180" dirty="0"/>
          </a:p>
        </p:txBody>
      </p:sp>
      <p:sp>
        <p:nvSpPr>
          <p:cNvPr id="26" name="Shape 24"/>
          <p:cNvSpPr/>
          <p:nvPr/>
        </p:nvSpPr>
        <p:spPr>
          <a:xfrm>
            <a:off x="502920" y="5897880"/>
            <a:ext cx="11155680" cy="548640"/>
          </a:xfrm>
          <a:prstGeom prst="roundRect">
            <a:avLst>
              <a:gd name="adj" fmla="val 11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7" name="Shape 25"/>
          <p:cNvSpPr/>
          <p:nvPr/>
        </p:nvSpPr>
        <p:spPr>
          <a:xfrm>
            <a:off x="502920" y="5897880"/>
            <a:ext cx="91440" cy="548640"/>
          </a:xfrm>
          <a:prstGeom prst="rect">
            <a:avLst/>
          </a:prstGeom>
          <a:solidFill>
            <a:srgbClr val="8FB573"/>
          </a:solidFill>
          <a:ln/>
        </p:spPr>
      </p:sp>
      <p:sp>
        <p:nvSpPr>
          <p:cNvPr id="28" name="Text 26"/>
          <p:cNvSpPr/>
          <p:nvPr/>
        </p:nvSpPr>
        <p:spPr>
          <a:xfrm>
            <a:off x="822960" y="6007608"/>
            <a:ext cx="21945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Version the template</a:t>
            </a:r>
            <a:endParaRPr lang="en-US" sz="1250" dirty="0"/>
          </a:p>
        </p:txBody>
      </p:sp>
      <p:sp>
        <p:nvSpPr>
          <p:cNvPr id="29" name="Text 27"/>
          <p:cNvSpPr/>
          <p:nvPr/>
        </p:nvSpPr>
        <p:spPr>
          <a:xfrm>
            <a:off x="822960" y="6300216"/>
            <a:ext cx="21945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template: qwen-chatml-v1</a:t>
            </a:r>
            <a:endParaRPr lang="en-US" sz="950" dirty="0"/>
          </a:p>
        </p:txBody>
      </p:sp>
      <p:sp>
        <p:nvSpPr>
          <p:cNvPr id="30" name="Text 28"/>
          <p:cNvSpPr/>
          <p:nvPr/>
        </p:nvSpPr>
        <p:spPr>
          <a:xfrm>
            <a:off x="3246120" y="5989320"/>
            <a:ext cx="8412480" cy="36576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Put its name in the config. Changing it counts as changing the experiment.</a:t>
            </a:r>
            <a:endParaRPr lang="en-US" sz="1180" dirty="0"/>
          </a:p>
        </p:txBody>
      </p:sp>
      <p:sp>
        <p:nvSpPr>
          <p:cNvPr id="31" name="Text 2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MODEL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Special tokens and the endless-generation bug</a:t>
            </a:r>
            <a:endParaRPr lang="en-US" sz="2900" dirty="0"/>
          </a:p>
        </p:txBody>
      </p:sp>
      <p:sp>
        <p:nvSpPr>
          <p:cNvPr id="4" name="Text 2"/>
          <p:cNvSpPr/>
          <p:nvPr/>
        </p:nvSpPr>
        <p:spPr>
          <a:xfrm>
            <a:off x="502920" y="1280160"/>
            <a:ext cx="11155680" cy="59436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Symptom: your fine-tuned model produces a correct answer, then keeps going — inventing a new question, answering that, forever, until max_tokens. Everyone hits this. It is almost always EOS.</a:t>
            </a:r>
            <a:endParaRPr lang="en-US" sz="1350" dirty="0"/>
          </a:p>
        </p:txBody>
      </p:sp>
      <p:sp>
        <p:nvSpPr>
          <p:cNvPr id="5" name="Shape 3"/>
          <p:cNvSpPr/>
          <p:nvPr/>
        </p:nvSpPr>
        <p:spPr>
          <a:xfrm>
            <a:off x="502920" y="1965960"/>
            <a:ext cx="11155680" cy="896112"/>
          </a:xfrm>
          <a:prstGeom prst="roundRect">
            <a:avLst>
              <a:gd name="adj" fmla="val 714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Shape 4"/>
          <p:cNvSpPr/>
          <p:nvPr/>
        </p:nvSpPr>
        <p:spPr>
          <a:xfrm>
            <a:off x="749808" y="2212848"/>
            <a:ext cx="402336" cy="402336"/>
          </a:xfrm>
          <a:prstGeom prst="ellipse">
            <a:avLst/>
          </a:prstGeom>
          <a:solidFill>
            <a:srgbClr val="8FB573"/>
          </a:solidFill>
          <a:ln/>
        </p:spPr>
      </p:sp>
      <p:sp>
        <p:nvSpPr>
          <p:cNvPr id="7" name="Text 5"/>
          <p:cNvSpPr/>
          <p:nvPr/>
        </p:nvSpPr>
        <p:spPr>
          <a:xfrm>
            <a:off x="749808" y="221284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316736" y="20939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The training data has no EOS token appended</a:t>
            </a:r>
            <a:endParaRPr lang="en-US" sz="1300" dirty="0"/>
          </a:p>
        </p:txBody>
      </p:sp>
      <p:sp>
        <p:nvSpPr>
          <p:cNvPr id="9" name="Text 7"/>
          <p:cNvSpPr/>
          <p:nvPr/>
        </p:nvSpPr>
        <p:spPr>
          <a:xfrm>
            <a:off x="1316736" y="2386584"/>
            <a:ext cx="10058400" cy="3840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If your examples end without an end-of-sequence token, the model never learns to stop. Check: decode one tokenized example and look at the final token id.</a:t>
            </a:r>
            <a:endParaRPr lang="en-US" sz="1150" dirty="0"/>
          </a:p>
        </p:txBody>
      </p:sp>
      <p:sp>
        <p:nvSpPr>
          <p:cNvPr id="10" name="Shape 8"/>
          <p:cNvSpPr/>
          <p:nvPr/>
        </p:nvSpPr>
        <p:spPr>
          <a:xfrm>
            <a:off x="502920" y="2971800"/>
            <a:ext cx="11155680" cy="896112"/>
          </a:xfrm>
          <a:prstGeom prst="roundRect">
            <a:avLst>
              <a:gd name="adj" fmla="val 714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9"/>
          <p:cNvSpPr/>
          <p:nvPr/>
        </p:nvSpPr>
        <p:spPr>
          <a:xfrm>
            <a:off x="749808" y="3218688"/>
            <a:ext cx="402336" cy="402336"/>
          </a:xfrm>
          <a:prstGeom prst="ellipse">
            <a:avLst/>
          </a:prstGeom>
          <a:solidFill>
            <a:srgbClr val="8FB573"/>
          </a:solidFill>
          <a:ln/>
        </p:spPr>
      </p:sp>
      <p:sp>
        <p:nvSpPr>
          <p:cNvPr id="12" name="Text 10"/>
          <p:cNvSpPr/>
          <p:nvPr/>
        </p:nvSpPr>
        <p:spPr>
          <a:xfrm>
            <a:off x="749808" y="321868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1316736" y="309981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Base and Instruct use DIFFERENT EOS tokens</a:t>
            </a:r>
            <a:endParaRPr lang="en-US" sz="1300" dirty="0"/>
          </a:p>
        </p:txBody>
      </p:sp>
      <p:sp>
        <p:nvSpPr>
          <p:cNvPr id="14" name="Text 12"/>
          <p:cNvSpPr/>
          <p:nvPr/>
        </p:nvSpPr>
        <p:spPr>
          <a:xfrm>
            <a:off x="1316736" y="3392424"/>
            <a:ext cx="10058400" cy="3840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Qwen base uses &lt;|endoftext|&gt;; Qwen instruct uses &lt;|im_end|&gt;. Train with one, generate expecting the other, and generation never terminates.</a:t>
            </a:r>
            <a:endParaRPr lang="en-US" sz="1150" dirty="0"/>
          </a:p>
        </p:txBody>
      </p:sp>
      <p:sp>
        <p:nvSpPr>
          <p:cNvPr id="15" name="Shape 13"/>
          <p:cNvSpPr/>
          <p:nvPr/>
        </p:nvSpPr>
        <p:spPr>
          <a:xfrm>
            <a:off x="502920" y="3977640"/>
            <a:ext cx="11155680" cy="896112"/>
          </a:xfrm>
          <a:prstGeom prst="roundRect">
            <a:avLst>
              <a:gd name="adj" fmla="val 714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4"/>
          <p:cNvSpPr/>
          <p:nvPr/>
        </p:nvSpPr>
        <p:spPr>
          <a:xfrm>
            <a:off x="749808" y="4224528"/>
            <a:ext cx="402336" cy="402336"/>
          </a:xfrm>
          <a:prstGeom prst="ellipse">
            <a:avLst/>
          </a:prstGeom>
          <a:solidFill>
            <a:srgbClr val="8FB573"/>
          </a:solidFill>
          <a:ln/>
        </p:spPr>
      </p:sp>
      <p:sp>
        <p:nvSpPr>
          <p:cNvPr id="17" name="Text 15"/>
          <p:cNvSpPr/>
          <p:nvPr/>
        </p:nvSpPr>
        <p:spPr>
          <a:xfrm>
            <a:off x="749808" y="422452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1316736" y="410565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tokenizer.pad_token is unset, so people set it to eos_token</a:t>
            </a:r>
            <a:endParaRPr lang="en-US" sz="1300" dirty="0"/>
          </a:p>
        </p:txBody>
      </p:sp>
      <p:sp>
        <p:nvSpPr>
          <p:cNvPr id="19" name="Text 17"/>
          <p:cNvSpPr/>
          <p:nvPr/>
        </p:nvSpPr>
        <p:spPr>
          <a:xfrm>
            <a:off x="1316736" y="4398264"/>
            <a:ext cx="10058400" cy="3840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Reasonable — but if you then mask pad tokens out of the loss, you have also masked EOS out of the loss, and the model never learns to emit it.</a:t>
            </a:r>
            <a:endParaRPr lang="en-US" sz="1150" dirty="0"/>
          </a:p>
        </p:txBody>
      </p:sp>
      <p:sp>
        <p:nvSpPr>
          <p:cNvPr id="20" name="Shape 18"/>
          <p:cNvSpPr/>
          <p:nvPr/>
        </p:nvSpPr>
        <p:spPr>
          <a:xfrm>
            <a:off x="502920" y="4983480"/>
            <a:ext cx="11155680" cy="896112"/>
          </a:xfrm>
          <a:prstGeom prst="roundRect">
            <a:avLst>
              <a:gd name="adj" fmla="val 714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Shape 19"/>
          <p:cNvSpPr/>
          <p:nvPr/>
        </p:nvSpPr>
        <p:spPr>
          <a:xfrm>
            <a:off x="749808" y="5230368"/>
            <a:ext cx="402336" cy="402336"/>
          </a:xfrm>
          <a:prstGeom prst="ellipse">
            <a:avLst/>
          </a:prstGeom>
          <a:solidFill>
            <a:srgbClr val="8FB573"/>
          </a:solidFill>
          <a:ln/>
        </p:spPr>
      </p:sp>
      <p:sp>
        <p:nvSpPr>
          <p:cNvPr id="22" name="Text 20"/>
          <p:cNvSpPr/>
          <p:nvPr/>
        </p:nvSpPr>
        <p:spPr>
          <a:xfrm>
            <a:off x="749808" y="523036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1316736" y="511149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Generation config overrides your eos_token_id</a:t>
            </a:r>
            <a:endParaRPr lang="en-US" sz="1300" dirty="0"/>
          </a:p>
        </p:txBody>
      </p:sp>
      <p:sp>
        <p:nvSpPr>
          <p:cNvPr id="24" name="Text 22"/>
          <p:cNvSpPr/>
          <p:nvPr/>
        </p:nvSpPr>
        <p:spPr>
          <a:xfrm>
            <a:off x="1316736" y="5404104"/>
            <a:ext cx="10058400" cy="3840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The model's generation_config.json may specify a different stop token than your tokenizer. They disagree and generation wins.</a:t>
            </a:r>
            <a:endParaRPr lang="en-US" sz="1150" dirty="0"/>
          </a:p>
        </p:txBody>
      </p:sp>
      <p:sp>
        <p:nvSpPr>
          <p:cNvPr id="25" name="Shape 23"/>
          <p:cNvSpPr/>
          <p:nvPr/>
        </p:nvSpPr>
        <p:spPr>
          <a:xfrm>
            <a:off x="502920" y="5852160"/>
            <a:ext cx="11155680" cy="566928"/>
          </a:xfrm>
          <a:prstGeom prst="roundRect">
            <a:avLst>
              <a:gd name="adj" fmla="val 9677"/>
            </a:avLst>
          </a:prstGeom>
          <a:solidFill>
            <a:srgbClr val="8FB573"/>
          </a:solidFill>
          <a:ln/>
        </p:spPr>
      </p:sp>
      <p:sp>
        <p:nvSpPr>
          <p:cNvPr id="26" name="Text 24"/>
          <p:cNvSpPr/>
          <p:nvPr/>
        </p:nvSpPr>
        <p:spPr>
          <a:xfrm>
            <a:off x="777240" y="585216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Diagnostic: decode one training example end-to-end and print repr(). Ninety seconds. It has saved me days.</a:t>
            </a:r>
            <a:endParaRPr lang="en-US" sz="1450" dirty="0"/>
          </a:p>
        </p:txBody>
      </p:sp>
      <p:sp>
        <p:nvSpPr>
          <p:cNvPr id="27" name="Text 2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MODEL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Fill-in-the-middle (FIM) — the other code format</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Instruction-tuning is not the only way to use a code model. FIM is how autocomplete actually works.</a:t>
            </a:r>
            <a:endParaRPr lang="en-US" sz="1300" dirty="0"/>
          </a:p>
        </p:txBody>
      </p:sp>
      <p:sp>
        <p:nvSpPr>
          <p:cNvPr id="5" name="Shape 3"/>
          <p:cNvSpPr/>
          <p:nvPr/>
        </p:nvSpPr>
        <p:spPr>
          <a:xfrm>
            <a:off x="502920" y="1536192"/>
            <a:ext cx="5852160" cy="2011680"/>
          </a:xfrm>
          <a:prstGeom prst="roundRect">
            <a:avLst>
              <a:gd name="adj" fmla="val 2727"/>
            </a:avLst>
          </a:prstGeom>
          <a:solidFill>
            <a:srgbClr val="0F1F17"/>
          </a:solidFill>
          <a:ln/>
        </p:spPr>
      </p:sp>
      <p:sp>
        <p:nvSpPr>
          <p:cNvPr id="6" name="Text 4"/>
          <p:cNvSpPr/>
          <p:nvPr/>
        </p:nvSpPr>
        <p:spPr>
          <a:xfrm>
            <a:off x="722376" y="1682496"/>
            <a:ext cx="541324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FIM FORMAT</a:t>
            </a:r>
            <a:endParaRPr lang="en-US" sz="950" dirty="0"/>
          </a:p>
        </p:txBody>
      </p:sp>
      <p:sp>
        <p:nvSpPr>
          <p:cNvPr id="7" name="Text 5"/>
          <p:cNvSpPr/>
          <p:nvPr/>
        </p:nvSpPr>
        <p:spPr>
          <a:xfrm>
            <a:off x="722376" y="1956816"/>
            <a:ext cx="5413248" cy="144475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PSM ordering (prefix, suffix, middle)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&lt;|fim_prefix|&gt;def binary_search(xs, target):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lo, hi = 0, len(xs)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&lt;|fim_suffix|&gt;    return -1</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&lt;|fim_middle|&gt;</a:t>
            </a:r>
            <a:endParaRPr lang="en-US" sz="1000" dirty="0"/>
          </a:p>
          <a:p>
            <a:pPr indent="0" marL="0">
              <a:lnSpc>
                <a:spcPct val="112000"/>
              </a:lnSpc>
              <a:buNone/>
            </a:pPr>
            <a:endParaRPr lang="en-US" sz="1000" dirty="0"/>
          </a:p>
          <a:p>
            <a:pPr indent="0" marL="0">
              <a:lnSpc>
                <a:spcPct val="112000"/>
              </a:lnSpc>
              <a:buNone/>
            </a:pPr>
            <a:r>
              <a:rPr lang="en-US" sz="1000" dirty="0">
                <a:solidFill>
                  <a:srgbClr val="6B7A70"/>
                </a:solidFill>
                <a:latin typeface="Courier New" pitchFamily="34" charset="0"/>
                <a:ea typeface="Courier New" pitchFamily="34" charset="-122"/>
                <a:cs typeface="Courier New" pitchFamily="34" charset="-120"/>
              </a:rPr>
              <a:t># model generates the middle section</a:t>
            </a:r>
            <a:endParaRPr lang="en-US" sz="1000" dirty="0"/>
          </a:p>
        </p:txBody>
      </p:sp>
      <p:sp>
        <p:nvSpPr>
          <p:cNvPr id="8" name="Shape 6"/>
          <p:cNvSpPr/>
          <p:nvPr/>
        </p:nvSpPr>
        <p:spPr>
          <a:xfrm>
            <a:off x="6537960" y="1536192"/>
            <a:ext cx="512064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6757416" y="1682496"/>
            <a:ext cx="468172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Why it exists</a:t>
            </a:r>
            <a:endParaRPr lang="en-US" sz="1250" dirty="0"/>
          </a:p>
        </p:txBody>
      </p:sp>
      <p:sp>
        <p:nvSpPr>
          <p:cNvPr id="10" name="Text 8"/>
          <p:cNvSpPr/>
          <p:nvPr/>
        </p:nvSpPr>
        <p:spPr>
          <a:xfrm>
            <a:off x="6757416" y="1993392"/>
            <a:ext cx="4681728" cy="1828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Editor autocomplete needs the code AFTER the cursor as context. Left-to-right generation alone cannot use it.</a:t>
            </a:r>
            <a:endParaRPr lang="en-US" sz="1100" dirty="0"/>
          </a:p>
        </p:txBody>
      </p:sp>
      <p:sp>
        <p:nvSpPr>
          <p:cNvPr id="11" name="Shape 9"/>
          <p:cNvSpPr/>
          <p:nvPr/>
        </p:nvSpPr>
        <p:spPr>
          <a:xfrm>
            <a:off x="6537960" y="2249424"/>
            <a:ext cx="512064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10"/>
          <p:cNvSpPr/>
          <p:nvPr/>
        </p:nvSpPr>
        <p:spPr>
          <a:xfrm>
            <a:off x="6757416" y="2395728"/>
            <a:ext cx="468172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When you need it</a:t>
            </a:r>
            <a:endParaRPr lang="en-US" sz="1250" dirty="0"/>
          </a:p>
        </p:txBody>
      </p:sp>
      <p:sp>
        <p:nvSpPr>
          <p:cNvPr id="13" name="Text 11"/>
          <p:cNvSpPr/>
          <p:nvPr/>
        </p:nvSpPr>
        <p:spPr>
          <a:xfrm>
            <a:off x="6757416" y="2706624"/>
            <a:ext cx="4681728" cy="1828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If your end goal is an in-editor completion model rather than a chat-style assistant.</a:t>
            </a:r>
            <a:endParaRPr lang="en-US" sz="1100" dirty="0"/>
          </a:p>
        </p:txBody>
      </p:sp>
      <p:sp>
        <p:nvSpPr>
          <p:cNvPr id="14" name="Shape 12"/>
          <p:cNvSpPr/>
          <p:nvPr/>
        </p:nvSpPr>
        <p:spPr>
          <a:xfrm>
            <a:off x="6537960" y="2962656"/>
            <a:ext cx="512064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3"/>
          <p:cNvSpPr/>
          <p:nvPr/>
        </p:nvSpPr>
        <p:spPr>
          <a:xfrm>
            <a:off x="6757416" y="3108960"/>
            <a:ext cx="468172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Where it comes from</a:t>
            </a:r>
            <a:endParaRPr lang="en-US" sz="1250" dirty="0"/>
          </a:p>
        </p:txBody>
      </p:sp>
      <p:sp>
        <p:nvSpPr>
          <p:cNvPr id="16" name="Text 14"/>
          <p:cNvSpPr/>
          <p:nvPr/>
        </p:nvSpPr>
        <p:spPr>
          <a:xfrm>
            <a:off x="6757416" y="3419856"/>
            <a:ext cx="4681728" cy="1828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Injected during pretraining by randomly splitting documents. You inherit it; you rarely add it.</a:t>
            </a:r>
            <a:endParaRPr lang="en-US" sz="1100" dirty="0"/>
          </a:p>
        </p:txBody>
      </p:sp>
      <p:sp>
        <p:nvSpPr>
          <p:cNvPr id="17" name="Shape 15"/>
          <p:cNvSpPr/>
          <p:nvPr/>
        </p:nvSpPr>
        <p:spPr>
          <a:xfrm>
            <a:off x="502920" y="3749040"/>
            <a:ext cx="11155680" cy="603504"/>
          </a:xfrm>
          <a:prstGeom prst="roundRect">
            <a:avLst>
              <a:gd name="adj" fmla="val 1060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Shape 16"/>
          <p:cNvSpPr/>
          <p:nvPr/>
        </p:nvSpPr>
        <p:spPr>
          <a:xfrm>
            <a:off x="502920" y="3749040"/>
            <a:ext cx="91440" cy="603504"/>
          </a:xfrm>
          <a:prstGeom prst="rect">
            <a:avLst/>
          </a:prstGeom>
          <a:solidFill>
            <a:srgbClr val="A8482A"/>
          </a:solidFill>
          <a:ln/>
        </p:spPr>
      </p:sp>
      <p:sp>
        <p:nvSpPr>
          <p:cNvPr id="19" name="Text 17"/>
          <p:cNvSpPr/>
          <p:nvPr/>
        </p:nvSpPr>
        <p:spPr>
          <a:xfrm>
            <a:off x="822960" y="3858768"/>
            <a:ext cx="22860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Ordering differs</a:t>
            </a:r>
            <a:endParaRPr lang="en-US" sz="1250" dirty="0"/>
          </a:p>
        </p:txBody>
      </p:sp>
      <p:sp>
        <p:nvSpPr>
          <p:cNvPr id="20" name="Text 18"/>
          <p:cNvSpPr/>
          <p:nvPr/>
        </p:nvSpPr>
        <p:spPr>
          <a:xfrm>
            <a:off x="822960" y="4151376"/>
            <a:ext cx="22860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PSM vs SPM</a:t>
            </a:r>
            <a:endParaRPr lang="en-US" sz="950" dirty="0"/>
          </a:p>
        </p:txBody>
      </p:sp>
      <p:sp>
        <p:nvSpPr>
          <p:cNvPr id="21" name="Text 19"/>
          <p:cNvSpPr/>
          <p:nvPr/>
        </p:nvSpPr>
        <p:spPr>
          <a:xfrm>
            <a:off x="3337560" y="3840480"/>
            <a:ext cx="8321040" cy="420624"/>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Some models expect prefix-suffix-middle, others suffix-prefix-middle. Using the wrong one produces confident nonsense.</a:t>
            </a:r>
            <a:endParaRPr lang="en-US" sz="1180" dirty="0"/>
          </a:p>
        </p:txBody>
      </p:sp>
      <p:sp>
        <p:nvSpPr>
          <p:cNvPr id="22" name="Shape 20"/>
          <p:cNvSpPr/>
          <p:nvPr/>
        </p:nvSpPr>
        <p:spPr>
          <a:xfrm>
            <a:off x="502920" y="4443984"/>
            <a:ext cx="11155680" cy="603504"/>
          </a:xfrm>
          <a:prstGeom prst="roundRect">
            <a:avLst>
              <a:gd name="adj" fmla="val 1060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3" name="Shape 21"/>
          <p:cNvSpPr/>
          <p:nvPr/>
        </p:nvSpPr>
        <p:spPr>
          <a:xfrm>
            <a:off x="502920" y="4443984"/>
            <a:ext cx="91440" cy="603504"/>
          </a:xfrm>
          <a:prstGeom prst="rect">
            <a:avLst/>
          </a:prstGeom>
          <a:solidFill>
            <a:srgbClr val="D98E32"/>
          </a:solidFill>
          <a:ln/>
        </p:spPr>
      </p:sp>
      <p:sp>
        <p:nvSpPr>
          <p:cNvPr id="24" name="Text 22"/>
          <p:cNvSpPr/>
          <p:nvPr/>
        </p:nvSpPr>
        <p:spPr>
          <a:xfrm>
            <a:off x="822960" y="4553712"/>
            <a:ext cx="22860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Token names differ</a:t>
            </a:r>
            <a:endParaRPr lang="en-US" sz="1250" dirty="0"/>
          </a:p>
        </p:txBody>
      </p:sp>
      <p:sp>
        <p:nvSpPr>
          <p:cNvPr id="25" name="Text 23"/>
          <p:cNvSpPr/>
          <p:nvPr/>
        </p:nvSpPr>
        <p:spPr>
          <a:xfrm>
            <a:off x="822960" y="4846320"/>
            <a:ext cx="22860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per family</a:t>
            </a:r>
            <a:endParaRPr lang="en-US" sz="950" dirty="0"/>
          </a:p>
        </p:txBody>
      </p:sp>
      <p:sp>
        <p:nvSpPr>
          <p:cNvPr id="26" name="Text 24"/>
          <p:cNvSpPr/>
          <p:nvPr/>
        </p:nvSpPr>
        <p:spPr>
          <a:xfrm>
            <a:off x="3337560" y="4535424"/>
            <a:ext cx="8321040" cy="420624"/>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Qwen, StarCoder, and DeepSeek all use different FIM sentinel tokens. Read the model card, not another model's docs.</a:t>
            </a:r>
            <a:endParaRPr lang="en-US" sz="1180" dirty="0"/>
          </a:p>
        </p:txBody>
      </p:sp>
      <p:sp>
        <p:nvSpPr>
          <p:cNvPr id="27" name="Shape 25"/>
          <p:cNvSpPr/>
          <p:nvPr/>
        </p:nvSpPr>
        <p:spPr>
          <a:xfrm>
            <a:off x="502920" y="5138928"/>
            <a:ext cx="11155680" cy="603504"/>
          </a:xfrm>
          <a:prstGeom prst="roundRect">
            <a:avLst>
              <a:gd name="adj" fmla="val 1060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8" name="Shape 26"/>
          <p:cNvSpPr/>
          <p:nvPr/>
        </p:nvSpPr>
        <p:spPr>
          <a:xfrm>
            <a:off x="502920" y="5138928"/>
            <a:ext cx="91440" cy="603504"/>
          </a:xfrm>
          <a:prstGeom prst="rect">
            <a:avLst/>
          </a:prstGeom>
          <a:solidFill>
            <a:srgbClr val="D98E32"/>
          </a:solidFill>
          <a:ln/>
        </p:spPr>
      </p:sp>
      <p:sp>
        <p:nvSpPr>
          <p:cNvPr id="29" name="Text 27"/>
          <p:cNvSpPr/>
          <p:nvPr/>
        </p:nvSpPr>
        <p:spPr>
          <a:xfrm>
            <a:off x="822960" y="5248656"/>
            <a:ext cx="22860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Instruct tuning can erase it</a:t>
            </a:r>
            <a:endParaRPr lang="en-US" sz="1250" dirty="0"/>
          </a:p>
        </p:txBody>
      </p:sp>
      <p:sp>
        <p:nvSpPr>
          <p:cNvPr id="30" name="Text 28"/>
          <p:cNvSpPr/>
          <p:nvPr/>
        </p:nvSpPr>
        <p:spPr>
          <a:xfrm>
            <a:off x="822960" y="5541264"/>
            <a:ext cx="22860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SFT overwrites</a:t>
            </a:r>
            <a:endParaRPr lang="en-US" sz="950" dirty="0"/>
          </a:p>
        </p:txBody>
      </p:sp>
      <p:sp>
        <p:nvSpPr>
          <p:cNvPr id="31" name="Text 29"/>
          <p:cNvSpPr/>
          <p:nvPr/>
        </p:nvSpPr>
        <p:spPr>
          <a:xfrm>
            <a:off x="3337560" y="5230368"/>
            <a:ext cx="8321040" cy="420624"/>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Heavy instruction fine-tuning degrades FIM ability. If you need both, mix FIM examples into your SFT data.</a:t>
            </a:r>
            <a:endParaRPr lang="en-US" sz="1180" dirty="0"/>
          </a:p>
        </p:txBody>
      </p:sp>
      <p:sp>
        <p:nvSpPr>
          <p:cNvPr id="32" name="Shape 30"/>
          <p:cNvSpPr/>
          <p:nvPr/>
        </p:nvSpPr>
        <p:spPr>
          <a:xfrm>
            <a:off x="502920" y="5715000"/>
            <a:ext cx="11155680" cy="822960"/>
          </a:xfrm>
          <a:prstGeom prst="roundRect">
            <a:avLst>
              <a:gd name="adj" fmla="val 7778"/>
            </a:avLst>
          </a:prstGeom>
          <a:solidFill>
            <a:srgbClr val="1F3D2E"/>
          </a:solidFill>
          <a:ln/>
        </p:spPr>
      </p:sp>
      <p:sp>
        <p:nvSpPr>
          <p:cNvPr id="33" name="Shape 31"/>
          <p:cNvSpPr/>
          <p:nvPr/>
        </p:nvSpPr>
        <p:spPr>
          <a:xfrm>
            <a:off x="740664" y="5897880"/>
            <a:ext cx="292608" cy="292608"/>
          </a:xfrm>
          <a:prstGeom prst="ellipse">
            <a:avLst/>
          </a:prstGeom>
          <a:solidFill>
            <a:srgbClr val="1F3D2E"/>
          </a:solidFill>
          <a:ln/>
        </p:spPr>
      </p:sp>
      <p:sp>
        <p:nvSpPr>
          <p:cNvPr id="34" name="Text 32"/>
          <p:cNvSpPr/>
          <p:nvPr/>
        </p:nvSpPr>
        <p:spPr>
          <a:xfrm>
            <a:off x="740664" y="589788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35" name="Text 33"/>
          <p:cNvSpPr/>
          <p:nvPr/>
        </p:nvSpPr>
        <p:spPr>
          <a:xfrm>
            <a:off x="1133856" y="591616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36" name="Text 34"/>
          <p:cNvSpPr/>
          <p:nvPr/>
        </p:nvSpPr>
        <p:spPr>
          <a:xfrm>
            <a:off x="740664" y="6291072"/>
            <a:ext cx="10680192" cy="731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FIM is out of scope for this curriculum — we are building an instruction-following code model. But know it exists, because if your goal is an editor plugin, FIM is the format you actually want and everything downstream changes.</a:t>
            </a:r>
            <a:endParaRPr lang="en-US" sz="1150" dirty="0"/>
          </a:p>
        </p:txBody>
      </p:sp>
      <p:sp>
        <p:nvSpPr>
          <p:cNvPr id="37" name="Text 3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MODEL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Context length, RoPE, and what you can afford</a:t>
            </a:r>
            <a:endParaRPr lang="en-US" sz="2900" dirty="0"/>
          </a:p>
        </p:txBody>
      </p:sp>
      <p:sp>
        <p:nvSpPr>
          <p:cNvPr id="4" name="Shape 2"/>
          <p:cNvSpPr/>
          <p:nvPr/>
        </p:nvSpPr>
        <p:spPr>
          <a:xfrm>
            <a:off x="502920"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Advertised ≠ trainable</a:t>
            </a:r>
            <a:endParaRPr lang="en-US" sz="1250" dirty="0"/>
          </a:p>
        </p:txBody>
      </p:sp>
      <p:sp>
        <p:nvSpPr>
          <p:cNvPr id="6" name="Text 4"/>
          <p:cNvSpPr/>
          <p:nvPr/>
        </p:nvSpPr>
        <p:spPr>
          <a:xfrm>
            <a:off x="722376"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 model may advertise 32k context. On 4GB VRAM you will train at 512–1024. Attention memory grows with sequence length, and activations dominate your budget.</a:t>
            </a:r>
            <a:endParaRPr lang="en-US" sz="1100" dirty="0"/>
          </a:p>
        </p:txBody>
      </p:sp>
      <p:sp>
        <p:nvSpPr>
          <p:cNvPr id="7" name="Shape 5"/>
          <p:cNvSpPr/>
          <p:nvPr/>
        </p:nvSpPr>
        <p:spPr>
          <a:xfrm>
            <a:off x="4270248"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4489704" y="142646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RoPE is the position encoding</a:t>
            </a:r>
            <a:endParaRPr lang="en-US" sz="1250" dirty="0"/>
          </a:p>
        </p:txBody>
      </p:sp>
      <p:sp>
        <p:nvSpPr>
          <p:cNvPr id="9" name="Text 7"/>
          <p:cNvSpPr/>
          <p:nvPr/>
        </p:nvSpPr>
        <p:spPr>
          <a:xfrm>
            <a:off x="4489704"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Rotary embeddings encode position by rotating query/key vectors. It extrapolates poorly past the trained length without adjustment.</a:t>
            </a:r>
            <a:endParaRPr lang="en-US" sz="1100" dirty="0"/>
          </a:p>
        </p:txBody>
      </p:sp>
      <p:sp>
        <p:nvSpPr>
          <p:cNvPr id="10" name="Shape 8"/>
          <p:cNvSpPr/>
          <p:nvPr/>
        </p:nvSpPr>
        <p:spPr>
          <a:xfrm>
            <a:off x="8037576"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8257032" y="142646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Extension methods exist</a:t>
            </a:r>
            <a:endParaRPr lang="en-US" sz="1250" dirty="0"/>
          </a:p>
        </p:txBody>
      </p:sp>
      <p:sp>
        <p:nvSpPr>
          <p:cNvPr id="12" name="Text 10"/>
          <p:cNvSpPr/>
          <p:nvPr/>
        </p:nvSpPr>
        <p:spPr>
          <a:xfrm>
            <a:off x="8257032"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Position Interpolation, NTK-aware scaling, YaRN. They stretch usable context beyond training length — at some quality cost.</a:t>
            </a:r>
            <a:endParaRPr lang="en-US" sz="1100" dirty="0"/>
          </a:p>
        </p:txBody>
      </p:sp>
      <p:sp>
        <p:nvSpPr>
          <p:cNvPr id="13" name="Shape 11"/>
          <p:cNvSpPr/>
          <p:nvPr/>
        </p:nvSpPr>
        <p:spPr>
          <a:xfrm>
            <a:off x="502920"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22376" y="3127248"/>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Long context is a separate project</a:t>
            </a:r>
            <a:endParaRPr lang="en-US" sz="1250" dirty="0"/>
          </a:p>
        </p:txBody>
      </p:sp>
      <p:sp>
        <p:nvSpPr>
          <p:cNvPr id="15" name="Text 13"/>
          <p:cNvSpPr/>
          <p:nvPr/>
        </p:nvSpPr>
        <p:spPr>
          <a:xfrm>
            <a:off x="722376"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Repo-level code understanding needs long context and is a genuinely different discipline. Deliberately out of scope here.</a:t>
            </a:r>
            <a:endParaRPr lang="en-US" sz="1100" dirty="0"/>
          </a:p>
        </p:txBody>
      </p:sp>
      <p:sp>
        <p:nvSpPr>
          <p:cNvPr id="16" name="Shape 14"/>
          <p:cNvSpPr/>
          <p:nvPr/>
        </p:nvSpPr>
        <p:spPr>
          <a:xfrm>
            <a:off x="4270248"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4489704" y="312724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Pick seq_len from your data</a:t>
            </a:r>
            <a:endParaRPr lang="en-US" sz="1250" dirty="0"/>
          </a:p>
        </p:txBody>
      </p:sp>
      <p:sp>
        <p:nvSpPr>
          <p:cNvPr id="18" name="Text 16"/>
          <p:cNvSpPr/>
          <p:nvPr/>
        </p:nvSpPr>
        <p:spPr>
          <a:xfrm>
            <a:off x="4489704"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Measure the p95 token length of your dataset and set seq_len there. Do not pick a round number.</a:t>
            </a:r>
            <a:endParaRPr lang="en-US" sz="1100" dirty="0"/>
          </a:p>
        </p:txBody>
      </p:sp>
      <p:sp>
        <p:nvSpPr>
          <p:cNvPr id="19" name="Shape 17"/>
          <p:cNvSpPr/>
          <p:nvPr/>
        </p:nvSpPr>
        <p:spPr>
          <a:xfrm>
            <a:off x="8037576"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8257032" y="3127248"/>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Packing changes the math</a:t>
            </a:r>
            <a:endParaRPr lang="en-US" sz="1250" dirty="0"/>
          </a:p>
        </p:txBody>
      </p:sp>
      <p:sp>
        <p:nvSpPr>
          <p:cNvPr id="21" name="Text 19"/>
          <p:cNvSpPr/>
          <p:nvPr/>
        </p:nvSpPr>
        <p:spPr>
          <a:xfrm>
            <a:off x="8257032"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With sequence packing, seq_len is a bin size, not a per-example cap. Different tuning intuitions apply.</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4526280"/>
          <a:ext cx="11155680" cy="914400"/>
        </p:xfrm>
        <a:graphic>
          <a:graphicData uri="http://schemas.openxmlformats.org/drawingml/2006/table">
            <a:tbl>
              <a:tblPr/>
              <a:tblGrid>
                <a:gridCol w="1371600"/>
                <a:gridCol w="2743200"/>
                <a:gridCol w="3657600"/>
                <a:gridCol w="338328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seq_len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Approx. activation cost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Fits on 4GB with 0.5B QLoRA?</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Truncates what fraction of typical SFT data?</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512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Yes, comfortably, batch 2–4</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~20% of examples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1024</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Yes, batch 1</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2048</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Marginal, batch 1 + checkpointing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4096</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Very high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23" name="Text 20"/>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31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MODEL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Choosing a base model — path and traps</a:t>
            </a:r>
            <a:endParaRPr lang="en-US" sz="2900" dirty="0"/>
          </a:p>
        </p:txBody>
      </p:sp>
      <p:sp>
        <p:nvSpPr>
          <p:cNvPr id="4" name="Shape 2"/>
          <p:cNvSpPr/>
          <p:nvPr/>
        </p:nvSpPr>
        <p:spPr>
          <a:xfrm>
            <a:off x="502920" y="1335024"/>
            <a:ext cx="292608" cy="292608"/>
          </a:xfrm>
          <a:prstGeom prst="ellipse">
            <a:avLst/>
          </a:prstGeom>
          <a:solidFill>
            <a:srgbClr val="8FB573"/>
          </a:solidFill>
          <a:ln/>
        </p:spPr>
      </p:sp>
      <p:sp>
        <p:nvSpPr>
          <p:cNvPr id="5" name="Text 3"/>
          <p:cNvSpPr/>
          <p:nvPr/>
        </p:nvSpPr>
        <p:spPr>
          <a:xfrm>
            <a:off x="50292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89611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PATH</a:t>
            </a:r>
            <a:endParaRPr lang="en-US" sz="1100" dirty="0"/>
          </a:p>
        </p:txBody>
      </p:sp>
      <p:sp>
        <p:nvSpPr>
          <p:cNvPr id="7" name="Text 5"/>
          <p:cNvSpPr/>
          <p:nvPr/>
        </p:nvSpPr>
        <p:spPr>
          <a:xfrm>
            <a:off x="502920" y="1755648"/>
            <a:ext cx="539496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Start with Qwen2.5-Coder-0.5B-Instruct. Change it only for a measured reason</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Load it, apply your chat template, generate — before writing anything else</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Verify EOS: generate and confirm it terminates on its own</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Measure token-length percentiles on your actual data, then set seq_len</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Read the license before you get attached to the model</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Confirm the teacher shares a tokenizer family with the student</a:t>
            </a:r>
            <a:endParaRPr lang="en-US" sz="1250" dirty="0"/>
          </a:p>
        </p:txBody>
      </p:sp>
      <p:sp>
        <p:nvSpPr>
          <p:cNvPr id="8" name="Shape 6"/>
          <p:cNvSpPr/>
          <p:nvPr/>
        </p:nvSpPr>
        <p:spPr>
          <a:xfrm>
            <a:off x="6309360" y="1335024"/>
            <a:ext cx="292608" cy="292608"/>
          </a:xfrm>
          <a:prstGeom prst="ellipse">
            <a:avLst/>
          </a:prstGeom>
          <a:solidFill>
            <a:srgbClr val="D98E32"/>
          </a:solidFill>
          <a:ln/>
        </p:spPr>
      </p:sp>
      <p:sp>
        <p:nvSpPr>
          <p:cNvPr id="9" name="Text 7"/>
          <p:cNvSpPr/>
          <p:nvPr/>
        </p:nvSpPr>
        <p:spPr>
          <a:xfrm>
            <a:off x="630936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670255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TRAPS</a:t>
            </a:r>
            <a:endParaRPr lang="en-US" sz="1100" dirty="0"/>
          </a:p>
        </p:txBody>
      </p:sp>
      <p:sp>
        <p:nvSpPr>
          <p:cNvPr id="11" name="Text 9"/>
          <p:cNvSpPr/>
          <p:nvPr/>
        </p:nvSpPr>
        <p:spPr>
          <a:xfrm>
            <a:off x="6309360" y="1755648"/>
            <a:ext cx="534924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Picking by leaderboard score — those numbers use prompts and harnesses you are not using</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Assuming the chat template from a sibling model applies. It does not</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Starting at 7B 'to get better results' — you cannot train it, so you learn nothing</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Ignoring the license until you want to publish</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Changing base models mid-curriculum: every prior number becomes incomparable</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Trusting the model card's context length as your trainable length</a:t>
            </a:r>
            <a:endParaRPr lang="en-US" sz="1250" dirty="0"/>
          </a:p>
        </p:txBody>
      </p:sp>
      <p:sp>
        <p:nvSpPr>
          <p:cNvPr id="12" name="Shape 10"/>
          <p:cNvSpPr/>
          <p:nvPr/>
        </p:nvSpPr>
        <p:spPr>
          <a:xfrm>
            <a:off x="502920" y="5056632"/>
            <a:ext cx="11155680" cy="1143000"/>
          </a:xfrm>
          <a:prstGeom prst="roundRect">
            <a:avLst>
              <a:gd name="adj" fmla="val 5600"/>
            </a:avLst>
          </a:prstGeom>
          <a:solidFill>
            <a:srgbClr val="1F3D2E"/>
          </a:solidFill>
          <a:ln/>
        </p:spPr>
      </p:sp>
      <p:sp>
        <p:nvSpPr>
          <p:cNvPr id="13" name="Shape 11"/>
          <p:cNvSpPr/>
          <p:nvPr/>
        </p:nvSpPr>
        <p:spPr>
          <a:xfrm>
            <a:off x="740664" y="5239512"/>
            <a:ext cx="292608" cy="292608"/>
          </a:xfrm>
          <a:prstGeom prst="ellipse">
            <a:avLst/>
          </a:prstGeom>
          <a:solidFill>
            <a:srgbClr val="1F3D2E"/>
          </a:solidFill>
          <a:ln/>
        </p:spPr>
      </p:sp>
      <p:sp>
        <p:nvSpPr>
          <p:cNvPr id="14" name="Text 12"/>
          <p:cNvSpPr/>
          <p:nvPr/>
        </p:nvSpPr>
        <p:spPr>
          <a:xfrm>
            <a:off x="740664" y="5239512"/>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257800"/>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632704"/>
            <a:ext cx="10680192" cy="3931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The whole of Phase 2 is: load the model, print the templated text, generate once, read the license. Half a day. Skipping it is how you end up debugging a tokenizer problem while convinced you have a training problem.</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32</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PHASE 3</a:t>
            </a:r>
            <a:endParaRPr lang="en-US" sz="1250" dirty="0"/>
          </a:p>
        </p:txBody>
      </p:sp>
      <p:sp>
        <p:nvSpPr>
          <p:cNvPr id="3" name="Text 1"/>
          <p:cNvSpPr/>
          <p:nvPr/>
        </p:nvSpPr>
        <p:spPr>
          <a:xfrm>
            <a:off x="777240" y="23317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Building the Executor</a:t>
            </a:r>
            <a:endParaRPr lang="en-US" sz="4000" dirty="0"/>
          </a:p>
        </p:txBody>
      </p:sp>
      <p:sp>
        <p:nvSpPr>
          <p:cNvPr id="4" name="Text 2"/>
          <p:cNvSpPr/>
          <p:nvPr/>
        </p:nvSpPr>
        <p:spPr>
          <a:xfrm>
            <a:off x="777240" y="32004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Three to five days. This is the trust boundary of the entire project, and the</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same component becomes your reward function in Phase 9. Build it once, properly.</a:t>
            </a:r>
            <a:endParaRPr lang="en-US" sz="1550" dirty="0"/>
          </a:p>
        </p:txBody>
      </p:sp>
      <p:sp>
        <p:nvSpPr>
          <p:cNvPr id="5" name="Text 3"/>
          <p:cNvSpPr/>
          <p:nvPr/>
        </p:nvSpPr>
        <p:spPr>
          <a:xfrm>
            <a:off x="777240" y="4892040"/>
            <a:ext cx="10607040" cy="237744"/>
          </a:xfrm>
          <a:prstGeom prst="rect">
            <a:avLst/>
          </a:prstGeom>
          <a:noFill/>
          <a:ln/>
        </p:spPr>
        <p:txBody>
          <a:bodyPr wrap="square" lIns="0" tIns="0" rIns="0" bIns="0" rtlCol="0" anchor="ctr"/>
          <a:lstStyle/>
          <a:p>
            <a:pPr indent="0" marL="0">
              <a:buNone/>
            </a:pPr>
            <a:r>
              <a:rPr lang="en-US" sz="900" b="1" spc="250" kern="0" dirty="0">
                <a:solidFill>
                  <a:srgbClr val="2A5240"/>
                </a:solidFill>
                <a:latin typeface="Calibri" pitchFamily="34" charset="0"/>
                <a:ea typeface="Calibri" pitchFamily="34" charset="-122"/>
                <a:cs typeface="Calibri" pitchFamily="34" charset="-120"/>
              </a:rPr>
              <a:t>WHERE YOU ARE</a:t>
            </a:r>
            <a:endParaRPr lang="en-US" sz="900" dirty="0"/>
          </a:p>
        </p:txBody>
      </p:sp>
      <p:sp>
        <p:nvSpPr>
          <p:cNvPr id="6" name="Shape 4"/>
          <p:cNvSpPr/>
          <p:nvPr/>
        </p:nvSpPr>
        <p:spPr>
          <a:xfrm>
            <a:off x="777240" y="5212080"/>
            <a:ext cx="829056" cy="73152"/>
          </a:xfrm>
          <a:prstGeom prst="rect">
            <a:avLst/>
          </a:prstGeom>
          <a:solidFill>
            <a:srgbClr val="2A5240"/>
          </a:solidFill>
          <a:ln/>
        </p:spPr>
      </p:sp>
      <p:sp>
        <p:nvSpPr>
          <p:cNvPr id="7" name="Text 5"/>
          <p:cNvSpPr/>
          <p:nvPr/>
        </p:nvSpPr>
        <p:spPr>
          <a:xfrm>
            <a:off x="6858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SETUP</a:t>
            </a:r>
            <a:endParaRPr lang="en-US" sz="750" dirty="0"/>
          </a:p>
        </p:txBody>
      </p:sp>
      <p:sp>
        <p:nvSpPr>
          <p:cNvPr id="8" name="Shape 6"/>
          <p:cNvSpPr/>
          <p:nvPr/>
        </p:nvSpPr>
        <p:spPr>
          <a:xfrm>
            <a:off x="1661160" y="5212080"/>
            <a:ext cx="829056" cy="73152"/>
          </a:xfrm>
          <a:prstGeom prst="rect">
            <a:avLst/>
          </a:prstGeom>
          <a:solidFill>
            <a:srgbClr val="2A5240"/>
          </a:solidFill>
          <a:ln/>
        </p:spPr>
      </p:sp>
      <p:sp>
        <p:nvSpPr>
          <p:cNvPr id="9" name="Text 7"/>
          <p:cNvSpPr/>
          <p:nvPr/>
        </p:nvSpPr>
        <p:spPr>
          <a:xfrm>
            <a:off x="15697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MODEL</a:t>
            </a:r>
            <a:endParaRPr lang="en-US" sz="750" dirty="0"/>
          </a:p>
        </p:txBody>
      </p:sp>
      <p:sp>
        <p:nvSpPr>
          <p:cNvPr id="10" name="Shape 8"/>
          <p:cNvSpPr/>
          <p:nvPr/>
        </p:nvSpPr>
        <p:spPr>
          <a:xfrm>
            <a:off x="2545080" y="5212080"/>
            <a:ext cx="829056" cy="182880"/>
          </a:xfrm>
          <a:prstGeom prst="rect">
            <a:avLst/>
          </a:prstGeom>
          <a:solidFill>
            <a:srgbClr val="8FB573"/>
          </a:solidFill>
          <a:ln/>
        </p:spPr>
      </p:sp>
      <p:sp>
        <p:nvSpPr>
          <p:cNvPr id="11" name="Text 9"/>
          <p:cNvSpPr/>
          <p:nvPr/>
        </p:nvSpPr>
        <p:spPr>
          <a:xfrm>
            <a:off x="2453640" y="5468112"/>
            <a:ext cx="1011936" cy="219456"/>
          </a:xfrm>
          <a:prstGeom prst="rect">
            <a:avLst/>
          </a:prstGeom>
          <a:noFill/>
          <a:ln/>
        </p:spPr>
        <p:txBody>
          <a:bodyPr wrap="square" lIns="0" tIns="0" rIns="0" bIns="0" rtlCol="0" anchor="ctr"/>
          <a:lstStyle/>
          <a:p>
            <a:pPr algn="ctr" indent="0" marL="0">
              <a:buNone/>
            </a:pPr>
            <a:r>
              <a:rPr lang="en-US" sz="750" b="1" dirty="0">
                <a:solidFill>
                  <a:srgbClr val="8FB573"/>
                </a:solidFill>
                <a:latin typeface="Calibri" pitchFamily="34" charset="0"/>
                <a:ea typeface="Calibri" pitchFamily="34" charset="-122"/>
                <a:cs typeface="Calibri" pitchFamily="34" charset="-120"/>
              </a:rPr>
              <a:t>SANDBOX</a:t>
            </a:r>
            <a:endParaRPr lang="en-US" sz="750" dirty="0"/>
          </a:p>
        </p:txBody>
      </p:sp>
      <p:sp>
        <p:nvSpPr>
          <p:cNvPr id="12" name="Shape 10"/>
          <p:cNvSpPr/>
          <p:nvPr/>
        </p:nvSpPr>
        <p:spPr>
          <a:xfrm>
            <a:off x="3429000" y="5212080"/>
            <a:ext cx="829056" cy="73152"/>
          </a:xfrm>
          <a:prstGeom prst="rect">
            <a:avLst/>
          </a:prstGeom>
          <a:solidFill>
            <a:srgbClr val="27452F"/>
          </a:solidFill>
          <a:ln/>
        </p:spPr>
      </p:sp>
      <p:sp>
        <p:nvSpPr>
          <p:cNvPr id="13" name="Text 11"/>
          <p:cNvSpPr/>
          <p:nvPr/>
        </p:nvSpPr>
        <p:spPr>
          <a:xfrm>
            <a:off x="333756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EVAL</a:t>
            </a:r>
            <a:endParaRPr lang="en-US" sz="750" dirty="0"/>
          </a:p>
        </p:txBody>
      </p:sp>
      <p:sp>
        <p:nvSpPr>
          <p:cNvPr id="14" name="Shape 12"/>
          <p:cNvSpPr/>
          <p:nvPr/>
        </p:nvSpPr>
        <p:spPr>
          <a:xfrm>
            <a:off x="4312920" y="5212080"/>
            <a:ext cx="829056" cy="73152"/>
          </a:xfrm>
          <a:prstGeom prst="rect">
            <a:avLst/>
          </a:prstGeom>
          <a:solidFill>
            <a:srgbClr val="27452F"/>
          </a:solidFill>
          <a:ln/>
        </p:spPr>
      </p:sp>
      <p:sp>
        <p:nvSpPr>
          <p:cNvPr id="15" name="Text 13"/>
          <p:cNvSpPr/>
          <p:nvPr/>
        </p:nvSpPr>
        <p:spPr>
          <a:xfrm>
            <a:off x="422148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DATA</a:t>
            </a:r>
            <a:endParaRPr lang="en-US" sz="750" dirty="0"/>
          </a:p>
        </p:txBody>
      </p:sp>
      <p:sp>
        <p:nvSpPr>
          <p:cNvPr id="16" name="Shape 14"/>
          <p:cNvSpPr/>
          <p:nvPr/>
        </p:nvSpPr>
        <p:spPr>
          <a:xfrm>
            <a:off x="5196840" y="5212080"/>
            <a:ext cx="829056" cy="73152"/>
          </a:xfrm>
          <a:prstGeom prst="rect">
            <a:avLst/>
          </a:prstGeom>
          <a:solidFill>
            <a:srgbClr val="27452F"/>
          </a:solidFill>
          <a:ln/>
        </p:spPr>
      </p:sp>
      <p:sp>
        <p:nvSpPr>
          <p:cNvPr id="17" name="Text 15"/>
          <p:cNvSpPr/>
          <p:nvPr/>
        </p:nvSpPr>
        <p:spPr>
          <a:xfrm>
            <a:off x="51054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SFT</a:t>
            </a:r>
            <a:endParaRPr lang="en-US" sz="750" dirty="0"/>
          </a:p>
        </p:txBody>
      </p:sp>
      <p:sp>
        <p:nvSpPr>
          <p:cNvPr id="18" name="Shape 16"/>
          <p:cNvSpPr/>
          <p:nvPr/>
        </p:nvSpPr>
        <p:spPr>
          <a:xfrm>
            <a:off x="6080760" y="5212080"/>
            <a:ext cx="829056" cy="73152"/>
          </a:xfrm>
          <a:prstGeom prst="rect">
            <a:avLst/>
          </a:prstGeom>
          <a:solidFill>
            <a:srgbClr val="27452F"/>
          </a:solidFill>
          <a:ln/>
        </p:spPr>
      </p:sp>
      <p:sp>
        <p:nvSpPr>
          <p:cNvPr id="19" name="Text 17"/>
          <p:cNvSpPr/>
          <p:nvPr/>
        </p:nvSpPr>
        <p:spPr>
          <a:xfrm>
            <a:off x="59893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RFT</a:t>
            </a:r>
            <a:endParaRPr lang="en-US" sz="750" dirty="0"/>
          </a:p>
        </p:txBody>
      </p:sp>
      <p:sp>
        <p:nvSpPr>
          <p:cNvPr id="20" name="Shape 18"/>
          <p:cNvSpPr/>
          <p:nvPr/>
        </p:nvSpPr>
        <p:spPr>
          <a:xfrm>
            <a:off x="6964680" y="5212080"/>
            <a:ext cx="829056" cy="73152"/>
          </a:xfrm>
          <a:prstGeom prst="rect">
            <a:avLst/>
          </a:prstGeom>
          <a:solidFill>
            <a:srgbClr val="27452F"/>
          </a:solidFill>
          <a:ln/>
        </p:spPr>
      </p:sp>
      <p:sp>
        <p:nvSpPr>
          <p:cNvPr id="21" name="Text 19"/>
          <p:cNvSpPr/>
          <p:nvPr/>
        </p:nvSpPr>
        <p:spPr>
          <a:xfrm>
            <a:off x="687324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DPO</a:t>
            </a:r>
            <a:endParaRPr lang="en-US" sz="750" dirty="0"/>
          </a:p>
        </p:txBody>
      </p:sp>
      <p:sp>
        <p:nvSpPr>
          <p:cNvPr id="22" name="Shape 20"/>
          <p:cNvSpPr/>
          <p:nvPr/>
        </p:nvSpPr>
        <p:spPr>
          <a:xfrm>
            <a:off x="7848600" y="5212080"/>
            <a:ext cx="829056" cy="73152"/>
          </a:xfrm>
          <a:prstGeom prst="rect">
            <a:avLst/>
          </a:prstGeom>
          <a:solidFill>
            <a:srgbClr val="27452F"/>
          </a:solidFill>
          <a:ln/>
        </p:spPr>
      </p:sp>
      <p:sp>
        <p:nvSpPr>
          <p:cNvPr id="23" name="Text 21"/>
          <p:cNvSpPr/>
          <p:nvPr/>
        </p:nvSpPr>
        <p:spPr>
          <a:xfrm>
            <a:off x="775716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GRPO</a:t>
            </a:r>
            <a:endParaRPr lang="en-US" sz="750" dirty="0"/>
          </a:p>
        </p:txBody>
      </p:sp>
      <p:sp>
        <p:nvSpPr>
          <p:cNvPr id="24" name="Shape 22"/>
          <p:cNvSpPr/>
          <p:nvPr/>
        </p:nvSpPr>
        <p:spPr>
          <a:xfrm>
            <a:off x="8732520" y="5212080"/>
            <a:ext cx="829056" cy="73152"/>
          </a:xfrm>
          <a:prstGeom prst="rect">
            <a:avLst/>
          </a:prstGeom>
          <a:solidFill>
            <a:srgbClr val="27452F"/>
          </a:solidFill>
          <a:ln/>
        </p:spPr>
      </p:sp>
      <p:sp>
        <p:nvSpPr>
          <p:cNvPr id="25" name="Text 23"/>
          <p:cNvSpPr/>
          <p:nvPr/>
        </p:nvSpPr>
        <p:spPr>
          <a:xfrm>
            <a:off x="864108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REPAIR</a:t>
            </a:r>
            <a:endParaRPr lang="en-US" sz="750" dirty="0"/>
          </a:p>
        </p:txBody>
      </p:sp>
      <p:sp>
        <p:nvSpPr>
          <p:cNvPr id="26" name="Shape 24"/>
          <p:cNvSpPr/>
          <p:nvPr/>
        </p:nvSpPr>
        <p:spPr>
          <a:xfrm>
            <a:off x="9616440" y="5212080"/>
            <a:ext cx="829056" cy="73152"/>
          </a:xfrm>
          <a:prstGeom prst="rect">
            <a:avLst/>
          </a:prstGeom>
          <a:solidFill>
            <a:srgbClr val="27452F"/>
          </a:solidFill>
          <a:ln/>
        </p:spPr>
      </p:sp>
      <p:sp>
        <p:nvSpPr>
          <p:cNvPr id="27" name="Text 25"/>
          <p:cNvSpPr/>
          <p:nvPr/>
        </p:nvSpPr>
        <p:spPr>
          <a:xfrm>
            <a:off x="95250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MERGE</a:t>
            </a:r>
            <a:endParaRPr lang="en-US" sz="750" dirty="0"/>
          </a:p>
        </p:txBody>
      </p:sp>
      <p:sp>
        <p:nvSpPr>
          <p:cNvPr id="28" name="Shape 26"/>
          <p:cNvSpPr/>
          <p:nvPr/>
        </p:nvSpPr>
        <p:spPr>
          <a:xfrm>
            <a:off x="10500360" y="5212080"/>
            <a:ext cx="829056" cy="73152"/>
          </a:xfrm>
          <a:prstGeom prst="rect">
            <a:avLst/>
          </a:prstGeom>
          <a:solidFill>
            <a:srgbClr val="27452F"/>
          </a:solidFill>
          <a:ln/>
        </p:spPr>
      </p:sp>
      <p:sp>
        <p:nvSpPr>
          <p:cNvPr id="29" name="Text 27"/>
          <p:cNvSpPr/>
          <p:nvPr/>
        </p:nvSpPr>
        <p:spPr>
          <a:xfrm>
            <a:off x="104089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SERVE</a:t>
            </a:r>
            <a:endParaRPr lang="en-US" sz="7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33</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SANDBOX</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threat model — what you are actually defending against</a:t>
            </a:r>
            <a:endParaRPr lang="en-US" sz="2900" dirty="0"/>
          </a:p>
        </p:txBody>
      </p:sp>
      <p:sp>
        <p:nvSpPr>
          <p:cNvPr id="4" name="Text 2"/>
          <p:cNvSpPr/>
          <p:nvPr/>
        </p:nvSpPr>
        <p:spPr>
          <a:xfrm>
            <a:off x="502920" y="1280160"/>
            <a:ext cx="11155680" cy="73152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You are about to run millions of lines of code written by a model that is being actively optimized to make your tests pass. It is not malicious. It is worse than malicious: it is a search process with an objective, and your sandbox is part of the search space.</a:t>
            </a:r>
            <a:endParaRPr lang="en-US" sz="1350" dirty="0"/>
          </a:p>
        </p:txBody>
      </p:sp>
      <p:sp>
        <p:nvSpPr>
          <p:cNvPr id="5" name="Shape 3"/>
          <p:cNvSpPr/>
          <p:nvPr/>
        </p:nvSpPr>
        <p:spPr>
          <a:xfrm>
            <a:off x="502920" y="2103120"/>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4"/>
          <p:cNvSpPr/>
          <p:nvPr/>
        </p:nvSpPr>
        <p:spPr>
          <a:xfrm>
            <a:off x="722376" y="2249424"/>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Accidental damage</a:t>
            </a:r>
            <a:endParaRPr lang="en-US" sz="1250" dirty="0"/>
          </a:p>
        </p:txBody>
      </p:sp>
      <p:sp>
        <p:nvSpPr>
          <p:cNvPr id="7" name="Text 5"/>
          <p:cNvSpPr/>
          <p:nvPr/>
        </p:nvSpPr>
        <p:spPr>
          <a:xfrm>
            <a:off x="722376" y="2560320"/>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 generated rm -rf, an infinite loop, a fork bomb, a 40GB allocation. No intent, full impact.</a:t>
            </a:r>
            <a:endParaRPr lang="en-US" sz="1100" dirty="0"/>
          </a:p>
        </p:txBody>
      </p:sp>
      <p:sp>
        <p:nvSpPr>
          <p:cNvPr id="8" name="Shape 6"/>
          <p:cNvSpPr/>
          <p:nvPr/>
        </p:nvSpPr>
        <p:spPr>
          <a:xfrm>
            <a:off x="4270248" y="2103120"/>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4489704" y="2249424"/>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Resource exhaustion</a:t>
            </a:r>
            <a:endParaRPr lang="en-US" sz="1250" dirty="0"/>
          </a:p>
        </p:txBody>
      </p:sp>
      <p:sp>
        <p:nvSpPr>
          <p:cNvPr id="10" name="Text 8"/>
          <p:cNvSpPr/>
          <p:nvPr/>
        </p:nvSpPr>
        <p:spPr>
          <a:xfrm>
            <a:off x="4489704" y="2560320"/>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most common real failure. One bad sample hangs a training run for hours with no error.</a:t>
            </a:r>
            <a:endParaRPr lang="en-US" sz="1100" dirty="0"/>
          </a:p>
        </p:txBody>
      </p:sp>
      <p:sp>
        <p:nvSpPr>
          <p:cNvPr id="11" name="Shape 9"/>
          <p:cNvSpPr/>
          <p:nvPr/>
        </p:nvSpPr>
        <p:spPr>
          <a:xfrm>
            <a:off x="8037576" y="2103120"/>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10"/>
          <p:cNvSpPr/>
          <p:nvPr/>
        </p:nvSpPr>
        <p:spPr>
          <a:xfrm>
            <a:off x="8257032" y="2249424"/>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Test-file access</a:t>
            </a:r>
            <a:endParaRPr lang="en-US" sz="1250" dirty="0"/>
          </a:p>
        </p:txBody>
      </p:sp>
      <p:sp>
        <p:nvSpPr>
          <p:cNvPr id="13" name="Text 11"/>
          <p:cNvSpPr/>
          <p:nvPr/>
        </p:nvSpPr>
        <p:spPr>
          <a:xfrm>
            <a:off x="8257032" y="2560320"/>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model reads the test file and returns expected values. Passes every test. Learns nothing.</a:t>
            </a:r>
            <a:endParaRPr lang="en-US" sz="1100" dirty="0"/>
          </a:p>
        </p:txBody>
      </p:sp>
      <p:sp>
        <p:nvSpPr>
          <p:cNvPr id="14" name="Shape 12"/>
          <p:cNvSpPr/>
          <p:nvPr/>
        </p:nvSpPr>
        <p:spPr>
          <a:xfrm>
            <a:off x="502920" y="3712464"/>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3"/>
          <p:cNvSpPr/>
          <p:nvPr/>
        </p:nvSpPr>
        <p:spPr>
          <a:xfrm>
            <a:off x="722376" y="3858768"/>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Network egress</a:t>
            </a:r>
            <a:endParaRPr lang="en-US" sz="1250" dirty="0"/>
          </a:p>
        </p:txBody>
      </p:sp>
      <p:sp>
        <p:nvSpPr>
          <p:cNvPr id="16" name="Text 14"/>
          <p:cNvSpPr/>
          <p:nvPr/>
        </p:nvSpPr>
        <p:spPr>
          <a:xfrm>
            <a:off x="722376" y="4169664"/>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pip install during evaluation, or a solution that fetches the answer from an API.</a:t>
            </a:r>
            <a:endParaRPr lang="en-US" sz="1100" dirty="0"/>
          </a:p>
        </p:txBody>
      </p:sp>
      <p:sp>
        <p:nvSpPr>
          <p:cNvPr id="17" name="Shape 15"/>
          <p:cNvSpPr/>
          <p:nvPr/>
        </p:nvSpPr>
        <p:spPr>
          <a:xfrm>
            <a:off x="4270248" y="3712464"/>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Text 16"/>
          <p:cNvSpPr/>
          <p:nvPr/>
        </p:nvSpPr>
        <p:spPr>
          <a:xfrm>
            <a:off x="4489704" y="3858768"/>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Filesystem escape</a:t>
            </a:r>
            <a:endParaRPr lang="en-US" sz="1250" dirty="0"/>
          </a:p>
        </p:txBody>
      </p:sp>
      <p:sp>
        <p:nvSpPr>
          <p:cNvPr id="19" name="Text 17"/>
          <p:cNvSpPr/>
          <p:nvPr/>
        </p:nvSpPr>
        <p:spPr>
          <a:xfrm>
            <a:off x="4489704" y="4169664"/>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Writing outside the temp dir. Corrupts your dataset, or worse, your source tree.</a:t>
            </a:r>
            <a:endParaRPr lang="en-US" sz="1100" dirty="0"/>
          </a:p>
        </p:txBody>
      </p:sp>
      <p:sp>
        <p:nvSpPr>
          <p:cNvPr id="20" name="Shape 18"/>
          <p:cNvSpPr/>
          <p:nvPr/>
        </p:nvSpPr>
        <p:spPr>
          <a:xfrm>
            <a:off x="8037576" y="3712464"/>
            <a:ext cx="3621024"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Text 19"/>
          <p:cNvSpPr/>
          <p:nvPr/>
        </p:nvSpPr>
        <p:spPr>
          <a:xfrm>
            <a:off x="8257032" y="3858768"/>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Sandbox escape proper</a:t>
            </a:r>
            <a:endParaRPr lang="en-US" sz="1250" dirty="0"/>
          </a:p>
        </p:txBody>
      </p:sp>
      <p:sp>
        <p:nvSpPr>
          <p:cNvPr id="22" name="Text 20"/>
          <p:cNvSpPr/>
          <p:nvPr/>
        </p:nvSpPr>
        <p:spPr>
          <a:xfrm>
            <a:off x="8257032" y="4169664"/>
            <a:ext cx="3182112" cy="8595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Rare on a laptop, catastrophic in production. Assume your Level-1 sandbox is not escape-proof.</a:t>
            </a:r>
            <a:endParaRPr lang="en-US" sz="1100" dirty="0"/>
          </a:p>
        </p:txBody>
      </p:sp>
      <p:sp>
        <p:nvSpPr>
          <p:cNvPr id="23" name="Shape 21"/>
          <p:cNvSpPr/>
          <p:nvPr/>
        </p:nvSpPr>
        <p:spPr>
          <a:xfrm>
            <a:off x="502920" y="5074920"/>
            <a:ext cx="11155680" cy="566928"/>
          </a:xfrm>
          <a:prstGeom prst="roundRect">
            <a:avLst>
              <a:gd name="adj" fmla="val 9677"/>
            </a:avLst>
          </a:prstGeom>
          <a:solidFill>
            <a:srgbClr val="A8482A"/>
          </a:solidFill>
          <a:ln/>
        </p:spPr>
      </p:sp>
      <p:sp>
        <p:nvSpPr>
          <p:cNvPr id="24" name="Text 22"/>
          <p:cNvSpPr/>
          <p:nvPr/>
        </p:nvSpPr>
        <p:spPr>
          <a:xfrm>
            <a:off x="777240" y="507492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Design assumption: every generated program is trying to make tests pass by any means available to it.</a:t>
            </a:r>
            <a:endParaRPr lang="en-US" sz="1450" dirty="0"/>
          </a:p>
        </p:txBody>
      </p:sp>
      <p:sp>
        <p:nvSpPr>
          <p:cNvPr id="25" name="Shape 23"/>
          <p:cNvSpPr/>
          <p:nvPr/>
        </p:nvSpPr>
        <p:spPr>
          <a:xfrm>
            <a:off x="502920" y="5806440"/>
            <a:ext cx="11155680" cy="777240"/>
          </a:xfrm>
          <a:prstGeom prst="roundRect">
            <a:avLst>
              <a:gd name="adj" fmla="val 8235"/>
            </a:avLst>
          </a:prstGeom>
          <a:solidFill>
            <a:srgbClr val="1F3D2E"/>
          </a:solidFill>
          <a:ln/>
        </p:spPr>
      </p:sp>
      <p:sp>
        <p:nvSpPr>
          <p:cNvPr id="26" name="Shape 24"/>
          <p:cNvSpPr/>
          <p:nvPr/>
        </p:nvSpPr>
        <p:spPr>
          <a:xfrm>
            <a:off x="740664" y="5989320"/>
            <a:ext cx="292608" cy="292608"/>
          </a:xfrm>
          <a:prstGeom prst="ellipse">
            <a:avLst/>
          </a:prstGeom>
          <a:solidFill>
            <a:srgbClr val="1F3D2E"/>
          </a:solidFill>
          <a:ln/>
        </p:spPr>
      </p:sp>
      <p:sp>
        <p:nvSpPr>
          <p:cNvPr id="27" name="Text 25"/>
          <p:cNvSpPr/>
          <p:nvPr/>
        </p:nvSpPr>
        <p:spPr>
          <a:xfrm>
            <a:off x="740664" y="59893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8" name="Text 26"/>
          <p:cNvSpPr/>
          <p:nvPr/>
        </p:nvSpPr>
        <p:spPr>
          <a:xfrm>
            <a:off x="1133856" y="60076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9" name="Text 27"/>
          <p:cNvSpPr/>
          <p:nvPr/>
        </p:nvSpPr>
        <p:spPr>
          <a:xfrm>
            <a:off x="740664" y="6382512"/>
            <a:ext cx="10680192" cy="274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This is not paranoia. In Phase 9 I watched a model discover that opening the test file was easier than solving the problem.</a:t>
            </a:r>
            <a:endParaRPr lang="en-US" sz="11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34</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SANDBOX</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escalation ladder</a:t>
            </a:r>
            <a:endParaRPr lang="en-US" sz="2900" dirty="0"/>
          </a:p>
        </p:txBody>
      </p:sp>
      <p:sp>
        <p:nvSpPr>
          <p:cNvPr id="4" name="Shape 2"/>
          <p:cNvSpPr/>
          <p:nvPr/>
        </p:nvSpPr>
        <p:spPr>
          <a:xfrm>
            <a:off x="502920" y="1280160"/>
            <a:ext cx="11155680" cy="808330"/>
          </a:xfrm>
          <a:prstGeom prst="roundRect">
            <a:avLst>
              <a:gd name="adj" fmla="val 791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483157"/>
            <a:ext cx="402336" cy="402336"/>
          </a:xfrm>
          <a:prstGeom prst="ellipse">
            <a:avLst/>
          </a:prstGeom>
          <a:solidFill>
            <a:srgbClr val="8FB573"/>
          </a:solidFill>
          <a:ln/>
        </p:spPr>
      </p:sp>
      <p:sp>
        <p:nvSpPr>
          <p:cNvPr id="6" name="Text 4"/>
          <p:cNvSpPr/>
          <p:nvPr/>
        </p:nvSpPr>
        <p:spPr>
          <a:xfrm>
            <a:off x="749808" y="1483157"/>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Level 0 — exec() in-process</a:t>
            </a:r>
            <a:endParaRPr lang="en-US" sz="1300" dirty="0"/>
          </a:p>
        </p:txBody>
      </p:sp>
      <p:sp>
        <p:nvSpPr>
          <p:cNvPr id="8" name="Text 6"/>
          <p:cNvSpPr/>
          <p:nvPr/>
        </p:nvSpPr>
        <p:spPr>
          <a:xfrm>
            <a:off x="1316736" y="1700784"/>
            <a:ext cx="10058400" cy="29626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Never. A generated sys.exit() kills your training run; a memory bomb takes the whole process down. Listed only so you recognize it as wrong.</a:t>
            </a:r>
            <a:endParaRPr lang="en-US" sz="1150" dirty="0"/>
          </a:p>
        </p:txBody>
      </p:sp>
      <p:sp>
        <p:nvSpPr>
          <p:cNvPr id="9" name="Shape 7"/>
          <p:cNvSpPr/>
          <p:nvPr/>
        </p:nvSpPr>
        <p:spPr>
          <a:xfrm>
            <a:off x="502920" y="2198218"/>
            <a:ext cx="11155680" cy="808330"/>
          </a:xfrm>
          <a:prstGeom prst="roundRect">
            <a:avLst>
              <a:gd name="adj" fmla="val 791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401214"/>
            <a:ext cx="402336" cy="402336"/>
          </a:xfrm>
          <a:prstGeom prst="ellipse">
            <a:avLst/>
          </a:prstGeom>
          <a:solidFill>
            <a:srgbClr val="8FB573"/>
          </a:solidFill>
          <a:ln/>
        </p:spPr>
      </p:sp>
      <p:sp>
        <p:nvSpPr>
          <p:cNvPr id="11" name="Text 9"/>
          <p:cNvSpPr/>
          <p:nvPr/>
        </p:nvSpPr>
        <p:spPr>
          <a:xfrm>
            <a:off x="749808" y="2401214"/>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32623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Level 1 — subprocess + resource.setrlimit</a:t>
            </a:r>
            <a:endParaRPr lang="en-US" sz="1300" dirty="0"/>
          </a:p>
        </p:txBody>
      </p:sp>
      <p:sp>
        <p:nvSpPr>
          <p:cNvPr id="13" name="Text 11"/>
          <p:cNvSpPr/>
          <p:nvPr/>
        </p:nvSpPr>
        <p:spPr>
          <a:xfrm>
            <a:off x="1316736" y="2618842"/>
            <a:ext cx="10058400" cy="29626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Separate process, hard limits on CPU time, address space, file size, and process count. Fast (~10ms overhead). This is where you start and where most of your experiments will run.</a:t>
            </a:r>
            <a:endParaRPr lang="en-US" sz="1150" dirty="0"/>
          </a:p>
        </p:txBody>
      </p:sp>
      <p:sp>
        <p:nvSpPr>
          <p:cNvPr id="14" name="Shape 12"/>
          <p:cNvSpPr/>
          <p:nvPr/>
        </p:nvSpPr>
        <p:spPr>
          <a:xfrm>
            <a:off x="502920" y="3116275"/>
            <a:ext cx="11155680" cy="808330"/>
          </a:xfrm>
          <a:prstGeom prst="roundRect">
            <a:avLst>
              <a:gd name="adj" fmla="val 791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3319272"/>
            <a:ext cx="402336" cy="402336"/>
          </a:xfrm>
          <a:prstGeom prst="ellipse">
            <a:avLst/>
          </a:prstGeom>
          <a:solidFill>
            <a:srgbClr val="8FB573"/>
          </a:solidFill>
          <a:ln/>
        </p:spPr>
      </p:sp>
      <p:sp>
        <p:nvSpPr>
          <p:cNvPr id="16" name="Text 14"/>
          <p:cNvSpPr/>
          <p:nvPr/>
        </p:nvSpPr>
        <p:spPr>
          <a:xfrm>
            <a:off x="749808" y="331927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3244291"/>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Level 2 — Docker container per execution</a:t>
            </a:r>
            <a:endParaRPr lang="en-US" sz="1300" dirty="0"/>
          </a:p>
        </p:txBody>
      </p:sp>
      <p:sp>
        <p:nvSpPr>
          <p:cNvPr id="18" name="Text 16"/>
          <p:cNvSpPr/>
          <p:nvPr/>
        </p:nvSpPr>
        <p:spPr>
          <a:xfrm>
            <a:off x="1316736" y="3536899"/>
            <a:ext cx="10058400" cy="29626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Real isolation of filesystem and network. ~50–100ms on Linux (host kernel), 1–3s on macOS (VM). Use for large batches and anything unattended.</a:t>
            </a:r>
            <a:endParaRPr lang="en-US" sz="1150" dirty="0"/>
          </a:p>
        </p:txBody>
      </p:sp>
      <p:sp>
        <p:nvSpPr>
          <p:cNvPr id="19" name="Shape 17"/>
          <p:cNvSpPr/>
          <p:nvPr/>
        </p:nvSpPr>
        <p:spPr>
          <a:xfrm>
            <a:off x="502920" y="4034333"/>
            <a:ext cx="11155680" cy="808330"/>
          </a:xfrm>
          <a:prstGeom prst="roundRect">
            <a:avLst>
              <a:gd name="adj" fmla="val 791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4237330"/>
            <a:ext cx="402336" cy="402336"/>
          </a:xfrm>
          <a:prstGeom prst="ellipse">
            <a:avLst/>
          </a:prstGeom>
          <a:solidFill>
            <a:srgbClr val="8FB573"/>
          </a:solidFill>
          <a:ln/>
        </p:spPr>
      </p:sp>
      <p:sp>
        <p:nvSpPr>
          <p:cNvPr id="21" name="Text 19"/>
          <p:cNvSpPr/>
          <p:nvPr/>
        </p:nvSpPr>
        <p:spPr>
          <a:xfrm>
            <a:off x="749808" y="423733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4162349"/>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Level 3 — gVisor / nsjail / Firecracker</a:t>
            </a:r>
            <a:endParaRPr lang="en-US" sz="1300" dirty="0"/>
          </a:p>
        </p:txBody>
      </p:sp>
      <p:sp>
        <p:nvSpPr>
          <p:cNvPr id="23" name="Text 21"/>
          <p:cNvSpPr/>
          <p:nvPr/>
        </p:nvSpPr>
        <p:spPr>
          <a:xfrm>
            <a:off x="1316736" y="4454957"/>
            <a:ext cx="10058400" cy="29626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Kernel-level isolation. Correct answer for production, overkill for a learning project on your own laptop.</a:t>
            </a:r>
            <a:endParaRPr lang="en-US" sz="1150" dirty="0"/>
          </a:p>
        </p:txBody>
      </p:sp>
      <p:sp>
        <p:nvSpPr>
          <p:cNvPr id="24" name="Shape 22"/>
          <p:cNvSpPr/>
          <p:nvPr/>
        </p:nvSpPr>
        <p:spPr>
          <a:xfrm>
            <a:off x="502920" y="4952390"/>
            <a:ext cx="11155680" cy="808330"/>
          </a:xfrm>
          <a:prstGeom prst="roundRect">
            <a:avLst>
              <a:gd name="adj" fmla="val 791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5155387"/>
            <a:ext cx="402336" cy="402336"/>
          </a:xfrm>
          <a:prstGeom prst="ellipse">
            <a:avLst/>
          </a:prstGeom>
          <a:solidFill>
            <a:srgbClr val="8FB573"/>
          </a:solidFill>
          <a:ln/>
        </p:spPr>
      </p:sp>
      <p:sp>
        <p:nvSpPr>
          <p:cNvPr id="26" name="Text 24"/>
          <p:cNvSpPr/>
          <p:nvPr/>
        </p:nvSpPr>
        <p:spPr>
          <a:xfrm>
            <a:off x="749808" y="5155387"/>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508040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Level 4 — hosted (E2B, Modal)</a:t>
            </a:r>
            <a:endParaRPr lang="en-US" sz="1300" dirty="0"/>
          </a:p>
        </p:txBody>
      </p:sp>
      <p:sp>
        <p:nvSpPr>
          <p:cNvPr id="28" name="Text 26"/>
          <p:cNvSpPr/>
          <p:nvPr/>
        </p:nvSpPr>
        <p:spPr>
          <a:xfrm>
            <a:off x="1316736" y="5373014"/>
            <a:ext cx="10058400" cy="29626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Someone else's problem, billed per second. Genuinely worth it when you are generating hundreds of thousands of samples and do not want to babysit.</a:t>
            </a:r>
            <a:endParaRPr lang="en-US" sz="1150" dirty="0"/>
          </a:p>
        </p:txBody>
      </p:sp>
      <p:sp>
        <p:nvSpPr>
          <p:cNvPr id="29" name="Shape 27"/>
          <p:cNvSpPr/>
          <p:nvPr/>
        </p:nvSpPr>
        <p:spPr>
          <a:xfrm>
            <a:off x="502920" y="5897880"/>
            <a:ext cx="11155680" cy="566928"/>
          </a:xfrm>
          <a:prstGeom prst="roundRect">
            <a:avLst>
              <a:gd name="adj" fmla="val 9677"/>
            </a:avLst>
          </a:prstGeom>
          <a:solidFill>
            <a:srgbClr val="8FB573"/>
          </a:solidFill>
          <a:ln/>
        </p:spPr>
      </p:sp>
      <p:sp>
        <p:nvSpPr>
          <p:cNvPr id="30" name="Text 28"/>
          <p:cNvSpPr/>
          <p:nvPr/>
        </p:nvSpPr>
        <p:spPr>
          <a:xfrm>
            <a:off x="777240" y="589788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Start at Level 1. Move to Level 2 before the first unattended overnight generation run.</a:t>
            </a:r>
            <a:endParaRPr lang="en-US" sz="1450" dirty="0"/>
          </a:p>
        </p:txBody>
      </p:sp>
      <p:sp>
        <p:nvSpPr>
          <p:cNvPr id="31" name="Text 2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SANDBOX</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Level 1, annotated — and the bug almost everyone ships</a:t>
            </a:r>
            <a:endParaRPr lang="en-US" sz="2900" dirty="0"/>
          </a:p>
        </p:txBody>
      </p:sp>
      <p:sp>
        <p:nvSpPr>
          <p:cNvPr id="4" name="Shape 2"/>
          <p:cNvSpPr/>
          <p:nvPr/>
        </p:nvSpPr>
        <p:spPr>
          <a:xfrm>
            <a:off x="502920" y="1280160"/>
            <a:ext cx="6675120" cy="4480560"/>
          </a:xfrm>
          <a:prstGeom prst="roundRect">
            <a:avLst>
              <a:gd name="adj" fmla="val 1224"/>
            </a:avLst>
          </a:prstGeom>
          <a:solidFill>
            <a:srgbClr val="0F1F17"/>
          </a:solidFill>
          <a:ln/>
        </p:spPr>
      </p:sp>
      <p:sp>
        <p:nvSpPr>
          <p:cNvPr id="5" name="Text 3"/>
          <p:cNvSpPr/>
          <p:nvPr/>
        </p:nvSpPr>
        <p:spPr>
          <a:xfrm>
            <a:off x="722376" y="1426464"/>
            <a:ext cx="623620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executor.py — the core</a:t>
            </a:r>
            <a:endParaRPr lang="en-US" sz="950" dirty="0"/>
          </a:p>
        </p:txBody>
      </p:sp>
      <p:sp>
        <p:nvSpPr>
          <p:cNvPr id="6" name="Text 4"/>
          <p:cNvSpPr/>
          <p:nvPr/>
        </p:nvSpPr>
        <p:spPr>
          <a:xfrm>
            <a:off x="722376" y="1700784"/>
            <a:ext cx="6236208" cy="3913632"/>
          </a:xfrm>
          <a:prstGeom prst="rect">
            <a:avLst/>
          </a:prstGeom>
          <a:noFill/>
          <a:ln/>
        </p:spPr>
        <p:txBody>
          <a:bodyPr wrap="square" lIns="0" tIns="0" rIns="0" bIns="0" rtlCol="0" anchor="t"/>
          <a:lstStyle/>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import os, resource, subprocess, signal, tempfile</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def _limits(mem_mb=512, cpu_s=10, nproc=64):</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def apply():</a:t>
            </a:r>
            <a:endParaRPr lang="en-US" sz="1000" dirty="0"/>
          </a:p>
          <a:p>
            <a:pPr indent="0" marL="0">
              <a:lnSpc>
                <a:spcPct val="112000"/>
              </a:lnSpc>
              <a:buNone/>
            </a:pPr>
            <a:r>
              <a:rPr lang="en-US" sz="1000" b="1" dirty="0">
                <a:solidFill>
                  <a:srgbClr val="8FB573"/>
                </a:solidFill>
                <a:latin typeface="Courier New" pitchFamily="34" charset="0"/>
                <a:ea typeface="Courier New" pitchFamily="34" charset="-122"/>
                <a:cs typeface="Courier New" pitchFamily="34" charset="-120"/>
              </a:rPr>
              <a:t>        os.setsid()          # NEW PROCESS GROUP  &lt;-- critical</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resource.setrlimit(resource.RLIMIT_AS,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(mem_mb &lt;&lt; 20, mem_mb &lt;&lt; 20))     # address space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resource.setrlimit(resource.RLIMIT_CPU,</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(cpu_s, cpu_s))                   # CPU seconds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resource.setrlimit(resource.RLIMIT_NPROC,</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(nproc, nproc))                   # anti fork-bomb</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resource.setrlimit(resource.RLIMIT_FSIZE,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(16 &lt;&lt; 20, 16 &lt;&lt; 20))             # max file write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return apply</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def run(code, tests, wall_s=15):</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with tempfile.TemporaryDirectory() as d:</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 write solution.py + test file into d</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 = subprocess.Popen(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['python', 'test_solution.py'],</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cwd=d, preexec_fn=_limits(),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stdout=subprocess.PIPE, stderr=subprocess.PIPE,</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env={'PATH': '/usr/bin'},   # scrubbed env</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try:</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out, err = p.communicate(timeout=wall_s)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except subprocess.TimeoutExpired:</a:t>
            </a:r>
            <a:endParaRPr lang="en-US" sz="1000" dirty="0"/>
          </a:p>
          <a:p>
            <a:pPr indent="0" marL="0">
              <a:lnSpc>
                <a:spcPct val="112000"/>
              </a:lnSpc>
              <a:buNone/>
            </a:pPr>
            <a:r>
              <a:rPr lang="en-US" sz="1000" b="1" dirty="0">
                <a:solidFill>
                  <a:srgbClr val="D98E32"/>
                </a:solidFill>
                <a:latin typeface="Courier New" pitchFamily="34" charset="0"/>
                <a:ea typeface="Courier New" pitchFamily="34" charset="-122"/>
                <a:cs typeface="Courier New" pitchFamily="34" charset="-120"/>
              </a:rPr>
              <a:t>            os.killpg(p.pid, signal.SIGKILL)  # KILL THE GROUP</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return Result(status='timeout')</a:t>
            </a:r>
            <a:endParaRPr lang="en-US" sz="1000" dirty="0"/>
          </a:p>
        </p:txBody>
      </p:sp>
      <p:sp>
        <p:nvSpPr>
          <p:cNvPr id="7" name="Shape 5"/>
          <p:cNvSpPr/>
          <p:nvPr/>
        </p:nvSpPr>
        <p:spPr>
          <a:xfrm>
            <a:off x="7360920" y="1280160"/>
            <a:ext cx="4297680" cy="868680"/>
          </a:xfrm>
          <a:prstGeom prst="roundRect">
            <a:avLst>
              <a:gd name="adj" fmla="val 736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7580376" y="1426464"/>
            <a:ext cx="385876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The bug everyone ships</a:t>
            </a:r>
            <a:endParaRPr lang="en-US" sz="1250" dirty="0"/>
          </a:p>
        </p:txBody>
      </p:sp>
      <p:sp>
        <p:nvSpPr>
          <p:cNvPr id="9" name="Text 7"/>
          <p:cNvSpPr/>
          <p:nvPr/>
        </p:nvSpPr>
        <p:spPr>
          <a:xfrm>
            <a:off x="7580376" y="1737360"/>
            <a:ext cx="3858768" cy="2651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subprocess timeout kills the child, NOT its grandchildren. A solution that spawns a subprocess leaves an orphan running forever. os.setsid() + os.killpg() is the fix.</a:t>
            </a:r>
            <a:endParaRPr lang="en-US" sz="1100" dirty="0"/>
          </a:p>
        </p:txBody>
      </p:sp>
      <p:sp>
        <p:nvSpPr>
          <p:cNvPr id="10" name="Shape 8"/>
          <p:cNvSpPr/>
          <p:nvPr/>
        </p:nvSpPr>
        <p:spPr>
          <a:xfrm>
            <a:off x="7360920" y="2240280"/>
            <a:ext cx="4297680" cy="868680"/>
          </a:xfrm>
          <a:prstGeom prst="roundRect">
            <a:avLst>
              <a:gd name="adj" fmla="val 736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7580376" y="2386584"/>
            <a:ext cx="385876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Scrub the environment</a:t>
            </a:r>
            <a:endParaRPr lang="en-US" sz="1250" dirty="0"/>
          </a:p>
        </p:txBody>
      </p:sp>
      <p:sp>
        <p:nvSpPr>
          <p:cNvPr id="12" name="Text 10"/>
          <p:cNvSpPr/>
          <p:nvPr/>
        </p:nvSpPr>
        <p:spPr>
          <a:xfrm>
            <a:off x="7580376" y="2697480"/>
            <a:ext cx="3858768" cy="2651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Pass an explicit minimal env. Inherited env vars leak API keys, HF tokens, and paths into generated code.</a:t>
            </a:r>
            <a:endParaRPr lang="en-US" sz="1100" dirty="0"/>
          </a:p>
        </p:txBody>
      </p:sp>
      <p:sp>
        <p:nvSpPr>
          <p:cNvPr id="13" name="Shape 11"/>
          <p:cNvSpPr/>
          <p:nvPr/>
        </p:nvSpPr>
        <p:spPr>
          <a:xfrm>
            <a:off x="7360920" y="3200400"/>
            <a:ext cx="4297680" cy="868680"/>
          </a:xfrm>
          <a:prstGeom prst="roundRect">
            <a:avLst>
              <a:gd name="adj" fmla="val 736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580376" y="3346704"/>
            <a:ext cx="385876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Two different timeouts</a:t>
            </a:r>
            <a:endParaRPr lang="en-US" sz="1250" dirty="0"/>
          </a:p>
        </p:txBody>
      </p:sp>
      <p:sp>
        <p:nvSpPr>
          <p:cNvPr id="15" name="Text 13"/>
          <p:cNvSpPr/>
          <p:nvPr/>
        </p:nvSpPr>
        <p:spPr>
          <a:xfrm>
            <a:off x="7580376" y="3657600"/>
            <a:ext cx="3858768" cy="2651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RLIMIT_CPU catches busy loops. Wall-clock catches sleeps and blocking I/O. You need both — neither alone is sufficient.</a:t>
            </a:r>
            <a:endParaRPr lang="en-US" sz="1100" dirty="0"/>
          </a:p>
        </p:txBody>
      </p:sp>
      <p:sp>
        <p:nvSpPr>
          <p:cNvPr id="16" name="Shape 14"/>
          <p:cNvSpPr/>
          <p:nvPr/>
        </p:nvSpPr>
        <p:spPr>
          <a:xfrm>
            <a:off x="7360920" y="4160520"/>
            <a:ext cx="4297680" cy="868680"/>
          </a:xfrm>
          <a:prstGeom prst="roundRect">
            <a:avLst>
              <a:gd name="adj" fmla="val 736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7580376" y="4306824"/>
            <a:ext cx="385876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RLIMIT_AS is not perfect</a:t>
            </a:r>
            <a:endParaRPr lang="en-US" sz="1250" dirty="0"/>
          </a:p>
        </p:txBody>
      </p:sp>
      <p:sp>
        <p:nvSpPr>
          <p:cNvPr id="18" name="Text 16"/>
          <p:cNvSpPr/>
          <p:nvPr/>
        </p:nvSpPr>
        <p:spPr>
          <a:xfrm>
            <a:off x="7580376" y="4617720"/>
            <a:ext cx="3858768" cy="2651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It limits virtual address space, which some allocators over-reserve. Tune it, and use cgroups if you need precision.</a:t>
            </a:r>
            <a:endParaRPr lang="en-US" sz="1100" dirty="0"/>
          </a:p>
        </p:txBody>
      </p:sp>
      <p:sp>
        <p:nvSpPr>
          <p:cNvPr id="19" name="Shape 17"/>
          <p:cNvSpPr/>
          <p:nvPr/>
        </p:nvSpPr>
        <p:spPr>
          <a:xfrm>
            <a:off x="7360920" y="5120640"/>
            <a:ext cx="4297680" cy="868680"/>
          </a:xfrm>
          <a:prstGeom prst="roundRect">
            <a:avLst>
              <a:gd name="adj" fmla="val 736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7580376" y="5266944"/>
            <a:ext cx="385876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preexec_fn is not thread-safe</a:t>
            </a:r>
            <a:endParaRPr lang="en-US" sz="1250" dirty="0"/>
          </a:p>
        </p:txBody>
      </p:sp>
      <p:sp>
        <p:nvSpPr>
          <p:cNvPr id="21" name="Text 19"/>
          <p:cNvSpPr/>
          <p:nvPr/>
        </p:nvSpPr>
        <p:spPr>
          <a:xfrm>
            <a:off x="7580376" y="5577840"/>
            <a:ext cx="3858768" cy="2651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Fine for a process pool, dangerous with threads. Use multiprocessing, not threading, for parallel execution.</a:t>
            </a:r>
            <a:endParaRPr lang="en-US" sz="1100" dirty="0"/>
          </a:p>
        </p:txBody>
      </p:sp>
      <p:sp>
        <p:nvSpPr>
          <p:cNvPr id="22" name="Text 20"/>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36</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SANDBOX</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Timeouts — the single most important setting</a:t>
            </a:r>
            <a:endParaRPr lang="en-US" sz="2900" dirty="0"/>
          </a:p>
        </p:txBody>
      </p:sp>
      <p:sp>
        <p:nvSpPr>
          <p:cNvPr id="4" name="Shape 2"/>
          <p:cNvSpPr/>
          <p:nvPr/>
        </p:nvSpPr>
        <p:spPr>
          <a:xfrm>
            <a:off x="502920" y="1280160"/>
            <a:ext cx="5486400" cy="2377440"/>
          </a:xfrm>
          <a:prstGeom prst="roundRect">
            <a:avLst>
              <a:gd name="adj" fmla="val 269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CPU TIME (RLIMIT_CPU)</a:t>
            </a:r>
            <a:endParaRPr lang="en-US" sz="1250" dirty="0"/>
          </a:p>
        </p:txBody>
      </p:sp>
      <p:sp>
        <p:nvSpPr>
          <p:cNvPr id="6" name="Text 4"/>
          <p:cNvSpPr/>
          <p:nvPr/>
        </p:nvSpPr>
        <p:spPr>
          <a:xfrm>
            <a:off x="758952" y="1810512"/>
            <a:ext cx="4974336" cy="168249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Counts actual CPU seconds burned</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Catches: while True, runaway recursion, O(2^n) brute force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Does NOT catch: time.sleep(), blocked network read, deadlock</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Delivered as SIGXCPU — the process may catch and ignore it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Set to roughly 5-10x your slowest legitimate solution</a:t>
            </a:r>
            <a:endParaRPr lang="en-US" sz="1150" dirty="0"/>
          </a:p>
        </p:txBody>
      </p:sp>
      <p:sp>
        <p:nvSpPr>
          <p:cNvPr id="7" name="Shape 5"/>
          <p:cNvSpPr/>
          <p:nvPr/>
        </p:nvSpPr>
        <p:spPr>
          <a:xfrm>
            <a:off x="6172200" y="1280160"/>
            <a:ext cx="5486400" cy="2377440"/>
          </a:xfrm>
          <a:prstGeom prst="roundRect">
            <a:avLst>
              <a:gd name="adj" fmla="val 269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WALL CLOCK (communicate timeout)</a:t>
            </a:r>
            <a:endParaRPr lang="en-US" sz="1250" dirty="0"/>
          </a:p>
        </p:txBody>
      </p:sp>
      <p:sp>
        <p:nvSpPr>
          <p:cNvPr id="9" name="Text 7"/>
          <p:cNvSpPr/>
          <p:nvPr/>
        </p:nvSpPr>
        <p:spPr>
          <a:xfrm>
            <a:off x="6428232" y="1810512"/>
            <a:ext cx="4974336" cy="168249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Counts real elapsed time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Catches: sleeps, blocking I/O, deadlocks, anything hung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Enforced by YOUR process, so it cannot be ignored</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Must be followed by killpg, or orphans survive it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Set slightly above CPU limit so CPU fires first when relevant</a:t>
            </a:r>
            <a:endParaRPr lang="en-US" sz="1150" dirty="0"/>
          </a:p>
        </p:txBody>
      </p:sp>
      <p:sp>
        <p:nvSpPr>
          <p:cNvPr id="10" name="Shape 8"/>
          <p:cNvSpPr/>
          <p:nvPr/>
        </p:nvSpPr>
        <p:spPr>
          <a:xfrm>
            <a:off x="502920" y="3886200"/>
            <a:ext cx="11155680" cy="603504"/>
          </a:xfrm>
          <a:prstGeom prst="roundRect">
            <a:avLst>
              <a:gd name="adj" fmla="val 1060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9"/>
          <p:cNvSpPr/>
          <p:nvPr/>
        </p:nvSpPr>
        <p:spPr>
          <a:xfrm>
            <a:off x="502920" y="3886200"/>
            <a:ext cx="91440" cy="603504"/>
          </a:xfrm>
          <a:prstGeom prst="rect">
            <a:avLst/>
          </a:prstGeom>
          <a:solidFill>
            <a:srgbClr val="A8482A"/>
          </a:solidFill>
          <a:ln/>
        </p:spPr>
      </p:sp>
      <p:sp>
        <p:nvSpPr>
          <p:cNvPr id="12" name="Text 10"/>
          <p:cNvSpPr/>
          <p:nvPr/>
        </p:nvSpPr>
        <p:spPr>
          <a:xfrm>
            <a:off x="822960" y="3995928"/>
            <a:ext cx="18288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Too tight</a:t>
            </a:r>
            <a:endParaRPr lang="en-US" sz="1250" dirty="0"/>
          </a:p>
        </p:txBody>
      </p:sp>
      <p:sp>
        <p:nvSpPr>
          <p:cNvPr id="13" name="Text 11"/>
          <p:cNvSpPr/>
          <p:nvPr/>
        </p:nvSpPr>
        <p:spPr>
          <a:xfrm>
            <a:off x="822960" y="4288536"/>
            <a:ext cx="18288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wall_s = 2</a:t>
            </a:r>
            <a:endParaRPr lang="en-US" sz="950" dirty="0"/>
          </a:p>
        </p:txBody>
      </p:sp>
      <p:sp>
        <p:nvSpPr>
          <p:cNvPr id="14" name="Text 12"/>
          <p:cNvSpPr/>
          <p:nvPr/>
        </p:nvSpPr>
        <p:spPr>
          <a:xfrm>
            <a:off x="2880360" y="3977640"/>
            <a:ext cx="8778240" cy="420624"/>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Legitimate slow solutions get marked as failures. Your training data now teaches that correct code is wrong.</a:t>
            </a:r>
            <a:endParaRPr lang="en-US" sz="1180" dirty="0"/>
          </a:p>
        </p:txBody>
      </p:sp>
      <p:sp>
        <p:nvSpPr>
          <p:cNvPr id="15" name="Shape 13"/>
          <p:cNvSpPr/>
          <p:nvPr/>
        </p:nvSpPr>
        <p:spPr>
          <a:xfrm>
            <a:off x="502920" y="4581144"/>
            <a:ext cx="11155680" cy="603504"/>
          </a:xfrm>
          <a:prstGeom prst="roundRect">
            <a:avLst>
              <a:gd name="adj" fmla="val 1060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4"/>
          <p:cNvSpPr/>
          <p:nvPr/>
        </p:nvSpPr>
        <p:spPr>
          <a:xfrm>
            <a:off x="502920" y="4581144"/>
            <a:ext cx="91440" cy="603504"/>
          </a:xfrm>
          <a:prstGeom prst="rect">
            <a:avLst/>
          </a:prstGeom>
          <a:solidFill>
            <a:srgbClr val="A8482A"/>
          </a:solidFill>
          <a:ln/>
        </p:spPr>
      </p:sp>
      <p:sp>
        <p:nvSpPr>
          <p:cNvPr id="17" name="Text 15"/>
          <p:cNvSpPr/>
          <p:nvPr/>
        </p:nvSpPr>
        <p:spPr>
          <a:xfrm>
            <a:off x="822960" y="4690872"/>
            <a:ext cx="18288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Too loose</a:t>
            </a:r>
            <a:endParaRPr lang="en-US" sz="1250" dirty="0"/>
          </a:p>
        </p:txBody>
      </p:sp>
      <p:sp>
        <p:nvSpPr>
          <p:cNvPr id="18" name="Text 16"/>
          <p:cNvSpPr/>
          <p:nvPr/>
        </p:nvSpPr>
        <p:spPr>
          <a:xfrm>
            <a:off x="822960" y="4983480"/>
            <a:ext cx="18288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wall_s = 300</a:t>
            </a:r>
            <a:endParaRPr lang="en-US" sz="950" dirty="0"/>
          </a:p>
        </p:txBody>
      </p:sp>
      <p:sp>
        <p:nvSpPr>
          <p:cNvPr id="19" name="Text 17"/>
          <p:cNvSpPr/>
          <p:nvPr/>
        </p:nvSpPr>
        <p:spPr>
          <a:xfrm>
            <a:off x="2880360" y="4672584"/>
            <a:ext cx="8778240" cy="420624"/>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One pathological sample stalls a batch for five minutes. Across 50k generations, that is days.</a:t>
            </a:r>
            <a:endParaRPr lang="en-US" sz="1180" dirty="0"/>
          </a:p>
        </p:txBody>
      </p:sp>
      <p:sp>
        <p:nvSpPr>
          <p:cNvPr id="20" name="Shape 18"/>
          <p:cNvSpPr/>
          <p:nvPr/>
        </p:nvSpPr>
        <p:spPr>
          <a:xfrm>
            <a:off x="502920" y="5276088"/>
            <a:ext cx="11155680" cy="603504"/>
          </a:xfrm>
          <a:prstGeom prst="roundRect">
            <a:avLst>
              <a:gd name="adj" fmla="val 1060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Shape 19"/>
          <p:cNvSpPr/>
          <p:nvPr/>
        </p:nvSpPr>
        <p:spPr>
          <a:xfrm>
            <a:off x="502920" y="5276088"/>
            <a:ext cx="91440" cy="603504"/>
          </a:xfrm>
          <a:prstGeom prst="rect">
            <a:avLst/>
          </a:prstGeom>
          <a:solidFill>
            <a:srgbClr val="8FB573"/>
          </a:solidFill>
          <a:ln/>
        </p:spPr>
      </p:sp>
      <p:sp>
        <p:nvSpPr>
          <p:cNvPr id="22" name="Text 20"/>
          <p:cNvSpPr/>
          <p:nvPr/>
        </p:nvSpPr>
        <p:spPr>
          <a:xfrm>
            <a:off x="822960" y="5385816"/>
            <a:ext cx="18288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Right</a:t>
            </a:r>
            <a:endParaRPr lang="en-US" sz="1250" dirty="0"/>
          </a:p>
        </p:txBody>
      </p:sp>
      <p:sp>
        <p:nvSpPr>
          <p:cNvPr id="23" name="Text 21"/>
          <p:cNvSpPr/>
          <p:nvPr/>
        </p:nvSpPr>
        <p:spPr>
          <a:xfrm>
            <a:off x="822960" y="5678424"/>
            <a:ext cx="18288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wall_s = 10-15</a:t>
            </a:r>
            <a:endParaRPr lang="en-US" sz="950" dirty="0"/>
          </a:p>
        </p:txBody>
      </p:sp>
      <p:sp>
        <p:nvSpPr>
          <p:cNvPr id="24" name="Text 22"/>
          <p:cNvSpPr/>
          <p:nvPr/>
        </p:nvSpPr>
        <p:spPr>
          <a:xfrm>
            <a:off x="2880360" y="5367528"/>
            <a:ext cx="8778240" cy="420624"/>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Measure your dataset's honest solutions first. Set the limit from the p99, not from a guess.</a:t>
            </a:r>
            <a:endParaRPr lang="en-US" sz="1180" dirty="0"/>
          </a:p>
        </p:txBody>
      </p:sp>
      <p:sp>
        <p:nvSpPr>
          <p:cNvPr id="25" name="Shape 23"/>
          <p:cNvSpPr/>
          <p:nvPr/>
        </p:nvSpPr>
        <p:spPr>
          <a:xfrm>
            <a:off x="502920" y="5760720"/>
            <a:ext cx="11155680" cy="822960"/>
          </a:xfrm>
          <a:prstGeom prst="roundRect">
            <a:avLst>
              <a:gd name="adj" fmla="val 7778"/>
            </a:avLst>
          </a:prstGeom>
          <a:solidFill>
            <a:srgbClr val="1F3D2E"/>
          </a:solidFill>
          <a:ln/>
        </p:spPr>
      </p:sp>
      <p:sp>
        <p:nvSpPr>
          <p:cNvPr id="26" name="Shape 24"/>
          <p:cNvSpPr/>
          <p:nvPr/>
        </p:nvSpPr>
        <p:spPr>
          <a:xfrm>
            <a:off x="740664" y="5943600"/>
            <a:ext cx="292608" cy="292608"/>
          </a:xfrm>
          <a:prstGeom prst="ellipse">
            <a:avLst/>
          </a:prstGeom>
          <a:solidFill>
            <a:srgbClr val="1F3D2E"/>
          </a:solidFill>
          <a:ln/>
        </p:spPr>
      </p:sp>
      <p:sp>
        <p:nvSpPr>
          <p:cNvPr id="27" name="Text 25"/>
          <p:cNvSpPr/>
          <p:nvPr/>
        </p:nvSpPr>
        <p:spPr>
          <a:xfrm>
            <a:off x="740664" y="594360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8" name="Text 26"/>
          <p:cNvSpPr/>
          <p:nvPr/>
        </p:nvSpPr>
        <p:spPr>
          <a:xfrm>
            <a:off x="1133856" y="596188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9" name="Text 27"/>
          <p:cNvSpPr/>
          <p:nvPr/>
        </p:nvSpPr>
        <p:spPr>
          <a:xfrm>
            <a:off x="740664" y="6336792"/>
            <a:ext cx="10680192" cy="731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My first sandbox had no timeout at all. A generated while True: sat there eating a core while I made coffee and wondered why step 40 was slow. Ninety minutes, one missing keyword argument.</a:t>
            </a:r>
            <a:endParaRPr lang="en-US" sz="11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37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SANDBOX</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Filesystem and network isolation</a:t>
            </a:r>
            <a:endParaRPr lang="en-US" sz="2900" dirty="0"/>
          </a:p>
        </p:txBody>
      </p:sp>
      <p:sp>
        <p:nvSpPr>
          <p:cNvPr id="4" name="Shape 2"/>
          <p:cNvSpPr/>
          <p:nvPr/>
        </p:nvSpPr>
        <p:spPr>
          <a:xfrm>
            <a:off x="502920" y="1280160"/>
            <a:ext cx="11155680" cy="682752"/>
          </a:xfrm>
          <a:prstGeom prst="roundRect">
            <a:avLst>
              <a:gd name="adj" fmla="val 9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502920" y="1280160"/>
            <a:ext cx="91440" cy="682752"/>
          </a:xfrm>
          <a:prstGeom prst="rect">
            <a:avLst/>
          </a:prstGeom>
          <a:solidFill>
            <a:srgbClr val="8FB573"/>
          </a:solidFill>
          <a:ln/>
        </p:spPr>
      </p:sp>
      <p:sp>
        <p:nvSpPr>
          <p:cNvPr id="6" name="Text 4"/>
          <p:cNvSpPr/>
          <p:nvPr/>
        </p:nvSpPr>
        <p:spPr>
          <a:xfrm>
            <a:off x="822960" y="1389888"/>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Fresh temp dir per run</a:t>
            </a:r>
            <a:endParaRPr lang="en-US" sz="1250" dirty="0"/>
          </a:p>
        </p:txBody>
      </p:sp>
      <p:sp>
        <p:nvSpPr>
          <p:cNvPr id="7" name="Text 5"/>
          <p:cNvSpPr/>
          <p:nvPr/>
        </p:nvSpPr>
        <p:spPr>
          <a:xfrm>
            <a:off x="822960" y="1682496"/>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tempfile.TemporaryDirectory()</a:t>
            </a:r>
            <a:endParaRPr lang="en-US" sz="950" dirty="0"/>
          </a:p>
        </p:txBody>
      </p:sp>
      <p:sp>
        <p:nvSpPr>
          <p:cNvPr id="8" name="Text 6"/>
          <p:cNvSpPr/>
          <p:nvPr/>
        </p:nvSpPr>
        <p:spPr>
          <a:xfrm>
            <a:off x="4160520" y="1371600"/>
            <a:ext cx="7498080" cy="49987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New directory every execution, deleted after. cwd is set to it. No state survives between runs — this also prevents cross-contamination between samples.</a:t>
            </a:r>
            <a:endParaRPr lang="en-US" sz="1180" dirty="0"/>
          </a:p>
        </p:txBody>
      </p:sp>
      <p:sp>
        <p:nvSpPr>
          <p:cNvPr id="9" name="Shape 7"/>
          <p:cNvSpPr/>
          <p:nvPr/>
        </p:nvSpPr>
        <p:spPr>
          <a:xfrm>
            <a:off x="502920" y="2054352"/>
            <a:ext cx="11155680" cy="682752"/>
          </a:xfrm>
          <a:prstGeom prst="roundRect">
            <a:avLst>
              <a:gd name="adj" fmla="val 9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502920" y="2054352"/>
            <a:ext cx="91440" cy="682752"/>
          </a:xfrm>
          <a:prstGeom prst="rect">
            <a:avLst/>
          </a:prstGeom>
          <a:solidFill>
            <a:srgbClr val="A8482A"/>
          </a:solidFill>
          <a:ln/>
        </p:spPr>
      </p:sp>
      <p:sp>
        <p:nvSpPr>
          <p:cNvPr id="11" name="Text 9"/>
          <p:cNvSpPr/>
          <p:nvPr/>
        </p:nvSpPr>
        <p:spPr>
          <a:xfrm>
            <a:off x="822960" y="2164080"/>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Never place the test file where it can be read</a:t>
            </a:r>
            <a:endParaRPr lang="en-US" sz="1250" dirty="0"/>
          </a:p>
        </p:txBody>
      </p:sp>
      <p:sp>
        <p:nvSpPr>
          <p:cNvPr id="12" name="Text 10"/>
          <p:cNvSpPr/>
          <p:nvPr/>
        </p:nvSpPr>
        <p:spPr>
          <a:xfrm>
            <a:off x="822960" y="2456688"/>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separate dir, or inline</a:t>
            </a:r>
            <a:endParaRPr lang="en-US" sz="950" dirty="0"/>
          </a:p>
        </p:txBody>
      </p:sp>
      <p:sp>
        <p:nvSpPr>
          <p:cNvPr id="13" name="Text 11"/>
          <p:cNvSpPr/>
          <p:nvPr/>
        </p:nvSpPr>
        <p:spPr>
          <a:xfrm>
            <a:off x="4160520" y="2145792"/>
            <a:ext cx="7498080" cy="49987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If solution.py and test_solution.py sit in the same directory, open('test_solution.py') is trivially available. Put tests outside cwd, or inject them via stdin.</a:t>
            </a:r>
            <a:endParaRPr lang="en-US" sz="1180" dirty="0"/>
          </a:p>
        </p:txBody>
      </p:sp>
      <p:sp>
        <p:nvSpPr>
          <p:cNvPr id="14" name="Shape 12"/>
          <p:cNvSpPr/>
          <p:nvPr/>
        </p:nvSpPr>
        <p:spPr>
          <a:xfrm>
            <a:off x="502920" y="2828544"/>
            <a:ext cx="11155680" cy="682752"/>
          </a:xfrm>
          <a:prstGeom prst="roundRect">
            <a:avLst>
              <a:gd name="adj" fmla="val 9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502920" y="2828544"/>
            <a:ext cx="91440" cy="682752"/>
          </a:xfrm>
          <a:prstGeom prst="rect">
            <a:avLst/>
          </a:prstGeom>
          <a:solidFill>
            <a:srgbClr val="A8482A"/>
          </a:solidFill>
          <a:ln/>
        </p:spPr>
      </p:sp>
      <p:sp>
        <p:nvSpPr>
          <p:cNvPr id="16" name="Text 14"/>
          <p:cNvSpPr/>
          <p:nvPr/>
        </p:nvSpPr>
        <p:spPr>
          <a:xfrm>
            <a:off x="822960" y="2938272"/>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Scrub the environment</a:t>
            </a:r>
            <a:endParaRPr lang="en-US" sz="1250" dirty="0"/>
          </a:p>
        </p:txBody>
      </p:sp>
      <p:sp>
        <p:nvSpPr>
          <p:cNvPr id="17" name="Text 15"/>
          <p:cNvSpPr/>
          <p:nvPr/>
        </p:nvSpPr>
        <p:spPr>
          <a:xfrm>
            <a:off x="822960" y="3230880"/>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env={'PATH': '/usr/bin'}</a:t>
            </a:r>
            <a:endParaRPr lang="en-US" sz="950" dirty="0"/>
          </a:p>
        </p:txBody>
      </p:sp>
      <p:sp>
        <p:nvSpPr>
          <p:cNvPr id="18" name="Text 16"/>
          <p:cNvSpPr/>
          <p:nvPr/>
        </p:nvSpPr>
        <p:spPr>
          <a:xfrm>
            <a:off x="4160520" y="2919984"/>
            <a:ext cx="7498080" cy="49987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Inherited env is an information leak: HF_TOKEN, WANDB_API_KEY, AWS creds. Pass an explicit allowlist.</a:t>
            </a:r>
            <a:endParaRPr lang="en-US" sz="1180" dirty="0"/>
          </a:p>
        </p:txBody>
      </p:sp>
      <p:sp>
        <p:nvSpPr>
          <p:cNvPr id="19" name="Shape 17"/>
          <p:cNvSpPr/>
          <p:nvPr/>
        </p:nvSpPr>
        <p:spPr>
          <a:xfrm>
            <a:off x="502920" y="3602736"/>
            <a:ext cx="11155680" cy="682752"/>
          </a:xfrm>
          <a:prstGeom prst="roundRect">
            <a:avLst>
              <a:gd name="adj" fmla="val 9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502920" y="3602736"/>
            <a:ext cx="91440" cy="682752"/>
          </a:xfrm>
          <a:prstGeom prst="rect">
            <a:avLst/>
          </a:prstGeom>
          <a:solidFill>
            <a:srgbClr val="D98E32"/>
          </a:solidFill>
          <a:ln/>
        </p:spPr>
      </p:sp>
      <p:sp>
        <p:nvSpPr>
          <p:cNvPr id="21" name="Text 19"/>
          <p:cNvSpPr/>
          <p:nvPr/>
        </p:nvSpPr>
        <p:spPr>
          <a:xfrm>
            <a:off x="822960" y="3712464"/>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Kill network at Level 1 (best effort)</a:t>
            </a:r>
            <a:endParaRPr lang="en-US" sz="1250" dirty="0"/>
          </a:p>
        </p:txBody>
      </p:sp>
      <p:sp>
        <p:nvSpPr>
          <p:cNvPr id="22" name="Text 20"/>
          <p:cNvSpPr/>
          <p:nvPr/>
        </p:nvSpPr>
        <p:spPr>
          <a:xfrm>
            <a:off x="822960" y="4005072"/>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unset proxies, block DNS</a:t>
            </a:r>
            <a:endParaRPr lang="en-US" sz="950" dirty="0"/>
          </a:p>
        </p:txBody>
      </p:sp>
      <p:sp>
        <p:nvSpPr>
          <p:cNvPr id="23" name="Text 21"/>
          <p:cNvSpPr/>
          <p:nvPr/>
        </p:nvSpPr>
        <p:spPr>
          <a:xfrm>
            <a:off x="4160520" y="3694176"/>
            <a:ext cx="7498080" cy="49987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Level 1 cannot truly block sockets. You can remove proxy vars and rely on RLIMIT, but real network isolation needs Level 2.</a:t>
            </a:r>
            <a:endParaRPr lang="en-US" sz="1180" dirty="0"/>
          </a:p>
        </p:txBody>
      </p:sp>
      <p:sp>
        <p:nvSpPr>
          <p:cNvPr id="24" name="Shape 22"/>
          <p:cNvSpPr/>
          <p:nvPr/>
        </p:nvSpPr>
        <p:spPr>
          <a:xfrm>
            <a:off x="502920" y="4376928"/>
            <a:ext cx="11155680" cy="682752"/>
          </a:xfrm>
          <a:prstGeom prst="roundRect">
            <a:avLst>
              <a:gd name="adj" fmla="val 9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502920" y="4376928"/>
            <a:ext cx="91440" cy="682752"/>
          </a:xfrm>
          <a:prstGeom prst="rect">
            <a:avLst/>
          </a:prstGeom>
          <a:solidFill>
            <a:srgbClr val="8FB573"/>
          </a:solidFill>
          <a:ln/>
        </p:spPr>
      </p:sp>
      <p:sp>
        <p:nvSpPr>
          <p:cNvPr id="26" name="Text 24"/>
          <p:cNvSpPr/>
          <p:nvPr/>
        </p:nvSpPr>
        <p:spPr>
          <a:xfrm>
            <a:off x="822960" y="4486656"/>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Kill network at Level 2 (real)</a:t>
            </a:r>
            <a:endParaRPr lang="en-US" sz="1250" dirty="0"/>
          </a:p>
        </p:txBody>
      </p:sp>
      <p:sp>
        <p:nvSpPr>
          <p:cNvPr id="27" name="Text 25"/>
          <p:cNvSpPr/>
          <p:nvPr/>
        </p:nvSpPr>
        <p:spPr>
          <a:xfrm>
            <a:off x="822960" y="4779264"/>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docker run --network none</a:t>
            </a:r>
            <a:endParaRPr lang="en-US" sz="950" dirty="0"/>
          </a:p>
        </p:txBody>
      </p:sp>
      <p:sp>
        <p:nvSpPr>
          <p:cNvPr id="28" name="Text 26"/>
          <p:cNvSpPr/>
          <p:nvPr/>
        </p:nvSpPr>
        <p:spPr>
          <a:xfrm>
            <a:off x="4160520" y="4468368"/>
            <a:ext cx="7498080" cy="49987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Actual isolation. This is the main reason to move to Docker for unattended runs.</a:t>
            </a:r>
            <a:endParaRPr lang="en-US" sz="1180" dirty="0"/>
          </a:p>
        </p:txBody>
      </p:sp>
      <p:sp>
        <p:nvSpPr>
          <p:cNvPr id="29" name="Shape 27"/>
          <p:cNvSpPr/>
          <p:nvPr/>
        </p:nvSpPr>
        <p:spPr>
          <a:xfrm>
            <a:off x="502920" y="5151120"/>
            <a:ext cx="11155680" cy="682752"/>
          </a:xfrm>
          <a:prstGeom prst="roundRect">
            <a:avLst>
              <a:gd name="adj" fmla="val 9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502920" y="5151120"/>
            <a:ext cx="91440" cy="682752"/>
          </a:xfrm>
          <a:prstGeom prst="rect">
            <a:avLst/>
          </a:prstGeom>
          <a:solidFill>
            <a:srgbClr val="8FB573"/>
          </a:solidFill>
          <a:ln/>
        </p:spPr>
      </p:sp>
      <p:sp>
        <p:nvSpPr>
          <p:cNvPr id="31" name="Text 29"/>
          <p:cNvSpPr/>
          <p:nvPr/>
        </p:nvSpPr>
        <p:spPr>
          <a:xfrm>
            <a:off x="822960" y="5260848"/>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Cap file writes</a:t>
            </a:r>
            <a:endParaRPr lang="en-US" sz="1250" dirty="0"/>
          </a:p>
        </p:txBody>
      </p:sp>
      <p:sp>
        <p:nvSpPr>
          <p:cNvPr id="32" name="Text 30"/>
          <p:cNvSpPr/>
          <p:nvPr/>
        </p:nvSpPr>
        <p:spPr>
          <a:xfrm>
            <a:off x="822960" y="5553456"/>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RLIMIT_FSIZE</a:t>
            </a:r>
            <a:endParaRPr lang="en-US" sz="950" dirty="0"/>
          </a:p>
        </p:txBody>
      </p:sp>
      <p:sp>
        <p:nvSpPr>
          <p:cNvPr id="33" name="Text 31"/>
          <p:cNvSpPr/>
          <p:nvPr/>
        </p:nvSpPr>
        <p:spPr>
          <a:xfrm>
            <a:off x="4160520" y="5242560"/>
            <a:ext cx="7498080" cy="49987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Stops a solution filling your 3TB disk with a log file. Cheap insurance.</a:t>
            </a:r>
            <a:endParaRPr lang="en-US" sz="1180" dirty="0"/>
          </a:p>
        </p:txBody>
      </p:sp>
      <p:sp>
        <p:nvSpPr>
          <p:cNvPr id="34" name="Shape 32"/>
          <p:cNvSpPr/>
          <p:nvPr/>
        </p:nvSpPr>
        <p:spPr>
          <a:xfrm>
            <a:off x="502920" y="5943600"/>
            <a:ext cx="11155680" cy="566928"/>
          </a:xfrm>
          <a:prstGeom prst="roundRect">
            <a:avLst>
              <a:gd name="adj" fmla="val 9677"/>
            </a:avLst>
          </a:prstGeom>
          <a:solidFill>
            <a:srgbClr val="D98E32"/>
          </a:solidFill>
          <a:ln/>
        </p:spPr>
      </p:sp>
      <p:sp>
        <p:nvSpPr>
          <p:cNvPr id="35" name="Text 33"/>
          <p:cNvSpPr/>
          <p:nvPr/>
        </p:nvSpPr>
        <p:spPr>
          <a:xfrm>
            <a:off x="777240" y="594360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Level 1 protects you from accidents. Only Level 2+ protects you from a model that is actively searching.</a:t>
            </a:r>
            <a:endParaRPr lang="en-US" sz="1450" dirty="0"/>
          </a:p>
        </p:txBody>
      </p:sp>
      <p:sp>
        <p:nvSpPr>
          <p:cNvPr id="36" name="Text 3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38</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SANDBOX</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Level 2 — Docker, and where it is cheap</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Same command on both machines, ~30x different cost. That asymmetry decides where batch work runs.</a:t>
            </a:r>
            <a:endParaRPr lang="en-US" sz="1300" dirty="0"/>
          </a:p>
        </p:txBody>
      </p:sp>
      <p:sp>
        <p:nvSpPr>
          <p:cNvPr id="5" name="Shape 3"/>
          <p:cNvSpPr/>
          <p:nvPr/>
        </p:nvSpPr>
        <p:spPr>
          <a:xfrm>
            <a:off x="502920" y="1481328"/>
            <a:ext cx="6400800" cy="2514600"/>
          </a:xfrm>
          <a:prstGeom prst="roundRect">
            <a:avLst>
              <a:gd name="adj" fmla="val 2182"/>
            </a:avLst>
          </a:prstGeom>
          <a:solidFill>
            <a:srgbClr val="0F1F17"/>
          </a:solidFill>
          <a:ln/>
        </p:spPr>
      </p:sp>
      <p:sp>
        <p:nvSpPr>
          <p:cNvPr id="6" name="Text 4"/>
          <p:cNvSpPr/>
          <p:nvPr/>
        </p:nvSpPr>
        <p:spPr>
          <a:xfrm>
            <a:off x="722376" y="1627632"/>
            <a:ext cx="596188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PER-EXECUTION CONTAINER · IDENTICAL ON BOTH MACHINES</a:t>
            </a:r>
            <a:endParaRPr lang="en-US" sz="950" dirty="0"/>
          </a:p>
        </p:txBody>
      </p:sp>
      <p:sp>
        <p:nvSpPr>
          <p:cNvPr id="7" name="Text 5"/>
          <p:cNvSpPr/>
          <p:nvPr/>
        </p:nvSpPr>
        <p:spPr>
          <a:xfrm>
            <a:off x="722376" y="1901952"/>
            <a:ext cx="5961888" cy="1947672"/>
          </a:xfrm>
          <a:prstGeom prst="rect">
            <a:avLst/>
          </a:prstGeom>
          <a:noFill/>
          <a:ln/>
        </p:spPr>
        <p:txBody>
          <a:bodyPr wrap="square" lIns="0" tIns="0" rIns="0" bIns="0" rtlCol="0" anchor="t"/>
          <a:lstStyle/>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docker run --rm \</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--network none \           # real network isolation</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--memory 512m \            # enforced by cgroups</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--cpus 1.0 \               # hard CPU cap</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--pids-limit 64 \          # anti fork-bomb</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--read-only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--tmpfs /work:rw,size=64m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--user 65534:65534 \           # nobody</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-v $PWD/run:/work/run:ro \</a:t>
            </a:r>
            <a:endParaRPr lang="en-US" sz="1000" dirty="0"/>
          </a:p>
          <a:p>
            <a:pPr indent="0" marL="0">
              <a:lnSpc>
                <a:spcPct val="112000"/>
              </a:lnSpc>
              <a:buNone/>
            </a:pPr>
            <a:r>
              <a:rPr lang="en-US" sz="1000" dirty="0">
                <a:solidFill>
                  <a:srgbClr val="D98E32"/>
                </a:solidFill>
                <a:latin typeface="Courier New" pitchFamily="34" charset="0"/>
                <a:ea typeface="Courier New" pitchFamily="34" charset="-122"/>
                <a:cs typeface="Courier New" pitchFamily="34" charset="-120"/>
              </a:rPr>
              <a:t>  python:3.11-slim \        # build ONCE, reuse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timeout 15 python /work/run/test_solution.py</a:t>
            </a:r>
            <a:endParaRPr lang="en-US" sz="1000" dirty="0"/>
          </a:p>
        </p:txBody>
      </p:sp>
      <p:sp>
        <p:nvSpPr>
          <p:cNvPr id="8" name="Shape 6"/>
          <p:cNvSpPr/>
          <p:nvPr/>
        </p:nvSpPr>
        <p:spPr>
          <a:xfrm>
            <a:off x="7086600" y="1481328"/>
            <a:ext cx="457200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7306056" y="1627632"/>
            <a:ext cx="41330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cgroups beat rlimits</a:t>
            </a:r>
            <a:endParaRPr lang="en-US" sz="1250" dirty="0"/>
          </a:p>
        </p:txBody>
      </p:sp>
      <p:sp>
        <p:nvSpPr>
          <p:cNvPr id="10" name="Text 8"/>
          <p:cNvSpPr/>
          <p:nvPr/>
        </p:nvSpPr>
        <p:spPr>
          <a:xfrm>
            <a:off x="7306056" y="1938528"/>
            <a:ext cx="4133088" cy="1737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--memory is enforced by the kernel cgroup — stricter than RLIMIT_AS.</a:t>
            </a:r>
            <a:endParaRPr lang="en-US" sz="1100" dirty="0"/>
          </a:p>
        </p:txBody>
      </p:sp>
      <p:sp>
        <p:nvSpPr>
          <p:cNvPr id="11" name="Shape 9"/>
          <p:cNvSpPr/>
          <p:nvPr/>
        </p:nvSpPr>
        <p:spPr>
          <a:xfrm>
            <a:off x="7086600" y="2340864"/>
            <a:ext cx="457200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10"/>
          <p:cNvSpPr/>
          <p:nvPr/>
        </p:nvSpPr>
        <p:spPr>
          <a:xfrm>
            <a:off x="7306056" y="2487168"/>
            <a:ext cx="41330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On the Asus this is nearly free</a:t>
            </a:r>
            <a:endParaRPr lang="en-US" sz="1250" dirty="0"/>
          </a:p>
        </p:txBody>
      </p:sp>
      <p:sp>
        <p:nvSpPr>
          <p:cNvPr id="13" name="Text 11"/>
          <p:cNvSpPr/>
          <p:nvPr/>
        </p:nvSpPr>
        <p:spPr>
          <a:xfrm>
            <a:off x="7306056" y="2798064"/>
            <a:ext cx="4133088" cy="1737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Containers run on the host kernel: ~50ms. A reasonable default here, not a last resort.</a:t>
            </a:r>
            <a:endParaRPr lang="en-US" sz="1100" dirty="0"/>
          </a:p>
        </p:txBody>
      </p:sp>
      <p:sp>
        <p:nvSpPr>
          <p:cNvPr id="14" name="Shape 12"/>
          <p:cNvSpPr/>
          <p:nvPr/>
        </p:nvSpPr>
        <p:spPr>
          <a:xfrm>
            <a:off x="7086600" y="3200400"/>
            <a:ext cx="457200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3"/>
          <p:cNvSpPr/>
          <p:nvPr/>
        </p:nvSpPr>
        <p:spPr>
          <a:xfrm>
            <a:off x="7306056" y="3346704"/>
            <a:ext cx="413308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On the Mac it costs 1–3s</a:t>
            </a:r>
            <a:endParaRPr lang="en-US" sz="1250" dirty="0"/>
          </a:p>
        </p:txBody>
      </p:sp>
      <p:sp>
        <p:nvSpPr>
          <p:cNvPr id="16" name="Text 14"/>
          <p:cNvSpPr/>
          <p:nvPr/>
        </p:nvSpPr>
        <p:spPr>
          <a:xfrm>
            <a:off x="7306056" y="3657600"/>
            <a:ext cx="4133088" cy="1737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Docker Desktop runs a Linux VM — roughly 30x the overhead. Batch, or stay on Level 1.</a:t>
            </a:r>
            <a:endParaRPr lang="en-US" sz="1100" dirty="0"/>
          </a:p>
        </p:txBody>
      </p:sp>
      <p:sp>
        <p:nvSpPr>
          <p:cNvPr id="17" name="Shape 15"/>
          <p:cNvSpPr/>
          <p:nvPr/>
        </p:nvSpPr>
        <p:spPr>
          <a:xfrm>
            <a:off x="502920" y="4160520"/>
            <a:ext cx="11155680" cy="566928"/>
          </a:xfrm>
          <a:prstGeom prst="roundRect">
            <a:avLst>
              <a:gd name="adj" fmla="val 1129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Shape 16"/>
          <p:cNvSpPr/>
          <p:nvPr/>
        </p:nvSpPr>
        <p:spPr>
          <a:xfrm>
            <a:off x="502920" y="4160520"/>
            <a:ext cx="91440" cy="566928"/>
          </a:xfrm>
          <a:prstGeom prst="rect">
            <a:avLst/>
          </a:prstGeom>
          <a:solidFill>
            <a:srgbClr val="8FB573"/>
          </a:solidFill>
          <a:ln/>
        </p:spPr>
      </p:sp>
      <p:sp>
        <p:nvSpPr>
          <p:cNvPr id="19" name="Text 17"/>
          <p:cNvSpPr/>
          <p:nvPr/>
        </p:nvSpPr>
        <p:spPr>
          <a:xfrm>
            <a:off x="822960" y="4270248"/>
            <a:ext cx="20116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Level 1, Mac</a:t>
            </a:r>
            <a:endParaRPr lang="en-US" sz="1250" dirty="0"/>
          </a:p>
        </p:txBody>
      </p:sp>
      <p:sp>
        <p:nvSpPr>
          <p:cNvPr id="20" name="Text 18"/>
          <p:cNvSpPr/>
          <p:nvPr/>
        </p:nvSpPr>
        <p:spPr>
          <a:xfrm>
            <a:off x="822960" y="4562856"/>
            <a:ext cx="20116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iterating</a:t>
            </a:r>
            <a:endParaRPr lang="en-US" sz="950" dirty="0"/>
          </a:p>
        </p:txBody>
      </p:sp>
      <p:sp>
        <p:nvSpPr>
          <p:cNvPr id="21" name="Text 19"/>
          <p:cNvSpPr/>
          <p:nvPr/>
        </p:nvSpPr>
        <p:spPr>
          <a:xfrm>
            <a:off x="3063240" y="4251960"/>
            <a:ext cx="8595360" cy="38404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Interactive development, small eval runs, anything you are watching. Speed over isolation.</a:t>
            </a:r>
            <a:endParaRPr lang="en-US" sz="1180" dirty="0"/>
          </a:p>
        </p:txBody>
      </p:sp>
      <p:sp>
        <p:nvSpPr>
          <p:cNvPr id="22" name="Shape 20"/>
          <p:cNvSpPr/>
          <p:nvPr/>
        </p:nvSpPr>
        <p:spPr>
          <a:xfrm>
            <a:off x="502920" y="4818888"/>
            <a:ext cx="11155680" cy="566928"/>
          </a:xfrm>
          <a:prstGeom prst="roundRect">
            <a:avLst>
              <a:gd name="adj" fmla="val 1129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3" name="Shape 21"/>
          <p:cNvSpPr/>
          <p:nvPr/>
        </p:nvSpPr>
        <p:spPr>
          <a:xfrm>
            <a:off x="502920" y="4818888"/>
            <a:ext cx="91440" cy="566928"/>
          </a:xfrm>
          <a:prstGeom prst="rect">
            <a:avLst/>
          </a:prstGeom>
          <a:solidFill>
            <a:srgbClr val="D98E32"/>
          </a:solidFill>
          <a:ln/>
        </p:spPr>
      </p:sp>
      <p:sp>
        <p:nvSpPr>
          <p:cNvPr id="24" name="Text 22"/>
          <p:cNvSpPr/>
          <p:nvPr/>
        </p:nvSpPr>
        <p:spPr>
          <a:xfrm>
            <a:off x="822960" y="4928616"/>
            <a:ext cx="20116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Level 2, Asus</a:t>
            </a:r>
            <a:endParaRPr lang="en-US" sz="1250" dirty="0"/>
          </a:p>
        </p:txBody>
      </p:sp>
      <p:sp>
        <p:nvSpPr>
          <p:cNvPr id="25" name="Text 23"/>
          <p:cNvSpPr/>
          <p:nvPr/>
        </p:nvSpPr>
        <p:spPr>
          <a:xfrm>
            <a:off x="822960" y="5221224"/>
            <a:ext cx="20116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unattended + bulk</a:t>
            </a:r>
            <a:endParaRPr lang="en-US" sz="950" dirty="0"/>
          </a:p>
        </p:txBody>
      </p:sp>
      <p:sp>
        <p:nvSpPr>
          <p:cNvPr id="26" name="Text 24"/>
          <p:cNvSpPr/>
          <p:nvPr/>
        </p:nvSpPr>
        <p:spPr>
          <a:xfrm>
            <a:off x="3063240" y="4910328"/>
            <a:ext cx="8595360" cy="38404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Overnight generation, rejection sampling, GRPO reward execution. 8 cores and cheap containers make this the batch machine.</a:t>
            </a:r>
            <a:endParaRPr lang="en-US" sz="1180" dirty="0"/>
          </a:p>
        </p:txBody>
      </p:sp>
      <p:sp>
        <p:nvSpPr>
          <p:cNvPr id="27" name="Shape 25"/>
          <p:cNvSpPr/>
          <p:nvPr/>
        </p:nvSpPr>
        <p:spPr>
          <a:xfrm>
            <a:off x="502920" y="5468112"/>
            <a:ext cx="11155680" cy="960120"/>
          </a:xfrm>
          <a:prstGeom prst="roundRect">
            <a:avLst>
              <a:gd name="adj" fmla="val 6667"/>
            </a:avLst>
          </a:prstGeom>
          <a:solidFill>
            <a:srgbClr val="1F3D2E"/>
          </a:solidFill>
          <a:ln/>
        </p:spPr>
      </p:sp>
      <p:sp>
        <p:nvSpPr>
          <p:cNvPr id="28" name="Shape 26"/>
          <p:cNvSpPr/>
          <p:nvPr/>
        </p:nvSpPr>
        <p:spPr>
          <a:xfrm>
            <a:off x="740664" y="5650992"/>
            <a:ext cx="292608" cy="292608"/>
          </a:xfrm>
          <a:prstGeom prst="ellipse">
            <a:avLst/>
          </a:prstGeom>
          <a:solidFill>
            <a:srgbClr val="1F3D2E"/>
          </a:solidFill>
          <a:ln/>
        </p:spPr>
      </p:sp>
      <p:sp>
        <p:nvSpPr>
          <p:cNvPr id="29" name="Text 27"/>
          <p:cNvSpPr/>
          <p:nvPr/>
        </p:nvSpPr>
        <p:spPr>
          <a:xfrm>
            <a:off x="740664" y="5650992"/>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30" name="Text 28"/>
          <p:cNvSpPr/>
          <p:nvPr/>
        </p:nvSpPr>
        <p:spPr>
          <a:xfrm>
            <a:off x="1133856" y="5669280"/>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31" name="Text 29"/>
          <p:cNvSpPr/>
          <p:nvPr/>
        </p:nvSpPr>
        <p:spPr>
          <a:xfrm>
            <a:off x="740664" y="6044184"/>
            <a:ext cx="10680192" cy="21031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The same docker run is a rounding error on the Asus and a real tax on the Mac — so unattended execution lives on the Asus, which already runs GRPO. On either machine, build the image once and reuse it; pulling per execution destroys throughput.</a:t>
            </a:r>
            <a:endParaRPr lang="en-US" sz="1150" dirty="0"/>
          </a:p>
        </p:txBody>
      </p:sp>
      <p:sp>
        <p:nvSpPr>
          <p:cNvPr id="32" name="Text 30"/>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39</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SANDBOX</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result schema — design this carefully, you will use it everywhere</a:t>
            </a:r>
            <a:endParaRPr lang="en-US" sz="2900" dirty="0"/>
          </a:p>
        </p:txBody>
      </p:sp>
      <p:sp>
        <p:nvSpPr>
          <p:cNvPr id="4" name="Shape 2"/>
          <p:cNvSpPr/>
          <p:nvPr/>
        </p:nvSpPr>
        <p:spPr>
          <a:xfrm>
            <a:off x="502920" y="1280160"/>
            <a:ext cx="6035040" cy="3657600"/>
          </a:xfrm>
          <a:prstGeom prst="roundRect">
            <a:avLst>
              <a:gd name="adj" fmla="val 1500"/>
            </a:avLst>
          </a:prstGeom>
          <a:solidFill>
            <a:srgbClr val="0F1F17"/>
          </a:solidFill>
          <a:ln/>
        </p:spPr>
      </p:sp>
      <p:sp>
        <p:nvSpPr>
          <p:cNvPr id="5" name="Text 3"/>
          <p:cNvSpPr/>
          <p:nvPr/>
        </p:nvSpPr>
        <p:spPr>
          <a:xfrm>
            <a:off x="722376" y="1426464"/>
            <a:ext cx="559612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ExecResult</a:t>
            </a:r>
            <a:endParaRPr lang="en-US" sz="950" dirty="0"/>
          </a:p>
        </p:txBody>
      </p:sp>
      <p:sp>
        <p:nvSpPr>
          <p:cNvPr id="6" name="Text 4"/>
          <p:cNvSpPr/>
          <p:nvPr/>
        </p:nvSpPr>
        <p:spPr>
          <a:xfrm>
            <a:off x="722376" y="1700784"/>
            <a:ext cx="5596128" cy="3090672"/>
          </a:xfrm>
          <a:prstGeom prst="rect">
            <a:avLst/>
          </a:prstGeom>
          <a:noFill/>
          <a:ln/>
        </p:spPr>
        <p:txBody>
          <a:bodyPr wrap="square" lIns="0" tIns="0" rIns="0" bIns="0" rtlCol="0" anchor="t"/>
          <a:lstStyle/>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@dataclass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class ExecResult:</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status: str        # pass|fail|timeout|error|crash</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passed: int        # tests that passed</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total: int         # tests attempted</a:t>
            </a:r>
            <a:endParaRPr lang="en-US" sz="1000" dirty="0"/>
          </a:p>
          <a:p>
            <a:pPr indent="0" marL="0">
              <a:lnSpc>
                <a:spcPct val="112000"/>
              </a:lnSpc>
              <a:buNone/>
            </a:pPr>
            <a:r>
              <a:rPr lang="en-US" sz="1000" b="1" dirty="0">
                <a:solidFill>
                  <a:srgbClr val="8FB573"/>
                </a:solidFill>
                <a:latin typeface="Courier New" pitchFamily="34" charset="0"/>
                <a:ea typeface="Courier New" pitchFamily="34" charset="-122"/>
                <a:cs typeface="Courier New" pitchFamily="34" charset="-120"/>
              </a:rPr>
              <a:t>    fraction: float    # passed/total -&gt; DENSE REWARD</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stdout: str</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stderr: str</a:t>
            </a:r>
            <a:endParaRPr lang="en-US" sz="1000" dirty="0"/>
          </a:p>
          <a:p>
            <a:pPr indent="0" marL="0">
              <a:lnSpc>
                <a:spcPct val="112000"/>
              </a:lnSpc>
              <a:buNone/>
            </a:pPr>
            <a:r>
              <a:rPr lang="en-US" sz="1000" b="1" dirty="0">
                <a:solidFill>
                  <a:srgbClr val="D98E32"/>
                </a:solidFill>
                <a:latin typeface="Courier New" pitchFamily="34" charset="0"/>
                <a:ea typeface="Courier New" pitchFamily="34" charset="-122"/>
                <a:cs typeface="Courier New" pitchFamily="34" charset="-120"/>
              </a:rPr>
              <a:t>    traceback: str     # &lt;-- Phase 10 depends on this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exit_code: int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wall_ms: int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cpu_ms: int</a:t>
            </a:r>
            <a:endParaRPr lang="en-US" sz="1000" dirty="0"/>
          </a:p>
          <a:p>
            <a:pPr indent="0" marL="0">
              <a:lnSpc>
                <a:spcPct val="112000"/>
              </a:lnSpc>
              <a:buNone/>
            </a:pPr>
            <a:r>
              <a:rPr lang="en-US" sz="1000" dirty="0">
                <a:solidFill>
                  <a:srgbClr val="A8482A"/>
                </a:solidFill>
                <a:latin typeface="Courier New" pitchFamily="34" charset="0"/>
                <a:ea typeface="Courier New" pitchFamily="34" charset="-122"/>
                <a:cs typeface="Courier New" pitchFamily="34" charset="-120"/>
              </a:rPr>
              <a:t>    flags: list[str]   # 'read_test_file','net_attempt'</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@property</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def ok(self) -&gt; bool:</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return self.status == 'pass'</a:t>
            </a:r>
            <a:endParaRPr lang="en-US" sz="1000" dirty="0"/>
          </a:p>
        </p:txBody>
      </p:sp>
      <p:sp>
        <p:nvSpPr>
          <p:cNvPr id="7" name="Shape 5"/>
          <p:cNvSpPr/>
          <p:nvPr/>
        </p:nvSpPr>
        <p:spPr>
          <a:xfrm>
            <a:off x="6720840" y="1280160"/>
            <a:ext cx="4937760" cy="841248"/>
          </a:xfrm>
          <a:prstGeom prst="roundRect">
            <a:avLst>
              <a:gd name="adj" fmla="val 760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940296" y="1426464"/>
            <a:ext cx="449884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fraction, not just a boolean</a:t>
            </a:r>
            <a:endParaRPr lang="en-US" sz="1250" dirty="0"/>
          </a:p>
        </p:txBody>
      </p:sp>
      <p:sp>
        <p:nvSpPr>
          <p:cNvPr id="9" name="Text 7"/>
          <p:cNvSpPr/>
          <p:nvPr/>
        </p:nvSpPr>
        <p:spPr>
          <a:xfrm>
            <a:off x="6940296" y="1737360"/>
            <a:ext cx="4498848" cy="23774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In Phase 9, binary pass/fail is a sparse reward and training barely moves. passed/total gives the model a gradient to climb. Capture it now.</a:t>
            </a:r>
            <a:endParaRPr lang="en-US" sz="1100" dirty="0"/>
          </a:p>
        </p:txBody>
      </p:sp>
      <p:sp>
        <p:nvSpPr>
          <p:cNvPr id="10" name="Shape 8"/>
          <p:cNvSpPr/>
          <p:nvPr/>
        </p:nvSpPr>
        <p:spPr>
          <a:xfrm>
            <a:off x="6720840" y="2212848"/>
            <a:ext cx="4937760" cy="841248"/>
          </a:xfrm>
          <a:prstGeom prst="roundRect">
            <a:avLst>
              <a:gd name="adj" fmla="val 760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6940296" y="2359152"/>
            <a:ext cx="449884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traceback is not optional</a:t>
            </a:r>
            <a:endParaRPr lang="en-US" sz="1250" dirty="0"/>
          </a:p>
        </p:txBody>
      </p:sp>
      <p:sp>
        <p:nvSpPr>
          <p:cNvPr id="12" name="Text 10"/>
          <p:cNvSpPr/>
          <p:nvPr/>
        </p:nvSpPr>
        <p:spPr>
          <a:xfrm>
            <a:off x="6940296" y="2670048"/>
            <a:ext cx="4498848" cy="23774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Phase 10 (self-repair) is built entirely from tracebacks. If you discard them now, you rebuild and re-run everything later.</a:t>
            </a:r>
            <a:endParaRPr lang="en-US" sz="1100" dirty="0"/>
          </a:p>
        </p:txBody>
      </p:sp>
      <p:sp>
        <p:nvSpPr>
          <p:cNvPr id="13" name="Shape 11"/>
          <p:cNvSpPr/>
          <p:nvPr/>
        </p:nvSpPr>
        <p:spPr>
          <a:xfrm>
            <a:off x="6720840" y="3145536"/>
            <a:ext cx="4937760" cy="841248"/>
          </a:xfrm>
          <a:prstGeom prst="roundRect">
            <a:avLst>
              <a:gd name="adj" fmla="val 760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6940296" y="3291840"/>
            <a:ext cx="449884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flags catch cheating</a:t>
            </a:r>
            <a:endParaRPr lang="en-US" sz="1250" dirty="0"/>
          </a:p>
        </p:txBody>
      </p:sp>
      <p:sp>
        <p:nvSpPr>
          <p:cNvPr id="15" name="Text 13"/>
          <p:cNvSpPr/>
          <p:nvPr/>
        </p:nvSpPr>
        <p:spPr>
          <a:xfrm>
            <a:off x="6940296" y="3602736"/>
            <a:ext cx="4498848" cy="23774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Add a flag whenever the solution touched something suspicious. This becomes your reward-hacking detector in Phase 9.</a:t>
            </a:r>
            <a:endParaRPr lang="en-US" sz="1100" dirty="0"/>
          </a:p>
        </p:txBody>
      </p:sp>
      <p:sp>
        <p:nvSpPr>
          <p:cNvPr id="16" name="Shape 14"/>
          <p:cNvSpPr/>
          <p:nvPr/>
        </p:nvSpPr>
        <p:spPr>
          <a:xfrm>
            <a:off x="6720840" y="4078224"/>
            <a:ext cx="4937760" cy="841248"/>
          </a:xfrm>
          <a:prstGeom prst="roundRect">
            <a:avLst>
              <a:gd name="adj" fmla="val 760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6940296" y="4224528"/>
            <a:ext cx="449884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Distinguish error from fail</a:t>
            </a:r>
            <a:endParaRPr lang="en-US" sz="1250" dirty="0"/>
          </a:p>
        </p:txBody>
      </p:sp>
      <p:sp>
        <p:nvSpPr>
          <p:cNvPr id="18" name="Text 16"/>
          <p:cNvSpPr/>
          <p:nvPr/>
        </p:nvSpPr>
        <p:spPr>
          <a:xfrm>
            <a:off x="6940296" y="4535424"/>
            <a:ext cx="4498848" cy="23774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 syntax error and a wrong answer are different signals and deserve different rewards. Collapsing them loses information.</a:t>
            </a:r>
            <a:endParaRPr lang="en-US" sz="1100" dirty="0"/>
          </a:p>
        </p:txBody>
      </p:sp>
      <p:sp>
        <p:nvSpPr>
          <p:cNvPr id="19" name="Shape 17"/>
          <p:cNvSpPr/>
          <p:nvPr/>
        </p:nvSpPr>
        <p:spPr>
          <a:xfrm>
            <a:off x="6720840" y="5010912"/>
            <a:ext cx="4937760" cy="841248"/>
          </a:xfrm>
          <a:prstGeom prst="roundRect">
            <a:avLst>
              <a:gd name="adj" fmla="val 760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6940296" y="5157216"/>
            <a:ext cx="449884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Timings help you tune</a:t>
            </a:r>
            <a:endParaRPr lang="en-US" sz="1250" dirty="0"/>
          </a:p>
        </p:txBody>
      </p:sp>
      <p:sp>
        <p:nvSpPr>
          <p:cNvPr id="21" name="Text 19"/>
          <p:cNvSpPr/>
          <p:nvPr/>
        </p:nvSpPr>
        <p:spPr>
          <a:xfrm>
            <a:off x="6940296" y="5468112"/>
            <a:ext cx="4498848" cy="23774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wall_ms and cpu_ms tell you whether your timeout is well calibrated. Log the distribution.</a:t>
            </a:r>
            <a:endParaRPr lang="en-US" sz="1100" dirty="0"/>
          </a:p>
        </p:txBody>
      </p:sp>
      <p:sp>
        <p:nvSpPr>
          <p:cNvPr id="22" name="Text 20"/>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40</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SANDBOX</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Throughput — you will run millions of executions</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Single-threaded wall-clock. Divide by your worker count — see the note below.</a:t>
            </a:r>
            <a:endParaRPr lang="en-US" sz="13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55680" cy="914400"/>
        </p:xfrm>
        <a:graphic>
          <a:graphicData uri="http://schemas.openxmlformats.org/drawingml/2006/table">
            <a:tbl>
              <a:tblPr/>
              <a:tblGrid>
                <a:gridCol w="2834640"/>
                <a:gridCol w="1554480"/>
                <a:gridCol w="2011680"/>
                <a:gridCol w="2651760"/>
                <a:gridCol w="2103120"/>
              </a:tblGrid>
              <a:tr h="4023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Phase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Executions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L1 subprocess</a:t>
                      </a:r>
                      <a:endParaRPr lang="en-US" sz="1050" dirty="0">
                        <a:latin typeface="Calibri" charset="0"/>
                        <a:ea typeface="Calibri" charset="0"/>
                        <a:cs typeface="Calibri" charset="0"/>
                      </a:endParaRPr>
                    </a:p>
                    <a:p>
                      <a:pPr indent="0" marL="0">
                        <a:buNone/>
                      </a:pPr>
                      <a:r>
                        <a:rPr lang="en-US" sz="1050" b="1" dirty="0">
                          <a:solidFill>
                            <a:srgbClr val="FFFFFF"/>
                          </a:solidFill>
                          <a:latin typeface="Calibri" pitchFamily="34" charset="0"/>
                          <a:ea typeface="Calibri" pitchFamily="34" charset="-122"/>
                          <a:cs typeface="Calibri" pitchFamily="34" charset="-120"/>
                        </a:rPr>
                        <a:t>~50ms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L2 Docker, Asus</a:t>
                      </a:r>
                      <a:endParaRPr lang="en-US" sz="1050" dirty="0">
                        <a:latin typeface="Calibri" charset="0"/>
                        <a:ea typeface="Calibri" charset="0"/>
                        <a:cs typeface="Calibri" charset="0"/>
                      </a:endParaRPr>
                    </a:p>
                    <a:p>
                      <a:pPr indent="0" marL="0">
                        <a:buNone/>
                      </a:pPr>
                      <a:r>
                        <a:rPr lang="en-US" sz="1050" b="1" dirty="0">
                          <a:solidFill>
                            <a:srgbClr val="FFFFFF"/>
                          </a:solidFill>
                          <a:latin typeface="Calibri" pitchFamily="34" charset="0"/>
                          <a:ea typeface="Calibri" pitchFamily="34" charset="-122"/>
                          <a:cs typeface="Calibri" pitchFamily="34" charset="-120"/>
                        </a:rPr>
                        <a:t>~100ms (host kernel)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L2 Docker, Mac</a:t>
                      </a:r>
                      <a:endParaRPr lang="en-US" sz="1050" dirty="0">
                        <a:latin typeface="Calibri" charset="0"/>
                        <a:ea typeface="Calibri" charset="0"/>
                        <a:cs typeface="Calibri" charset="0"/>
                      </a:endParaRPr>
                    </a:p>
                    <a:p>
                      <a:pPr indent="0" marL="0">
                        <a:buNone/>
                      </a:pPr>
                      <a:r>
                        <a:rPr lang="en-US" sz="1050" b="1" dirty="0">
                          <a:solidFill>
                            <a:srgbClr val="FFFFFF"/>
                          </a:solidFill>
                          <a:latin typeface="Calibri" pitchFamily="34" charset="0"/>
                          <a:ea typeface="Calibri" pitchFamily="34" charset="-122"/>
                          <a:cs typeface="Calibri" pitchFamily="34" charset="-120"/>
                        </a:rPr>
                        <a:t>~1.5s (VM)</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02336">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Phase 4 — baseline eval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~5,000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4 minutes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8 minutes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 hours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Phase 6 — SFT eval loop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~50,000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42 minutes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1.4 hours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21 hours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Phase 7 — rejection sampling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~500,000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7 hours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14 hours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8+ days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Phase 9 — GRPO training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~2,000,000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28 hours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56 hours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impractical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3566160"/>
            <a:ext cx="11155680" cy="566928"/>
          </a:xfrm>
          <a:prstGeom prst="roundRect">
            <a:avLst>
              <a:gd name="adj" fmla="val 9677"/>
            </a:avLst>
          </a:prstGeom>
          <a:solidFill>
            <a:srgbClr val="8FB573"/>
          </a:solidFill>
          <a:ln/>
        </p:spPr>
      </p:sp>
      <p:sp>
        <p:nvSpPr>
          <p:cNvPr id="7" name="Text 4"/>
          <p:cNvSpPr/>
          <p:nvPr/>
        </p:nvSpPr>
        <p:spPr>
          <a:xfrm>
            <a:off x="777240" y="356616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Level 2 on Linux costs ~2x Level 1, not 30x as on the Mac — which is what moves all bulk execution to the Asus.</a:t>
            </a:r>
            <a:endParaRPr lang="en-US" sz="1450" dirty="0"/>
          </a:p>
        </p:txBody>
      </p:sp>
      <p:sp>
        <p:nvSpPr>
          <p:cNvPr id="8" name="Shape 5"/>
          <p:cNvSpPr/>
          <p:nvPr/>
        </p:nvSpPr>
        <p:spPr>
          <a:xfrm>
            <a:off x="502920" y="4160520"/>
            <a:ext cx="3621024" cy="1024128"/>
          </a:xfrm>
          <a:prstGeom prst="roundRect">
            <a:avLst>
              <a:gd name="adj" fmla="val 62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722376" y="430682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Parallelize with processes</a:t>
            </a:r>
            <a:endParaRPr lang="en-US" sz="1250" dirty="0"/>
          </a:p>
        </p:txBody>
      </p:sp>
      <p:sp>
        <p:nvSpPr>
          <p:cNvPr id="10" name="Text 7"/>
          <p:cNvSpPr/>
          <p:nvPr/>
        </p:nvSpPr>
        <p:spPr>
          <a:xfrm>
            <a:off x="722376" y="4617720"/>
            <a:ext cx="3182112" cy="42062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Pool sized to physical cores — 8 on the Asus, cutting every number above by ~8x. preexec_fn is not thread-safe, so threads are out.</a:t>
            </a:r>
            <a:endParaRPr lang="en-US" sz="1100" dirty="0"/>
          </a:p>
        </p:txBody>
      </p:sp>
      <p:sp>
        <p:nvSpPr>
          <p:cNvPr id="11" name="Shape 8"/>
          <p:cNvSpPr/>
          <p:nvPr/>
        </p:nvSpPr>
        <p:spPr>
          <a:xfrm>
            <a:off x="4270248" y="4160520"/>
            <a:ext cx="3621024" cy="1024128"/>
          </a:xfrm>
          <a:prstGeom prst="roundRect">
            <a:avLst>
              <a:gd name="adj" fmla="val 62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4489704" y="430682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Cache by content hash</a:t>
            </a:r>
            <a:endParaRPr lang="en-US" sz="1250" dirty="0"/>
          </a:p>
        </p:txBody>
      </p:sp>
      <p:sp>
        <p:nvSpPr>
          <p:cNvPr id="13" name="Text 10"/>
          <p:cNvSpPr/>
          <p:nvPr/>
        </p:nvSpPr>
        <p:spPr>
          <a:xfrm>
            <a:off x="4489704" y="4617720"/>
            <a:ext cx="3182112" cy="42062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Identical generated solutions are common, especially at low temperature. Hash the code and skip re-execution.</a:t>
            </a:r>
            <a:endParaRPr lang="en-US" sz="1100" dirty="0"/>
          </a:p>
        </p:txBody>
      </p:sp>
      <p:sp>
        <p:nvSpPr>
          <p:cNvPr id="14" name="Shape 11"/>
          <p:cNvSpPr/>
          <p:nvPr/>
        </p:nvSpPr>
        <p:spPr>
          <a:xfrm>
            <a:off x="8037576" y="4160520"/>
            <a:ext cx="3621024" cy="1024128"/>
          </a:xfrm>
          <a:prstGeom prst="roundRect">
            <a:avLst>
              <a:gd name="adj" fmla="val 62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2"/>
          <p:cNvSpPr/>
          <p:nvPr/>
        </p:nvSpPr>
        <p:spPr>
          <a:xfrm>
            <a:off x="8257032" y="430682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Fail fast on syntax</a:t>
            </a:r>
            <a:endParaRPr lang="en-US" sz="1250" dirty="0"/>
          </a:p>
        </p:txBody>
      </p:sp>
      <p:sp>
        <p:nvSpPr>
          <p:cNvPr id="16" name="Text 13"/>
          <p:cNvSpPr/>
          <p:nvPr/>
        </p:nvSpPr>
        <p:spPr>
          <a:xfrm>
            <a:off x="8257032" y="4617720"/>
            <a:ext cx="3182112" cy="42062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ast.parse() before spawning a process. Rejects a meaningful fraction at ~0.1ms instead of 50ms.</a:t>
            </a:r>
            <a:endParaRPr lang="en-US" sz="1100" dirty="0"/>
          </a:p>
        </p:txBody>
      </p:sp>
      <p:sp>
        <p:nvSpPr>
          <p:cNvPr id="17" name="Shape 14"/>
          <p:cNvSpPr/>
          <p:nvPr/>
        </p:nvSpPr>
        <p:spPr>
          <a:xfrm>
            <a:off x="502920" y="5330952"/>
            <a:ext cx="3621024" cy="1024128"/>
          </a:xfrm>
          <a:prstGeom prst="roundRect">
            <a:avLst>
              <a:gd name="adj" fmla="val 62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Text 15"/>
          <p:cNvSpPr/>
          <p:nvPr/>
        </p:nvSpPr>
        <p:spPr>
          <a:xfrm>
            <a:off x="722376" y="5477256"/>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Batch the container</a:t>
            </a:r>
            <a:endParaRPr lang="en-US" sz="1250" dirty="0"/>
          </a:p>
        </p:txBody>
      </p:sp>
      <p:sp>
        <p:nvSpPr>
          <p:cNvPr id="19" name="Text 16"/>
          <p:cNvSpPr/>
          <p:nvPr/>
        </p:nvSpPr>
        <p:spPr>
          <a:xfrm>
            <a:off x="722376" y="5788152"/>
            <a:ext cx="3182112" cy="42062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At Level 2, run many solutions in ONE container rather than one each. Matters far more on the Mac.</a:t>
            </a:r>
            <a:endParaRPr lang="en-US" sz="1100" dirty="0"/>
          </a:p>
        </p:txBody>
      </p:sp>
      <p:sp>
        <p:nvSpPr>
          <p:cNvPr id="20" name="Shape 17"/>
          <p:cNvSpPr/>
          <p:nvPr/>
        </p:nvSpPr>
        <p:spPr>
          <a:xfrm>
            <a:off x="4270248" y="5330952"/>
            <a:ext cx="3621024" cy="1024128"/>
          </a:xfrm>
          <a:prstGeom prst="roundRect">
            <a:avLst>
              <a:gd name="adj" fmla="val 62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Text 18"/>
          <p:cNvSpPr/>
          <p:nvPr/>
        </p:nvSpPr>
        <p:spPr>
          <a:xfrm>
            <a:off x="4489704" y="5477256"/>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Warm the interpreter</a:t>
            </a:r>
            <a:endParaRPr lang="en-US" sz="1250" dirty="0"/>
          </a:p>
        </p:txBody>
      </p:sp>
      <p:sp>
        <p:nvSpPr>
          <p:cNvPr id="22" name="Text 19"/>
          <p:cNvSpPr/>
          <p:nvPr/>
        </p:nvSpPr>
        <p:spPr>
          <a:xfrm>
            <a:off x="4489704" y="5788152"/>
            <a:ext cx="3182112" cy="42062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Process startup dominates at 50ms. A persistent worker pool with fork-per-task amortizes it.</a:t>
            </a:r>
            <a:endParaRPr lang="en-US" sz="1100" dirty="0"/>
          </a:p>
        </p:txBody>
      </p:sp>
      <p:sp>
        <p:nvSpPr>
          <p:cNvPr id="23" name="Shape 20"/>
          <p:cNvSpPr/>
          <p:nvPr/>
        </p:nvSpPr>
        <p:spPr>
          <a:xfrm>
            <a:off x="8037576" y="5330952"/>
            <a:ext cx="3621024" cy="1024128"/>
          </a:xfrm>
          <a:prstGeom prst="roundRect">
            <a:avLst>
              <a:gd name="adj" fmla="val 62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4" name="Text 21"/>
          <p:cNvSpPr/>
          <p:nvPr/>
        </p:nvSpPr>
        <p:spPr>
          <a:xfrm>
            <a:off x="8257032" y="5477256"/>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Measure before optimizing</a:t>
            </a:r>
            <a:endParaRPr lang="en-US" sz="1250" dirty="0"/>
          </a:p>
        </p:txBody>
      </p:sp>
      <p:sp>
        <p:nvSpPr>
          <p:cNvPr id="25" name="Text 22"/>
          <p:cNvSpPr/>
          <p:nvPr/>
        </p:nvSpPr>
        <p:spPr>
          <a:xfrm>
            <a:off x="8257032" y="5788152"/>
            <a:ext cx="3182112" cy="42062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Log wall_ms distribution. Your bottleneck may be the model generating, not the sandbox executing.</a:t>
            </a:r>
            <a:endParaRPr lang="en-US" sz="1100" dirty="0"/>
          </a:p>
        </p:txBody>
      </p:sp>
      <p:sp>
        <p:nvSpPr>
          <p:cNvPr id="26" name="Text 2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41</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SANDBOX</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adversarial suite — test your sandbox before you trust it</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Write these as real pytest cases. Re-run them every time the executor changes.</a:t>
            </a:r>
            <a:endParaRPr lang="en-US" sz="13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2920" y="1536192"/>
          <a:ext cx="11155680" cy="914400"/>
        </p:xfrm>
        <a:graphic>
          <a:graphicData uri="http://schemas.openxmlformats.org/drawingml/2006/table">
            <a:tbl>
              <a:tblPr/>
              <a:tblGrid>
                <a:gridCol w="2377440"/>
                <a:gridCol w="4206240"/>
                <a:gridCol w="4572000"/>
              </a:tblGrid>
              <a:tr h="30632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Attack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Payload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Expected result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063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Infinite loop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while True: pass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status='timeout', killed within wall_s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063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Sleep past the limit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import time; time.sleep(999)</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status='timeout' (CPU limit alone would MISS this)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063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Fork bomb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while True: os.fork()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Contained by RLIMIT_NPROC / --pids-limit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063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Memory bomb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x = [0] * 10**10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MemoryError inside sandbox, host unaffected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063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Orphan subprocess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subprocess.Popen(['sleep','999'])</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Killed by killpg — this is the one that usually fails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063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Clean exit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import sys; sys.exit(0)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NOT counted as pass — must check test output, not exit code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063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Swallow everything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try: main() except: pass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Tests must still report failure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063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Read the test file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open('test_solution.py').read()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FileNotFoundError, or flagged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063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Network egress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urllib.request.urlopen('http://...')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Blocked (L2) or flagged (L1)</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063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Filesystem escape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open('../../secrets','w')</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PermissionError or contained in tmpfs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063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Disk fill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open('f','w').write('x'*10**10)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Capped by RLIMIT_FSIZE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063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Env leak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os.environ.get('HF_TOKEN')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Returns None — env was scrubbed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5394960"/>
            <a:ext cx="11155680" cy="960120"/>
          </a:xfrm>
          <a:prstGeom prst="roundRect">
            <a:avLst>
              <a:gd name="adj" fmla="val 6667"/>
            </a:avLst>
          </a:prstGeom>
          <a:solidFill>
            <a:srgbClr val="1F3D2E"/>
          </a:solidFill>
          <a:ln/>
        </p:spPr>
      </p:sp>
      <p:sp>
        <p:nvSpPr>
          <p:cNvPr id="7" name="Shape 4"/>
          <p:cNvSpPr/>
          <p:nvPr/>
        </p:nvSpPr>
        <p:spPr>
          <a:xfrm>
            <a:off x="740664" y="5577840"/>
            <a:ext cx="292608" cy="292608"/>
          </a:xfrm>
          <a:prstGeom prst="ellipse">
            <a:avLst/>
          </a:prstGeom>
          <a:solidFill>
            <a:srgbClr val="1F3D2E"/>
          </a:solidFill>
          <a:ln/>
        </p:spPr>
      </p:sp>
      <p:sp>
        <p:nvSpPr>
          <p:cNvPr id="8" name="Text 5"/>
          <p:cNvSpPr/>
          <p:nvPr/>
        </p:nvSpPr>
        <p:spPr>
          <a:xfrm>
            <a:off x="740664" y="55778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9" name="Text 6"/>
          <p:cNvSpPr/>
          <p:nvPr/>
        </p:nvSpPr>
        <p:spPr>
          <a:xfrm>
            <a:off x="1133856" y="55961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0" name="Text 7"/>
          <p:cNvSpPr/>
          <p:nvPr/>
        </p:nvSpPr>
        <p:spPr>
          <a:xfrm>
            <a:off x="740664" y="5971032"/>
            <a:ext cx="10680192" cy="21031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The orphan-subprocess test is the one that fails on almost every hand-rolled sandbox, including my first three. subprocess.run(timeout=) kills the child and cheerfully leaves its children running. Write this test.</a:t>
            </a:r>
            <a:endParaRPr lang="en-US" sz="1150" dirty="0"/>
          </a:p>
        </p:txBody>
      </p:sp>
      <p:sp>
        <p:nvSpPr>
          <p:cNvPr id="11" name="Text 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42</a:t>
            </a:r>
            <a:endParaRPr lang="en-US" sz="9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SANDBOX</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Sandbox — path and traps</a:t>
            </a:r>
            <a:endParaRPr lang="en-US" sz="2900" dirty="0"/>
          </a:p>
        </p:txBody>
      </p:sp>
      <p:sp>
        <p:nvSpPr>
          <p:cNvPr id="4" name="Shape 2"/>
          <p:cNvSpPr/>
          <p:nvPr/>
        </p:nvSpPr>
        <p:spPr>
          <a:xfrm>
            <a:off x="502920" y="1335024"/>
            <a:ext cx="292608" cy="292608"/>
          </a:xfrm>
          <a:prstGeom prst="ellipse">
            <a:avLst/>
          </a:prstGeom>
          <a:solidFill>
            <a:srgbClr val="8FB573"/>
          </a:solidFill>
          <a:ln/>
        </p:spPr>
      </p:sp>
      <p:sp>
        <p:nvSpPr>
          <p:cNvPr id="5" name="Text 3"/>
          <p:cNvSpPr/>
          <p:nvPr/>
        </p:nvSpPr>
        <p:spPr>
          <a:xfrm>
            <a:off x="50292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89611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PATH</a:t>
            </a:r>
            <a:endParaRPr lang="en-US" sz="1100" dirty="0"/>
          </a:p>
        </p:txBody>
      </p:sp>
      <p:sp>
        <p:nvSpPr>
          <p:cNvPr id="7" name="Text 5"/>
          <p:cNvSpPr/>
          <p:nvPr/>
        </p:nvSpPr>
        <p:spPr>
          <a:xfrm>
            <a:off x="502920" y="1755648"/>
            <a:ext cx="5394960" cy="2743200"/>
          </a:xfrm>
          <a:prstGeom prst="rect">
            <a:avLst/>
          </a:prstGeom>
          <a:noFill/>
          <a:ln/>
        </p:spPr>
        <p:txBody>
          <a:bodyPr wrap="square" lIns="0" tIns="0" rIns="0" bIns="0" rtlCol="0" anchor="t"/>
          <a:lstStyle/>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Start at Level 1, move to Level 2 before the first unattended run</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Two timeouts: CPU-time and wall-clock. Always both</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os.setsid() + os.killpg() — kill the process group, not the process</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Scrub the environment to an explicit allowlist</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Return fraction-of-tests-passed, not a boolean</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Capture the traceback — Phase 10 is built from it</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Write the adversarial suite and re-run it on every change</a:t>
            </a:r>
            <a:endParaRPr lang="en-US" sz="1180" dirty="0"/>
          </a:p>
        </p:txBody>
      </p:sp>
      <p:sp>
        <p:nvSpPr>
          <p:cNvPr id="8" name="Shape 6"/>
          <p:cNvSpPr/>
          <p:nvPr/>
        </p:nvSpPr>
        <p:spPr>
          <a:xfrm>
            <a:off x="6309360" y="1335024"/>
            <a:ext cx="292608" cy="292608"/>
          </a:xfrm>
          <a:prstGeom prst="ellipse">
            <a:avLst/>
          </a:prstGeom>
          <a:solidFill>
            <a:srgbClr val="D98E32"/>
          </a:solidFill>
          <a:ln/>
        </p:spPr>
      </p:sp>
      <p:sp>
        <p:nvSpPr>
          <p:cNvPr id="9" name="Text 7"/>
          <p:cNvSpPr/>
          <p:nvPr/>
        </p:nvSpPr>
        <p:spPr>
          <a:xfrm>
            <a:off x="630936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670255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TRAPS</a:t>
            </a:r>
            <a:endParaRPr lang="en-US" sz="1100" dirty="0"/>
          </a:p>
        </p:txBody>
      </p:sp>
      <p:sp>
        <p:nvSpPr>
          <p:cNvPr id="11" name="Text 9"/>
          <p:cNvSpPr/>
          <p:nvPr/>
        </p:nvSpPr>
        <p:spPr>
          <a:xfrm>
            <a:off x="6309360" y="1755648"/>
            <a:ext cx="5349240" cy="2743200"/>
          </a:xfrm>
          <a:prstGeom prst="rect">
            <a:avLst/>
          </a:prstGeom>
          <a:noFill/>
          <a:ln/>
        </p:spPr>
        <p:txBody>
          <a:bodyPr wrap="square" lIns="0" tIns="0" rIns="0" bIns="0" rtlCol="0" anchor="t"/>
          <a:lstStyle/>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No timeout: the classic. Hangs runs silently for hours</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Only CPU timeout: sleeps and blocking I/O sail straight through</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Killing the process but not the group: orphans accumulate all night</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Test file readable from cwd: the model will find it in Phase 9</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Inheriting env: leaks your HF and W&amp;B tokens into generated code</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Trusting exit code 0 as success: sys.exit(0) defeats it</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Boolean-only results: you cannot build a dense reward later</a:t>
            </a:r>
            <a:endParaRPr lang="en-US" sz="1180" dirty="0"/>
          </a:p>
        </p:txBody>
      </p:sp>
      <p:sp>
        <p:nvSpPr>
          <p:cNvPr id="12" name="Shape 10"/>
          <p:cNvSpPr/>
          <p:nvPr/>
        </p:nvSpPr>
        <p:spPr>
          <a:xfrm>
            <a:off x="502920" y="4965192"/>
            <a:ext cx="11155680" cy="1234440"/>
          </a:xfrm>
          <a:prstGeom prst="roundRect">
            <a:avLst>
              <a:gd name="adj" fmla="val 5185"/>
            </a:avLst>
          </a:prstGeom>
          <a:solidFill>
            <a:srgbClr val="1F3D2E"/>
          </a:solidFill>
          <a:ln/>
        </p:spPr>
      </p:sp>
      <p:sp>
        <p:nvSpPr>
          <p:cNvPr id="13" name="Shape 11"/>
          <p:cNvSpPr/>
          <p:nvPr/>
        </p:nvSpPr>
        <p:spPr>
          <a:xfrm>
            <a:off x="740664" y="5148072"/>
            <a:ext cx="292608" cy="292608"/>
          </a:xfrm>
          <a:prstGeom prst="ellipse">
            <a:avLst/>
          </a:prstGeom>
          <a:solidFill>
            <a:srgbClr val="1F3D2E"/>
          </a:solidFill>
          <a:ln/>
        </p:spPr>
      </p:sp>
      <p:sp>
        <p:nvSpPr>
          <p:cNvPr id="14" name="Text 12"/>
          <p:cNvSpPr/>
          <p:nvPr/>
        </p:nvSpPr>
        <p:spPr>
          <a:xfrm>
            <a:off x="740664" y="5148072"/>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166360"/>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541264"/>
            <a:ext cx="10680192" cy="4846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This phase feels like a detour from machine learning. It is not — it is the reward function. Every hour spent here is repaid in Phase 9, where a weak sandbox does not merely fail, it silently teaches your model to cheat and reports rising numbers while doing it.</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43</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PHASE 4</a:t>
            </a:r>
            <a:endParaRPr lang="en-US" sz="1250" dirty="0"/>
          </a:p>
        </p:txBody>
      </p:sp>
      <p:sp>
        <p:nvSpPr>
          <p:cNvPr id="3" name="Text 1"/>
          <p:cNvSpPr/>
          <p:nvPr/>
        </p:nvSpPr>
        <p:spPr>
          <a:xfrm>
            <a:off x="777240" y="23317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Building the Ruler</a:t>
            </a:r>
            <a:endParaRPr lang="en-US" sz="4000" dirty="0"/>
          </a:p>
        </p:txBody>
      </p:sp>
      <p:sp>
        <p:nvSpPr>
          <p:cNvPr id="4" name="Text 2"/>
          <p:cNvSpPr/>
          <p:nvPr/>
        </p:nvSpPr>
        <p:spPr>
          <a:xfrm>
            <a:off x="777240" y="32004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Three days. Everything after this is measured with the instrument you build here.</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A bad ruler does not slow you down — it points you confidently in the wrong direction.</a:t>
            </a:r>
            <a:endParaRPr lang="en-US" sz="1550" dirty="0"/>
          </a:p>
        </p:txBody>
      </p:sp>
      <p:sp>
        <p:nvSpPr>
          <p:cNvPr id="5" name="Text 3"/>
          <p:cNvSpPr/>
          <p:nvPr/>
        </p:nvSpPr>
        <p:spPr>
          <a:xfrm>
            <a:off x="777240" y="4892040"/>
            <a:ext cx="10607040" cy="237744"/>
          </a:xfrm>
          <a:prstGeom prst="rect">
            <a:avLst/>
          </a:prstGeom>
          <a:noFill/>
          <a:ln/>
        </p:spPr>
        <p:txBody>
          <a:bodyPr wrap="square" lIns="0" tIns="0" rIns="0" bIns="0" rtlCol="0" anchor="ctr"/>
          <a:lstStyle/>
          <a:p>
            <a:pPr indent="0" marL="0">
              <a:buNone/>
            </a:pPr>
            <a:r>
              <a:rPr lang="en-US" sz="900" b="1" spc="250" kern="0" dirty="0">
                <a:solidFill>
                  <a:srgbClr val="2A5240"/>
                </a:solidFill>
                <a:latin typeface="Calibri" pitchFamily="34" charset="0"/>
                <a:ea typeface="Calibri" pitchFamily="34" charset="-122"/>
                <a:cs typeface="Calibri" pitchFamily="34" charset="-120"/>
              </a:rPr>
              <a:t>WHERE YOU ARE</a:t>
            </a:r>
            <a:endParaRPr lang="en-US" sz="900" dirty="0"/>
          </a:p>
        </p:txBody>
      </p:sp>
      <p:sp>
        <p:nvSpPr>
          <p:cNvPr id="6" name="Shape 4"/>
          <p:cNvSpPr/>
          <p:nvPr/>
        </p:nvSpPr>
        <p:spPr>
          <a:xfrm>
            <a:off x="777240" y="5212080"/>
            <a:ext cx="829056" cy="73152"/>
          </a:xfrm>
          <a:prstGeom prst="rect">
            <a:avLst/>
          </a:prstGeom>
          <a:solidFill>
            <a:srgbClr val="2A5240"/>
          </a:solidFill>
          <a:ln/>
        </p:spPr>
      </p:sp>
      <p:sp>
        <p:nvSpPr>
          <p:cNvPr id="7" name="Text 5"/>
          <p:cNvSpPr/>
          <p:nvPr/>
        </p:nvSpPr>
        <p:spPr>
          <a:xfrm>
            <a:off x="6858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SETUP</a:t>
            </a:r>
            <a:endParaRPr lang="en-US" sz="750" dirty="0"/>
          </a:p>
        </p:txBody>
      </p:sp>
      <p:sp>
        <p:nvSpPr>
          <p:cNvPr id="8" name="Shape 6"/>
          <p:cNvSpPr/>
          <p:nvPr/>
        </p:nvSpPr>
        <p:spPr>
          <a:xfrm>
            <a:off x="1661160" y="5212080"/>
            <a:ext cx="829056" cy="73152"/>
          </a:xfrm>
          <a:prstGeom prst="rect">
            <a:avLst/>
          </a:prstGeom>
          <a:solidFill>
            <a:srgbClr val="2A5240"/>
          </a:solidFill>
          <a:ln/>
        </p:spPr>
      </p:sp>
      <p:sp>
        <p:nvSpPr>
          <p:cNvPr id="9" name="Text 7"/>
          <p:cNvSpPr/>
          <p:nvPr/>
        </p:nvSpPr>
        <p:spPr>
          <a:xfrm>
            <a:off x="15697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MODEL</a:t>
            </a:r>
            <a:endParaRPr lang="en-US" sz="750" dirty="0"/>
          </a:p>
        </p:txBody>
      </p:sp>
      <p:sp>
        <p:nvSpPr>
          <p:cNvPr id="10" name="Shape 8"/>
          <p:cNvSpPr/>
          <p:nvPr/>
        </p:nvSpPr>
        <p:spPr>
          <a:xfrm>
            <a:off x="2545080" y="5212080"/>
            <a:ext cx="829056" cy="73152"/>
          </a:xfrm>
          <a:prstGeom prst="rect">
            <a:avLst/>
          </a:prstGeom>
          <a:solidFill>
            <a:srgbClr val="2A5240"/>
          </a:solidFill>
          <a:ln/>
        </p:spPr>
      </p:sp>
      <p:sp>
        <p:nvSpPr>
          <p:cNvPr id="11" name="Text 9"/>
          <p:cNvSpPr/>
          <p:nvPr/>
        </p:nvSpPr>
        <p:spPr>
          <a:xfrm>
            <a:off x="24536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SANDBOX</a:t>
            </a:r>
            <a:endParaRPr lang="en-US" sz="750" dirty="0"/>
          </a:p>
        </p:txBody>
      </p:sp>
      <p:sp>
        <p:nvSpPr>
          <p:cNvPr id="12" name="Shape 10"/>
          <p:cNvSpPr/>
          <p:nvPr/>
        </p:nvSpPr>
        <p:spPr>
          <a:xfrm>
            <a:off x="3429000" y="5212080"/>
            <a:ext cx="829056" cy="182880"/>
          </a:xfrm>
          <a:prstGeom prst="rect">
            <a:avLst/>
          </a:prstGeom>
          <a:solidFill>
            <a:srgbClr val="8FB573"/>
          </a:solidFill>
          <a:ln/>
        </p:spPr>
      </p:sp>
      <p:sp>
        <p:nvSpPr>
          <p:cNvPr id="13" name="Text 11"/>
          <p:cNvSpPr/>
          <p:nvPr/>
        </p:nvSpPr>
        <p:spPr>
          <a:xfrm>
            <a:off x="3337560" y="5468112"/>
            <a:ext cx="1011936" cy="219456"/>
          </a:xfrm>
          <a:prstGeom prst="rect">
            <a:avLst/>
          </a:prstGeom>
          <a:noFill/>
          <a:ln/>
        </p:spPr>
        <p:txBody>
          <a:bodyPr wrap="square" lIns="0" tIns="0" rIns="0" bIns="0" rtlCol="0" anchor="ctr"/>
          <a:lstStyle/>
          <a:p>
            <a:pPr algn="ctr" indent="0" marL="0">
              <a:buNone/>
            </a:pPr>
            <a:r>
              <a:rPr lang="en-US" sz="750" b="1" dirty="0">
                <a:solidFill>
                  <a:srgbClr val="8FB573"/>
                </a:solidFill>
                <a:latin typeface="Calibri" pitchFamily="34" charset="0"/>
                <a:ea typeface="Calibri" pitchFamily="34" charset="-122"/>
                <a:cs typeface="Calibri" pitchFamily="34" charset="-120"/>
              </a:rPr>
              <a:t>EVAL</a:t>
            </a:r>
            <a:endParaRPr lang="en-US" sz="750" dirty="0"/>
          </a:p>
        </p:txBody>
      </p:sp>
      <p:sp>
        <p:nvSpPr>
          <p:cNvPr id="14" name="Shape 12"/>
          <p:cNvSpPr/>
          <p:nvPr/>
        </p:nvSpPr>
        <p:spPr>
          <a:xfrm>
            <a:off x="4312920" y="5212080"/>
            <a:ext cx="829056" cy="73152"/>
          </a:xfrm>
          <a:prstGeom prst="rect">
            <a:avLst/>
          </a:prstGeom>
          <a:solidFill>
            <a:srgbClr val="27452F"/>
          </a:solidFill>
          <a:ln/>
        </p:spPr>
      </p:sp>
      <p:sp>
        <p:nvSpPr>
          <p:cNvPr id="15" name="Text 13"/>
          <p:cNvSpPr/>
          <p:nvPr/>
        </p:nvSpPr>
        <p:spPr>
          <a:xfrm>
            <a:off x="422148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DATA</a:t>
            </a:r>
            <a:endParaRPr lang="en-US" sz="750" dirty="0"/>
          </a:p>
        </p:txBody>
      </p:sp>
      <p:sp>
        <p:nvSpPr>
          <p:cNvPr id="16" name="Shape 14"/>
          <p:cNvSpPr/>
          <p:nvPr/>
        </p:nvSpPr>
        <p:spPr>
          <a:xfrm>
            <a:off x="5196840" y="5212080"/>
            <a:ext cx="829056" cy="73152"/>
          </a:xfrm>
          <a:prstGeom prst="rect">
            <a:avLst/>
          </a:prstGeom>
          <a:solidFill>
            <a:srgbClr val="27452F"/>
          </a:solidFill>
          <a:ln/>
        </p:spPr>
      </p:sp>
      <p:sp>
        <p:nvSpPr>
          <p:cNvPr id="17" name="Text 15"/>
          <p:cNvSpPr/>
          <p:nvPr/>
        </p:nvSpPr>
        <p:spPr>
          <a:xfrm>
            <a:off x="51054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SFT</a:t>
            </a:r>
            <a:endParaRPr lang="en-US" sz="750" dirty="0"/>
          </a:p>
        </p:txBody>
      </p:sp>
      <p:sp>
        <p:nvSpPr>
          <p:cNvPr id="18" name="Shape 16"/>
          <p:cNvSpPr/>
          <p:nvPr/>
        </p:nvSpPr>
        <p:spPr>
          <a:xfrm>
            <a:off x="6080760" y="5212080"/>
            <a:ext cx="829056" cy="73152"/>
          </a:xfrm>
          <a:prstGeom prst="rect">
            <a:avLst/>
          </a:prstGeom>
          <a:solidFill>
            <a:srgbClr val="27452F"/>
          </a:solidFill>
          <a:ln/>
        </p:spPr>
      </p:sp>
      <p:sp>
        <p:nvSpPr>
          <p:cNvPr id="19" name="Text 17"/>
          <p:cNvSpPr/>
          <p:nvPr/>
        </p:nvSpPr>
        <p:spPr>
          <a:xfrm>
            <a:off x="59893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RFT</a:t>
            </a:r>
            <a:endParaRPr lang="en-US" sz="750" dirty="0"/>
          </a:p>
        </p:txBody>
      </p:sp>
      <p:sp>
        <p:nvSpPr>
          <p:cNvPr id="20" name="Shape 18"/>
          <p:cNvSpPr/>
          <p:nvPr/>
        </p:nvSpPr>
        <p:spPr>
          <a:xfrm>
            <a:off x="6964680" y="5212080"/>
            <a:ext cx="829056" cy="73152"/>
          </a:xfrm>
          <a:prstGeom prst="rect">
            <a:avLst/>
          </a:prstGeom>
          <a:solidFill>
            <a:srgbClr val="27452F"/>
          </a:solidFill>
          <a:ln/>
        </p:spPr>
      </p:sp>
      <p:sp>
        <p:nvSpPr>
          <p:cNvPr id="21" name="Text 19"/>
          <p:cNvSpPr/>
          <p:nvPr/>
        </p:nvSpPr>
        <p:spPr>
          <a:xfrm>
            <a:off x="687324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DPO</a:t>
            </a:r>
            <a:endParaRPr lang="en-US" sz="750" dirty="0"/>
          </a:p>
        </p:txBody>
      </p:sp>
      <p:sp>
        <p:nvSpPr>
          <p:cNvPr id="22" name="Shape 20"/>
          <p:cNvSpPr/>
          <p:nvPr/>
        </p:nvSpPr>
        <p:spPr>
          <a:xfrm>
            <a:off x="7848600" y="5212080"/>
            <a:ext cx="829056" cy="73152"/>
          </a:xfrm>
          <a:prstGeom prst="rect">
            <a:avLst/>
          </a:prstGeom>
          <a:solidFill>
            <a:srgbClr val="27452F"/>
          </a:solidFill>
          <a:ln/>
        </p:spPr>
      </p:sp>
      <p:sp>
        <p:nvSpPr>
          <p:cNvPr id="23" name="Text 21"/>
          <p:cNvSpPr/>
          <p:nvPr/>
        </p:nvSpPr>
        <p:spPr>
          <a:xfrm>
            <a:off x="775716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GRPO</a:t>
            </a:r>
            <a:endParaRPr lang="en-US" sz="750" dirty="0"/>
          </a:p>
        </p:txBody>
      </p:sp>
      <p:sp>
        <p:nvSpPr>
          <p:cNvPr id="24" name="Shape 22"/>
          <p:cNvSpPr/>
          <p:nvPr/>
        </p:nvSpPr>
        <p:spPr>
          <a:xfrm>
            <a:off x="8732520" y="5212080"/>
            <a:ext cx="829056" cy="73152"/>
          </a:xfrm>
          <a:prstGeom prst="rect">
            <a:avLst/>
          </a:prstGeom>
          <a:solidFill>
            <a:srgbClr val="27452F"/>
          </a:solidFill>
          <a:ln/>
        </p:spPr>
      </p:sp>
      <p:sp>
        <p:nvSpPr>
          <p:cNvPr id="25" name="Text 23"/>
          <p:cNvSpPr/>
          <p:nvPr/>
        </p:nvSpPr>
        <p:spPr>
          <a:xfrm>
            <a:off x="864108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REPAIR</a:t>
            </a:r>
            <a:endParaRPr lang="en-US" sz="750" dirty="0"/>
          </a:p>
        </p:txBody>
      </p:sp>
      <p:sp>
        <p:nvSpPr>
          <p:cNvPr id="26" name="Shape 24"/>
          <p:cNvSpPr/>
          <p:nvPr/>
        </p:nvSpPr>
        <p:spPr>
          <a:xfrm>
            <a:off x="9616440" y="5212080"/>
            <a:ext cx="829056" cy="73152"/>
          </a:xfrm>
          <a:prstGeom prst="rect">
            <a:avLst/>
          </a:prstGeom>
          <a:solidFill>
            <a:srgbClr val="27452F"/>
          </a:solidFill>
          <a:ln/>
        </p:spPr>
      </p:sp>
      <p:sp>
        <p:nvSpPr>
          <p:cNvPr id="27" name="Text 25"/>
          <p:cNvSpPr/>
          <p:nvPr/>
        </p:nvSpPr>
        <p:spPr>
          <a:xfrm>
            <a:off x="95250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MERGE</a:t>
            </a:r>
            <a:endParaRPr lang="en-US" sz="750" dirty="0"/>
          </a:p>
        </p:txBody>
      </p:sp>
      <p:sp>
        <p:nvSpPr>
          <p:cNvPr id="28" name="Shape 26"/>
          <p:cNvSpPr/>
          <p:nvPr/>
        </p:nvSpPr>
        <p:spPr>
          <a:xfrm>
            <a:off x="10500360" y="5212080"/>
            <a:ext cx="829056" cy="73152"/>
          </a:xfrm>
          <a:prstGeom prst="rect">
            <a:avLst/>
          </a:prstGeom>
          <a:solidFill>
            <a:srgbClr val="27452F"/>
          </a:solidFill>
          <a:ln/>
        </p:spPr>
      </p:sp>
      <p:sp>
        <p:nvSpPr>
          <p:cNvPr id="29" name="Text 27"/>
          <p:cNvSpPr/>
          <p:nvPr/>
        </p:nvSpPr>
        <p:spPr>
          <a:xfrm>
            <a:off x="104089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SERVE</a:t>
            </a:r>
            <a:endParaRPr lang="en-US" sz="7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44</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Why the ruler comes before the gradient</a:t>
            </a:r>
            <a:endParaRPr lang="en-US" sz="2900" dirty="0"/>
          </a:p>
        </p:txBody>
      </p:sp>
      <p:sp>
        <p:nvSpPr>
          <p:cNvPr id="4" name="Shape 2"/>
          <p:cNvSpPr/>
          <p:nvPr/>
        </p:nvSpPr>
        <p:spPr>
          <a:xfrm>
            <a:off x="502920"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You cannot improve what you cannot measure</a:t>
            </a:r>
            <a:endParaRPr lang="en-US" sz="1250" dirty="0"/>
          </a:p>
        </p:txBody>
      </p:sp>
      <p:sp>
        <p:nvSpPr>
          <p:cNvPr id="6" name="Text 4"/>
          <p:cNvSpPr/>
          <p:nvPr/>
        </p:nvSpPr>
        <p:spPr>
          <a:xfrm>
            <a:off x="722376"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Obvious, and universally ignored. Everyone wants to train on day one. The people who build eval first finish faster.</a:t>
            </a:r>
            <a:endParaRPr lang="en-US" sz="1100" dirty="0"/>
          </a:p>
        </p:txBody>
      </p:sp>
      <p:sp>
        <p:nvSpPr>
          <p:cNvPr id="7" name="Shape 5"/>
          <p:cNvSpPr/>
          <p:nvPr/>
        </p:nvSpPr>
        <p:spPr>
          <a:xfrm>
            <a:off x="4270248"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4489704" y="1426464"/>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Most 'improvements' are measurement artifacts</a:t>
            </a:r>
            <a:endParaRPr lang="en-US" sz="1250" dirty="0"/>
          </a:p>
        </p:txBody>
      </p:sp>
      <p:sp>
        <p:nvSpPr>
          <p:cNvPr id="9" name="Text 7"/>
          <p:cNvSpPr/>
          <p:nvPr/>
        </p:nvSpPr>
        <p:spPr>
          <a:xfrm>
            <a:off x="4489704"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Prompt drift, seed noise, contamination, a changed extraction regex. Without a trustworthy ruler you cannot tell these from real gains.</a:t>
            </a:r>
            <a:endParaRPr lang="en-US" sz="1100" dirty="0"/>
          </a:p>
        </p:txBody>
      </p:sp>
      <p:sp>
        <p:nvSpPr>
          <p:cNvPr id="10" name="Shape 8"/>
          <p:cNvSpPr/>
          <p:nvPr/>
        </p:nvSpPr>
        <p:spPr>
          <a:xfrm>
            <a:off x="8037576"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8257032" y="14264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verifier IS the reward function</a:t>
            </a:r>
            <a:endParaRPr lang="en-US" sz="1250" dirty="0"/>
          </a:p>
        </p:txBody>
      </p:sp>
      <p:sp>
        <p:nvSpPr>
          <p:cNvPr id="12" name="Text 10"/>
          <p:cNvSpPr/>
          <p:nvPr/>
        </p:nvSpPr>
        <p:spPr>
          <a:xfrm>
            <a:off x="8257032"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In Phase 9 this exact code becomes your GRPO reward. Building it well now is building the RL infrastructure now.</a:t>
            </a:r>
            <a:endParaRPr lang="en-US" sz="1100" dirty="0"/>
          </a:p>
        </p:txBody>
      </p:sp>
      <p:sp>
        <p:nvSpPr>
          <p:cNvPr id="13" name="Shape 11"/>
          <p:cNvSpPr/>
          <p:nvPr/>
        </p:nvSpPr>
        <p:spPr>
          <a:xfrm>
            <a:off x="502920"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22376" y="3127248"/>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It sets the honest baseline</a:t>
            </a:r>
            <a:endParaRPr lang="en-US" sz="1250" dirty="0"/>
          </a:p>
        </p:txBody>
      </p:sp>
      <p:sp>
        <p:nvSpPr>
          <p:cNvPr id="15" name="Text 13"/>
          <p:cNvSpPr/>
          <p:nvPr/>
        </p:nvSpPr>
        <p:spPr>
          <a:xfrm>
            <a:off x="722376"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Every claim in your results/ folder is 'better than X'. If X is wrong, every claim is wrong.</a:t>
            </a:r>
            <a:endParaRPr lang="en-US" sz="1100" dirty="0"/>
          </a:p>
        </p:txBody>
      </p:sp>
      <p:sp>
        <p:nvSpPr>
          <p:cNvPr id="16" name="Shape 14"/>
          <p:cNvSpPr/>
          <p:nvPr/>
        </p:nvSpPr>
        <p:spPr>
          <a:xfrm>
            <a:off x="4270248"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4489704" y="3127248"/>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It catches your bugs, not the model's</a:t>
            </a:r>
            <a:endParaRPr lang="en-US" sz="1250" dirty="0"/>
          </a:p>
        </p:txBody>
      </p:sp>
      <p:sp>
        <p:nvSpPr>
          <p:cNvPr id="18" name="Text 16"/>
          <p:cNvSpPr/>
          <p:nvPr/>
        </p:nvSpPr>
        <p:spPr>
          <a:xfrm>
            <a:off x="4489704"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Half of what an eval harness finds in month one is broken data plumbing, not model behavior.</a:t>
            </a:r>
            <a:endParaRPr lang="en-US" sz="1100" dirty="0"/>
          </a:p>
        </p:txBody>
      </p:sp>
      <p:sp>
        <p:nvSpPr>
          <p:cNvPr id="19" name="Shape 17"/>
          <p:cNvSpPr/>
          <p:nvPr/>
        </p:nvSpPr>
        <p:spPr>
          <a:xfrm>
            <a:off x="8037576"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8257032" y="312724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It makes failure legible</a:t>
            </a:r>
            <a:endParaRPr lang="en-US" sz="1250" dirty="0"/>
          </a:p>
        </p:txBody>
      </p:sp>
      <p:sp>
        <p:nvSpPr>
          <p:cNvPr id="21" name="Text 19"/>
          <p:cNvSpPr/>
          <p:nvPr/>
        </p:nvSpPr>
        <p:spPr>
          <a:xfrm>
            <a:off x="8257032"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'It got worse' is useless. 'pass@1 fell 3.2 ± 0.7 on held-out, concentrated in problems needing recursion' is actionable.</a:t>
            </a:r>
            <a:endParaRPr lang="en-US" sz="1100" dirty="0"/>
          </a:p>
        </p:txBody>
      </p:sp>
      <p:sp>
        <p:nvSpPr>
          <p:cNvPr id="22" name="Shape 20"/>
          <p:cNvSpPr/>
          <p:nvPr/>
        </p:nvSpPr>
        <p:spPr>
          <a:xfrm>
            <a:off x="502920" y="4892040"/>
            <a:ext cx="11155680" cy="566928"/>
          </a:xfrm>
          <a:prstGeom prst="roundRect">
            <a:avLst>
              <a:gd name="adj" fmla="val 9677"/>
            </a:avLst>
          </a:prstGeom>
          <a:solidFill>
            <a:srgbClr val="8FB573"/>
          </a:solidFill>
          <a:ln/>
        </p:spPr>
      </p:sp>
      <p:sp>
        <p:nvSpPr>
          <p:cNvPr id="23" name="Text 21"/>
          <p:cNvSpPr/>
          <p:nvPr/>
        </p:nvSpPr>
        <p:spPr>
          <a:xfrm>
            <a:off x="777240" y="489204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The order is not negotiable: sandbox → eval harness → baseline → data → training. Skipping ahead costs weeks.</a:t>
            </a:r>
            <a:endParaRPr lang="en-US" sz="1450" dirty="0"/>
          </a:p>
        </p:txBody>
      </p:sp>
      <p:sp>
        <p:nvSpPr>
          <p:cNvPr id="24" name="Shape 22"/>
          <p:cNvSpPr/>
          <p:nvPr/>
        </p:nvSpPr>
        <p:spPr>
          <a:xfrm>
            <a:off x="502920" y="5623560"/>
            <a:ext cx="11155680" cy="914400"/>
          </a:xfrm>
          <a:prstGeom prst="roundRect">
            <a:avLst>
              <a:gd name="adj" fmla="val 7000"/>
            </a:avLst>
          </a:prstGeom>
          <a:solidFill>
            <a:srgbClr val="1F3D2E"/>
          </a:solidFill>
          <a:ln/>
        </p:spPr>
      </p:sp>
      <p:sp>
        <p:nvSpPr>
          <p:cNvPr id="25" name="Shape 23"/>
          <p:cNvSpPr/>
          <p:nvPr/>
        </p:nvSpPr>
        <p:spPr>
          <a:xfrm>
            <a:off x="740664" y="5806440"/>
            <a:ext cx="292608" cy="292608"/>
          </a:xfrm>
          <a:prstGeom prst="ellipse">
            <a:avLst/>
          </a:prstGeom>
          <a:solidFill>
            <a:srgbClr val="1F3D2E"/>
          </a:solidFill>
          <a:ln/>
        </p:spPr>
      </p:sp>
      <p:sp>
        <p:nvSpPr>
          <p:cNvPr id="26" name="Text 24"/>
          <p:cNvSpPr/>
          <p:nvPr/>
        </p:nvSpPr>
        <p:spPr>
          <a:xfrm>
            <a:off x="740664" y="58064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7" name="Text 25"/>
          <p:cNvSpPr/>
          <p:nvPr/>
        </p:nvSpPr>
        <p:spPr>
          <a:xfrm>
            <a:off x="1133856" y="58247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8" name="Text 26"/>
          <p:cNvSpPr/>
          <p:nvPr/>
        </p:nvSpPr>
        <p:spPr>
          <a:xfrm>
            <a:off x="740664" y="6199632"/>
            <a:ext cx="10680192" cy="1645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trained for eleven days before I had a trustworthy eval. Every result from that period went in the bin — not because the training was wrong, but because I could not prove anything about it after the fact.</a:t>
            </a:r>
            <a:endParaRPr lang="en-US" sz="1150" dirty="0"/>
          </a:p>
        </p:txBody>
      </p:sp>
      <p:sp>
        <p:nvSpPr>
          <p:cNvPr id="29" name="Text 2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45</a:t>
            </a:r>
            <a:endParaRPr lang="en-US" sz="9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pass@k — the metric, derived</a:t>
            </a:r>
            <a:endParaRPr lang="en-US" sz="2900" dirty="0"/>
          </a:p>
        </p:txBody>
      </p:sp>
      <p:sp>
        <p:nvSpPr>
          <p:cNvPr id="4" name="Text 2"/>
          <p:cNvSpPr/>
          <p:nvPr/>
        </p:nvSpPr>
        <p:spPr>
          <a:xfrm>
            <a:off x="502920" y="1280160"/>
            <a:ext cx="11155680" cy="594360"/>
          </a:xfrm>
          <a:prstGeom prst="rect">
            <a:avLst/>
          </a:prstGeom>
          <a:noFill/>
          <a:ln/>
        </p:spPr>
        <p:txBody>
          <a:bodyPr wrap="square" lIns="0" tIns="0" rIns="0" bIns="0" rtlCol="0" anchor="t"/>
          <a:lstStyle/>
          <a:p>
            <a:pPr indent="0" marL="0">
              <a:buNone/>
            </a:pPr>
            <a:r>
              <a:rPr lang="en-US" sz="1300" dirty="0">
                <a:solidFill>
                  <a:srgbClr val="16211B"/>
                </a:solidFill>
                <a:latin typeface="Calibri" pitchFamily="34" charset="0"/>
                <a:ea typeface="Calibri" pitchFamily="34" charset="-122"/>
                <a:cs typeface="Calibri" pitchFamily="34" charset="-120"/>
              </a:rPr>
              <a:t>pass@k is the probability that at least one of k sampled solutions passes all tests. It is not a percentage of problems solved — it is an estimate of a probability, and the way you estimate it matters enormously.</a:t>
            </a:r>
            <a:endParaRPr lang="en-US" sz="1300" dirty="0"/>
          </a:p>
        </p:txBody>
      </p:sp>
      <p:sp>
        <p:nvSpPr>
          <p:cNvPr id="5" name="Shape 3"/>
          <p:cNvSpPr/>
          <p:nvPr/>
        </p:nvSpPr>
        <p:spPr>
          <a:xfrm>
            <a:off x="502920" y="1965960"/>
            <a:ext cx="6035040" cy="2286000"/>
          </a:xfrm>
          <a:prstGeom prst="roundRect">
            <a:avLst>
              <a:gd name="adj" fmla="val 2400"/>
            </a:avLst>
          </a:prstGeom>
          <a:solidFill>
            <a:srgbClr val="0F1F17"/>
          </a:solidFill>
          <a:ln/>
        </p:spPr>
      </p:sp>
      <p:sp>
        <p:nvSpPr>
          <p:cNvPr id="6" name="Text 4"/>
          <p:cNvSpPr/>
          <p:nvPr/>
        </p:nvSpPr>
        <p:spPr>
          <a:xfrm>
            <a:off x="722376" y="2112264"/>
            <a:ext cx="559612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UNBIASED pass@k</a:t>
            </a:r>
            <a:endParaRPr lang="en-US" sz="950" dirty="0"/>
          </a:p>
        </p:txBody>
      </p:sp>
      <p:sp>
        <p:nvSpPr>
          <p:cNvPr id="7" name="Text 5"/>
          <p:cNvSpPr/>
          <p:nvPr/>
        </p:nvSpPr>
        <p:spPr>
          <a:xfrm>
            <a:off x="722376" y="2386584"/>
            <a:ext cx="5596128" cy="171907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The unbiased estimator (Chen et al., Codex paper)</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n = samples generated per problem (n &gt;&gt; k)</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c = number of those n that passed</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def pass_at_k(n, c, k):</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if n - c &lt; k:</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return 1.0</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return 1.0 - np.prod(</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1.0 - k / np.arange(n - c + 1, n + 1)</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endParaRPr lang="en-US" sz="1000" dirty="0"/>
          </a:p>
          <a:p>
            <a:pPr indent="0" marL="0">
              <a:lnSpc>
                <a:spcPct val="112000"/>
              </a:lnSpc>
              <a:buNone/>
            </a:pPr>
            <a:r>
              <a:rPr lang="en-US" sz="1000" dirty="0">
                <a:solidFill>
                  <a:srgbClr val="6B7A70"/>
                </a:solidFill>
                <a:latin typeface="Courier New" pitchFamily="34" charset="0"/>
                <a:ea typeface="Courier New" pitchFamily="34" charset="-122"/>
                <a:cs typeface="Courier New" pitchFamily="34" charset="-120"/>
              </a:rPr>
              <a:t># Then average pass_at_k over all problems.</a:t>
            </a:r>
            <a:endParaRPr lang="en-US" sz="1000" dirty="0"/>
          </a:p>
        </p:txBody>
      </p:sp>
      <p:sp>
        <p:nvSpPr>
          <p:cNvPr id="8" name="Shape 6"/>
          <p:cNvSpPr/>
          <p:nvPr/>
        </p:nvSpPr>
        <p:spPr>
          <a:xfrm>
            <a:off x="6720840" y="1965960"/>
            <a:ext cx="4937760" cy="896112"/>
          </a:xfrm>
          <a:prstGeom prst="roundRect">
            <a:avLst>
              <a:gd name="adj" fmla="val 714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6940296" y="2112264"/>
            <a:ext cx="449884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Why not just sample k and check?</a:t>
            </a:r>
            <a:endParaRPr lang="en-US" sz="1250" dirty="0"/>
          </a:p>
        </p:txBody>
      </p:sp>
      <p:sp>
        <p:nvSpPr>
          <p:cNvPr id="10" name="Text 8"/>
          <p:cNvSpPr/>
          <p:nvPr/>
        </p:nvSpPr>
        <p:spPr>
          <a:xfrm>
            <a:off x="6940296" y="2423160"/>
            <a:ext cx="4498848" cy="29260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Because with k=1 you get a Bernoulli sample per problem — enormous variance. The estimator uses all n samples to estimate the same quantity with far less noise.</a:t>
            </a:r>
            <a:endParaRPr lang="en-US" sz="1100" dirty="0"/>
          </a:p>
        </p:txBody>
      </p:sp>
      <p:sp>
        <p:nvSpPr>
          <p:cNvPr id="11" name="Shape 9"/>
          <p:cNvSpPr/>
          <p:nvPr/>
        </p:nvSpPr>
        <p:spPr>
          <a:xfrm>
            <a:off x="6720840" y="2953512"/>
            <a:ext cx="4937760" cy="896112"/>
          </a:xfrm>
          <a:prstGeom prst="roundRect">
            <a:avLst>
              <a:gd name="adj" fmla="val 714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10"/>
          <p:cNvSpPr/>
          <p:nvPr/>
        </p:nvSpPr>
        <p:spPr>
          <a:xfrm>
            <a:off x="6940296" y="3099816"/>
            <a:ext cx="449884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Typical settings</a:t>
            </a:r>
            <a:endParaRPr lang="en-US" sz="1250" dirty="0"/>
          </a:p>
        </p:txBody>
      </p:sp>
      <p:sp>
        <p:nvSpPr>
          <p:cNvPr id="13" name="Text 11"/>
          <p:cNvSpPr/>
          <p:nvPr/>
        </p:nvSpPr>
        <p:spPr>
          <a:xfrm>
            <a:off x="6940296" y="3410712"/>
            <a:ext cx="4498848" cy="29260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n = 20 or 50, then report pass@1, pass@5, pass@10 from the same generation run. One expensive generation, three metrics.</a:t>
            </a:r>
            <a:endParaRPr lang="en-US" sz="1100" dirty="0"/>
          </a:p>
        </p:txBody>
      </p:sp>
      <p:sp>
        <p:nvSpPr>
          <p:cNvPr id="14" name="Shape 12"/>
          <p:cNvSpPr/>
          <p:nvPr/>
        </p:nvSpPr>
        <p:spPr>
          <a:xfrm>
            <a:off x="6720840" y="3941064"/>
            <a:ext cx="4937760" cy="896112"/>
          </a:xfrm>
          <a:prstGeom prst="roundRect">
            <a:avLst>
              <a:gd name="adj" fmla="val 714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3"/>
          <p:cNvSpPr/>
          <p:nvPr/>
        </p:nvSpPr>
        <p:spPr>
          <a:xfrm>
            <a:off x="6940296" y="4087368"/>
            <a:ext cx="449884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pass@1 with n=1 is not pass@1</a:t>
            </a:r>
            <a:endParaRPr lang="en-US" sz="1250" dirty="0"/>
          </a:p>
        </p:txBody>
      </p:sp>
      <p:sp>
        <p:nvSpPr>
          <p:cNvPr id="16" name="Text 14"/>
          <p:cNvSpPr/>
          <p:nvPr/>
        </p:nvSpPr>
        <p:spPr>
          <a:xfrm>
            <a:off x="6940296" y="4398264"/>
            <a:ext cx="4498848" cy="29260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It is a single coin flip. People report it constantly and it is why their numbers jump around by 4 points between runs.</a:t>
            </a:r>
            <a:endParaRPr lang="en-US" sz="1100" dirty="0"/>
          </a:p>
        </p:txBody>
      </p:sp>
      <p:sp>
        <p:nvSpPr>
          <p:cNvPr id="17" name="Shape 15"/>
          <p:cNvSpPr/>
          <p:nvPr/>
        </p:nvSpPr>
        <p:spPr>
          <a:xfrm>
            <a:off x="6720840" y="4928616"/>
            <a:ext cx="4937760" cy="896112"/>
          </a:xfrm>
          <a:prstGeom prst="roundRect">
            <a:avLst>
              <a:gd name="adj" fmla="val 714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Text 16"/>
          <p:cNvSpPr/>
          <p:nvPr/>
        </p:nvSpPr>
        <p:spPr>
          <a:xfrm>
            <a:off x="6940296" y="5074920"/>
            <a:ext cx="449884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Temperature interacts</a:t>
            </a:r>
            <a:endParaRPr lang="en-US" sz="1250" dirty="0"/>
          </a:p>
        </p:txBody>
      </p:sp>
      <p:sp>
        <p:nvSpPr>
          <p:cNvPr id="19" name="Text 17"/>
          <p:cNvSpPr/>
          <p:nvPr/>
        </p:nvSpPr>
        <p:spPr>
          <a:xfrm>
            <a:off x="6940296" y="5385816"/>
            <a:ext cx="4498848" cy="29260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pass@1 is usually reported greedy or low-temp; pass@10 benefits from higher temperature. Report the temperature or the number is meaningless.</a:t>
            </a:r>
            <a:endParaRPr lang="en-US" sz="1100" dirty="0"/>
          </a:p>
        </p:txBody>
      </p:sp>
      <p:sp>
        <p:nvSpPr>
          <p:cNvPr id="20" name="Text 1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46</a:t>
            </a:r>
            <a:endParaRPr lang="en-US" sz="9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What pass@k does and does not tell you</a:t>
            </a:r>
            <a:endParaRPr lang="en-US" sz="2900" dirty="0"/>
          </a:p>
        </p:txBody>
      </p:sp>
      <p:sp>
        <p:nvSpPr>
          <p:cNvPr id="4" name="Shape 2"/>
          <p:cNvSpPr/>
          <p:nvPr/>
        </p:nvSpPr>
        <p:spPr>
          <a:xfrm>
            <a:off x="502920" y="1280160"/>
            <a:ext cx="5486400" cy="2651760"/>
          </a:xfrm>
          <a:prstGeom prst="roundRect">
            <a:avLst>
              <a:gd name="adj" fmla="val 241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pass@1 RISING MEANS</a:t>
            </a:r>
            <a:endParaRPr lang="en-US" sz="1250" dirty="0"/>
          </a:p>
        </p:txBody>
      </p:sp>
      <p:sp>
        <p:nvSpPr>
          <p:cNvPr id="6" name="Text 4"/>
          <p:cNvSpPr/>
          <p:nvPr/>
        </p:nvSpPr>
        <p:spPr>
          <a:xfrm>
            <a:off x="758952" y="1810512"/>
            <a:ext cx="4974336" cy="19568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The model's most likely output is more often correct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Genuine capability gain, usually</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The thing you care about for a single-shot assistant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The metric to optimize in SFT, DPO, and GRPO</a:t>
            </a:r>
            <a:endParaRPr lang="en-US" sz="1150" dirty="0"/>
          </a:p>
        </p:txBody>
      </p:sp>
      <p:sp>
        <p:nvSpPr>
          <p:cNvPr id="7" name="Shape 5"/>
          <p:cNvSpPr/>
          <p:nvPr/>
        </p:nvSpPr>
        <p:spPr>
          <a:xfrm>
            <a:off x="6172200" y="1280160"/>
            <a:ext cx="5486400" cy="2651760"/>
          </a:xfrm>
          <a:prstGeom prst="roundRect">
            <a:avLst>
              <a:gd name="adj" fmla="val 241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pass@10 RISING ALONE MEANS</a:t>
            </a:r>
            <a:endParaRPr lang="en-US" sz="1250" dirty="0"/>
          </a:p>
        </p:txBody>
      </p:sp>
      <p:sp>
        <p:nvSpPr>
          <p:cNvPr id="9" name="Text 7"/>
          <p:cNvSpPr/>
          <p:nvPr/>
        </p:nvSpPr>
        <p:spPr>
          <a:xfrm>
            <a:off x="6428232" y="1810512"/>
            <a:ext cx="4974336" cy="19568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Somewhere in ten tries there is a correct answer</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Often just increased DIVERSITY, not increased skill</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Can rise while pass@1 falls — a classic false positive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Only useful if you have a verifier at inference time</a:t>
            </a:r>
            <a:endParaRPr lang="en-US" sz="1150" dirty="0"/>
          </a:p>
        </p:txBody>
      </p:sp>
      <p:sp>
        <p:nvSpPr>
          <p:cNvPr id="10" name="Shape 8"/>
          <p:cNvSpPr/>
          <p:nvPr/>
        </p:nvSpPr>
        <p:spPr>
          <a:xfrm>
            <a:off x="502920" y="4160520"/>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9"/>
          <p:cNvSpPr/>
          <p:nvPr/>
        </p:nvSpPr>
        <p:spPr>
          <a:xfrm>
            <a:off x="502920" y="4160520"/>
            <a:ext cx="91440" cy="621792"/>
          </a:xfrm>
          <a:prstGeom prst="rect">
            <a:avLst/>
          </a:prstGeom>
          <a:solidFill>
            <a:srgbClr val="A8482A"/>
          </a:solidFill>
          <a:ln/>
        </p:spPr>
      </p:sp>
      <p:sp>
        <p:nvSpPr>
          <p:cNvPr id="12" name="Text 10"/>
          <p:cNvSpPr/>
          <p:nvPr/>
        </p:nvSpPr>
        <p:spPr>
          <a:xfrm>
            <a:off x="822960" y="4270248"/>
            <a:ext cx="21945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The diversity trap</a:t>
            </a:r>
            <a:endParaRPr lang="en-US" sz="1250" dirty="0"/>
          </a:p>
        </p:txBody>
      </p:sp>
      <p:sp>
        <p:nvSpPr>
          <p:cNvPr id="13" name="Text 11"/>
          <p:cNvSpPr/>
          <p:nvPr/>
        </p:nvSpPr>
        <p:spPr>
          <a:xfrm>
            <a:off x="822960" y="4562856"/>
            <a:ext cx="21945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pass@10 up, pass@1 flat</a:t>
            </a:r>
            <a:endParaRPr lang="en-US" sz="950" dirty="0"/>
          </a:p>
        </p:txBody>
      </p:sp>
      <p:sp>
        <p:nvSpPr>
          <p:cNvPr id="14" name="Text 12"/>
          <p:cNvSpPr/>
          <p:nvPr/>
        </p:nvSpPr>
        <p:spPr>
          <a:xfrm>
            <a:off x="3246120" y="4251960"/>
            <a:ext cx="841248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You made the model less certain, not more capable. Common after high-temperature RFT. Always report both.</a:t>
            </a:r>
            <a:endParaRPr lang="en-US" sz="1180" dirty="0"/>
          </a:p>
        </p:txBody>
      </p:sp>
      <p:sp>
        <p:nvSpPr>
          <p:cNvPr id="15" name="Shape 13"/>
          <p:cNvSpPr/>
          <p:nvPr/>
        </p:nvSpPr>
        <p:spPr>
          <a:xfrm>
            <a:off x="502920" y="4873752"/>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4"/>
          <p:cNvSpPr/>
          <p:nvPr/>
        </p:nvSpPr>
        <p:spPr>
          <a:xfrm>
            <a:off x="502920" y="4873752"/>
            <a:ext cx="91440" cy="621792"/>
          </a:xfrm>
          <a:prstGeom prst="rect">
            <a:avLst/>
          </a:prstGeom>
          <a:solidFill>
            <a:srgbClr val="D98E32"/>
          </a:solidFill>
          <a:ln/>
        </p:spPr>
      </p:sp>
      <p:sp>
        <p:nvSpPr>
          <p:cNvPr id="17" name="Text 15"/>
          <p:cNvSpPr/>
          <p:nvPr/>
        </p:nvSpPr>
        <p:spPr>
          <a:xfrm>
            <a:off x="822960" y="4983480"/>
            <a:ext cx="21945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The sharpening effect</a:t>
            </a:r>
            <a:endParaRPr lang="en-US" sz="1250" dirty="0"/>
          </a:p>
        </p:txBody>
      </p:sp>
      <p:sp>
        <p:nvSpPr>
          <p:cNvPr id="18" name="Text 16"/>
          <p:cNvSpPr/>
          <p:nvPr/>
        </p:nvSpPr>
        <p:spPr>
          <a:xfrm>
            <a:off x="822960" y="5276088"/>
            <a:ext cx="21945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pass@1 up, pass@10 down</a:t>
            </a:r>
            <a:endParaRPr lang="en-US" sz="950" dirty="0"/>
          </a:p>
        </p:txBody>
      </p:sp>
      <p:sp>
        <p:nvSpPr>
          <p:cNvPr id="19" name="Text 17"/>
          <p:cNvSpPr/>
          <p:nvPr/>
        </p:nvSpPr>
        <p:spPr>
          <a:xfrm>
            <a:off x="3246120" y="4965192"/>
            <a:ext cx="841248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The model concentrated probability on its best answer. Usually good for deployment, bad for search-based inference.</a:t>
            </a:r>
            <a:endParaRPr lang="en-US" sz="1180" dirty="0"/>
          </a:p>
        </p:txBody>
      </p:sp>
      <p:sp>
        <p:nvSpPr>
          <p:cNvPr id="20" name="Shape 18"/>
          <p:cNvSpPr/>
          <p:nvPr/>
        </p:nvSpPr>
        <p:spPr>
          <a:xfrm>
            <a:off x="502920" y="5586984"/>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Shape 19"/>
          <p:cNvSpPr/>
          <p:nvPr/>
        </p:nvSpPr>
        <p:spPr>
          <a:xfrm>
            <a:off x="502920" y="5586984"/>
            <a:ext cx="91440" cy="621792"/>
          </a:xfrm>
          <a:prstGeom prst="rect">
            <a:avLst/>
          </a:prstGeom>
          <a:solidFill>
            <a:srgbClr val="8FB573"/>
          </a:solidFill>
          <a:ln/>
        </p:spPr>
      </p:sp>
      <p:sp>
        <p:nvSpPr>
          <p:cNvPr id="22" name="Text 20"/>
          <p:cNvSpPr/>
          <p:nvPr/>
        </p:nvSpPr>
        <p:spPr>
          <a:xfrm>
            <a:off x="822960" y="5696712"/>
            <a:ext cx="21945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Both up</a:t>
            </a:r>
            <a:endParaRPr lang="en-US" sz="1250" dirty="0"/>
          </a:p>
        </p:txBody>
      </p:sp>
      <p:sp>
        <p:nvSpPr>
          <p:cNvPr id="23" name="Text 21"/>
          <p:cNvSpPr/>
          <p:nvPr/>
        </p:nvSpPr>
        <p:spPr>
          <a:xfrm>
            <a:off x="822960" y="5989320"/>
            <a:ext cx="21945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the real win</a:t>
            </a:r>
            <a:endParaRPr lang="en-US" sz="950" dirty="0"/>
          </a:p>
        </p:txBody>
      </p:sp>
      <p:sp>
        <p:nvSpPr>
          <p:cNvPr id="24" name="Text 22"/>
          <p:cNvSpPr/>
          <p:nvPr/>
        </p:nvSpPr>
        <p:spPr>
          <a:xfrm>
            <a:off x="3246120" y="5678424"/>
            <a:ext cx="841248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Genuine capability improvement. Rarer than you would like, and worth celebrating when the seeds agree.</a:t>
            </a:r>
            <a:endParaRPr lang="en-US" sz="1180" dirty="0"/>
          </a:p>
        </p:txBody>
      </p:sp>
      <p:sp>
        <p:nvSpPr>
          <p:cNvPr id="25" name="Text 2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47</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HumanEval — the standard, and its real flaws</a:t>
            </a:r>
            <a:endParaRPr lang="en-US" sz="2900" dirty="0"/>
          </a:p>
        </p:txBody>
      </p:sp>
      <p:sp>
        <p:nvSpPr>
          <p:cNvPr id="4" name="Shape 2"/>
          <p:cNvSpPr/>
          <p:nvPr/>
        </p:nvSpPr>
        <p:spPr>
          <a:xfrm>
            <a:off x="502920"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What it is</a:t>
            </a:r>
            <a:endParaRPr lang="en-US" sz="1250" dirty="0"/>
          </a:p>
        </p:txBody>
      </p:sp>
      <p:sp>
        <p:nvSpPr>
          <p:cNvPr id="6" name="Text 4"/>
          <p:cNvSpPr/>
          <p:nvPr/>
        </p:nvSpPr>
        <p:spPr>
          <a:xfrm>
            <a:off x="722376"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164 hand-written Python problems: a function signature, a docstring, and hidden unit tests. Released with the Codex paper in 2021.</a:t>
            </a:r>
            <a:endParaRPr lang="en-US" sz="1100" dirty="0"/>
          </a:p>
        </p:txBody>
      </p:sp>
      <p:sp>
        <p:nvSpPr>
          <p:cNvPr id="7" name="Shape 5"/>
          <p:cNvSpPr/>
          <p:nvPr/>
        </p:nvSpPr>
        <p:spPr>
          <a:xfrm>
            <a:off x="4270248"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4489704" y="142646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Why everyone uses it</a:t>
            </a:r>
            <a:endParaRPr lang="en-US" sz="1250" dirty="0"/>
          </a:p>
        </p:txBody>
      </p:sp>
      <p:sp>
        <p:nvSpPr>
          <p:cNvPr id="9" name="Text 7"/>
          <p:cNvSpPr/>
          <p:nvPr/>
        </p:nvSpPr>
        <p:spPr>
          <a:xfrm>
            <a:off x="4489704"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It is small, fast, universally reported, and every paper quotes it. Comparability is its main virtue.</a:t>
            </a:r>
            <a:endParaRPr lang="en-US" sz="1100" dirty="0"/>
          </a:p>
        </p:txBody>
      </p:sp>
      <p:sp>
        <p:nvSpPr>
          <p:cNvPr id="10" name="Shape 8"/>
          <p:cNvSpPr/>
          <p:nvPr/>
        </p:nvSpPr>
        <p:spPr>
          <a:xfrm>
            <a:off x="8037576"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8257032" y="1426464"/>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Flaw 1 — it is tiny</a:t>
            </a:r>
            <a:endParaRPr lang="en-US" sz="1250" dirty="0"/>
          </a:p>
        </p:txBody>
      </p:sp>
      <p:sp>
        <p:nvSpPr>
          <p:cNvPr id="12" name="Text 10"/>
          <p:cNvSpPr/>
          <p:nvPr/>
        </p:nvSpPr>
        <p:spPr>
          <a:xfrm>
            <a:off x="8257032"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164 problems means ±3 points is noise. Papers report differences of 1.2 points as meaningful. They are not.</a:t>
            </a:r>
            <a:endParaRPr lang="en-US" sz="1100" dirty="0"/>
          </a:p>
        </p:txBody>
      </p:sp>
      <p:sp>
        <p:nvSpPr>
          <p:cNvPr id="13" name="Shape 11"/>
          <p:cNvSpPr/>
          <p:nvPr/>
        </p:nvSpPr>
        <p:spPr>
          <a:xfrm>
            <a:off x="502920"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22376" y="3127248"/>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Flaw 2 — weak tests</a:t>
            </a:r>
            <a:endParaRPr lang="en-US" sz="1250" dirty="0"/>
          </a:p>
        </p:txBody>
      </p:sp>
      <p:sp>
        <p:nvSpPr>
          <p:cNvPr id="15" name="Text 13"/>
          <p:cNvSpPr/>
          <p:nvPr/>
        </p:nvSpPr>
        <p:spPr>
          <a:xfrm>
            <a:off x="722376"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original tests are shallow. Many wrong solutions pass. This is precisely what EvalPlus was built to fix.</a:t>
            </a:r>
            <a:endParaRPr lang="en-US" sz="1100" dirty="0"/>
          </a:p>
        </p:txBody>
      </p:sp>
      <p:sp>
        <p:nvSpPr>
          <p:cNvPr id="16" name="Shape 14"/>
          <p:cNvSpPr/>
          <p:nvPr/>
        </p:nvSpPr>
        <p:spPr>
          <a:xfrm>
            <a:off x="4270248"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4489704" y="3127248"/>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Flaw 3 — saturated and contaminated</a:t>
            </a:r>
            <a:endParaRPr lang="en-US" sz="1250" dirty="0"/>
          </a:p>
        </p:txBody>
      </p:sp>
      <p:sp>
        <p:nvSpPr>
          <p:cNvPr id="18" name="Text 16"/>
          <p:cNvSpPr/>
          <p:nvPr/>
        </p:nvSpPr>
        <p:spPr>
          <a:xfrm>
            <a:off x="4489704"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It has been in training corpora for years. High scores may reflect memorization rather than capability.</a:t>
            </a:r>
            <a:endParaRPr lang="en-US" sz="1100" dirty="0"/>
          </a:p>
        </p:txBody>
      </p:sp>
      <p:sp>
        <p:nvSpPr>
          <p:cNvPr id="19" name="Shape 17"/>
          <p:cNvSpPr/>
          <p:nvPr/>
        </p:nvSpPr>
        <p:spPr>
          <a:xfrm>
            <a:off x="8037576"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8257032" y="3127248"/>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Flaw 4 — narrow</a:t>
            </a:r>
            <a:endParaRPr lang="en-US" sz="1250" dirty="0"/>
          </a:p>
        </p:txBody>
      </p:sp>
      <p:sp>
        <p:nvSpPr>
          <p:cNvPr id="21" name="Text 19"/>
          <p:cNvSpPr/>
          <p:nvPr/>
        </p:nvSpPr>
        <p:spPr>
          <a:xfrm>
            <a:off x="8257032"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Short, self-contained, single-function Python. Says almost nothing about real software work.</a:t>
            </a:r>
            <a:endParaRPr lang="en-US" sz="1100" dirty="0"/>
          </a:p>
        </p:txBody>
      </p:sp>
      <p:sp>
        <p:nvSpPr>
          <p:cNvPr id="22" name="Shape 20"/>
          <p:cNvSpPr/>
          <p:nvPr/>
        </p:nvSpPr>
        <p:spPr>
          <a:xfrm>
            <a:off x="502920" y="4892040"/>
            <a:ext cx="11155680" cy="566928"/>
          </a:xfrm>
          <a:prstGeom prst="roundRect">
            <a:avLst>
              <a:gd name="adj" fmla="val 9677"/>
            </a:avLst>
          </a:prstGeom>
          <a:solidFill>
            <a:srgbClr val="D98E32"/>
          </a:solidFill>
          <a:ln/>
        </p:spPr>
      </p:sp>
      <p:sp>
        <p:nvSpPr>
          <p:cNvPr id="23" name="Text 21"/>
          <p:cNvSpPr/>
          <p:nvPr/>
        </p:nvSpPr>
        <p:spPr>
          <a:xfrm>
            <a:off x="777240" y="489204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Use it because it is comparable, not because it is good. Never let it be your only metric.</a:t>
            </a:r>
            <a:endParaRPr lang="en-US" sz="1450" dirty="0"/>
          </a:p>
        </p:txBody>
      </p:sp>
      <p:sp>
        <p:nvSpPr>
          <p:cNvPr id="24" name="Shape 22"/>
          <p:cNvSpPr/>
          <p:nvPr/>
        </p:nvSpPr>
        <p:spPr>
          <a:xfrm>
            <a:off x="502920" y="5623560"/>
            <a:ext cx="11155680" cy="914400"/>
          </a:xfrm>
          <a:prstGeom prst="roundRect">
            <a:avLst>
              <a:gd name="adj" fmla="val 7000"/>
            </a:avLst>
          </a:prstGeom>
          <a:solidFill>
            <a:srgbClr val="1F3D2E"/>
          </a:solidFill>
          <a:ln/>
        </p:spPr>
      </p:sp>
      <p:sp>
        <p:nvSpPr>
          <p:cNvPr id="25" name="Shape 23"/>
          <p:cNvSpPr/>
          <p:nvPr/>
        </p:nvSpPr>
        <p:spPr>
          <a:xfrm>
            <a:off x="740664" y="5806440"/>
            <a:ext cx="292608" cy="292608"/>
          </a:xfrm>
          <a:prstGeom prst="ellipse">
            <a:avLst/>
          </a:prstGeom>
          <a:solidFill>
            <a:srgbClr val="1F3D2E"/>
          </a:solidFill>
          <a:ln/>
        </p:spPr>
      </p:sp>
      <p:sp>
        <p:nvSpPr>
          <p:cNvPr id="26" name="Text 24"/>
          <p:cNvSpPr/>
          <p:nvPr/>
        </p:nvSpPr>
        <p:spPr>
          <a:xfrm>
            <a:off x="740664" y="58064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7" name="Text 25"/>
          <p:cNvSpPr/>
          <p:nvPr/>
        </p:nvSpPr>
        <p:spPr>
          <a:xfrm>
            <a:off x="1133856" y="58247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8" name="Text 26"/>
          <p:cNvSpPr/>
          <p:nvPr/>
        </p:nvSpPr>
        <p:spPr>
          <a:xfrm>
            <a:off x="740664" y="6199632"/>
            <a:ext cx="10680192" cy="1645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164 problems. One problem is 0.61 points. When you see a paper claiming a 1-point HumanEval improvement, they are claiming they solved 1.6 more problems — which is well inside seed noise.</a:t>
            </a:r>
            <a:endParaRPr lang="en-US" sz="1150" dirty="0"/>
          </a:p>
        </p:txBody>
      </p:sp>
      <p:sp>
        <p:nvSpPr>
          <p:cNvPr id="29" name="Text 2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48</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EvalPlus — why the + matters more than the benchmark</a:t>
            </a:r>
            <a:endParaRPr lang="en-US" sz="2900" dirty="0"/>
          </a:p>
        </p:txBody>
      </p:sp>
      <p:sp>
        <p:nvSpPr>
          <p:cNvPr id="4" name="Shape 2"/>
          <p:cNvSpPr/>
          <p:nvPr/>
        </p:nvSpPr>
        <p:spPr>
          <a:xfrm>
            <a:off x="502920" y="1280160"/>
            <a:ext cx="2528316"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667512" y="1417320"/>
            <a:ext cx="2199132" cy="256032"/>
          </a:xfrm>
          <a:prstGeom prst="rect">
            <a:avLst/>
          </a:prstGeom>
          <a:noFill/>
          <a:ln/>
        </p:spPr>
        <p:txBody>
          <a:bodyPr wrap="square" lIns="0" tIns="0" rIns="0" bIns="0" rtlCol="0" anchor="ctr"/>
          <a:lstStyle/>
          <a:p>
            <a:pPr indent="0" marL="0">
              <a:buNone/>
            </a:pPr>
            <a:r>
              <a:rPr lang="en-US" sz="1100" b="1" spc="120" kern="0" dirty="0">
                <a:solidFill>
                  <a:srgbClr val="D98E32"/>
                </a:solidFill>
                <a:latin typeface="Calibri" pitchFamily="34" charset="0"/>
                <a:ea typeface="Calibri" pitchFamily="34" charset="-122"/>
                <a:cs typeface="Calibri" pitchFamily="34" charset="-120"/>
              </a:rPr>
              <a:t>ORIGINAL</a:t>
            </a:r>
            <a:endParaRPr lang="en-US" sz="1100" dirty="0"/>
          </a:p>
        </p:txBody>
      </p:sp>
      <p:sp>
        <p:nvSpPr>
          <p:cNvPr id="6" name="Text 4"/>
          <p:cNvSpPr/>
          <p:nvPr/>
        </p:nvSpPr>
        <p:spPr>
          <a:xfrm>
            <a:off x="667512" y="1700784"/>
            <a:ext cx="2199132" cy="100584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HumanEval ships ~7.7 test cases per problem on average. Shallow coverage.</a:t>
            </a:r>
            <a:endParaRPr lang="en-US" sz="1050" dirty="0"/>
          </a:p>
        </p:txBody>
      </p:sp>
      <p:sp>
        <p:nvSpPr>
          <p:cNvPr id="7" name="Text 5"/>
          <p:cNvSpPr/>
          <p:nvPr/>
        </p:nvSpPr>
        <p:spPr>
          <a:xfrm>
            <a:off x="3031236" y="1280160"/>
            <a:ext cx="347472" cy="155448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8" name="Shape 6"/>
          <p:cNvSpPr/>
          <p:nvPr/>
        </p:nvSpPr>
        <p:spPr>
          <a:xfrm>
            <a:off x="3378708" y="1280160"/>
            <a:ext cx="2528316"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3543300" y="1417320"/>
            <a:ext cx="2199132"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AUGMENT</a:t>
            </a:r>
            <a:endParaRPr lang="en-US" sz="1100" dirty="0"/>
          </a:p>
        </p:txBody>
      </p:sp>
      <p:sp>
        <p:nvSpPr>
          <p:cNvPr id="10" name="Text 8"/>
          <p:cNvSpPr/>
          <p:nvPr/>
        </p:nvSpPr>
        <p:spPr>
          <a:xfrm>
            <a:off x="3543300" y="1700784"/>
            <a:ext cx="2199132" cy="100584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EvalPlus generates ~80x more tests via LLM seeding plus type-aware mutation.</a:t>
            </a:r>
            <a:endParaRPr lang="en-US" sz="1050" dirty="0"/>
          </a:p>
        </p:txBody>
      </p:sp>
      <p:sp>
        <p:nvSpPr>
          <p:cNvPr id="11" name="Text 9"/>
          <p:cNvSpPr/>
          <p:nvPr/>
        </p:nvSpPr>
        <p:spPr>
          <a:xfrm>
            <a:off x="5907024" y="1280160"/>
            <a:ext cx="347472" cy="155448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2" name="Shape 10"/>
          <p:cNvSpPr/>
          <p:nvPr/>
        </p:nvSpPr>
        <p:spPr>
          <a:xfrm>
            <a:off x="6254496" y="1280160"/>
            <a:ext cx="2528316"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Text 11"/>
          <p:cNvSpPr/>
          <p:nvPr/>
        </p:nvSpPr>
        <p:spPr>
          <a:xfrm>
            <a:off x="6419088" y="1417320"/>
            <a:ext cx="2199132"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RESULT</a:t>
            </a:r>
            <a:endParaRPr lang="en-US" sz="1100" dirty="0"/>
          </a:p>
        </p:txBody>
      </p:sp>
      <p:sp>
        <p:nvSpPr>
          <p:cNvPr id="14" name="Text 12"/>
          <p:cNvSpPr/>
          <p:nvPr/>
        </p:nvSpPr>
        <p:spPr>
          <a:xfrm>
            <a:off x="6419088" y="1700784"/>
            <a:ext cx="2199132" cy="100584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Many previously-'correct' solutions now fail. Scores drop, typically by 10–20%.</a:t>
            </a:r>
            <a:endParaRPr lang="en-US" sz="1050" dirty="0"/>
          </a:p>
        </p:txBody>
      </p:sp>
      <p:sp>
        <p:nvSpPr>
          <p:cNvPr id="15" name="Text 13"/>
          <p:cNvSpPr/>
          <p:nvPr/>
        </p:nvSpPr>
        <p:spPr>
          <a:xfrm>
            <a:off x="8782812" y="1280160"/>
            <a:ext cx="347472" cy="155448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6" name="Shape 14"/>
          <p:cNvSpPr/>
          <p:nvPr/>
        </p:nvSpPr>
        <p:spPr>
          <a:xfrm>
            <a:off x="9130284" y="1280160"/>
            <a:ext cx="2528316"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9294876" y="1417320"/>
            <a:ext cx="2199132" cy="256032"/>
          </a:xfrm>
          <a:prstGeom prst="rect">
            <a:avLst/>
          </a:prstGeom>
          <a:noFill/>
          <a:ln/>
        </p:spPr>
        <p:txBody>
          <a:bodyPr wrap="square" lIns="0" tIns="0" rIns="0" bIns="0" rtlCol="0" anchor="ctr"/>
          <a:lstStyle/>
          <a:p>
            <a:pPr indent="0" marL="0">
              <a:buNone/>
            </a:pPr>
            <a:r>
              <a:rPr lang="en-US" sz="1100" b="1" spc="120" kern="0" dirty="0">
                <a:solidFill>
                  <a:srgbClr val="2A5240"/>
                </a:solidFill>
                <a:latin typeface="Calibri" pitchFamily="34" charset="0"/>
                <a:ea typeface="Calibri" pitchFamily="34" charset="-122"/>
                <a:cs typeface="Calibri" pitchFamily="34" charset="-120"/>
              </a:rPr>
              <a:t>MEANING</a:t>
            </a:r>
            <a:endParaRPr lang="en-US" sz="1100" dirty="0"/>
          </a:p>
        </p:txBody>
      </p:sp>
      <p:sp>
        <p:nvSpPr>
          <p:cNvPr id="18" name="Text 16"/>
          <p:cNvSpPr/>
          <p:nvPr/>
        </p:nvSpPr>
        <p:spPr>
          <a:xfrm>
            <a:off x="9294876" y="1700784"/>
            <a:ext cx="2199132" cy="100584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The lower number is the honest one. The original was measuring test weakness.</a:t>
            </a:r>
            <a:endParaRPr lang="en-US" sz="1050" dirty="0"/>
          </a:p>
        </p:txBody>
      </p:sp>
      <p:sp>
        <p:nvSpPr>
          <p:cNvPr id="19" name="Shape 17"/>
          <p:cNvSpPr/>
          <p:nvPr/>
        </p:nvSpPr>
        <p:spPr>
          <a:xfrm>
            <a:off x="502920" y="3108960"/>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502920" y="3108960"/>
            <a:ext cx="91440" cy="621792"/>
          </a:xfrm>
          <a:prstGeom prst="rect">
            <a:avLst/>
          </a:prstGeom>
          <a:solidFill>
            <a:srgbClr val="8FB573"/>
          </a:solidFill>
          <a:ln/>
        </p:spPr>
      </p:sp>
      <p:sp>
        <p:nvSpPr>
          <p:cNvPr id="21" name="Text 19"/>
          <p:cNvSpPr/>
          <p:nvPr/>
        </p:nvSpPr>
        <p:spPr>
          <a:xfrm>
            <a:off x="822960" y="3218688"/>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Always report the + variant</a:t>
            </a:r>
            <a:endParaRPr lang="en-US" sz="1250" dirty="0"/>
          </a:p>
        </p:txBody>
      </p:sp>
      <p:sp>
        <p:nvSpPr>
          <p:cNvPr id="22" name="Text 20"/>
          <p:cNvSpPr/>
          <p:nvPr/>
        </p:nvSpPr>
        <p:spPr>
          <a:xfrm>
            <a:off x="822960" y="3511296"/>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HumanEval+ / MBPP+</a:t>
            </a:r>
            <a:endParaRPr lang="en-US" sz="950" dirty="0"/>
          </a:p>
        </p:txBody>
      </p:sp>
      <p:sp>
        <p:nvSpPr>
          <p:cNvPr id="23" name="Text 21"/>
          <p:cNvSpPr/>
          <p:nvPr/>
        </p:nvSpPr>
        <p:spPr>
          <a:xfrm>
            <a:off x="3794760" y="3200400"/>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It is strictly more rigorous. Reporting the base variant when you have the + available is choosing the flattering number.</a:t>
            </a:r>
            <a:endParaRPr lang="en-US" sz="1180" dirty="0"/>
          </a:p>
        </p:txBody>
      </p:sp>
      <p:sp>
        <p:nvSpPr>
          <p:cNvPr id="24" name="Shape 22"/>
          <p:cNvSpPr/>
          <p:nvPr/>
        </p:nvSpPr>
        <p:spPr>
          <a:xfrm>
            <a:off x="502920" y="3822192"/>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502920" y="3822192"/>
            <a:ext cx="91440" cy="621792"/>
          </a:xfrm>
          <a:prstGeom prst="rect">
            <a:avLst/>
          </a:prstGeom>
          <a:solidFill>
            <a:srgbClr val="8FB573"/>
          </a:solidFill>
          <a:ln/>
        </p:spPr>
      </p:sp>
      <p:sp>
        <p:nvSpPr>
          <p:cNvPr id="26" name="Text 24"/>
          <p:cNvSpPr/>
          <p:nvPr/>
        </p:nvSpPr>
        <p:spPr>
          <a:xfrm>
            <a:off x="822960" y="3931920"/>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Expect the drop</a:t>
            </a:r>
            <a:endParaRPr lang="en-US" sz="1250" dirty="0"/>
          </a:p>
        </p:txBody>
      </p:sp>
      <p:sp>
        <p:nvSpPr>
          <p:cNvPr id="27" name="Text 25"/>
          <p:cNvSpPr/>
          <p:nvPr/>
        </p:nvSpPr>
        <p:spPr>
          <a:xfrm>
            <a:off x="822960" y="4224528"/>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typically -10 to -20%</a:t>
            </a:r>
            <a:endParaRPr lang="en-US" sz="950" dirty="0"/>
          </a:p>
        </p:txBody>
      </p:sp>
      <p:sp>
        <p:nvSpPr>
          <p:cNvPr id="28" name="Text 26"/>
          <p:cNvSpPr/>
          <p:nvPr/>
        </p:nvSpPr>
        <p:spPr>
          <a:xfrm>
            <a:off x="3794760" y="3913632"/>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Your model did not get worse. Your ruler got honest. Do not chase the base number back up.</a:t>
            </a:r>
            <a:endParaRPr lang="en-US" sz="1180" dirty="0"/>
          </a:p>
        </p:txBody>
      </p:sp>
      <p:sp>
        <p:nvSpPr>
          <p:cNvPr id="29" name="Shape 27"/>
          <p:cNvSpPr/>
          <p:nvPr/>
        </p:nvSpPr>
        <p:spPr>
          <a:xfrm>
            <a:off x="502920" y="4535424"/>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502920" y="4535424"/>
            <a:ext cx="91440" cy="621792"/>
          </a:xfrm>
          <a:prstGeom prst="rect">
            <a:avLst/>
          </a:prstGeom>
          <a:solidFill>
            <a:srgbClr val="8FB573"/>
          </a:solidFill>
          <a:ln/>
        </p:spPr>
      </p:sp>
      <p:sp>
        <p:nvSpPr>
          <p:cNvPr id="31" name="Text 29"/>
          <p:cNvSpPr/>
          <p:nvPr/>
        </p:nvSpPr>
        <p:spPr>
          <a:xfrm>
            <a:off x="822960" y="4645152"/>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It changes rankings</a:t>
            </a:r>
            <a:endParaRPr lang="en-US" sz="1250" dirty="0"/>
          </a:p>
        </p:txBody>
      </p:sp>
      <p:sp>
        <p:nvSpPr>
          <p:cNvPr id="32" name="Text 30"/>
          <p:cNvSpPr/>
          <p:nvPr/>
        </p:nvSpPr>
        <p:spPr>
          <a:xfrm>
            <a:off x="822960" y="4937760"/>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not just magnitudes</a:t>
            </a:r>
            <a:endParaRPr lang="en-US" sz="950" dirty="0"/>
          </a:p>
        </p:txBody>
      </p:sp>
      <p:sp>
        <p:nvSpPr>
          <p:cNvPr id="33" name="Text 31"/>
          <p:cNvSpPr/>
          <p:nvPr/>
        </p:nvSpPr>
        <p:spPr>
          <a:xfrm>
            <a:off x="3794760" y="4626864"/>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Models that overfit to weak tests fall further than models with real capability. That reordering is the point.</a:t>
            </a:r>
            <a:endParaRPr lang="en-US" sz="1180" dirty="0"/>
          </a:p>
        </p:txBody>
      </p:sp>
      <p:sp>
        <p:nvSpPr>
          <p:cNvPr id="34" name="Shape 32"/>
          <p:cNvSpPr/>
          <p:nvPr/>
        </p:nvSpPr>
        <p:spPr>
          <a:xfrm>
            <a:off x="502920" y="5248656"/>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5" name="Shape 33"/>
          <p:cNvSpPr/>
          <p:nvPr/>
        </p:nvSpPr>
        <p:spPr>
          <a:xfrm>
            <a:off x="502920" y="5248656"/>
            <a:ext cx="91440" cy="621792"/>
          </a:xfrm>
          <a:prstGeom prst="rect">
            <a:avLst/>
          </a:prstGeom>
          <a:solidFill>
            <a:srgbClr val="C9DDB4"/>
          </a:solidFill>
          <a:ln/>
        </p:spPr>
      </p:sp>
      <p:sp>
        <p:nvSpPr>
          <p:cNvPr id="36" name="Text 34"/>
          <p:cNvSpPr/>
          <p:nvPr/>
        </p:nvSpPr>
        <p:spPr>
          <a:xfrm>
            <a:off x="822960" y="5358384"/>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Install and go</a:t>
            </a:r>
            <a:endParaRPr lang="en-US" sz="1250" dirty="0"/>
          </a:p>
        </p:txBody>
      </p:sp>
      <p:sp>
        <p:nvSpPr>
          <p:cNvPr id="37" name="Text 35"/>
          <p:cNvSpPr/>
          <p:nvPr/>
        </p:nvSpPr>
        <p:spPr>
          <a:xfrm>
            <a:off x="822960" y="5650992"/>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pip install evalplus</a:t>
            </a:r>
            <a:endParaRPr lang="en-US" sz="950" dirty="0"/>
          </a:p>
        </p:txBody>
      </p:sp>
      <p:sp>
        <p:nvSpPr>
          <p:cNvPr id="38" name="Text 36"/>
          <p:cNvSpPr/>
          <p:nvPr/>
        </p:nvSpPr>
        <p:spPr>
          <a:xfrm>
            <a:off x="3794760" y="5340096"/>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Handles generation, execution, and scoring. Do not hand-roll HumanEval — you will get the extraction wrong.</a:t>
            </a:r>
            <a:endParaRPr lang="en-US" sz="1180" dirty="0"/>
          </a:p>
        </p:txBody>
      </p:sp>
      <p:sp>
        <p:nvSpPr>
          <p:cNvPr id="39" name="Shape 37"/>
          <p:cNvSpPr/>
          <p:nvPr/>
        </p:nvSpPr>
        <p:spPr>
          <a:xfrm>
            <a:off x="502920" y="5806440"/>
            <a:ext cx="11155680" cy="777240"/>
          </a:xfrm>
          <a:prstGeom prst="roundRect">
            <a:avLst>
              <a:gd name="adj" fmla="val 8235"/>
            </a:avLst>
          </a:prstGeom>
          <a:solidFill>
            <a:srgbClr val="1F3D2E"/>
          </a:solidFill>
          <a:ln/>
        </p:spPr>
      </p:sp>
      <p:sp>
        <p:nvSpPr>
          <p:cNvPr id="40" name="Shape 38"/>
          <p:cNvSpPr/>
          <p:nvPr/>
        </p:nvSpPr>
        <p:spPr>
          <a:xfrm>
            <a:off x="740664" y="5989320"/>
            <a:ext cx="292608" cy="292608"/>
          </a:xfrm>
          <a:prstGeom prst="ellipse">
            <a:avLst/>
          </a:prstGeom>
          <a:solidFill>
            <a:srgbClr val="1F3D2E"/>
          </a:solidFill>
          <a:ln/>
        </p:spPr>
      </p:sp>
      <p:sp>
        <p:nvSpPr>
          <p:cNvPr id="41" name="Text 39"/>
          <p:cNvSpPr/>
          <p:nvPr/>
        </p:nvSpPr>
        <p:spPr>
          <a:xfrm>
            <a:off x="740664" y="59893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42" name="Text 40"/>
          <p:cNvSpPr/>
          <p:nvPr/>
        </p:nvSpPr>
        <p:spPr>
          <a:xfrm>
            <a:off x="1133856" y="60076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43" name="Text 41"/>
          <p:cNvSpPr/>
          <p:nvPr/>
        </p:nvSpPr>
        <p:spPr>
          <a:xfrm>
            <a:off x="740664" y="6382512"/>
            <a:ext cx="10680192" cy="274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My model dropped from 34.1 to 28.7 the day I switched to HumanEval+. That 5.4 points was never real — it was test weakness.</a:t>
            </a:r>
            <a:endParaRPr lang="en-US" sz="1150" dirty="0"/>
          </a:p>
        </p:txBody>
      </p:sp>
      <p:sp>
        <p:nvSpPr>
          <p:cNvPr id="44" name="Text 4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49</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benchmark landscape — what each one actually measures</a:t>
            </a:r>
            <a:endParaRPr lang="en-US" sz="29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286000"/>
                <a:gridCol w="1828800"/>
                <a:gridCol w="3657600"/>
                <a:gridCol w="338328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Benchmark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Size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Measures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Use it for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HumanEval / +</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164</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Short single-function Python from a docstring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Comparability. Report it because everyone does.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MBPP / +</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~974 (378 test)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Simpler, more basic Python tasks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 second signal; less saturated than HumanEval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LiveCodeBench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Growing, timestamped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Contest problems released AFTER a model's cutoff</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The honest number. Contamination-resistant by construction.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BigCodeBench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~1,140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Realistic tasks using many libraries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Closer to real work than HumanEval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MultiPL-E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HumanEval x 18+ langs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Cross-language transfer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If you care about anything other than Python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CodeContests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~13.5k w/ tests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Competitive programming, hard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TRAINING with RLVR — this is your reward-signal goldmine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APPS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10,000 w/ tests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Interview to competition difficulty, graded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Training and difficulty-stratified evaluation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TACO</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~26k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Algorithmic problems with tests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More RLVR training data</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SWE-bench (Verified)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Real GitHub issues, repo-level, multi-file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Deferred. A research project, not a first curriculum.</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892040"/>
            <a:ext cx="11155680" cy="566928"/>
          </a:xfrm>
          <a:prstGeom prst="roundRect">
            <a:avLst>
              <a:gd name="adj" fmla="val 9677"/>
            </a:avLst>
          </a:prstGeom>
          <a:solidFill>
            <a:srgbClr val="8FB573"/>
          </a:solidFill>
          <a:ln/>
        </p:spPr>
      </p:sp>
      <p:sp>
        <p:nvSpPr>
          <p:cNvPr id="6" name="Text 3"/>
          <p:cNvSpPr/>
          <p:nvPr/>
        </p:nvSpPr>
        <p:spPr>
          <a:xfrm>
            <a:off x="777240" y="489204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Note the split: some of these are for MEASURING, some are for TRAINING. CodeContests and APPS are training data.</a:t>
            </a:r>
            <a:endParaRPr lang="en-US" sz="1450" dirty="0"/>
          </a:p>
        </p:txBody>
      </p:sp>
      <p:sp>
        <p:nvSpPr>
          <p:cNvPr id="7" name="Shape 4"/>
          <p:cNvSpPr/>
          <p:nvPr/>
        </p:nvSpPr>
        <p:spPr>
          <a:xfrm>
            <a:off x="502920" y="5623560"/>
            <a:ext cx="11155680" cy="914400"/>
          </a:xfrm>
          <a:prstGeom prst="roundRect">
            <a:avLst>
              <a:gd name="adj" fmla="val 7000"/>
            </a:avLst>
          </a:prstGeom>
          <a:solidFill>
            <a:srgbClr val="1F3D2E"/>
          </a:solidFill>
          <a:ln/>
        </p:spPr>
      </p:sp>
      <p:sp>
        <p:nvSpPr>
          <p:cNvPr id="8" name="Shape 5"/>
          <p:cNvSpPr/>
          <p:nvPr/>
        </p:nvSpPr>
        <p:spPr>
          <a:xfrm>
            <a:off x="740664" y="5806440"/>
            <a:ext cx="292608" cy="292608"/>
          </a:xfrm>
          <a:prstGeom prst="ellipse">
            <a:avLst/>
          </a:prstGeom>
          <a:solidFill>
            <a:srgbClr val="1F3D2E"/>
          </a:solidFill>
          <a:ln/>
        </p:spPr>
      </p:sp>
      <p:sp>
        <p:nvSpPr>
          <p:cNvPr id="9" name="Text 6"/>
          <p:cNvSpPr/>
          <p:nvPr/>
        </p:nvSpPr>
        <p:spPr>
          <a:xfrm>
            <a:off x="740664" y="58064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0" name="Text 7"/>
          <p:cNvSpPr/>
          <p:nvPr/>
        </p:nvSpPr>
        <p:spPr>
          <a:xfrm>
            <a:off x="1133856" y="58247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1" name="Text 8"/>
          <p:cNvSpPr/>
          <p:nvPr/>
        </p:nvSpPr>
        <p:spPr>
          <a:xfrm>
            <a:off x="740664" y="6199632"/>
            <a:ext cx="10680192" cy="1645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LiveCodeBench is the one to trust for a final number, because problems are timestamped after model cutoffs. If your HumanEval is strong and your LiveCodeBench is weak, you have a contamination problem, not a capability.</a:t>
            </a:r>
            <a:endParaRPr lang="en-US" sz="1150" dirty="0"/>
          </a:p>
        </p:txBody>
      </p:sp>
      <p:sp>
        <p:nvSpPr>
          <p:cNvPr id="12" name="Text 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50</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Building your own eval set — the one that actually matters</a:t>
            </a:r>
            <a:endParaRPr lang="en-US" sz="2900" dirty="0"/>
          </a:p>
        </p:txBody>
      </p:sp>
      <p:sp>
        <p:nvSpPr>
          <p:cNvPr id="4" name="Shape 2"/>
          <p:cNvSpPr/>
          <p:nvPr/>
        </p:nvSpPr>
        <p:spPr>
          <a:xfrm>
            <a:off x="502920" y="1280160"/>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463802"/>
            <a:ext cx="402336" cy="402336"/>
          </a:xfrm>
          <a:prstGeom prst="ellipse">
            <a:avLst/>
          </a:prstGeom>
          <a:solidFill>
            <a:srgbClr val="8FB573"/>
          </a:solidFill>
          <a:ln/>
        </p:spPr>
      </p:sp>
      <p:sp>
        <p:nvSpPr>
          <p:cNvPr id="6" name="Text 4"/>
          <p:cNvSpPr/>
          <p:nvPr/>
        </p:nvSpPr>
        <p:spPr>
          <a:xfrm>
            <a:off x="749808" y="146380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Collect 100–200 problems from your target distribution</a:t>
            </a:r>
            <a:endParaRPr lang="en-US" sz="1300" dirty="0"/>
          </a:p>
        </p:txBody>
      </p:sp>
      <p:sp>
        <p:nvSpPr>
          <p:cNvPr id="8" name="Text 6"/>
          <p:cNvSpPr/>
          <p:nvPr/>
        </p:nvSpPr>
        <p:spPr>
          <a:xfrm>
            <a:off x="1316736" y="1700784"/>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Public benchmarks measure public distributions. If you care about a specific kind of code, no public benchmark measures it. Yours does.</a:t>
            </a:r>
            <a:endParaRPr lang="en-US" sz="1150" dirty="0"/>
          </a:p>
        </p:txBody>
      </p:sp>
      <p:sp>
        <p:nvSpPr>
          <p:cNvPr id="9" name="Shape 7"/>
          <p:cNvSpPr/>
          <p:nvPr/>
        </p:nvSpPr>
        <p:spPr>
          <a:xfrm>
            <a:off x="502920" y="2159508"/>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343150"/>
            <a:ext cx="402336" cy="402336"/>
          </a:xfrm>
          <a:prstGeom prst="ellipse">
            <a:avLst/>
          </a:prstGeom>
          <a:solidFill>
            <a:srgbClr val="8FB573"/>
          </a:solidFill>
          <a:ln/>
        </p:spPr>
      </p:sp>
      <p:sp>
        <p:nvSpPr>
          <p:cNvPr id="11" name="Text 9"/>
          <p:cNvSpPr/>
          <p:nvPr/>
        </p:nvSpPr>
        <p:spPr>
          <a:xfrm>
            <a:off x="749808" y="234315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28752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Write genuinely adversarial tests</a:t>
            </a:r>
            <a:endParaRPr lang="en-US" sz="1300" dirty="0"/>
          </a:p>
        </p:txBody>
      </p:sp>
      <p:sp>
        <p:nvSpPr>
          <p:cNvPr id="13" name="Text 11"/>
          <p:cNvSpPr/>
          <p:nvPr/>
        </p:nvSpPr>
        <p:spPr>
          <a:xfrm>
            <a:off x="1316736" y="2580132"/>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Edge cases, empty inputs, boundary values, type errors. Weak tests are the reason HumanEval needed EvalPlus. Do not repeat that mistake in your own set.</a:t>
            </a:r>
            <a:endParaRPr lang="en-US" sz="1150" dirty="0"/>
          </a:p>
        </p:txBody>
      </p:sp>
      <p:sp>
        <p:nvSpPr>
          <p:cNvPr id="14" name="Shape 12"/>
          <p:cNvSpPr/>
          <p:nvPr/>
        </p:nvSpPr>
        <p:spPr>
          <a:xfrm>
            <a:off x="502920" y="3038856"/>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3222498"/>
            <a:ext cx="402336" cy="402336"/>
          </a:xfrm>
          <a:prstGeom prst="ellipse">
            <a:avLst/>
          </a:prstGeom>
          <a:solidFill>
            <a:srgbClr val="8FB573"/>
          </a:solidFill>
          <a:ln/>
        </p:spPr>
      </p:sp>
      <p:sp>
        <p:nvSpPr>
          <p:cNvPr id="16" name="Text 14"/>
          <p:cNvSpPr/>
          <p:nvPr/>
        </p:nvSpPr>
        <p:spPr>
          <a:xfrm>
            <a:off x="749808" y="322249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3166872"/>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Stratify by difficulty and by category</a:t>
            </a:r>
            <a:endParaRPr lang="en-US" sz="1300" dirty="0"/>
          </a:p>
        </p:txBody>
      </p:sp>
      <p:sp>
        <p:nvSpPr>
          <p:cNvPr id="18" name="Text 16"/>
          <p:cNvSpPr/>
          <p:nvPr/>
        </p:nvSpPr>
        <p:spPr>
          <a:xfrm>
            <a:off x="1316736" y="3459480"/>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Tag each problem: recursion, string manipulation, data structures, math. When a score moves you want to know WHERE it moved.</a:t>
            </a:r>
            <a:endParaRPr lang="en-US" sz="1150" dirty="0"/>
          </a:p>
        </p:txBody>
      </p:sp>
      <p:sp>
        <p:nvSpPr>
          <p:cNvPr id="19" name="Shape 17"/>
          <p:cNvSpPr/>
          <p:nvPr/>
        </p:nvSpPr>
        <p:spPr>
          <a:xfrm>
            <a:off x="502920" y="3918204"/>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4101846"/>
            <a:ext cx="402336" cy="402336"/>
          </a:xfrm>
          <a:prstGeom prst="ellipse">
            <a:avLst/>
          </a:prstGeom>
          <a:solidFill>
            <a:srgbClr val="8FB573"/>
          </a:solidFill>
          <a:ln/>
        </p:spPr>
      </p:sp>
      <p:sp>
        <p:nvSpPr>
          <p:cNvPr id="21" name="Text 19"/>
          <p:cNvSpPr/>
          <p:nvPr/>
        </p:nvSpPr>
        <p:spPr>
          <a:xfrm>
            <a:off x="749808" y="4101846"/>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404622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Split three ways: dev / val / test</a:t>
            </a:r>
            <a:endParaRPr lang="en-US" sz="1300" dirty="0"/>
          </a:p>
        </p:txBody>
      </p:sp>
      <p:sp>
        <p:nvSpPr>
          <p:cNvPr id="23" name="Text 21"/>
          <p:cNvSpPr/>
          <p:nvPr/>
        </p:nvSpPr>
        <p:spPr>
          <a:xfrm>
            <a:off x="1316736" y="4338828"/>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dev for daily iteration, val for checkpoint selection, test opened exactly once at the end. Three splits, not two.</a:t>
            </a:r>
            <a:endParaRPr lang="en-US" sz="1150" dirty="0"/>
          </a:p>
        </p:txBody>
      </p:sp>
      <p:sp>
        <p:nvSpPr>
          <p:cNvPr id="24" name="Shape 22"/>
          <p:cNvSpPr/>
          <p:nvPr/>
        </p:nvSpPr>
        <p:spPr>
          <a:xfrm>
            <a:off x="502920" y="4797552"/>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4981194"/>
            <a:ext cx="402336" cy="402336"/>
          </a:xfrm>
          <a:prstGeom prst="ellipse">
            <a:avLst/>
          </a:prstGeom>
          <a:solidFill>
            <a:srgbClr val="8FB573"/>
          </a:solidFill>
          <a:ln/>
        </p:spPr>
      </p:sp>
      <p:sp>
        <p:nvSpPr>
          <p:cNvPr id="26" name="Text 24"/>
          <p:cNvSpPr/>
          <p:nvPr/>
        </p:nvSpPr>
        <p:spPr>
          <a:xfrm>
            <a:off x="749808" y="4981194"/>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4925568"/>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Version it and never edit in place</a:t>
            </a:r>
            <a:endParaRPr lang="en-US" sz="1300" dirty="0"/>
          </a:p>
        </p:txBody>
      </p:sp>
      <p:sp>
        <p:nvSpPr>
          <p:cNvPr id="28" name="Text 26"/>
          <p:cNvSpPr/>
          <p:nvPr/>
        </p:nvSpPr>
        <p:spPr>
          <a:xfrm>
            <a:off x="1316736" y="5218176"/>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eval-v1, eval-v2. Changing the eval set invalidates every previous number — so make that change explicit and dated.</a:t>
            </a:r>
            <a:endParaRPr lang="en-US" sz="1150" dirty="0"/>
          </a:p>
        </p:txBody>
      </p:sp>
      <p:sp>
        <p:nvSpPr>
          <p:cNvPr id="29" name="Shape 27"/>
          <p:cNvSpPr/>
          <p:nvPr/>
        </p:nvSpPr>
        <p:spPr>
          <a:xfrm>
            <a:off x="502920" y="5676900"/>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749808" y="5860542"/>
            <a:ext cx="402336" cy="402336"/>
          </a:xfrm>
          <a:prstGeom prst="ellipse">
            <a:avLst/>
          </a:prstGeom>
          <a:solidFill>
            <a:srgbClr val="8FB573"/>
          </a:solidFill>
          <a:ln/>
        </p:spPr>
      </p:sp>
      <p:sp>
        <p:nvSpPr>
          <p:cNvPr id="31" name="Text 29"/>
          <p:cNvSpPr/>
          <p:nvPr/>
        </p:nvSpPr>
        <p:spPr>
          <a:xfrm>
            <a:off x="749808" y="586054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1316736" y="580491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Decontaminate it against your training data</a:t>
            </a:r>
            <a:endParaRPr lang="en-US" sz="1300" dirty="0"/>
          </a:p>
        </p:txBody>
      </p:sp>
      <p:sp>
        <p:nvSpPr>
          <p:cNvPr id="33" name="Text 31"/>
          <p:cNvSpPr/>
          <p:nvPr/>
        </p:nvSpPr>
        <p:spPr>
          <a:xfrm>
            <a:off x="1316736" y="6097524"/>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Your own eval can be contaminated too, especially if both came from similar sources.</a:t>
            </a:r>
            <a:endParaRPr lang="en-US" sz="1150" dirty="0"/>
          </a:p>
        </p:txBody>
      </p:sp>
      <p:sp>
        <p:nvSpPr>
          <p:cNvPr id="34" name="Shape 32"/>
          <p:cNvSpPr/>
          <p:nvPr/>
        </p:nvSpPr>
        <p:spPr>
          <a:xfrm>
            <a:off x="502920" y="5852160"/>
            <a:ext cx="11155680" cy="777240"/>
          </a:xfrm>
          <a:prstGeom prst="roundRect">
            <a:avLst>
              <a:gd name="adj" fmla="val 8235"/>
            </a:avLst>
          </a:prstGeom>
          <a:solidFill>
            <a:srgbClr val="1F3D2E"/>
          </a:solidFill>
          <a:ln/>
        </p:spPr>
      </p:sp>
      <p:sp>
        <p:nvSpPr>
          <p:cNvPr id="35" name="Shape 33"/>
          <p:cNvSpPr/>
          <p:nvPr/>
        </p:nvSpPr>
        <p:spPr>
          <a:xfrm>
            <a:off x="740664" y="6035040"/>
            <a:ext cx="292608" cy="292608"/>
          </a:xfrm>
          <a:prstGeom prst="ellipse">
            <a:avLst/>
          </a:prstGeom>
          <a:solidFill>
            <a:srgbClr val="1F3D2E"/>
          </a:solidFill>
          <a:ln/>
        </p:spPr>
      </p:sp>
      <p:sp>
        <p:nvSpPr>
          <p:cNvPr id="36" name="Text 34"/>
          <p:cNvSpPr/>
          <p:nvPr/>
        </p:nvSpPr>
        <p:spPr>
          <a:xfrm>
            <a:off x="740664" y="60350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37" name="Text 35"/>
          <p:cNvSpPr/>
          <p:nvPr/>
        </p:nvSpPr>
        <p:spPr>
          <a:xfrm>
            <a:off x="1133856" y="60533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38" name="Text 36"/>
          <p:cNvSpPr/>
          <p:nvPr/>
        </p:nvSpPr>
        <p:spPr>
          <a:xfrm>
            <a:off x="740664" y="6428232"/>
            <a:ext cx="10680192" cy="274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Category tags paid for themselves the first time a checkpoint improved overall while collapsing on recursion. Without tags that is invisible.</a:t>
            </a:r>
            <a:endParaRPr lang="en-US" sz="1150" dirty="0"/>
          </a:p>
        </p:txBody>
      </p:sp>
      <p:sp>
        <p:nvSpPr>
          <p:cNvPr id="39" name="Text 3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51</a:t>
            </a:r>
            <a:endParaRPr lang="en-US" sz="9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Seeds, variance, and how big a delta must be</a:t>
            </a:r>
            <a:endParaRPr lang="en-US" sz="2900" dirty="0"/>
          </a:p>
        </p:txBody>
      </p:sp>
      <p:sp>
        <p:nvSpPr>
          <p:cNvPr id="4" name="Text 2"/>
          <p:cNvSpPr/>
          <p:nvPr/>
        </p:nvSpPr>
        <p:spPr>
          <a:xfrm>
            <a:off x="502920" y="1280160"/>
            <a:ext cx="11155680" cy="64008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This is the slide that will save you the most wasted time. On 164 problems, the standard deviation across seeds is typically 1.5–2.5 points. That means a 3-point 'improvement' from a single run is frequently nothing at all.</a:t>
            </a:r>
            <a:endParaRPr lang="en-US" sz="135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11155680" cy="914400"/>
        </p:xfrm>
        <a:graphic>
          <a:graphicData uri="http://schemas.openxmlformats.org/drawingml/2006/table">
            <a:tbl>
              <a:tblPr/>
              <a:tblGrid>
                <a:gridCol w="2103120"/>
                <a:gridCol w="2743200"/>
                <a:gridCol w="2926080"/>
                <a:gridCol w="338328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Observed delta</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On 164 problems, 1 seed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On 164 problems, 3 seeds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to do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+0.5 pt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Noise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Noise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Ignore. Do not write it down.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+1.5 pt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Noise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Probably noise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Re-run with more seeds before believing it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+3.0 pt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Possibly real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Probably real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Report with std. Investigate what changed.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+6.0 pt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Likely real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This is a genuine finding. Write it up properly.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-3.0 pt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Possibly real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Probably real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Something broke. Bisect your change.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4297680"/>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7" name="Shape 4"/>
          <p:cNvSpPr/>
          <p:nvPr/>
        </p:nvSpPr>
        <p:spPr>
          <a:xfrm>
            <a:off x="502920" y="4297680"/>
            <a:ext cx="91440" cy="621792"/>
          </a:xfrm>
          <a:prstGeom prst="rect">
            <a:avLst/>
          </a:prstGeom>
          <a:solidFill>
            <a:srgbClr val="8FB573"/>
          </a:solidFill>
          <a:ln/>
        </p:spPr>
      </p:sp>
      <p:sp>
        <p:nvSpPr>
          <p:cNvPr id="8" name="Text 5"/>
          <p:cNvSpPr/>
          <p:nvPr/>
        </p:nvSpPr>
        <p:spPr>
          <a:xfrm>
            <a:off x="822960" y="4407408"/>
            <a:ext cx="29260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Three seeds is the minimum</a:t>
            </a:r>
            <a:endParaRPr lang="en-US" sz="1250" dirty="0"/>
          </a:p>
        </p:txBody>
      </p:sp>
      <p:sp>
        <p:nvSpPr>
          <p:cNvPr id="9" name="Text 6"/>
          <p:cNvSpPr/>
          <p:nvPr/>
        </p:nvSpPr>
        <p:spPr>
          <a:xfrm>
            <a:off x="822960" y="4700016"/>
            <a:ext cx="29260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seed: [0, 1, 2]</a:t>
            </a:r>
            <a:endParaRPr lang="en-US" sz="950" dirty="0"/>
          </a:p>
        </p:txBody>
      </p:sp>
      <p:sp>
        <p:nvSpPr>
          <p:cNvPr id="10" name="Text 7"/>
          <p:cNvSpPr/>
          <p:nvPr/>
        </p:nvSpPr>
        <p:spPr>
          <a:xfrm>
            <a:off x="3977640" y="4389120"/>
            <a:ext cx="768096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Report mean ± std, always. A number without a std is an anecdote.</a:t>
            </a:r>
            <a:endParaRPr lang="en-US" sz="1180" dirty="0"/>
          </a:p>
        </p:txBody>
      </p:sp>
      <p:sp>
        <p:nvSpPr>
          <p:cNvPr id="11" name="Shape 8"/>
          <p:cNvSpPr/>
          <p:nvPr/>
        </p:nvSpPr>
        <p:spPr>
          <a:xfrm>
            <a:off x="502920" y="5010912"/>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Shape 9"/>
          <p:cNvSpPr/>
          <p:nvPr/>
        </p:nvSpPr>
        <p:spPr>
          <a:xfrm>
            <a:off x="502920" y="5010912"/>
            <a:ext cx="91440" cy="621792"/>
          </a:xfrm>
          <a:prstGeom prst="rect">
            <a:avLst/>
          </a:prstGeom>
          <a:solidFill>
            <a:srgbClr val="8FB573"/>
          </a:solidFill>
          <a:ln/>
        </p:spPr>
      </p:sp>
      <p:sp>
        <p:nvSpPr>
          <p:cNvPr id="13" name="Text 10"/>
          <p:cNvSpPr/>
          <p:nvPr/>
        </p:nvSpPr>
        <p:spPr>
          <a:xfrm>
            <a:off x="822960" y="5120640"/>
            <a:ext cx="29260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Bigger eval sets shrink the noise</a:t>
            </a:r>
            <a:endParaRPr lang="en-US" sz="1250" dirty="0"/>
          </a:p>
        </p:txBody>
      </p:sp>
      <p:sp>
        <p:nvSpPr>
          <p:cNvPr id="14" name="Text 11"/>
          <p:cNvSpPr/>
          <p:nvPr/>
        </p:nvSpPr>
        <p:spPr>
          <a:xfrm>
            <a:off x="822960" y="5413248"/>
            <a:ext cx="29260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combine HumanEval+ + MBPP+ + yours</a:t>
            </a:r>
            <a:endParaRPr lang="en-US" sz="950" dirty="0"/>
          </a:p>
        </p:txBody>
      </p:sp>
      <p:sp>
        <p:nvSpPr>
          <p:cNvPr id="15" name="Text 12"/>
          <p:cNvSpPr/>
          <p:nvPr/>
        </p:nvSpPr>
        <p:spPr>
          <a:xfrm>
            <a:off x="3977640" y="5102352"/>
            <a:ext cx="768096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~700 problems instead of 164 roughly halves your standard deviation for free.</a:t>
            </a:r>
            <a:endParaRPr lang="en-US" sz="1180" dirty="0"/>
          </a:p>
        </p:txBody>
      </p:sp>
      <p:sp>
        <p:nvSpPr>
          <p:cNvPr id="16" name="Shape 13"/>
          <p:cNvSpPr/>
          <p:nvPr/>
        </p:nvSpPr>
        <p:spPr>
          <a:xfrm>
            <a:off x="502920" y="5724144"/>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Shape 14"/>
          <p:cNvSpPr/>
          <p:nvPr/>
        </p:nvSpPr>
        <p:spPr>
          <a:xfrm>
            <a:off x="502920" y="5724144"/>
            <a:ext cx="91440" cy="621792"/>
          </a:xfrm>
          <a:prstGeom prst="rect">
            <a:avLst/>
          </a:prstGeom>
          <a:solidFill>
            <a:srgbClr val="A8482A"/>
          </a:solidFill>
          <a:ln/>
        </p:spPr>
      </p:sp>
      <p:sp>
        <p:nvSpPr>
          <p:cNvPr id="18" name="Text 15"/>
          <p:cNvSpPr/>
          <p:nvPr/>
        </p:nvSpPr>
        <p:spPr>
          <a:xfrm>
            <a:off x="822960" y="5833872"/>
            <a:ext cx="29260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Seed everything</a:t>
            </a:r>
            <a:endParaRPr lang="en-US" sz="1250" dirty="0"/>
          </a:p>
        </p:txBody>
      </p:sp>
      <p:sp>
        <p:nvSpPr>
          <p:cNvPr id="19" name="Text 16"/>
          <p:cNvSpPr/>
          <p:nvPr/>
        </p:nvSpPr>
        <p:spPr>
          <a:xfrm>
            <a:off x="822960" y="6126480"/>
            <a:ext cx="29260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python, numpy, torch, cuda, dataloader</a:t>
            </a:r>
            <a:endParaRPr lang="en-US" sz="950" dirty="0"/>
          </a:p>
        </p:txBody>
      </p:sp>
      <p:sp>
        <p:nvSpPr>
          <p:cNvPr id="20" name="Text 17"/>
          <p:cNvSpPr/>
          <p:nvPr/>
        </p:nvSpPr>
        <p:spPr>
          <a:xfrm>
            <a:off x="3977640" y="5815584"/>
            <a:ext cx="768096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Partial seeding is worse than none — you get irreproducibility you believe is reproducible.</a:t>
            </a:r>
            <a:endParaRPr lang="en-US" sz="1180" dirty="0"/>
          </a:p>
        </p:txBody>
      </p:sp>
      <p:sp>
        <p:nvSpPr>
          <p:cNvPr id="21" name="Text 1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52</a:t>
            </a:r>
            <a:endParaRPr lang="en-US" sz="9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Prompt template sensitivity — a worked example</a:t>
            </a:r>
            <a:endParaRPr lang="en-US" sz="2900" dirty="0"/>
          </a:p>
        </p:txBody>
      </p:sp>
      <p:sp>
        <p:nvSpPr>
          <p:cNvPr id="4" name="Text 2"/>
          <p:cNvSpPr/>
          <p:nvPr/>
        </p:nvSpPr>
        <p:spPr>
          <a:xfrm>
            <a:off x="502920" y="1280160"/>
            <a:ext cx="11155680" cy="365760"/>
          </a:xfrm>
          <a:prstGeom prst="rect">
            <a:avLst/>
          </a:prstGeom>
          <a:noFill/>
          <a:ln/>
        </p:spPr>
        <p:txBody>
          <a:bodyPr wrap="square" lIns="0" tIns="0" rIns="0" bIns="0" rtlCol="0" anchor="ctr"/>
          <a:lstStyle/>
          <a:p>
            <a:pPr indent="0" marL="0">
              <a:buNone/>
            </a:pPr>
            <a:r>
              <a:rPr lang="en-US" sz="1300" dirty="0">
                <a:solidFill>
                  <a:srgbClr val="16211B"/>
                </a:solidFill>
                <a:latin typeface="Calibri" pitchFamily="34" charset="0"/>
                <a:ea typeface="Calibri" pitchFamily="34" charset="-122"/>
                <a:cs typeface="Calibri" pitchFamily="34" charset="-120"/>
              </a:rPr>
              <a:t>Same model weights, byte-identical. Four prompt formats. Real spread on HumanEval+ pass@1:</a:t>
            </a:r>
            <a:endParaRPr lang="en-US" sz="1300" dirty="0"/>
          </a:p>
        </p:txBody>
      </p:sp>
      <p:graphicFrame>
        <p:nvGraphicFramePr>
          <p:cNvPr id="5" name="Chart 0" descr=""/>
          <p:cNvGraphicFramePr/>
          <p:nvPr/>
        </p:nvGraphicFramePr>
        <p:xfrm>
          <a:off x="502920" y="1737360"/>
          <a:ext cx="6583680" cy="31089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269480" y="1737360"/>
            <a:ext cx="4389120" cy="987552"/>
          </a:xfrm>
          <a:prstGeom prst="roundRect">
            <a:avLst>
              <a:gd name="adj" fmla="val 648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7" name="Text 4"/>
          <p:cNvSpPr/>
          <p:nvPr/>
        </p:nvSpPr>
        <p:spPr>
          <a:xfrm>
            <a:off x="7488936" y="1883664"/>
            <a:ext cx="395020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6.1 points of spread</a:t>
            </a:r>
            <a:endParaRPr lang="en-US" sz="1250" dirty="0"/>
          </a:p>
        </p:txBody>
      </p:sp>
      <p:sp>
        <p:nvSpPr>
          <p:cNvPr id="8" name="Text 5"/>
          <p:cNvSpPr/>
          <p:nvPr/>
        </p:nvSpPr>
        <p:spPr>
          <a:xfrm>
            <a:off x="7488936" y="2194560"/>
            <a:ext cx="3950208" cy="38404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From formatting alone. That is larger than most fine-tuning gains you will produce in this entire curriculum.</a:t>
            </a:r>
            <a:endParaRPr lang="en-US" sz="1100" dirty="0"/>
          </a:p>
        </p:txBody>
      </p:sp>
      <p:sp>
        <p:nvSpPr>
          <p:cNvPr id="9" name="Shape 6"/>
          <p:cNvSpPr/>
          <p:nvPr/>
        </p:nvSpPr>
        <p:spPr>
          <a:xfrm>
            <a:off x="7269480" y="2834640"/>
            <a:ext cx="4389120" cy="987552"/>
          </a:xfrm>
          <a:prstGeom prst="roundRect">
            <a:avLst>
              <a:gd name="adj" fmla="val 648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Text 7"/>
          <p:cNvSpPr/>
          <p:nvPr/>
        </p:nvSpPr>
        <p:spPr>
          <a:xfrm>
            <a:off x="7488936" y="2980944"/>
            <a:ext cx="395020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'Think step by step' HURT here</a:t>
            </a:r>
            <a:endParaRPr lang="en-US" sz="1250" dirty="0"/>
          </a:p>
        </p:txBody>
      </p:sp>
      <p:sp>
        <p:nvSpPr>
          <p:cNvPr id="11" name="Text 8"/>
          <p:cNvSpPr/>
          <p:nvPr/>
        </p:nvSpPr>
        <p:spPr>
          <a:xfrm>
            <a:off x="7488936" y="3291840"/>
            <a:ext cx="3950208" cy="38404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On a small code model, chain-of-thought prompting often degrades pass@1 — it produces prose where code was expected and the extractor fails.</a:t>
            </a:r>
            <a:endParaRPr lang="en-US" sz="1100" dirty="0"/>
          </a:p>
        </p:txBody>
      </p:sp>
      <p:sp>
        <p:nvSpPr>
          <p:cNvPr id="12" name="Shape 9"/>
          <p:cNvSpPr/>
          <p:nvPr/>
        </p:nvSpPr>
        <p:spPr>
          <a:xfrm>
            <a:off x="7269480" y="3931920"/>
            <a:ext cx="4389120" cy="987552"/>
          </a:xfrm>
          <a:prstGeom prst="roundRect">
            <a:avLst>
              <a:gd name="adj" fmla="val 6481"/>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Text 10"/>
          <p:cNvSpPr/>
          <p:nvPr/>
        </p:nvSpPr>
        <p:spPr>
          <a:xfrm>
            <a:off x="7488936" y="4078224"/>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Fix it, version it, never touch it</a:t>
            </a:r>
            <a:endParaRPr lang="en-US" sz="1250" dirty="0"/>
          </a:p>
        </p:txBody>
      </p:sp>
      <p:sp>
        <p:nvSpPr>
          <p:cNvPr id="14" name="Text 11"/>
          <p:cNvSpPr/>
          <p:nvPr/>
        </p:nvSpPr>
        <p:spPr>
          <a:xfrm>
            <a:off x="7488936" y="4389120"/>
            <a:ext cx="3950208" cy="38404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Choose one template, put its name in every config, and treat changing it as a separate experiment with its own baseline.</a:t>
            </a:r>
            <a:endParaRPr lang="en-US" sz="1100" dirty="0"/>
          </a:p>
        </p:txBody>
      </p:sp>
      <p:sp>
        <p:nvSpPr>
          <p:cNvPr id="15" name="Shape 12"/>
          <p:cNvSpPr/>
          <p:nvPr/>
        </p:nvSpPr>
        <p:spPr>
          <a:xfrm>
            <a:off x="502920" y="5029200"/>
            <a:ext cx="11155680" cy="1325880"/>
          </a:xfrm>
          <a:prstGeom prst="roundRect">
            <a:avLst>
              <a:gd name="adj" fmla="val 4828"/>
            </a:avLst>
          </a:prstGeom>
          <a:solidFill>
            <a:srgbClr val="1F3D2E"/>
          </a:solidFill>
          <a:ln/>
        </p:spPr>
      </p:sp>
      <p:sp>
        <p:nvSpPr>
          <p:cNvPr id="16" name="Shape 13"/>
          <p:cNvSpPr/>
          <p:nvPr/>
        </p:nvSpPr>
        <p:spPr>
          <a:xfrm>
            <a:off x="740664" y="5212080"/>
            <a:ext cx="292608" cy="292608"/>
          </a:xfrm>
          <a:prstGeom prst="ellipse">
            <a:avLst/>
          </a:prstGeom>
          <a:solidFill>
            <a:srgbClr val="1F3D2E"/>
          </a:solidFill>
          <a:ln/>
        </p:spPr>
      </p:sp>
      <p:sp>
        <p:nvSpPr>
          <p:cNvPr id="17" name="Text 14"/>
          <p:cNvSpPr/>
          <p:nvPr/>
        </p:nvSpPr>
        <p:spPr>
          <a:xfrm>
            <a:off x="740664" y="521208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8" name="Text 15"/>
          <p:cNvSpPr/>
          <p:nvPr/>
        </p:nvSpPr>
        <p:spPr>
          <a:xfrm>
            <a:off x="1133856" y="523036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9" name="Text 16"/>
          <p:cNvSpPr/>
          <p:nvPr/>
        </p:nvSpPr>
        <p:spPr>
          <a:xfrm>
            <a:off x="740664" y="5605272"/>
            <a:ext cx="10680192" cy="5760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The first improvement I ever celebrated was a template change. I moved the docstring, re-ran, saw +4.2, and spent an evening feeling clever. The weights were identical. The template now lives in the config file and changing it counts as changing the experiment.</a:t>
            </a:r>
            <a:endParaRPr lang="en-US" sz="1150" dirty="0"/>
          </a:p>
        </p:txBody>
      </p:sp>
      <p:sp>
        <p:nvSpPr>
          <p:cNvPr id="20" name="Text 1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53</a:t>
            </a:r>
            <a:endParaRPr lang="en-US" sz="9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Stop tokens and the extraction regex — where points quietly vanish</a:t>
            </a:r>
            <a:endParaRPr lang="en-US" sz="2900" dirty="0"/>
          </a:p>
        </p:txBody>
      </p:sp>
      <p:sp>
        <p:nvSpPr>
          <p:cNvPr id="4" name="Shape 2"/>
          <p:cNvSpPr/>
          <p:nvPr/>
        </p:nvSpPr>
        <p:spPr>
          <a:xfrm>
            <a:off x="502920" y="128016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502920" y="1280160"/>
            <a:ext cx="91440" cy="667512"/>
          </a:xfrm>
          <a:prstGeom prst="rect">
            <a:avLst/>
          </a:prstGeom>
          <a:solidFill>
            <a:srgbClr val="8FB573"/>
          </a:solidFill>
          <a:ln/>
        </p:spPr>
      </p:sp>
      <p:sp>
        <p:nvSpPr>
          <p:cNvPr id="6" name="Text 4"/>
          <p:cNvSpPr/>
          <p:nvPr/>
        </p:nvSpPr>
        <p:spPr>
          <a:xfrm>
            <a:off x="822960" y="1389888"/>
            <a:ext cx="29260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Fenced block extraction</a:t>
            </a:r>
            <a:endParaRPr lang="en-US" sz="1250" dirty="0"/>
          </a:p>
        </p:txBody>
      </p:sp>
      <p:sp>
        <p:nvSpPr>
          <p:cNvPr id="7" name="Text 5"/>
          <p:cNvSpPr/>
          <p:nvPr/>
        </p:nvSpPr>
        <p:spPr>
          <a:xfrm>
            <a:off x="822960" y="1682496"/>
            <a:ext cx="29260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```python ... ```</a:t>
            </a:r>
            <a:endParaRPr lang="en-US" sz="950" dirty="0"/>
          </a:p>
        </p:txBody>
      </p:sp>
      <p:sp>
        <p:nvSpPr>
          <p:cNvPr id="8" name="Text 6"/>
          <p:cNvSpPr/>
          <p:nvPr/>
        </p:nvSpPr>
        <p:spPr>
          <a:xfrm>
            <a:off x="3977640" y="1371600"/>
            <a:ext cx="768096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Most instruct models wrap code in fences. Your extractor must handle: no fences, unlabeled fences, multiple blocks, unterminated fences.</a:t>
            </a:r>
            <a:endParaRPr lang="en-US" sz="1180" dirty="0"/>
          </a:p>
        </p:txBody>
      </p:sp>
      <p:sp>
        <p:nvSpPr>
          <p:cNvPr id="9" name="Shape 7"/>
          <p:cNvSpPr/>
          <p:nvPr/>
        </p:nvSpPr>
        <p:spPr>
          <a:xfrm>
            <a:off x="502920" y="2039112"/>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502920" y="2039112"/>
            <a:ext cx="91440" cy="667512"/>
          </a:xfrm>
          <a:prstGeom prst="rect">
            <a:avLst/>
          </a:prstGeom>
          <a:solidFill>
            <a:srgbClr val="A8482A"/>
          </a:solidFill>
          <a:ln/>
        </p:spPr>
      </p:sp>
      <p:sp>
        <p:nvSpPr>
          <p:cNvPr id="11" name="Text 9"/>
          <p:cNvSpPr/>
          <p:nvPr/>
        </p:nvSpPr>
        <p:spPr>
          <a:xfrm>
            <a:off x="822960" y="2148840"/>
            <a:ext cx="29260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Which block do you take?</a:t>
            </a:r>
            <a:endParaRPr lang="en-US" sz="1250" dirty="0"/>
          </a:p>
        </p:txBody>
      </p:sp>
      <p:sp>
        <p:nvSpPr>
          <p:cNvPr id="12" name="Text 10"/>
          <p:cNvSpPr/>
          <p:nvPr/>
        </p:nvSpPr>
        <p:spPr>
          <a:xfrm>
            <a:off x="822960" y="2441448"/>
            <a:ext cx="29260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first vs last vs longest</a:t>
            </a:r>
            <a:endParaRPr lang="en-US" sz="950" dirty="0"/>
          </a:p>
        </p:txBody>
      </p:sp>
      <p:sp>
        <p:nvSpPr>
          <p:cNvPr id="13" name="Text 11"/>
          <p:cNvSpPr/>
          <p:nvPr/>
        </p:nvSpPr>
        <p:spPr>
          <a:xfrm>
            <a:off x="3977640" y="2130552"/>
            <a:ext cx="768096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A model that explains, shows a wrong approach, then shows the right one will fail if you take the first block. Take the LAST complete block.</a:t>
            </a:r>
            <a:endParaRPr lang="en-US" sz="1180" dirty="0"/>
          </a:p>
        </p:txBody>
      </p:sp>
      <p:sp>
        <p:nvSpPr>
          <p:cNvPr id="14" name="Shape 12"/>
          <p:cNvSpPr/>
          <p:nvPr/>
        </p:nvSpPr>
        <p:spPr>
          <a:xfrm>
            <a:off x="502920" y="2798064"/>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502920" y="2798064"/>
            <a:ext cx="91440" cy="667512"/>
          </a:xfrm>
          <a:prstGeom prst="rect">
            <a:avLst/>
          </a:prstGeom>
          <a:solidFill>
            <a:srgbClr val="D98E32"/>
          </a:solidFill>
          <a:ln/>
        </p:spPr>
      </p:sp>
      <p:sp>
        <p:nvSpPr>
          <p:cNvPr id="16" name="Text 14"/>
          <p:cNvSpPr/>
          <p:nvPr/>
        </p:nvSpPr>
        <p:spPr>
          <a:xfrm>
            <a:off x="822960" y="2907792"/>
            <a:ext cx="29260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Stop sequences</a:t>
            </a:r>
            <a:endParaRPr lang="en-US" sz="1250" dirty="0"/>
          </a:p>
        </p:txBody>
      </p:sp>
      <p:sp>
        <p:nvSpPr>
          <p:cNvPr id="17" name="Text 15"/>
          <p:cNvSpPr/>
          <p:nvPr/>
        </p:nvSpPr>
        <p:spPr>
          <a:xfrm>
            <a:off x="822960" y="3200400"/>
            <a:ext cx="29260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'\ndef ', '\nclass ', '\nif __name__'</a:t>
            </a:r>
            <a:endParaRPr lang="en-US" sz="950" dirty="0"/>
          </a:p>
        </p:txBody>
      </p:sp>
      <p:sp>
        <p:nvSpPr>
          <p:cNvPr id="18" name="Text 16"/>
          <p:cNvSpPr/>
          <p:nvPr/>
        </p:nvSpPr>
        <p:spPr>
          <a:xfrm>
            <a:off x="3977640" y="2889504"/>
            <a:ext cx="768096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For raw-completion evaluation you must stop before the model writes the next function. Wrong stops truncate valid solutions.</a:t>
            </a:r>
            <a:endParaRPr lang="en-US" sz="1180" dirty="0"/>
          </a:p>
        </p:txBody>
      </p:sp>
      <p:sp>
        <p:nvSpPr>
          <p:cNvPr id="19" name="Shape 17"/>
          <p:cNvSpPr/>
          <p:nvPr/>
        </p:nvSpPr>
        <p:spPr>
          <a:xfrm>
            <a:off x="502920" y="3557016"/>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502920" y="3557016"/>
            <a:ext cx="91440" cy="667512"/>
          </a:xfrm>
          <a:prstGeom prst="rect">
            <a:avLst/>
          </a:prstGeom>
          <a:solidFill>
            <a:srgbClr val="A8482A"/>
          </a:solidFill>
          <a:ln/>
        </p:spPr>
      </p:sp>
      <p:sp>
        <p:nvSpPr>
          <p:cNvPr id="21" name="Text 19"/>
          <p:cNvSpPr/>
          <p:nvPr/>
        </p:nvSpPr>
        <p:spPr>
          <a:xfrm>
            <a:off x="822960" y="3666744"/>
            <a:ext cx="29260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Prompt echo</a:t>
            </a:r>
            <a:endParaRPr lang="en-US" sz="1250" dirty="0"/>
          </a:p>
        </p:txBody>
      </p:sp>
      <p:sp>
        <p:nvSpPr>
          <p:cNvPr id="22" name="Text 20"/>
          <p:cNvSpPr/>
          <p:nvPr/>
        </p:nvSpPr>
        <p:spPr>
          <a:xfrm>
            <a:off x="822960" y="3959352"/>
            <a:ext cx="29260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model repeats the signature</a:t>
            </a:r>
            <a:endParaRPr lang="en-US" sz="950" dirty="0"/>
          </a:p>
        </p:txBody>
      </p:sp>
      <p:sp>
        <p:nvSpPr>
          <p:cNvPr id="23" name="Text 21"/>
          <p:cNvSpPr/>
          <p:nvPr/>
        </p:nvSpPr>
        <p:spPr>
          <a:xfrm>
            <a:off x="3977640" y="3648456"/>
            <a:ext cx="768096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If the model re-emits the function signature and you also prepend it, you get a duplicate def and a syntax error on correct code.</a:t>
            </a:r>
            <a:endParaRPr lang="en-US" sz="1180" dirty="0"/>
          </a:p>
        </p:txBody>
      </p:sp>
      <p:sp>
        <p:nvSpPr>
          <p:cNvPr id="24" name="Shape 22"/>
          <p:cNvSpPr/>
          <p:nvPr/>
        </p:nvSpPr>
        <p:spPr>
          <a:xfrm>
            <a:off x="502920" y="4315968"/>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502920" y="4315968"/>
            <a:ext cx="91440" cy="667512"/>
          </a:xfrm>
          <a:prstGeom prst="rect">
            <a:avLst/>
          </a:prstGeom>
          <a:solidFill>
            <a:srgbClr val="D98E32"/>
          </a:solidFill>
          <a:ln/>
        </p:spPr>
      </p:sp>
      <p:sp>
        <p:nvSpPr>
          <p:cNvPr id="26" name="Text 24"/>
          <p:cNvSpPr/>
          <p:nvPr/>
        </p:nvSpPr>
        <p:spPr>
          <a:xfrm>
            <a:off x="822960" y="4425696"/>
            <a:ext cx="29260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Markdown leakage</a:t>
            </a:r>
            <a:endParaRPr lang="en-US" sz="1250" dirty="0"/>
          </a:p>
        </p:txBody>
      </p:sp>
      <p:sp>
        <p:nvSpPr>
          <p:cNvPr id="27" name="Text 25"/>
          <p:cNvSpPr/>
          <p:nvPr/>
        </p:nvSpPr>
        <p:spPr>
          <a:xfrm>
            <a:off x="822960" y="4718304"/>
            <a:ext cx="29260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prose inside the block</a:t>
            </a:r>
            <a:endParaRPr lang="en-US" sz="950" dirty="0"/>
          </a:p>
        </p:txBody>
      </p:sp>
      <p:sp>
        <p:nvSpPr>
          <p:cNvPr id="28" name="Text 26"/>
          <p:cNvSpPr/>
          <p:nvPr/>
        </p:nvSpPr>
        <p:spPr>
          <a:xfrm>
            <a:off x="3977640" y="4407408"/>
            <a:ext cx="768096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Explanatory text inside the fence breaks compilation. Strip non-code lines, or penalize it in training instead.</a:t>
            </a:r>
            <a:endParaRPr lang="en-US" sz="1180" dirty="0"/>
          </a:p>
        </p:txBody>
      </p:sp>
      <p:sp>
        <p:nvSpPr>
          <p:cNvPr id="29" name="Shape 27"/>
          <p:cNvSpPr/>
          <p:nvPr/>
        </p:nvSpPr>
        <p:spPr>
          <a:xfrm>
            <a:off x="502920" y="507492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502920" y="5074920"/>
            <a:ext cx="91440" cy="667512"/>
          </a:xfrm>
          <a:prstGeom prst="rect">
            <a:avLst/>
          </a:prstGeom>
          <a:solidFill>
            <a:srgbClr val="8FB573"/>
          </a:solidFill>
          <a:ln/>
        </p:spPr>
      </p:sp>
      <p:sp>
        <p:nvSpPr>
          <p:cNvPr id="31" name="Text 29"/>
          <p:cNvSpPr/>
          <p:nvPr/>
        </p:nvSpPr>
        <p:spPr>
          <a:xfrm>
            <a:off x="822960" y="5184648"/>
            <a:ext cx="29260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Log extraction failures separately</a:t>
            </a:r>
            <a:endParaRPr lang="en-US" sz="1250" dirty="0"/>
          </a:p>
        </p:txBody>
      </p:sp>
      <p:sp>
        <p:nvSpPr>
          <p:cNvPr id="32" name="Text 30"/>
          <p:cNvSpPr/>
          <p:nvPr/>
        </p:nvSpPr>
        <p:spPr>
          <a:xfrm>
            <a:off x="822960" y="5477256"/>
            <a:ext cx="29260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status='extract_fail'</a:t>
            </a:r>
            <a:endParaRPr lang="en-US" sz="950" dirty="0"/>
          </a:p>
        </p:txBody>
      </p:sp>
      <p:sp>
        <p:nvSpPr>
          <p:cNvPr id="33" name="Text 31"/>
          <p:cNvSpPr/>
          <p:nvPr/>
        </p:nvSpPr>
        <p:spPr>
          <a:xfrm>
            <a:off x="3977640" y="5166360"/>
            <a:ext cx="768096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If 8% of generations fail extraction, that is an 8-point ceiling on your score that has nothing to do with the model.</a:t>
            </a:r>
            <a:endParaRPr lang="en-US" sz="1180" dirty="0"/>
          </a:p>
        </p:txBody>
      </p:sp>
      <p:sp>
        <p:nvSpPr>
          <p:cNvPr id="34" name="Shape 32"/>
          <p:cNvSpPr/>
          <p:nvPr/>
        </p:nvSpPr>
        <p:spPr>
          <a:xfrm>
            <a:off x="502920" y="5852160"/>
            <a:ext cx="11155680" cy="777240"/>
          </a:xfrm>
          <a:prstGeom prst="roundRect">
            <a:avLst>
              <a:gd name="adj" fmla="val 8235"/>
            </a:avLst>
          </a:prstGeom>
          <a:solidFill>
            <a:srgbClr val="1F3D2E"/>
          </a:solidFill>
          <a:ln/>
        </p:spPr>
      </p:sp>
      <p:sp>
        <p:nvSpPr>
          <p:cNvPr id="35" name="Shape 33"/>
          <p:cNvSpPr/>
          <p:nvPr/>
        </p:nvSpPr>
        <p:spPr>
          <a:xfrm>
            <a:off x="740664" y="6035040"/>
            <a:ext cx="292608" cy="292608"/>
          </a:xfrm>
          <a:prstGeom prst="ellipse">
            <a:avLst/>
          </a:prstGeom>
          <a:solidFill>
            <a:srgbClr val="1F3D2E"/>
          </a:solidFill>
          <a:ln/>
        </p:spPr>
      </p:sp>
      <p:sp>
        <p:nvSpPr>
          <p:cNvPr id="36" name="Text 34"/>
          <p:cNvSpPr/>
          <p:nvPr/>
        </p:nvSpPr>
        <p:spPr>
          <a:xfrm>
            <a:off x="740664" y="60350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37" name="Text 35"/>
          <p:cNvSpPr/>
          <p:nvPr/>
        </p:nvSpPr>
        <p:spPr>
          <a:xfrm>
            <a:off x="1133856" y="60533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38" name="Text 36"/>
          <p:cNvSpPr/>
          <p:nvPr/>
        </p:nvSpPr>
        <p:spPr>
          <a:xfrm>
            <a:off x="740664" y="6428232"/>
            <a:ext cx="10680192" cy="274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lost 4 points to an extractor that took the first fenced block. The model was explaining a naive approach first, then giving the good one.</a:t>
            </a:r>
            <a:endParaRPr lang="en-US" sz="1150" dirty="0"/>
          </a:p>
        </p:txBody>
      </p:sp>
      <p:sp>
        <p:nvSpPr>
          <p:cNvPr id="39" name="Text 3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54</a:t>
            </a:r>
            <a:endParaRPr lang="en-US" sz="9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Greedy vs sampled evaluation</a:t>
            </a:r>
            <a:endParaRPr lang="en-US" sz="2900" dirty="0"/>
          </a:p>
        </p:txBody>
      </p:sp>
      <p:sp>
        <p:nvSpPr>
          <p:cNvPr id="4" name="Shape 2"/>
          <p:cNvSpPr/>
          <p:nvPr/>
        </p:nvSpPr>
        <p:spPr>
          <a:xfrm>
            <a:off x="502920" y="1280160"/>
            <a:ext cx="5486400" cy="2560320"/>
          </a:xfrm>
          <a:prstGeom prst="roundRect">
            <a:avLst>
              <a:gd name="adj" fmla="val 25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GREEDY (temperature = 0)</a:t>
            </a:r>
            <a:endParaRPr lang="en-US" sz="1250" dirty="0"/>
          </a:p>
        </p:txBody>
      </p:sp>
      <p:sp>
        <p:nvSpPr>
          <p:cNvPr id="6" name="Text 4"/>
          <p:cNvSpPr/>
          <p:nvPr/>
        </p:nvSpPr>
        <p:spPr>
          <a:xfrm>
            <a:off x="758952" y="1810512"/>
            <a:ext cx="4974336" cy="186537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Deterministic — same input, same output, every time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Zero seed variance from sampling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The right choice for pass@1 and for regression tests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Fast: one generation per problem</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Can get stuck in degenerate repetition loops</a:t>
            </a:r>
            <a:endParaRPr lang="en-US" sz="1150" dirty="0"/>
          </a:p>
        </p:txBody>
      </p:sp>
      <p:sp>
        <p:nvSpPr>
          <p:cNvPr id="7" name="Shape 5"/>
          <p:cNvSpPr/>
          <p:nvPr/>
        </p:nvSpPr>
        <p:spPr>
          <a:xfrm>
            <a:off x="6172200" y="1280160"/>
            <a:ext cx="5486400" cy="2560320"/>
          </a:xfrm>
          <a:prstGeom prst="roundRect">
            <a:avLst>
              <a:gd name="adj" fmla="val 25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SAMPLED (temperature &gt; 0)</a:t>
            </a:r>
            <a:endParaRPr lang="en-US" sz="1250" dirty="0"/>
          </a:p>
        </p:txBody>
      </p:sp>
      <p:sp>
        <p:nvSpPr>
          <p:cNvPr id="9" name="Text 7"/>
          <p:cNvSpPr/>
          <p:nvPr/>
        </p:nvSpPr>
        <p:spPr>
          <a:xfrm>
            <a:off x="6428232" y="1810512"/>
            <a:ext cx="4974336" cy="186537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Required for pass@k with k &gt; 1</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n=20 at temp 0.6–0.8 is a common setting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Reveals the model's actual output distribution</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20x the compute of greedy</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Introduces sampling variance on top of seed variance</a:t>
            </a:r>
            <a:endParaRPr lang="en-US" sz="1150" dirty="0"/>
          </a:p>
        </p:txBody>
      </p:sp>
      <p:sp>
        <p:nvSpPr>
          <p:cNvPr id="10" name="Shape 8"/>
          <p:cNvSpPr/>
          <p:nvPr/>
        </p:nvSpPr>
        <p:spPr>
          <a:xfrm>
            <a:off x="502920" y="4069080"/>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9"/>
          <p:cNvSpPr/>
          <p:nvPr/>
        </p:nvSpPr>
        <p:spPr>
          <a:xfrm>
            <a:off x="502920" y="4069080"/>
            <a:ext cx="91440" cy="621792"/>
          </a:xfrm>
          <a:prstGeom prst="rect">
            <a:avLst/>
          </a:prstGeom>
          <a:solidFill>
            <a:srgbClr val="8FB573"/>
          </a:solidFill>
          <a:ln/>
        </p:spPr>
      </p:sp>
      <p:sp>
        <p:nvSpPr>
          <p:cNvPr id="12" name="Text 10"/>
          <p:cNvSpPr/>
          <p:nvPr/>
        </p:nvSpPr>
        <p:spPr>
          <a:xfrm>
            <a:off x="822960" y="4178808"/>
            <a:ext cx="237744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Daily iteration</a:t>
            </a:r>
            <a:endParaRPr lang="en-US" sz="1250" dirty="0"/>
          </a:p>
        </p:txBody>
      </p:sp>
      <p:sp>
        <p:nvSpPr>
          <p:cNvPr id="13" name="Text 11"/>
          <p:cNvSpPr/>
          <p:nvPr/>
        </p:nvSpPr>
        <p:spPr>
          <a:xfrm>
            <a:off x="822960" y="4471416"/>
            <a:ext cx="237744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greedy, pass@1</a:t>
            </a:r>
            <a:endParaRPr lang="en-US" sz="950" dirty="0"/>
          </a:p>
        </p:txBody>
      </p:sp>
      <p:sp>
        <p:nvSpPr>
          <p:cNvPr id="14" name="Text 12"/>
          <p:cNvSpPr/>
          <p:nvPr/>
        </p:nvSpPr>
        <p:spPr>
          <a:xfrm>
            <a:off x="3429000" y="4160520"/>
            <a:ext cx="822960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Fast, deterministic, and sensitive enough to catch regressions. This is 90% of your eval runs.</a:t>
            </a:r>
            <a:endParaRPr lang="en-US" sz="1180" dirty="0"/>
          </a:p>
        </p:txBody>
      </p:sp>
      <p:sp>
        <p:nvSpPr>
          <p:cNvPr id="15" name="Shape 13"/>
          <p:cNvSpPr/>
          <p:nvPr/>
        </p:nvSpPr>
        <p:spPr>
          <a:xfrm>
            <a:off x="502920" y="4782312"/>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4"/>
          <p:cNvSpPr/>
          <p:nvPr/>
        </p:nvSpPr>
        <p:spPr>
          <a:xfrm>
            <a:off x="502920" y="4782312"/>
            <a:ext cx="91440" cy="621792"/>
          </a:xfrm>
          <a:prstGeom prst="rect">
            <a:avLst/>
          </a:prstGeom>
          <a:solidFill>
            <a:srgbClr val="8FB573"/>
          </a:solidFill>
          <a:ln/>
        </p:spPr>
      </p:sp>
      <p:sp>
        <p:nvSpPr>
          <p:cNvPr id="17" name="Text 15"/>
          <p:cNvSpPr/>
          <p:nvPr/>
        </p:nvSpPr>
        <p:spPr>
          <a:xfrm>
            <a:off x="822960" y="4892040"/>
            <a:ext cx="237744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Phase gates</a:t>
            </a:r>
            <a:endParaRPr lang="en-US" sz="1250" dirty="0"/>
          </a:p>
        </p:txBody>
      </p:sp>
      <p:sp>
        <p:nvSpPr>
          <p:cNvPr id="18" name="Text 16"/>
          <p:cNvSpPr/>
          <p:nvPr/>
        </p:nvSpPr>
        <p:spPr>
          <a:xfrm>
            <a:off x="822960" y="5184648"/>
            <a:ext cx="237744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n=20, temp 0.8, pass@1/5/10</a:t>
            </a:r>
            <a:endParaRPr lang="en-US" sz="950" dirty="0"/>
          </a:p>
        </p:txBody>
      </p:sp>
      <p:sp>
        <p:nvSpPr>
          <p:cNvPr id="19" name="Text 17"/>
          <p:cNvSpPr/>
          <p:nvPr/>
        </p:nvSpPr>
        <p:spPr>
          <a:xfrm>
            <a:off x="3429000" y="4873752"/>
            <a:ext cx="822960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Once per phase. Expensive, but tells you about diversity as well as accuracy.</a:t>
            </a:r>
            <a:endParaRPr lang="en-US" sz="1180" dirty="0"/>
          </a:p>
        </p:txBody>
      </p:sp>
      <p:sp>
        <p:nvSpPr>
          <p:cNvPr id="20" name="Shape 18"/>
          <p:cNvSpPr/>
          <p:nvPr/>
        </p:nvSpPr>
        <p:spPr>
          <a:xfrm>
            <a:off x="502920" y="5495544"/>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Shape 19"/>
          <p:cNvSpPr/>
          <p:nvPr/>
        </p:nvSpPr>
        <p:spPr>
          <a:xfrm>
            <a:off x="502920" y="5495544"/>
            <a:ext cx="91440" cy="621792"/>
          </a:xfrm>
          <a:prstGeom prst="rect">
            <a:avLst/>
          </a:prstGeom>
          <a:solidFill>
            <a:srgbClr val="A8482A"/>
          </a:solidFill>
          <a:ln/>
        </p:spPr>
      </p:sp>
      <p:sp>
        <p:nvSpPr>
          <p:cNvPr id="22" name="Text 20"/>
          <p:cNvSpPr/>
          <p:nvPr/>
        </p:nvSpPr>
        <p:spPr>
          <a:xfrm>
            <a:off x="822960" y="5605272"/>
            <a:ext cx="237744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Never mix them</a:t>
            </a:r>
            <a:endParaRPr lang="en-US" sz="1250" dirty="0"/>
          </a:p>
        </p:txBody>
      </p:sp>
      <p:sp>
        <p:nvSpPr>
          <p:cNvPr id="23" name="Text 21"/>
          <p:cNvSpPr/>
          <p:nvPr/>
        </p:nvSpPr>
        <p:spPr>
          <a:xfrm>
            <a:off x="822960" y="5897880"/>
            <a:ext cx="237744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in one comparison</a:t>
            </a:r>
            <a:endParaRPr lang="en-US" sz="950" dirty="0"/>
          </a:p>
        </p:txBody>
      </p:sp>
      <p:sp>
        <p:nvSpPr>
          <p:cNvPr id="24" name="Text 22"/>
          <p:cNvSpPr/>
          <p:nvPr/>
        </p:nvSpPr>
        <p:spPr>
          <a:xfrm>
            <a:off x="3429000" y="5586984"/>
            <a:ext cx="822960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Comparing a greedy baseline against a sampled checkpoint is not a comparison. It happens constantly.</a:t>
            </a:r>
            <a:endParaRPr lang="en-US" sz="1180" dirty="0"/>
          </a:p>
        </p:txBody>
      </p:sp>
      <p:sp>
        <p:nvSpPr>
          <p:cNvPr id="25" name="Text 2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55</a:t>
            </a:r>
            <a:endParaRPr lang="en-US" sz="9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Harnesses — use one, then wrap it</a:t>
            </a:r>
            <a:endParaRPr lang="en-US" sz="2900" dirty="0"/>
          </a:p>
        </p:txBody>
      </p:sp>
      <p:sp>
        <p:nvSpPr>
          <p:cNvPr id="4" name="Shape 2"/>
          <p:cNvSpPr/>
          <p:nvPr/>
        </p:nvSpPr>
        <p:spPr>
          <a:xfrm>
            <a:off x="502920" y="1280160"/>
            <a:ext cx="5504688"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evalplus</a:t>
            </a:r>
            <a:endParaRPr lang="en-US" sz="1250" dirty="0"/>
          </a:p>
        </p:txBody>
      </p:sp>
      <p:sp>
        <p:nvSpPr>
          <p:cNvPr id="6" name="Text 4"/>
          <p:cNvSpPr/>
          <p:nvPr/>
        </p:nvSpPr>
        <p:spPr>
          <a:xfrm>
            <a:off x="722376" y="1737360"/>
            <a:ext cx="5065776"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pip install evalplus. Handles HumanEval+/MBPP+ end to end: generation, extraction, execution, scoring. Start here.</a:t>
            </a:r>
            <a:endParaRPr lang="en-US" sz="1100" dirty="0"/>
          </a:p>
        </p:txBody>
      </p:sp>
      <p:sp>
        <p:nvSpPr>
          <p:cNvPr id="7" name="Shape 5"/>
          <p:cNvSpPr/>
          <p:nvPr/>
        </p:nvSpPr>
        <p:spPr>
          <a:xfrm>
            <a:off x="6153912" y="1280160"/>
            <a:ext cx="5504688"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373368" y="1426464"/>
            <a:ext cx="5065776"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bigcode-evaluation-harness</a:t>
            </a:r>
            <a:endParaRPr lang="en-US" sz="1250" dirty="0"/>
          </a:p>
        </p:txBody>
      </p:sp>
      <p:sp>
        <p:nvSpPr>
          <p:cNvPr id="9" name="Text 7"/>
          <p:cNvSpPr/>
          <p:nvPr/>
        </p:nvSpPr>
        <p:spPr>
          <a:xfrm>
            <a:off x="6373368" y="1737360"/>
            <a:ext cx="5065776"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Broader benchmark coverage, more configuration surface, more moving parts. Reach for it when evalplus is not enough.</a:t>
            </a:r>
            <a:endParaRPr lang="en-US" sz="1100" dirty="0"/>
          </a:p>
        </p:txBody>
      </p:sp>
      <p:sp>
        <p:nvSpPr>
          <p:cNvPr id="10" name="Shape 8"/>
          <p:cNvSpPr/>
          <p:nvPr/>
        </p:nvSpPr>
        <p:spPr>
          <a:xfrm>
            <a:off x="502920" y="2660904"/>
            <a:ext cx="5504688"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722376" y="2807208"/>
            <a:ext cx="5065776"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lm-evaluation-harness</a:t>
            </a:r>
            <a:endParaRPr lang="en-US" sz="1250" dirty="0"/>
          </a:p>
        </p:txBody>
      </p:sp>
      <p:sp>
        <p:nvSpPr>
          <p:cNvPr id="12" name="Text 10"/>
          <p:cNvSpPr/>
          <p:nvPr/>
        </p:nvSpPr>
        <p:spPr>
          <a:xfrm>
            <a:off x="722376" y="3118104"/>
            <a:ext cx="5065776"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General LLM eval; weaker for code specifically. Useful for your catastrophic-forgetting regression checks.</a:t>
            </a:r>
            <a:endParaRPr lang="en-US" sz="1100" dirty="0"/>
          </a:p>
        </p:txBody>
      </p:sp>
      <p:sp>
        <p:nvSpPr>
          <p:cNvPr id="13" name="Shape 11"/>
          <p:cNvSpPr/>
          <p:nvPr/>
        </p:nvSpPr>
        <p:spPr>
          <a:xfrm>
            <a:off x="6153912" y="2660904"/>
            <a:ext cx="5504688"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6373368" y="2807208"/>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Your own thin wrapper</a:t>
            </a:r>
            <a:endParaRPr lang="en-US" sz="1250" dirty="0"/>
          </a:p>
        </p:txBody>
      </p:sp>
      <p:sp>
        <p:nvSpPr>
          <p:cNvPr id="15" name="Text 13"/>
          <p:cNvSpPr/>
          <p:nvPr/>
        </p:nvSpPr>
        <p:spPr>
          <a:xfrm>
            <a:off x="6373368" y="3118104"/>
            <a:ext cx="5065776"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One entrypoint that runs all of the above plus your custom set, writes one JSON, and logs to W&amp;B. Build this on day one of Phase 4.</a:t>
            </a:r>
            <a:endParaRPr lang="en-US" sz="1100" dirty="0"/>
          </a:p>
        </p:txBody>
      </p:sp>
      <p:sp>
        <p:nvSpPr>
          <p:cNvPr id="16" name="Shape 14"/>
          <p:cNvSpPr/>
          <p:nvPr/>
        </p:nvSpPr>
        <p:spPr>
          <a:xfrm>
            <a:off x="502920" y="3931920"/>
            <a:ext cx="11155680" cy="1691640"/>
          </a:xfrm>
          <a:prstGeom prst="roundRect">
            <a:avLst>
              <a:gd name="adj" fmla="val 3243"/>
            </a:avLst>
          </a:prstGeom>
          <a:solidFill>
            <a:srgbClr val="0F1F17"/>
          </a:solidFill>
          <a:ln/>
        </p:spPr>
      </p:sp>
      <p:sp>
        <p:nvSpPr>
          <p:cNvPr id="17" name="Text 15"/>
          <p:cNvSpPr/>
          <p:nvPr/>
        </p:nvSpPr>
        <p:spPr>
          <a:xfrm>
            <a:off x="722376" y="4078224"/>
            <a:ext cx="10716768" cy="139903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src/eval/harness.py — the interface everything else calls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def evaluate(model_path, suites=('humaneval+','mbpp+','custom'), seeds=(0,1,2),</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temperature=0.0, n=1, template='qwen-chatml-v1') -&gt; dict: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"""Returns {suite: {'pass@1': mean, 'pass@1_std': std, 'n_extract_fail': int,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Writes results/&lt;run_id&gt;.json AND logs to W&amp;B. One call site for the whole project."""</a:t>
            </a:r>
            <a:endParaRPr lang="en-US" sz="1000" dirty="0"/>
          </a:p>
        </p:txBody>
      </p:sp>
      <p:sp>
        <p:nvSpPr>
          <p:cNvPr id="18" name="Shape 16"/>
          <p:cNvSpPr/>
          <p:nvPr/>
        </p:nvSpPr>
        <p:spPr>
          <a:xfrm>
            <a:off x="502920" y="5852160"/>
            <a:ext cx="11155680" cy="566928"/>
          </a:xfrm>
          <a:prstGeom prst="roundRect">
            <a:avLst>
              <a:gd name="adj" fmla="val 9677"/>
            </a:avLst>
          </a:prstGeom>
          <a:solidFill>
            <a:srgbClr val="8FB573"/>
          </a:solidFill>
          <a:ln/>
        </p:spPr>
      </p:sp>
      <p:sp>
        <p:nvSpPr>
          <p:cNvPr id="19" name="Text 17"/>
          <p:cNvSpPr/>
          <p:nvPr/>
        </p:nvSpPr>
        <p:spPr>
          <a:xfrm>
            <a:off x="777240" y="585216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One function. Every phase calls it. If evaluation is more than one call, you will do it less often than you should.</a:t>
            </a:r>
            <a:endParaRPr lang="en-US" sz="1450" dirty="0"/>
          </a:p>
        </p:txBody>
      </p:sp>
      <p:sp>
        <p:nvSpPr>
          <p:cNvPr id="20" name="Text 1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56</a:t>
            </a:r>
            <a:endParaRPr lang="en-US" sz="9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LLM-as-judge for code — when it helps, when it lies</a:t>
            </a:r>
            <a:endParaRPr lang="en-US" sz="2900" dirty="0"/>
          </a:p>
        </p:txBody>
      </p:sp>
      <p:sp>
        <p:nvSpPr>
          <p:cNvPr id="4" name="Shape 2"/>
          <p:cNvSpPr/>
          <p:nvPr/>
        </p:nvSpPr>
        <p:spPr>
          <a:xfrm>
            <a:off x="502920" y="1280160"/>
            <a:ext cx="5486400" cy="2651760"/>
          </a:xfrm>
          <a:prstGeom prst="roundRect">
            <a:avLst>
              <a:gd name="adj" fmla="val 241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USE A JUDGE FOR</a:t>
            </a:r>
            <a:endParaRPr lang="en-US" sz="1250" dirty="0"/>
          </a:p>
        </p:txBody>
      </p:sp>
      <p:sp>
        <p:nvSpPr>
          <p:cNvPr id="6" name="Text 4"/>
          <p:cNvSpPr/>
          <p:nvPr/>
        </p:nvSpPr>
        <p:spPr>
          <a:xfrm>
            <a:off x="758952" y="1810512"/>
            <a:ext cx="4974336" cy="19568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Code quality, readability, idiom</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Whether an explanation is actually correct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Style adherence and naming conventions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Preference pairs where BOTH solutions pass tests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Anything with no mechanical checker</a:t>
            </a:r>
            <a:endParaRPr lang="en-US" sz="1150" dirty="0"/>
          </a:p>
        </p:txBody>
      </p:sp>
      <p:sp>
        <p:nvSpPr>
          <p:cNvPr id="7" name="Shape 5"/>
          <p:cNvSpPr/>
          <p:nvPr/>
        </p:nvSpPr>
        <p:spPr>
          <a:xfrm>
            <a:off x="6172200" y="1280160"/>
            <a:ext cx="5486400" cy="2651760"/>
          </a:xfrm>
          <a:prstGeom prst="roundRect">
            <a:avLst>
              <a:gd name="adj" fmla="val 241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NEVER USE A JUDGE FOR</a:t>
            </a:r>
            <a:endParaRPr lang="en-US" sz="1250" dirty="0"/>
          </a:p>
        </p:txBody>
      </p:sp>
      <p:sp>
        <p:nvSpPr>
          <p:cNvPr id="9" name="Text 7"/>
          <p:cNvSpPr/>
          <p:nvPr/>
        </p:nvSpPr>
        <p:spPr>
          <a:xfrm>
            <a:off x="6428232" y="1810512"/>
            <a:ext cx="4974336" cy="19568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Correctness — you have a compiler and tests. Use them.</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Anything you can verify mechanically. Ever.</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Your primary reported metric</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Comparing models from the judge's own family</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Reward in RLVR — the V stands for verifiable</a:t>
            </a:r>
            <a:endParaRPr lang="en-US" sz="1150" dirty="0"/>
          </a:p>
        </p:txBody>
      </p:sp>
      <p:sp>
        <p:nvSpPr>
          <p:cNvPr id="10" name="Shape 8"/>
          <p:cNvSpPr/>
          <p:nvPr/>
        </p:nvSpPr>
        <p:spPr>
          <a:xfrm>
            <a:off x="502920" y="4160520"/>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9"/>
          <p:cNvSpPr/>
          <p:nvPr/>
        </p:nvSpPr>
        <p:spPr>
          <a:xfrm>
            <a:off x="502920" y="4160520"/>
            <a:ext cx="91440" cy="621792"/>
          </a:xfrm>
          <a:prstGeom prst="rect">
            <a:avLst/>
          </a:prstGeom>
          <a:solidFill>
            <a:srgbClr val="A8482A"/>
          </a:solidFill>
          <a:ln/>
        </p:spPr>
      </p:sp>
      <p:sp>
        <p:nvSpPr>
          <p:cNvPr id="12" name="Text 10"/>
          <p:cNvSpPr/>
          <p:nvPr/>
        </p:nvSpPr>
        <p:spPr>
          <a:xfrm>
            <a:off x="822960" y="4270248"/>
            <a:ext cx="21945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Position bias</a:t>
            </a:r>
            <a:endParaRPr lang="en-US" sz="1250" dirty="0"/>
          </a:p>
        </p:txBody>
      </p:sp>
      <p:sp>
        <p:nvSpPr>
          <p:cNvPr id="13" name="Text 11"/>
          <p:cNvSpPr/>
          <p:nvPr/>
        </p:nvSpPr>
        <p:spPr>
          <a:xfrm>
            <a:off x="822960" y="4562856"/>
            <a:ext cx="21945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A vs B ordering</a:t>
            </a:r>
            <a:endParaRPr lang="en-US" sz="950" dirty="0"/>
          </a:p>
        </p:txBody>
      </p:sp>
      <p:sp>
        <p:nvSpPr>
          <p:cNvPr id="14" name="Text 12"/>
          <p:cNvSpPr/>
          <p:nvPr/>
        </p:nvSpPr>
        <p:spPr>
          <a:xfrm>
            <a:off x="3246120" y="4251960"/>
            <a:ext cx="841248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Judges systematically favor whichever answer appears first. Always evaluate both orderings and average.</a:t>
            </a:r>
            <a:endParaRPr lang="en-US" sz="1180" dirty="0"/>
          </a:p>
        </p:txBody>
      </p:sp>
      <p:sp>
        <p:nvSpPr>
          <p:cNvPr id="15" name="Shape 13"/>
          <p:cNvSpPr/>
          <p:nvPr/>
        </p:nvSpPr>
        <p:spPr>
          <a:xfrm>
            <a:off x="502920" y="4873752"/>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4"/>
          <p:cNvSpPr/>
          <p:nvPr/>
        </p:nvSpPr>
        <p:spPr>
          <a:xfrm>
            <a:off x="502920" y="4873752"/>
            <a:ext cx="91440" cy="621792"/>
          </a:xfrm>
          <a:prstGeom prst="rect">
            <a:avLst/>
          </a:prstGeom>
          <a:solidFill>
            <a:srgbClr val="A8482A"/>
          </a:solidFill>
          <a:ln/>
        </p:spPr>
      </p:sp>
      <p:sp>
        <p:nvSpPr>
          <p:cNvPr id="17" name="Text 15"/>
          <p:cNvSpPr/>
          <p:nvPr/>
        </p:nvSpPr>
        <p:spPr>
          <a:xfrm>
            <a:off x="822960" y="4983480"/>
            <a:ext cx="21945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Length bias</a:t>
            </a:r>
            <a:endParaRPr lang="en-US" sz="1250" dirty="0"/>
          </a:p>
        </p:txBody>
      </p:sp>
      <p:sp>
        <p:nvSpPr>
          <p:cNvPr id="18" name="Text 16"/>
          <p:cNvSpPr/>
          <p:nvPr/>
        </p:nvSpPr>
        <p:spPr>
          <a:xfrm>
            <a:off x="822960" y="5276088"/>
            <a:ext cx="21945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longer = better</a:t>
            </a:r>
            <a:endParaRPr lang="en-US" sz="950" dirty="0"/>
          </a:p>
        </p:txBody>
      </p:sp>
      <p:sp>
        <p:nvSpPr>
          <p:cNvPr id="19" name="Text 17"/>
          <p:cNvSpPr/>
          <p:nvPr/>
        </p:nvSpPr>
        <p:spPr>
          <a:xfrm>
            <a:off x="3246120" y="4965192"/>
            <a:ext cx="841248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Judges reliably prefer longer answers regardless of quality. This compounds with DPO's verbosity bias catastrophically.</a:t>
            </a:r>
            <a:endParaRPr lang="en-US" sz="1180" dirty="0"/>
          </a:p>
        </p:txBody>
      </p:sp>
      <p:sp>
        <p:nvSpPr>
          <p:cNvPr id="20" name="Shape 18"/>
          <p:cNvSpPr/>
          <p:nvPr/>
        </p:nvSpPr>
        <p:spPr>
          <a:xfrm>
            <a:off x="502920" y="5586984"/>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Shape 19"/>
          <p:cNvSpPr/>
          <p:nvPr/>
        </p:nvSpPr>
        <p:spPr>
          <a:xfrm>
            <a:off x="502920" y="5586984"/>
            <a:ext cx="91440" cy="621792"/>
          </a:xfrm>
          <a:prstGeom prst="rect">
            <a:avLst/>
          </a:prstGeom>
          <a:solidFill>
            <a:srgbClr val="A8482A"/>
          </a:solidFill>
          <a:ln/>
        </p:spPr>
      </p:sp>
      <p:sp>
        <p:nvSpPr>
          <p:cNvPr id="22" name="Text 20"/>
          <p:cNvSpPr/>
          <p:nvPr/>
        </p:nvSpPr>
        <p:spPr>
          <a:xfrm>
            <a:off x="822960" y="5696712"/>
            <a:ext cx="21945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Self-preference</a:t>
            </a:r>
            <a:endParaRPr lang="en-US" sz="1250" dirty="0"/>
          </a:p>
        </p:txBody>
      </p:sp>
      <p:sp>
        <p:nvSpPr>
          <p:cNvPr id="23" name="Text 21"/>
          <p:cNvSpPr/>
          <p:nvPr/>
        </p:nvSpPr>
        <p:spPr>
          <a:xfrm>
            <a:off x="822960" y="5989320"/>
            <a:ext cx="21945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same family</a:t>
            </a:r>
            <a:endParaRPr lang="en-US" sz="950" dirty="0"/>
          </a:p>
        </p:txBody>
      </p:sp>
      <p:sp>
        <p:nvSpPr>
          <p:cNvPr id="24" name="Text 22"/>
          <p:cNvSpPr/>
          <p:nvPr/>
        </p:nvSpPr>
        <p:spPr>
          <a:xfrm>
            <a:off x="3246120" y="5678424"/>
            <a:ext cx="841248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Models rate their own family's output higher. Never judge a Qwen student with a Qwen teacher for a headline number.</a:t>
            </a:r>
            <a:endParaRPr lang="en-US" sz="1180" dirty="0"/>
          </a:p>
        </p:txBody>
      </p:sp>
      <p:sp>
        <p:nvSpPr>
          <p:cNvPr id="25" name="Text 2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57</a:t>
            </a:r>
            <a:endParaRPr lang="en-US" sz="9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Regression suites and catastrophic forgetting</a:t>
            </a:r>
            <a:endParaRPr lang="en-US" sz="2900" dirty="0"/>
          </a:p>
        </p:txBody>
      </p:sp>
      <p:sp>
        <p:nvSpPr>
          <p:cNvPr id="4" name="Text 2"/>
          <p:cNvSpPr/>
          <p:nvPr/>
        </p:nvSpPr>
        <p:spPr>
          <a:xfrm>
            <a:off x="502920" y="1280160"/>
            <a:ext cx="11155680" cy="59436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Fine-tuning on code makes a model better at code and quietly worse at everything else. If you only measure code, you will never see the cost — and you will ship a model that cannot hold a conversation.</a:t>
            </a:r>
            <a:endParaRPr lang="en-US" sz="135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11155680" cy="914400"/>
        </p:xfrm>
        <a:graphic>
          <a:graphicData uri="http://schemas.openxmlformats.org/drawingml/2006/table">
            <a:tbl>
              <a:tblPr/>
              <a:tblGrid>
                <a:gridCol w="4206240"/>
                <a:gridCol w="4480560"/>
                <a:gridCol w="246888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Check</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catches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Run it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General benchmark subset (e.g. MMLU 500q)</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Broad capability loss from narrow fine-tuning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Every checkpoint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Instruction-following (IFEval-style)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Loss of ability to follow formatting constraints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Every phase gate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 fixed 20-prompt smoke set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Obvious breakage: endless generation, garbage, template collapse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Every checkpoint, eyeball it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Output length distribution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Verbosity drift, especially after DPO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Every checkpoint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Non-Python code (MultiPL-E subset)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Over-specialization to a single language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Every phase gate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previous phase's eval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Direct regression against what you already had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Every checkpoint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4663440"/>
            <a:ext cx="11155680" cy="566928"/>
          </a:xfrm>
          <a:prstGeom prst="roundRect">
            <a:avLst>
              <a:gd name="adj" fmla="val 9677"/>
            </a:avLst>
          </a:prstGeom>
          <a:solidFill>
            <a:srgbClr val="8FB573"/>
          </a:solidFill>
          <a:ln/>
        </p:spPr>
      </p:sp>
      <p:sp>
        <p:nvSpPr>
          <p:cNvPr id="7" name="Text 4"/>
          <p:cNvSpPr/>
          <p:nvPr/>
        </p:nvSpPr>
        <p:spPr>
          <a:xfrm>
            <a:off x="777240" y="466344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Mitigation: mix 5–15% general instruction data into your code SFT. It costs a little code performance and buys back most of the general ability.</a:t>
            </a:r>
            <a:endParaRPr lang="en-US" sz="1450" dirty="0"/>
          </a:p>
        </p:txBody>
      </p:sp>
      <p:sp>
        <p:nvSpPr>
          <p:cNvPr id="8" name="Shape 5"/>
          <p:cNvSpPr/>
          <p:nvPr/>
        </p:nvSpPr>
        <p:spPr>
          <a:xfrm>
            <a:off x="502920" y="5394960"/>
            <a:ext cx="11155680" cy="960120"/>
          </a:xfrm>
          <a:prstGeom prst="roundRect">
            <a:avLst>
              <a:gd name="adj" fmla="val 6667"/>
            </a:avLst>
          </a:prstGeom>
          <a:solidFill>
            <a:srgbClr val="1F3D2E"/>
          </a:solidFill>
          <a:ln/>
        </p:spPr>
      </p:sp>
      <p:sp>
        <p:nvSpPr>
          <p:cNvPr id="9" name="Shape 6"/>
          <p:cNvSpPr/>
          <p:nvPr/>
        </p:nvSpPr>
        <p:spPr>
          <a:xfrm>
            <a:off x="740664" y="5577840"/>
            <a:ext cx="292608" cy="292608"/>
          </a:xfrm>
          <a:prstGeom prst="ellipse">
            <a:avLst/>
          </a:prstGeom>
          <a:solidFill>
            <a:srgbClr val="1F3D2E"/>
          </a:solidFill>
          <a:ln/>
        </p:spPr>
      </p:sp>
      <p:sp>
        <p:nvSpPr>
          <p:cNvPr id="10" name="Text 7"/>
          <p:cNvSpPr/>
          <p:nvPr/>
        </p:nvSpPr>
        <p:spPr>
          <a:xfrm>
            <a:off x="740664" y="55778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1" name="Text 8"/>
          <p:cNvSpPr/>
          <p:nvPr/>
        </p:nvSpPr>
        <p:spPr>
          <a:xfrm>
            <a:off x="1133856" y="55961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2" name="Text 9"/>
          <p:cNvSpPr/>
          <p:nvPr/>
        </p:nvSpPr>
        <p:spPr>
          <a:xfrm>
            <a:off x="740664" y="5971032"/>
            <a:ext cx="10680192" cy="21031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My best code checkpoint could no longer answer 'what is the capital of France' in a complete sentence. It had become a function-emitting appliance. That is a legitimate design choice — but it should be a choice, not a surprise.</a:t>
            </a:r>
            <a:endParaRPr lang="en-US" sz="1150" dirty="0"/>
          </a:p>
        </p:txBody>
      </p:sp>
      <p:sp>
        <p:nvSpPr>
          <p:cNvPr id="13" name="Text 10"/>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58</a:t>
            </a:r>
            <a:endParaRPr lang="en-US" sz="9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Evaluation — path and traps</a:t>
            </a:r>
            <a:endParaRPr lang="en-US" sz="2900" dirty="0"/>
          </a:p>
        </p:txBody>
      </p:sp>
      <p:sp>
        <p:nvSpPr>
          <p:cNvPr id="4" name="Shape 2"/>
          <p:cNvSpPr/>
          <p:nvPr/>
        </p:nvSpPr>
        <p:spPr>
          <a:xfrm>
            <a:off x="502920" y="1335024"/>
            <a:ext cx="292608" cy="292608"/>
          </a:xfrm>
          <a:prstGeom prst="ellipse">
            <a:avLst/>
          </a:prstGeom>
          <a:solidFill>
            <a:srgbClr val="8FB573"/>
          </a:solidFill>
          <a:ln/>
        </p:spPr>
      </p:sp>
      <p:sp>
        <p:nvSpPr>
          <p:cNvPr id="5" name="Text 3"/>
          <p:cNvSpPr/>
          <p:nvPr/>
        </p:nvSpPr>
        <p:spPr>
          <a:xfrm>
            <a:off x="50292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89611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PATH</a:t>
            </a:r>
            <a:endParaRPr lang="en-US" sz="1100" dirty="0"/>
          </a:p>
        </p:txBody>
      </p:sp>
      <p:sp>
        <p:nvSpPr>
          <p:cNvPr id="7" name="Text 5"/>
          <p:cNvSpPr/>
          <p:nvPr/>
        </p:nvSpPr>
        <p:spPr>
          <a:xfrm>
            <a:off x="502920" y="1755648"/>
            <a:ext cx="5394960" cy="2743200"/>
          </a:xfrm>
          <a:prstGeom prst="rect">
            <a:avLst/>
          </a:prstGeom>
          <a:noFill/>
          <a:ln/>
        </p:spPr>
        <p:txBody>
          <a:bodyPr wrap="square" lIns="0" tIns="0" rIns="0" bIns="0" rtlCol="0" anchor="t"/>
          <a:lstStyle/>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Build one evaluate() entrypoint. Everything calls it</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HumanEval+ and MBPP+ via evalplus, plus your own 100–200 problem set</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Three seeds minimum; always report mean ± std</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Greedy for daily iteration, n=20 sampled at phase gates</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Fix the template, version it, name it in every config</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Log extraction failures as their own status</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Carve a test split you do not open until the very end</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Run a general benchmark every checkpoint to catch forgetting</a:t>
            </a:r>
            <a:endParaRPr lang="en-US" sz="1180" dirty="0"/>
          </a:p>
        </p:txBody>
      </p:sp>
      <p:sp>
        <p:nvSpPr>
          <p:cNvPr id="8" name="Shape 6"/>
          <p:cNvSpPr/>
          <p:nvPr/>
        </p:nvSpPr>
        <p:spPr>
          <a:xfrm>
            <a:off x="6309360" y="1335024"/>
            <a:ext cx="292608" cy="292608"/>
          </a:xfrm>
          <a:prstGeom prst="ellipse">
            <a:avLst/>
          </a:prstGeom>
          <a:solidFill>
            <a:srgbClr val="D98E32"/>
          </a:solidFill>
          <a:ln/>
        </p:spPr>
      </p:sp>
      <p:sp>
        <p:nvSpPr>
          <p:cNvPr id="9" name="Text 7"/>
          <p:cNvSpPr/>
          <p:nvPr/>
        </p:nvSpPr>
        <p:spPr>
          <a:xfrm>
            <a:off x="630936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670255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TRAPS</a:t>
            </a:r>
            <a:endParaRPr lang="en-US" sz="1100" dirty="0"/>
          </a:p>
        </p:txBody>
      </p:sp>
      <p:sp>
        <p:nvSpPr>
          <p:cNvPr id="11" name="Text 9"/>
          <p:cNvSpPr/>
          <p:nvPr/>
        </p:nvSpPr>
        <p:spPr>
          <a:xfrm>
            <a:off x="6309360" y="1755648"/>
            <a:ext cx="5349240" cy="2743200"/>
          </a:xfrm>
          <a:prstGeom prst="rect">
            <a:avLst/>
          </a:prstGeom>
          <a:noFill/>
          <a:ln/>
        </p:spPr>
        <p:txBody>
          <a:bodyPr wrap="square" lIns="0" tIns="0" rIns="0" bIns="0" rtlCol="0" anchor="t"/>
          <a:lstStyle/>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Single seed: 1–3 point swings are pure noise and you will chase them</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Naive pass@k: sample k and check. Biased and high-variance</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Reporting base HumanEval when you have HumanEval+ available</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Changing the template between baseline and checkpoint</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Taking the first fenced code block instead of the last</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Trusting exit code instead of parsing test output</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Looking at the test split 'just once' mid-project</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Comparing a greedy run against a sampled run</a:t>
            </a:r>
            <a:endParaRPr lang="en-US" sz="1180" dirty="0"/>
          </a:p>
        </p:txBody>
      </p:sp>
      <p:sp>
        <p:nvSpPr>
          <p:cNvPr id="12" name="Shape 10"/>
          <p:cNvSpPr/>
          <p:nvPr/>
        </p:nvSpPr>
        <p:spPr>
          <a:xfrm>
            <a:off x="502920" y="5102352"/>
            <a:ext cx="11155680" cy="1097280"/>
          </a:xfrm>
          <a:prstGeom prst="roundRect">
            <a:avLst>
              <a:gd name="adj" fmla="val 5833"/>
            </a:avLst>
          </a:prstGeom>
          <a:solidFill>
            <a:srgbClr val="1F3D2E"/>
          </a:solidFill>
          <a:ln/>
        </p:spPr>
      </p:sp>
      <p:sp>
        <p:nvSpPr>
          <p:cNvPr id="13" name="Shape 11"/>
          <p:cNvSpPr/>
          <p:nvPr/>
        </p:nvSpPr>
        <p:spPr>
          <a:xfrm>
            <a:off x="740664" y="5285232"/>
            <a:ext cx="292608" cy="292608"/>
          </a:xfrm>
          <a:prstGeom prst="ellipse">
            <a:avLst/>
          </a:prstGeom>
          <a:solidFill>
            <a:srgbClr val="1F3D2E"/>
          </a:solidFill>
          <a:ln/>
        </p:spPr>
      </p:sp>
      <p:sp>
        <p:nvSpPr>
          <p:cNvPr id="14" name="Text 12"/>
          <p:cNvSpPr/>
          <p:nvPr/>
        </p:nvSpPr>
        <p:spPr>
          <a:xfrm>
            <a:off x="740664" y="5285232"/>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303520"/>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678424"/>
            <a:ext cx="10680192" cy="3474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Phase 4 produces exactly one artifact: a number you trust. Everything after this is 'better than that number', so if it is wrong, the entire rest of the project is measured against a lie.</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59</a:t>
            </a:r>
            <a:endParaRPr lang="en-US" sz="9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evaluation false positives</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These do not fail. They succeed, incorrectly, and you believe them.</a:t>
            </a:r>
            <a:endParaRPr lang="en-US" sz="13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02920" y="1536192"/>
          <a:ext cx="11155680" cy="914400"/>
        </p:xfrm>
        <a:graphic>
          <a:graphicData uri="http://schemas.openxmlformats.org/drawingml/2006/table">
            <a:tbl>
              <a:tblPr/>
              <a:tblGrid>
                <a:gridCol w="2194560"/>
                <a:gridCol w="2651760"/>
                <a:gridCol w="3291840"/>
                <a:gridCol w="3017520"/>
              </a:tblGrid>
              <a:tr h="36576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False positive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you see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 is actually happening</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The check</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6576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Contamination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Strong HumanEval, weak LiveCodeBench</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Eval problems are in your training data</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n-gram overlap; compare timestamped benchmarks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Template drift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Sudden multi-point jump</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You changed the prompt, not the model</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Diff the rendered prompt between runs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Seed noise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Gains appear and vanish</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One-seed variance read as signal</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Three seeds, report std</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Extraction change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Score moves after a 'cleanup' commit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Your regex now grabs a different block</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Log n_extract_fail every run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Checkpoint cherry-pick</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Best-of-20 checkpoints looks great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You overfit to the validation set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Pick on val, report on untouched test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Weak-test inflation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High base HumanEval</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Wrong solutions pass shallow tests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Use the + variants, always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Diversity mistaken for skill</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pass@10 up, pass@1 flat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More variety, no more capability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Always report both k values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Judge preference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Judge score up, pass@1 flat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You optimized for the judge's length bias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Verifier is truth; judge is advisory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Baseline sandbagging</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Huge gain over baseline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Your baseline used a worse prompt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Baseline gets the same template and effort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5166360"/>
            <a:ext cx="11155680" cy="566928"/>
          </a:xfrm>
          <a:prstGeom prst="roundRect">
            <a:avLst>
              <a:gd name="adj" fmla="val 9677"/>
            </a:avLst>
          </a:prstGeom>
          <a:solidFill>
            <a:srgbClr val="A8482A"/>
          </a:solidFill>
          <a:ln/>
        </p:spPr>
      </p:sp>
      <p:sp>
        <p:nvSpPr>
          <p:cNvPr id="7" name="Text 4"/>
          <p:cNvSpPr/>
          <p:nvPr/>
        </p:nvSpPr>
        <p:spPr>
          <a:xfrm>
            <a:off x="777240" y="516636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Every one of these produces a number that goes UP. That is what makes them expensive.</a:t>
            </a:r>
            <a:endParaRPr lang="en-US" sz="1450" dirty="0"/>
          </a:p>
        </p:txBody>
      </p:sp>
      <p:sp>
        <p:nvSpPr>
          <p:cNvPr id="8" name="Text 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60</a:t>
            </a:r>
            <a:endParaRPr lang="en-US" sz="9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EVAL</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Phase 4 deliverable — your baseline table</a:t>
            </a:r>
            <a:endParaRPr lang="en-US" sz="29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657600"/>
                <a:gridCol w="2103120"/>
                <a:gridCol w="1828800"/>
                <a:gridCol w="1645920"/>
                <a:gridCol w="1920240"/>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HumanEval+ pass@1</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MBPP+ pass@1</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Custom set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389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Qwen2.5-Coder-0.5B-Instruct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~26 ± 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~40 ± 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your number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Primary student. Everything is measured against this.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Qwen2.5-Coder-1.5B-Instruct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~38 ± 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~52 ± 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your number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Stretch target. Shows what scale alone buys.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Qwen2.5-Coder-7B-Instruct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~62 ± 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~68 ± 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your number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Teacher / ceiling. Mac inference only.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Qwen2.5-0.5B-Instruct (non-code)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~12 ± 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~22 ± 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your number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Control. Isolates code-specific gains.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429000"/>
            <a:ext cx="3621024"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722376" y="357530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control is the point</a:t>
            </a:r>
            <a:endParaRPr lang="en-US" sz="1250" dirty="0"/>
          </a:p>
        </p:txBody>
      </p:sp>
      <p:sp>
        <p:nvSpPr>
          <p:cNvPr id="7" name="Text 4"/>
          <p:cNvSpPr/>
          <p:nvPr/>
        </p:nvSpPr>
        <p:spPr>
          <a:xfrm>
            <a:off x="722376" y="3886200"/>
            <a:ext cx="3182112"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non-code model tells you how much of any future gain is code-specific versus generic instruction-following.</a:t>
            </a:r>
            <a:endParaRPr lang="en-US" sz="1100" dirty="0"/>
          </a:p>
        </p:txBody>
      </p:sp>
      <p:sp>
        <p:nvSpPr>
          <p:cNvPr id="8" name="Shape 5"/>
          <p:cNvSpPr/>
          <p:nvPr/>
        </p:nvSpPr>
        <p:spPr>
          <a:xfrm>
            <a:off x="4270248" y="3429000"/>
            <a:ext cx="3621024"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4489704" y="357530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ceiling is the point</a:t>
            </a:r>
            <a:endParaRPr lang="en-US" sz="1250" dirty="0"/>
          </a:p>
        </p:txBody>
      </p:sp>
      <p:sp>
        <p:nvSpPr>
          <p:cNvPr id="10" name="Text 7"/>
          <p:cNvSpPr/>
          <p:nvPr/>
        </p:nvSpPr>
        <p:spPr>
          <a:xfrm>
            <a:off x="4489704" y="3886200"/>
            <a:ext cx="3182112"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7B tells you what capability looks like. If your 0.5B approaches it on your custom set, you have done something real.</a:t>
            </a:r>
            <a:endParaRPr lang="en-US" sz="1100" dirty="0"/>
          </a:p>
        </p:txBody>
      </p:sp>
      <p:sp>
        <p:nvSpPr>
          <p:cNvPr id="11" name="Shape 8"/>
          <p:cNvSpPr/>
          <p:nvPr/>
        </p:nvSpPr>
        <p:spPr>
          <a:xfrm>
            <a:off x="8037576" y="3429000"/>
            <a:ext cx="3621024"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8257032" y="357530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Write it down in results/00-baseline.md</a:t>
            </a:r>
            <a:endParaRPr lang="en-US" sz="1250" dirty="0"/>
          </a:p>
        </p:txBody>
      </p:sp>
      <p:sp>
        <p:nvSpPr>
          <p:cNvPr id="13" name="Text 10"/>
          <p:cNvSpPr/>
          <p:nvPr/>
        </p:nvSpPr>
        <p:spPr>
          <a:xfrm>
            <a:off x="8257032" y="3886200"/>
            <a:ext cx="3182112"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With the harness commit SHA, the template name, the seeds, and the date. This file is referenced for the rest of the project.</a:t>
            </a:r>
            <a:endParaRPr lang="en-US" sz="1100" dirty="0"/>
          </a:p>
        </p:txBody>
      </p:sp>
      <p:sp>
        <p:nvSpPr>
          <p:cNvPr id="14" name="Shape 11"/>
          <p:cNvSpPr/>
          <p:nvPr/>
        </p:nvSpPr>
        <p:spPr>
          <a:xfrm>
            <a:off x="502920" y="4892040"/>
            <a:ext cx="11155680" cy="1325880"/>
          </a:xfrm>
          <a:prstGeom prst="roundRect">
            <a:avLst>
              <a:gd name="adj" fmla="val 4828"/>
            </a:avLst>
          </a:prstGeom>
          <a:solidFill>
            <a:srgbClr val="1F3D2E"/>
          </a:solidFill>
          <a:ln/>
        </p:spPr>
      </p:sp>
      <p:sp>
        <p:nvSpPr>
          <p:cNvPr id="15" name="Shape 12"/>
          <p:cNvSpPr/>
          <p:nvPr/>
        </p:nvSpPr>
        <p:spPr>
          <a:xfrm>
            <a:off x="740664" y="5074920"/>
            <a:ext cx="292608" cy="292608"/>
          </a:xfrm>
          <a:prstGeom prst="ellipse">
            <a:avLst/>
          </a:prstGeom>
          <a:solidFill>
            <a:srgbClr val="1F3D2E"/>
          </a:solidFill>
          <a:ln/>
        </p:spPr>
      </p:sp>
      <p:sp>
        <p:nvSpPr>
          <p:cNvPr id="16" name="Text 13"/>
          <p:cNvSpPr/>
          <p:nvPr/>
        </p:nvSpPr>
        <p:spPr>
          <a:xfrm>
            <a:off x="740664" y="50749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7" name="Text 14"/>
          <p:cNvSpPr/>
          <p:nvPr/>
        </p:nvSpPr>
        <p:spPr>
          <a:xfrm>
            <a:off x="1133856" y="50932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8" name="Text 15"/>
          <p:cNvSpPr/>
          <p:nvPr/>
        </p:nvSpPr>
        <p:spPr>
          <a:xfrm>
            <a:off x="740664" y="5468112"/>
            <a:ext cx="10680192" cy="5760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Published numbers and my measured numbers disagreed by up to 6 points on identical weights — different prompt, different stop tokens, different extraction. Do not trust any number you did not reproduce yourself, including the ones on this slide. They are approximate placeholders; your table is the real one.</a:t>
            </a:r>
            <a:endParaRPr lang="en-US" sz="1150" dirty="0"/>
          </a:p>
        </p:txBody>
      </p:sp>
      <p:sp>
        <p:nvSpPr>
          <p:cNvPr id="19" name="Text 16"/>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61</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PHASE 5</a:t>
            </a:r>
            <a:endParaRPr lang="en-US" sz="1250" dirty="0"/>
          </a:p>
        </p:txBody>
      </p:sp>
      <p:sp>
        <p:nvSpPr>
          <p:cNvPr id="3" name="Text 1"/>
          <p:cNvSpPr/>
          <p:nvPr/>
        </p:nvSpPr>
        <p:spPr>
          <a:xfrm>
            <a:off x="777240" y="23317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Work That Actually Matters</a:t>
            </a:r>
            <a:endParaRPr lang="en-US" sz="4000" dirty="0"/>
          </a:p>
        </p:txBody>
      </p:sp>
      <p:sp>
        <p:nvSpPr>
          <p:cNvPr id="4" name="Text 2"/>
          <p:cNvSpPr/>
          <p:nvPr/>
        </p:nvSpPr>
        <p:spPr>
          <a:xfrm>
            <a:off x="777240" y="32004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Two to three weeks, and the highest-leverage time you will spend on this project.</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Everything downstream is bounded by what you build here.</a:t>
            </a:r>
            <a:endParaRPr lang="en-US" sz="1550" dirty="0"/>
          </a:p>
        </p:txBody>
      </p:sp>
      <p:sp>
        <p:nvSpPr>
          <p:cNvPr id="5" name="Text 3"/>
          <p:cNvSpPr/>
          <p:nvPr/>
        </p:nvSpPr>
        <p:spPr>
          <a:xfrm>
            <a:off x="777240" y="4892040"/>
            <a:ext cx="10607040" cy="237744"/>
          </a:xfrm>
          <a:prstGeom prst="rect">
            <a:avLst/>
          </a:prstGeom>
          <a:noFill/>
          <a:ln/>
        </p:spPr>
        <p:txBody>
          <a:bodyPr wrap="square" lIns="0" tIns="0" rIns="0" bIns="0" rtlCol="0" anchor="ctr"/>
          <a:lstStyle/>
          <a:p>
            <a:pPr indent="0" marL="0">
              <a:buNone/>
            </a:pPr>
            <a:r>
              <a:rPr lang="en-US" sz="900" b="1" spc="250" kern="0" dirty="0">
                <a:solidFill>
                  <a:srgbClr val="2A5240"/>
                </a:solidFill>
                <a:latin typeface="Calibri" pitchFamily="34" charset="0"/>
                <a:ea typeface="Calibri" pitchFamily="34" charset="-122"/>
                <a:cs typeface="Calibri" pitchFamily="34" charset="-120"/>
              </a:rPr>
              <a:t>WHERE YOU ARE</a:t>
            </a:r>
            <a:endParaRPr lang="en-US" sz="900" dirty="0"/>
          </a:p>
        </p:txBody>
      </p:sp>
      <p:sp>
        <p:nvSpPr>
          <p:cNvPr id="6" name="Shape 4"/>
          <p:cNvSpPr/>
          <p:nvPr/>
        </p:nvSpPr>
        <p:spPr>
          <a:xfrm>
            <a:off x="777240" y="5212080"/>
            <a:ext cx="829056" cy="73152"/>
          </a:xfrm>
          <a:prstGeom prst="rect">
            <a:avLst/>
          </a:prstGeom>
          <a:solidFill>
            <a:srgbClr val="2A5240"/>
          </a:solidFill>
          <a:ln/>
        </p:spPr>
      </p:sp>
      <p:sp>
        <p:nvSpPr>
          <p:cNvPr id="7" name="Text 5"/>
          <p:cNvSpPr/>
          <p:nvPr/>
        </p:nvSpPr>
        <p:spPr>
          <a:xfrm>
            <a:off x="6858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SETUP</a:t>
            </a:r>
            <a:endParaRPr lang="en-US" sz="750" dirty="0"/>
          </a:p>
        </p:txBody>
      </p:sp>
      <p:sp>
        <p:nvSpPr>
          <p:cNvPr id="8" name="Shape 6"/>
          <p:cNvSpPr/>
          <p:nvPr/>
        </p:nvSpPr>
        <p:spPr>
          <a:xfrm>
            <a:off x="1661160" y="5212080"/>
            <a:ext cx="829056" cy="73152"/>
          </a:xfrm>
          <a:prstGeom prst="rect">
            <a:avLst/>
          </a:prstGeom>
          <a:solidFill>
            <a:srgbClr val="2A5240"/>
          </a:solidFill>
          <a:ln/>
        </p:spPr>
      </p:sp>
      <p:sp>
        <p:nvSpPr>
          <p:cNvPr id="9" name="Text 7"/>
          <p:cNvSpPr/>
          <p:nvPr/>
        </p:nvSpPr>
        <p:spPr>
          <a:xfrm>
            <a:off x="15697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MODEL</a:t>
            </a:r>
            <a:endParaRPr lang="en-US" sz="750" dirty="0"/>
          </a:p>
        </p:txBody>
      </p:sp>
      <p:sp>
        <p:nvSpPr>
          <p:cNvPr id="10" name="Shape 8"/>
          <p:cNvSpPr/>
          <p:nvPr/>
        </p:nvSpPr>
        <p:spPr>
          <a:xfrm>
            <a:off x="2545080" y="5212080"/>
            <a:ext cx="829056" cy="73152"/>
          </a:xfrm>
          <a:prstGeom prst="rect">
            <a:avLst/>
          </a:prstGeom>
          <a:solidFill>
            <a:srgbClr val="2A5240"/>
          </a:solidFill>
          <a:ln/>
        </p:spPr>
      </p:sp>
      <p:sp>
        <p:nvSpPr>
          <p:cNvPr id="11" name="Text 9"/>
          <p:cNvSpPr/>
          <p:nvPr/>
        </p:nvSpPr>
        <p:spPr>
          <a:xfrm>
            <a:off x="24536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SANDBOX</a:t>
            </a:r>
            <a:endParaRPr lang="en-US" sz="750" dirty="0"/>
          </a:p>
        </p:txBody>
      </p:sp>
      <p:sp>
        <p:nvSpPr>
          <p:cNvPr id="12" name="Shape 10"/>
          <p:cNvSpPr/>
          <p:nvPr/>
        </p:nvSpPr>
        <p:spPr>
          <a:xfrm>
            <a:off x="3429000" y="5212080"/>
            <a:ext cx="829056" cy="73152"/>
          </a:xfrm>
          <a:prstGeom prst="rect">
            <a:avLst/>
          </a:prstGeom>
          <a:solidFill>
            <a:srgbClr val="2A5240"/>
          </a:solidFill>
          <a:ln/>
        </p:spPr>
      </p:sp>
      <p:sp>
        <p:nvSpPr>
          <p:cNvPr id="13" name="Text 11"/>
          <p:cNvSpPr/>
          <p:nvPr/>
        </p:nvSpPr>
        <p:spPr>
          <a:xfrm>
            <a:off x="333756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EVAL</a:t>
            </a:r>
            <a:endParaRPr lang="en-US" sz="750" dirty="0"/>
          </a:p>
        </p:txBody>
      </p:sp>
      <p:sp>
        <p:nvSpPr>
          <p:cNvPr id="14" name="Shape 12"/>
          <p:cNvSpPr/>
          <p:nvPr/>
        </p:nvSpPr>
        <p:spPr>
          <a:xfrm>
            <a:off x="4312920" y="5212080"/>
            <a:ext cx="829056" cy="182880"/>
          </a:xfrm>
          <a:prstGeom prst="rect">
            <a:avLst/>
          </a:prstGeom>
          <a:solidFill>
            <a:srgbClr val="8FB573"/>
          </a:solidFill>
          <a:ln/>
        </p:spPr>
      </p:sp>
      <p:sp>
        <p:nvSpPr>
          <p:cNvPr id="15" name="Text 13"/>
          <p:cNvSpPr/>
          <p:nvPr/>
        </p:nvSpPr>
        <p:spPr>
          <a:xfrm>
            <a:off x="4221480" y="5468112"/>
            <a:ext cx="1011936" cy="219456"/>
          </a:xfrm>
          <a:prstGeom prst="rect">
            <a:avLst/>
          </a:prstGeom>
          <a:noFill/>
          <a:ln/>
        </p:spPr>
        <p:txBody>
          <a:bodyPr wrap="square" lIns="0" tIns="0" rIns="0" bIns="0" rtlCol="0" anchor="ctr"/>
          <a:lstStyle/>
          <a:p>
            <a:pPr algn="ctr" indent="0" marL="0">
              <a:buNone/>
            </a:pPr>
            <a:r>
              <a:rPr lang="en-US" sz="750" b="1" dirty="0">
                <a:solidFill>
                  <a:srgbClr val="8FB573"/>
                </a:solidFill>
                <a:latin typeface="Calibri" pitchFamily="34" charset="0"/>
                <a:ea typeface="Calibri" pitchFamily="34" charset="-122"/>
                <a:cs typeface="Calibri" pitchFamily="34" charset="-120"/>
              </a:rPr>
              <a:t>DATA</a:t>
            </a:r>
            <a:endParaRPr lang="en-US" sz="750" dirty="0"/>
          </a:p>
        </p:txBody>
      </p:sp>
      <p:sp>
        <p:nvSpPr>
          <p:cNvPr id="16" name="Shape 14"/>
          <p:cNvSpPr/>
          <p:nvPr/>
        </p:nvSpPr>
        <p:spPr>
          <a:xfrm>
            <a:off x="5196840" y="5212080"/>
            <a:ext cx="829056" cy="73152"/>
          </a:xfrm>
          <a:prstGeom prst="rect">
            <a:avLst/>
          </a:prstGeom>
          <a:solidFill>
            <a:srgbClr val="27452F"/>
          </a:solidFill>
          <a:ln/>
        </p:spPr>
      </p:sp>
      <p:sp>
        <p:nvSpPr>
          <p:cNvPr id="17" name="Text 15"/>
          <p:cNvSpPr/>
          <p:nvPr/>
        </p:nvSpPr>
        <p:spPr>
          <a:xfrm>
            <a:off x="51054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SFT</a:t>
            </a:r>
            <a:endParaRPr lang="en-US" sz="750" dirty="0"/>
          </a:p>
        </p:txBody>
      </p:sp>
      <p:sp>
        <p:nvSpPr>
          <p:cNvPr id="18" name="Shape 16"/>
          <p:cNvSpPr/>
          <p:nvPr/>
        </p:nvSpPr>
        <p:spPr>
          <a:xfrm>
            <a:off x="6080760" y="5212080"/>
            <a:ext cx="829056" cy="73152"/>
          </a:xfrm>
          <a:prstGeom prst="rect">
            <a:avLst/>
          </a:prstGeom>
          <a:solidFill>
            <a:srgbClr val="27452F"/>
          </a:solidFill>
          <a:ln/>
        </p:spPr>
      </p:sp>
      <p:sp>
        <p:nvSpPr>
          <p:cNvPr id="19" name="Text 17"/>
          <p:cNvSpPr/>
          <p:nvPr/>
        </p:nvSpPr>
        <p:spPr>
          <a:xfrm>
            <a:off x="59893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RFT</a:t>
            </a:r>
            <a:endParaRPr lang="en-US" sz="750" dirty="0"/>
          </a:p>
        </p:txBody>
      </p:sp>
      <p:sp>
        <p:nvSpPr>
          <p:cNvPr id="20" name="Shape 18"/>
          <p:cNvSpPr/>
          <p:nvPr/>
        </p:nvSpPr>
        <p:spPr>
          <a:xfrm>
            <a:off x="6964680" y="5212080"/>
            <a:ext cx="829056" cy="73152"/>
          </a:xfrm>
          <a:prstGeom prst="rect">
            <a:avLst/>
          </a:prstGeom>
          <a:solidFill>
            <a:srgbClr val="27452F"/>
          </a:solidFill>
          <a:ln/>
        </p:spPr>
      </p:sp>
      <p:sp>
        <p:nvSpPr>
          <p:cNvPr id="21" name="Text 19"/>
          <p:cNvSpPr/>
          <p:nvPr/>
        </p:nvSpPr>
        <p:spPr>
          <a:xfrm>
            <a:off x="687324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DPO</a:t>
            </a:r>
            <a:endParaRPr lang="en-US" sz="750" dirty="0"/>
          </a:p>
        </p:txBody>
      </p:sp>
      <p:sp>
        <p:nvSpPr>
          <p:cNvPr id="22" name="Shape 20"/>
          <p:cNvSpPr/>
          <p:nvPr/>
        </p:nvSpPr>
        <p:spPr>
          <a:xfrm>
            <a:off x="7848600" y="5212080"/>
            <a:ext cx="829056" cy="73152"/>
          </a:xfrm>
          <a:prstGeom prst="rect">
            <a:avLst/>
          </a:prstGeom>
          <a:solidFill>
            <a:srgbClr val="27452F"/>
          </a:solidFill>
          <a:ln/>
        </p:spPr>
      </p:sp>
      <p:sp>
        <p:nvSpPr>
          <p:cNvPr id="23" name="Text 21"/>
          <p:cNvSpPr/>
          <p:nvPr/>
        </p:nvSpPr>
        <p:spPr>
          <a:xfrm>
            <a:off x="775716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GRPO</a:t>
            </a:r>
            <a:endParaRPr lang="en-US" sz="750" dirty="0"/>
          </a:p>
        </p:txBody>
      </p:sp>
      <p:sp>
        <p:nvSpPr>
          <p:cNvPr id="24" name="Shape 22"/>
          <p:cNvSpPr/>
          <p:nvPr/>
        </p:nvSpPr>
        <p:spPr>
          <a:xfrm>
            <a:off x="8732520" y="5212080"/>
            <a:ext cx="829056" cy="73152"/>
          </a:xfrm>
          <a:prstGeom prst="rect">
            <a:avLst/>
          </a:prstGeom>
          <a:solidFill>
            <a:srgbClr val="27452F"/>
          </a:solidFill>
          <a:ln/>
        </p:spPr>
      </p:sp>
      <p:sp>
        <p:nvSpPr>
          <p:cNvPr id="25" name="Text 23"/>
          <p:cNvSpPr/>
          <p:nvPr/>
        </p:nvSpPr>
        <p:spPr>
          <a:xfrm>
            <a:off x="864108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REPAIR</a:t>
            </a:r>
            <a:endParaRPr lang="en-US" sz="750" dirty="0"/>
          </a:p>
        </p:txBody>
      </p:sp>
      <p:sp>
        <p:nvSpPr>
          <p:cNvPr id="26" name="Shape 24"/>
          <p:cNvSpPr/>
          <p:nvPr/>
        </p:nvSpPr>
        <p:spPr>
          <a:xfrm>
            <a:off x="9616440" y="5212080"/>
            <a:ext cx="829056" cy="73152"/>
          </a:xfrm>
          <a:prstGeom prst="rect">
            <a:avLst/>
          </a:prstGeom>
          <a:solidFill>
            <a:srgbClr val="27452F"/>
          </a:solidFill>
          <a:ln/>
        </p:spPr>
      </p:sp>
      <p:sp>
        <p:nvSpPr>
          <p:cNvPr id="27" name="Text 25"/>
          <p:cNvSpPr/>
          <p:nvPr/>
        </p:nvSpPr>
        <p:spPr>
          <a:xfrm>
            <a:off x="95250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MERGE</a:t>
            </a:r>
            <a:endParaRPr lang="en-US" sz="750" dirty="0"/>
          </a:p>
        </p:txBody>
      </p:sp>
      <p:sp>
        <p:nvSpPr>
          <p:cNvPr id="28" name="Shape 26"/>
          <p:cNvSpPr/>
          <p:nvPr/>
        </p:nvSpPr>
        <p:spPr>
          <a:xfrm>
            <a:off x="10500360" y="5212080"/>
            <a:ext cx="829056" cy="73152"/>
          </a:xfrm>
          <a:prstGeom prst="rect">
            <a:avLst/>
          </a:prstGeom>
          <a:solidFill>
            <a:srgbClr val="27452F"/>
          </a:solidFill>
          <a:ln/>
        </p:spPr>
      </p:sp>
      <p:sp>
        <p:nvSpPr>
          <p:cNvPr id="29" name="Text 27"/>
          <p:cNvSpPr/>
          <p:nvPr/>
        </p:nvSpPr>
        <p:spPr>
          <a:xfrm>
            <a:off x="104089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SERVE</a:t>
            </a:r>
            <a:endParaRPr lang="en-US" sz="7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62</a:t>
            </a:r>
            <a:endParaRPr lang="en-US" sz="9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pipeline, end to end</a:t>
            </a:r>
            <a:endParaRPr lang="en-US" sz="2900" dirty="0"/>
          </a:p>
        </p:txBody>
      </p:sp>
      <p:sp>
        <p:nvSpPr>
          <p:cNvPr id="4" name="Shape 2"/>
          <p:cNvSpPr/>
          <p:nvPr/>
        </p:nvSpPr>
        <p:spPr>
          <a:xfrm>
            <a:off x="502920" y="1280160"/>
            <a:ext cx="1569720" cy="1691640"/>
          </a:xfrm>
          <a:prstGeom prst="roundRect">
            <a:avLst>
              <a:gd name="adj" fmla="val 407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667512" y="1417320"/>
            <a:ext cx="1240536"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ACQUIRE</a:t>
            </a:r>
            <a:endParaRPr lang="en-US" sz="1100" dirty="0"/>
          </a:p>
        </p:txBody>
      </p:sp>
      <p:sp>
        <p:nvSpPr>
          <p:cNvPr id="6" name="Text 4"/>
          <p:cNvSpPr/>
          <p:nvPr/>
        </p:nvSpPr>
        <p:spPr>
          <a:xfrm>
            <a:off x="667512" y="1700784"/>
            <a:ext cx="1240536"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Download raw corpora. Never modify. Record provenance and license.</a:t>
            </a:r>
            <a:endParaRPr lang="en-US" sz="1050" dirty="0"/>
          </a:p>
        </p:txBody>
      </p:sp>
      <p:sp>
        <p:nvSpPr>
          <p:cNvPr id="7" name="Text 5"/>
          <p:cNvSpPr/>
          <p:nvPr/>
        </p:nvSpPr>
        <p:spPr>
          <a:xfrm>
            <a:off x="2072640" y="1280160"/>
            <a:ext cx="347472" cy="16916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8" name="Shape 6"/>
          <p:cNvSpPr/>
          <p:nvPr/>
        </p:nvSpPr>
        <p:spPr>
          <a:xfrm>
            <a:off x="2420112" y="1280160"/>
            <a:ext cx="1569720" cy="1691640"/>
          </a:xfrm>
          <a:prstGeom prst="roundRect">
            <a:avLst>
              <a:gd name="adj" fmla="val 407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2584704" y="1417320"/>
            <a:ext cx="1240536" cy="256032"/>
          </a:xfrm>
          <a:prstGeom prst="rect">
            <a:avLst/>
          </a:prstGeom>
          <a:noFill/>
          <a:ln/>
        </p:spPr>
        <p:txBody>
          <a:bodyPr wrap="square" lIns="0" tIns="0" rIns="0" bIns="0" rtlCol="0" anchor="ctr"/>
          <a:lstStyle/>
          <a:p>
            <a:pPr indent="0" marL="0">
              <a:buNone/>
            </a:pPr>
            <a:r>
              <a:rPr lang="en-US" sz="1100" b="1" spc="120" kern="0" dirty="0">
                <a:solidFill>
                  <a:srgbClr val="A8482A"/>
                </a:solidFill>
                <a:latin typeface="Calibri" pitchFamily="34" charset="0"/>
                <a:ea typeface="Calibri" pitchFamily="34" charset="-122"/>
                <a:cs typeface="Calibri" pitchFamily="34" charset="-120"/>
              </a:rPr>
              <a:t>DECONTAM</a:t>
            </a:r>
            <a:endParaRPr lang="en-US" sz="1100" dirty="0"/>
          </a:p>
        </p:txBody>
      </p:sp>
      <p:sp>
        <p:nvSpPr>
          <p:cNvPr id="10" name="Text 8"/>
          <p:cNvSpPr/>
          <p:nvPr/>
        </p:nvSpPr>
        <p:spPr>
          <a:xfrm>
            <a:off x="2584704" y="1700784"/>
            <a:ext cx="1240536"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Remove anything overlapping your eval sets. Do this FIRST and again after every change.</a:t>
            </a:r>
            <a:endParaRPr lang="en-US" sz="1050" dirty="0"/>
          </a:p>
        </p:txBody>
      </p:sp>
      <p:sp>
        <p:nvSpPr>
          <p:cNvPr id="11" name="Text 9"/>
          <p:cNvSpPr/>
          <p:nvPr/>
        </p:nvSpPr>
        <p:spPr>
          <a:xfrm>
            <a:off x="3989832" y="1280160"/>
            <a:ext cx="347472" cy="16916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2" name="Shape 10"/>
          <p:cNvSpPr/>
          <p:nvPr/>
        </p:nvSpPr>
        <p:spPr>
          <a:xfrm>
            <a:off x="4337304" y="1280160"/>
            <a:ext cx="1569720" cy="1691640"/>
          </a:xfrm>
          <a:prstGeom prst="roundRect">
            <a:avLst>
              <a:gd name="adj" fmla="val 407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Text 11"/>
          <p:cNvSpPr/>
          <p:nvPr/>
        </p:nvSpPr>
        <p:spPr>
          <a:xfrm>
            <a:off x="4501896" y="1417320"/>
            <a:ext cx="1240536"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DEDUP</a:t>
            </a:r>
            <a:endParaRPr lang="en-US" sz="1100" dirty="0"/>
          </a:p>
        </p:txBody>
      </p:sp>
      <p:sp>
        <p:nvSpPr>
          <p:cNvPr id="14" name="Text 12"/>
          <p:cNvSpPr/>
          <p:nvPr/>
        </p:nvSpPr>
        <p:spPr>
          <a:xfrm>
            <a:off x="4501896" y="1700784"/>
            <a:ext cx="1240536"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Exact, then near-dup, then semantic. Before splitting, never after.</a:t>
            </a:r>
            <a:endParaRPr lang="en-US" sz="1050" dirty="0"/>
          </a:p>
        </p:txBody>
      </p:sp>
      <p:sp>
        <p:nvSpPr>
          <p:cNvPr id="15" name="Text 13"/>
          <p:cNvSpPr/>
          <p:nvPr/>
        </p:nvSpPr>
        <p:spPr>
          <a:xfrm>
            <a:off x="5907024" y="1280160"/>
            <a:ext cx="347472" cy="16916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6" name="Shape 14"/>
          <p:cNvSpPr/>
          <p:nvPr/>
        </p:nvSpPr>
        <p:spPr>
          <a:xfrm>
            <a:off x="6254496" y="1280160"/>
            <a:ext cx="1569720" cy="1691640"/>
          </a:xfrm>
          <a:prstGeom prst="roundRect">
            <a:avLst>
              <a:gd name="adj" fmla="val 407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6419088" y="1417320"/>
            <a:ext cx="1240536"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FILTER</a:t>
            </a:r>
            <a:endParaRPr lang="en-US" sz="1100" dirty="0"/>
          </a:p>
        </p:txBody>
      </p:sp>
      <p:sp>
        <p:nvSpPr>
          <p:cNvPr id="18" name="Text 16"/>
          <p:cNvSpPr/>
          <p:nvPr/>
        </p:nvSpPr>
        <p:spPr>
          <a:xfrm>
            <a:off x="6419088" y="1700784"/>
            <a:ext cx="1240536"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Heuristics, AST validity, classifier, judge. Aggressive beats permissive.</a:t>
            </a:r>
            <a:endParaRPr lang="en-US" sz="1050" dirty="0"/>
          </a:p>
        </p:txBody>
      </p:sp>
      <p:sp>
        <p:nvSpPr>
          <p:cNvPr id="19" name="Text 17"/>
          <p:cNvSpPr/>
          <p:nvPr/>
        </p:nvSpPr>
        <p:spPr>
          <a:xfrm>
            <a:off x="7824216" y="1280160"/>
            <a:ext cx="347472" cy="16916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20" name="Shape 18"/>
          <p:cNvSpPr/>
          <p:nvPr/>
        </p:nvSpPr>
        <p:spPr>
          <a:xfrm>
            <a:off x="8171688" y="1280160"/>
            <a:ext cx="1569720" cy="1691640"/>
          </a:xfrm>
          <a:prstGeom prst="roundRect">
            <a:avLst>
              <a:gd name="adj" fmla="val 407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Text 19"/>
          <p:cNvSpPr/>
          <p:nvPr/>
        </p:nvSpPr>
        <p:spPr>
          <a:xfrm>
            <a:off x="8336280" y="1417320"/>
            <a:ext cx="1240536"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FORMAT</a:t>
            </a:r>
            <a:endParaRPr lang="en-US" sz="1100" dirty="0"/>
          </a:p>
        </p:txBody>
      </p:sp>
      <p:sp>
        <p:nvSpPr>
          <p:cNvPr id="22" name="Text 20"/>
          <p:cNvSpPr/>
          <p:nvPr/>
        </p:nvSpPr>
        <p:spPr>
          <a:xfrm>
            <a:off x="8336280" y="1700784"/>
            <a:ext cx="1240536"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Chat template, loss mask, tokenize. Verify by decoding one example.</a:t>
            </a:r>
            <a:endParaRPr lang="en-US" sz="1050" dirty="0"/>
          </a:p>
        </p:txBody>
      </p:sp>
      <p:sp>
        <p:nvSpPr>
          <p:cNvPr id="23" name="Text 21"/>
          <p:cNvSpPr/>
          <p:nvPr/>
        </p:nvSpPr>
        <p:spPr>
          <a:xfrm>
            <a:off x="9741408" y="1280160"/>
            <a:ext cx="347472" cy="16916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24" name="Shape 22"/>
          <p:cNvSpPr/>
          <p:nvPr/>
        </p:nvSpPr>
        <p:spPr>
          <a:xfrm>
            <a:off x="10088880" y="1280160"/>
            <a:ext cx="1569720" cy="1691640"/>
          </a:xfrm>
          <a:prstGeom prst="roundRect">
            <a:avLst>
              <a:gd name="adj" fmla="val 407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Text 23"/>
          <p:cNvSpPr/>
          <p:nvPr/>
        </p:nvSpPr>
        <p:spPr>
          <a:xfrm>
            <a:off x="10253472" y="1417320"/>
            <a:ext cx="1240536" cy="256032"/>
          </a:xfrm>
          <a:prstGeom prst="rect">
            <a:avLst/>
          </a:prstGeom>
          <a:noFill/>
          <a:ln/>
        </p:spPr>
        <p:txBody>
          <a:bodyPr wrap="square" lIns="0" tIns="0" rIns="0" bIns="0" rtlCol="0" anchor="ctr"/>
          <a:lstStyle/>
          <a:p>
            <a:pPr indent="0" marL="0">
              <a:buNone/>
            </a:pPr>
            <a:r>
              <a:rPr lang="en-US" sz="1100" b="1" spc="120" kern="0" dirty="0">
                <a:solidFill>
                  <a:srgbClr val="2A5240"/>
                </a:solidFill>
                <a:latin typeface="Calibri" pitchFamily="34" charset="0"/>
                <a:ea typeface="Calibri" pitchFamily="34" charset="-122"/>
                <a:cs typeface="Calibri" pitchFamily="34" charset="-120"/>
              </a:rPr>
              <a:t>VERSION</a:t>
            </a:r>
            <a:endParaRPr lang="en-US" sz="1100" dirty="0"/>
          </a:p>
        </p:txBody>
      </p:sp>
      <p:sp>
        <p:nvSpPr>
          <p:cNvPr id="26" name="Text 24"/>
          <p:cNvSpPr/>
          <p:nvPr/>
        </p:nvSpPr>
        <p:spPr>
          <a:xfrm>
            <a:off x="10253472" y="1700784"/>
            <a:ext cx="1240536"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Tag it v1..vN. Immutable. Referenced by every config.</a:t>
            </a:r>
            <a:endParaRPr lang="en-US" sz="1050" dirty="0"/>
          </a:p>
        </p:txBody>
      </p:sp>
      <p:sp>
        <p:nvSpPr>
          <p:cNvPr id="27" name="Shape 25"/>
          <p:cNvSpPr/>
          <p:nvPr/>
        </p:nvSpPr>
        <p:spPr>
          <a:xfrm>
            <a:off x="502920" y="3200400"/>
            <a:ext cx="11155680" cy="566928"/>
          </a:xfrm>
          <a:prstGeom prst="roundRect">
            <a:avLst>
              <a:gd name="adj" fmla="val 9677"/>
            </a:avLst>
          </a:prstGeom>
          <a:solidFill>
            <a:srgbClr val="A8482A"/>
          </a:solidFill>
          <a:ln/>
        </p:spPr>
      </p:sp>
      <p:sp>
        <p:nvSpPr>
          <p:cNvPr id="28" name="Text 26"/>
          <p:cNvSpPr/>
          <p:nvPr/>
        </p:nvSpPr>
        <p:spPr>
          <a:xfrm>
            <a:off x="777240" y="320040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Order matters: decontaminate before dedup, dedup before split, filter before format. Getting this order wrong invalidates results silently.</a:t>
            </a:r>
            <a:endParaRPr lang="en-US" sz="1450" dirty="0"/>
          </a:p>
        </p:txBody>
      </p:sp>
      <p:sp>
        <p:nvSpPr>
          <p:cNvPr id="29" name="Shape 27"/>
          <p:cNvSpPr/>
          <p:nvPr/>
        </p:nvSpPr>
        <p:spPr>
          <a:xfrm>
            <a:off x="502920" y="3977640"/>
            <a:ext cx="3621024" cy="1371600"/>
          </a:xfrm>
          <a:prstGeom prst="roundRect">
            <a:avLst>
              <a:gd name="adj" fmla="val 4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Text 28"/>
          <p:cNvSpPr/>
          <p:nvPr/>
        </p:nvSpPr>
        <p:spPr>
          <a:xfrm>
            <a:off x="722376" y="412394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Every stage writes a new directory</a:t>
            </a:r>
            <a:endParaRPr lang="en-US" sz="1250" dirty="0"/>
          </a:p>
        </p:txBody>
      </p:sp>
      <p:sp>
        <p:nvSpPr>
          <p:cNvPr id="31" name="Text 29"/>
          <p:cNvSpPr/>
          <p:nvPr/>
        </p:nvSpPr>
        <p:spPr>
          <a:xfrm>
            <a:off x="722376" y="4434840"/>
            <a:ext cx="3182112" cy="7680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raw/ → interim/decontam/ → interim/dedup/ → interim/filtered/ → processed/v3/. Disk is cheap; a broken provenance chain costs you a week.</a:t>
            </a:r>
            <a:endParaRPr lang="en-US" sz="1100" dirty="0"/>
          </a:p>
        </p:txBody>
      </p:sp>
      <p:sp>
        <p:nvSpPr>
          <p:cNvPr id="32" name="Shape 30"/>
          <p:cNvSpPr/>
          <p:nvPr/>
        </p:nvSpPr>
        <p:spPr>
          <a:xfrm>
            <a:off x="4270248" y="3977640"/>
            <a:ext cx="3621024" cy="1371600"/>
          </a:xfrm>
          <a:prstGeom prst="roundRect">
            <a:avLst>
              <a:gd name="adj" fmla="val 4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3" name="Text 31"/>
          <p:cNvSpPr/>
          <p:nvPr/>
        </p:nvSpPr>
        <p:spPr>
          <a:xfrm>
            <a:off x="4489704" y="412394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Every stage logs its removal count</a:t>
            </a:r>
            <a:endParaRPr lang="en-US" sz="1250" dirty="0"/>
          </a:p>
        </p:txBody>
      </p:sp>
      <p:sp>
        <p:nvSpPr>
          <p:cNvPr id="34" name="Text 32"/>
          <p:cNvSpPr/>
          <p:nvPr/>
        </p:nvSpPr>
        <p:spPr>
          <a:xfrm>
            <a:off x="4489704" y="4434840"/>
            <a:ext cx="3182112" cy="7680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'Removed 41 contaminated, 12,308 near-dup, 4,102 invalid AST.' These numbers are findings, not bookkeeping.</a:t>
            </a:r>
            <a:endParaRPr lang="en-US" sz="1100" dirty="0"/>
          </a:p>
        </p:txBody>
      </p:sp>
      <p:sp>
        <p:nvSpPr>
          <p:cNvPr id="35" name="Shape 33"/>
          <p:cNvSpPr/>
          <p:nvPr/>
        </p:nvSpPr>
        <p:spPr>
          <a:xfrm>
            <a:off x="8037576" y="3977640"/>
            <a:ext cx="3621024" cy="1371600"/>
          </a:xfrm>
          <a:prstGeom prst="roundRect">
            <a:avLst>
              <a:gd name="adj" fmla="val 4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6" name="Text 34"/>
          <p:cNvSpPr/>
          <p:nvPr/>
        </p:nvSpPr>
        <p:spPr>
          <a:xfrm>
            <a:off x="8257032" y="412394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Every stage is re-runnable</a:t>
            </a:r>
            <a:endParaRPr lang="en-US" sz="1250" dirty="0"/>
          </a:p>
        </p:txBody>
      </p:sp>
      <p:sp>
        <p:nvSpPr>
          <p:cNvPr id="37" name="Text 35"/>
          <p:cNvSpPr/>
          <p:nvPr/>
        </p:nvSpPr>
        <p:spPr>
          <a:xfrm>
            <a:off x="8257032" y="4434840"/>
            <a:ext cx="3182112" cy="7680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One script per stage, idempotent, reading from the previous directory. You will re-run these many times.</a:t>
            </a:r>
            <a:endParaRPr lang="en-US" sz="1100" dirty="0"/>
          </a:p>
        </p:txBody>
      </p:sp>
      <p:sp>
        <p:nvSpPr>
          <p:cNvPr id="38" name="Shape 36"/>
          <p:cNvSpPr/>
          <p:nvPr/>
        </p:nvSpPr>
        <p:spPr>
          <a:xfrm>
            <a:off x="502920" y="5532120"/>
            <a:ext cx="11155680" cy="868680"/>
          </a:xfrm>
          <a:prstGeom prst="roundRect">
            <a:avLst>
              <a:gd name="adj" fmla="val 7368"/>
            </a:avLst>
          </a:prstGeom>
          <a:solidFill>
            <a:srgbClr val="1F3D2E"/>
          </a:solidFill>
          <a:ln/>
        </p:spPr>
      </p:sp>
      <p:sp>
        <p:nvSpPr>
          <p:cNvPr id="39" name="Shape 37"/>
          <p:cNvSpPr/>
          <p:nvPr/>
        </p:nvSpPr>
        <p:spPr>
          <a:xfrm>
            <a:off x="740664" y="5715000"/>
            <a:ext cx="292608" cy="292608"/>
          </a:xfrm>
          <a:prstGeom prst="ellipse">
            <a:avLst/>
          </a:prstGeom>
          <a:solidFill>
            <a:srgbClr val="1F3D2E"/>
          </a:solidFill>
          <a:ln/>
        </p:spPr>
      </p:sp>
      <p:sp>
        <p:nvSpPr>
          <p:cNvPr id="40" name="Text 38"/>
          <p:cNvSpPr/>
          <p:nvPr/>
        </p:nvSpPr>
        <p:spPr>
          <a:xfrm>
            <a:off x="740664" y="571500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41" name="Text 39"/>
          <p:cNvSpPr/>
          <p:nvPr/>
        </p:nvSpPr>
        <p:spPr>
          <a:xfrm>
            <a:off x="1133856" y="573328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42" name="Text 40"/>
          <p:cNvSpPr/>
          <p:nvPr/>
        </p:nvSpPr>
        <p:spPr>
          <a:xfrm>
            <a:off x="740664" y="6108192"/>
            <a:ext cx="10680192" cy="1188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did dedup before decontamination once. Deduplication removed the duplicate copies of contaminated problems, so my n-gram check found fewer hits and I concluded the data was clean. It was not.</a:t>
            </a:r>
            <a:endParaRPr lang="en-US" sz="1150" dirty="0"/>
          </a:p>
        </p:txBody>
      </p:sp>
      <p:sp>
        <p:nvSpPr>
          <p:cNvPr id="43" name="Text 41"/>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63</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Sources — raw code corpora</a:t>
            </a:r>
            <a:endParaRPr lang="en-US" sz="29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926080"/>
                <a:gridCol w="2743200"/>
                <a:gridCol w="2651760"/>
                <a:gridCol w="2834640"/>
              </a:tblGrid>
              <a:tr h="42062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Corpus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Scale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License posture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is for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Stack v2 (BigCode)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Hundreds of B tokens, 600+ langs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Permissive-only, opt-out honored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Continued pretraining, FIM, synthetic seed material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Stack v2 'smol'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Sampled subset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Same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Prototyping the pipeline without 200GB downloads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CommitPack / CommitPackFT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~4TB raw / filtered subset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Permissive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Commit message → diff pairs. Natural instruction data.</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GitHub Code (various mirrors)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Varies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Varies wildly — check</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Generally avoid; provenance is often unclear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337560"/>
            <a:ext cx="3621024" cy="1417320"/>
          </a:xfrm>
          <a:prstGeom prst="roundRect">
            <a:avLst>
              <a:gd name="adj" fmla="val 451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722376" y="3483864"/>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You probably do not need raw code</a:t>
            </a:r>
            <a:endParaRPr lang="en-US" sz="1250" dirty="0"/>
          </a:p>
        </p:txBody>
      </p:sp>
      <p:sp>
        <p:nvSpPr>
          <p:cNvPr id="7" name="Text 4"/>
          <p:cNvSpPr/>
          <p:nvPr/>
        </p:nvSpPr>
        <p:spPr>
          <a:xfrm>
            <a:off x="722376" y="3794760"/>
            <a:ext cx="3182112" cy="8138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For instruction tuning, curated instruction datasets beat raw code. Raw corpora matter for continued pretraining and for generating synthetic data — both later concerns.</a:t>
            </a:r>
            <a:endParaRPr lang="en-US" sz="1100" dirty="0"/>
          </a:p>
        </p:txBody>
      </p:sp>
      <p:sp>
        <p:nvSpPr>
          <p:cNvPr id="8" name="Shape 5"/>
          <p:cNvSpPr/>
          <p:nvPr/>
        </p:nvSpPr>
        <p:spPr>
          <a:xfrm>
            <a:off x="4270248" y="3337560"/>
            <a:ext cx="3621024" cy="1417320"/>
          </a:xfrm>
          <a:prstGeom prst="roundRect">
            <a:avLst>
              <a:gd name="adj" fmla="val 451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4489704" y="34838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Download a language subset</a:t>
            </a:r>
            <a:endParaRPr lang="en-US" sz="1250" dirty="0"/>
          </a:p>
        </p:txBody>
      </p:sp>
      <p:sp>
        <p:nvSpPr>
          <p:cNvPr id="10" name="Text 7"/>
          <p:cNvSpPr/>
          <p:nvPr/>
        </p:nvSpPr>
        <p:spPr>
          <a:xfrm>
            <a:off x="4489704" y="3794760"/>
            <a:ext cx="3182112" cy="8138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Stack v2 filtered to Python is a few tens of GB. The whole thing is not something you want on a laptop.</a:t>
            </a:r>
            <a:endParaRPr lang="en-US" sz="1100" dirty="0"/>
          </a:p>
        </p:txBody>
      </p:sp>
      <p:sp>
        <p:nvSpPr>
          <p:cNvPr id="11" name="Shape 8"/>
          <p:cNvSpPr/>
          <p:nvPr/>
        </p:nvSpPr>
        <p:spPr>
          <a:xfrm>
            <a:off x="8037576" y="3337560"/>
            <a:ext cx="3621024" cy="1417320"/>
          </a:xfrm>
          <a:prstGeom prst="roundRect">
            <a:avLst>
              <a:gd name="adj" fmla="val 451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8257032" y="3483864"/>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Opt-out is a moving target</a:t>
            </a:r>
            <a:endParaRPr lang="en-US" sz="1250" dirty="0"/>
          </a:p>
        </p:txBody>
      </p:sp>
      <p:sp>
        <p:nvSpPr>
          <p:cNvPr id="13" name="Text 10"/>
          <p:cNvSpPr/>
          <p:nvPr/>
        </p:nvSpPr>
        <p:spPr>
          <a:xfrm>
            <a:off x="8257032" y="3794760"/>
            <a:ext cx="3182112" cy="8138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Developers can request removal. A corpus you downloaded a year ago may contain code its author has since withdrawn.</a:t>
            </a:r>
            <a:endParaRPr lang="en-US" sz="1100" dirty="0"/>
          </a:p>
        </p:txBody>
      </p:sp>
      <p:sp>
        <p:nvSpPr>
          <p:cNvPr id="14" name="Shape 11"/>
          <p:cNvSpPr/>
          <p:nvPr/>
        </p:nvSpPr>
        <p:spPr>
          <a:xfrm>
            <a:off x="502920" y="4937760"/>
            <a:ext cx="11155680" cy="1280160"/>
          </a:xfrm>
          <a:prstGeom prst="roundRect">
            <a:avLst>
              <a:gd name="adj" fmla="val 5000"/>
            </a:avLst>
          </a:prstGeom>
          <a:solidFill>
            <a:srgbClr val="1F3D2E"/>
          </a:solidFill>
          <a:ln/>
        </p:spPr>
      </p:sp>
      <p:sp>
        <p:nvSpPr>
          <p:cNvPr id="15" name="Shape 12"/>
          <p:cNvSpPr/>
          <p:nvPr/>
        </p:nvSpPr>
        <p:spPr>
          <a:xfrm>
            <a:off x="740664" y="5120640"/>
            <a:ext cx="292608" cy="292608"/>
          </a:xfrm>
          <a:prstGeom prst="ellipse">
            <a:avLst/>
          </a:prstGeom>
          <a:solidFill>
            <a:srgbClr val="1F3D2E"/>
          </a:solidFill>
          <a:ln/>
        </p:spPr>
      </p:sp>
      <p:sp>
        <p:nvSpPr>
          <p:cNvPr id="16" name="Text 13"/>
          <p:cNvSpPr/>
          <p:nvPr/>
        </p:nvSpPr>
        <p:spPr>
          <a:xfrm>
            <a:off x="740664" y="51206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7" name="Text 14"/>
          <p:cNvSpPr/>
          <p:nvPr/>
        </p:nvSpPr>
        <p:spPr>
          <a:xfrm>
            <a:off x="1133856" y="51389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8" name="Text 15"/>
          <p:cNvSpPr/>
          <p:nvPr/>
        </p:nvSpPr>
        <p:spPr>
          <a:xfrm>
            <a:off x="740664" y="5513832"/>
            <a:ext cx="10680192" cy="5303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downloaded 180GB of The Stack in week one because it felt like the serious thing to do. I used approximately none of it for the next two months. Start with instruction datasets — they are 5GB and they are what you actually train on first.</a:t>
            </a:r>
            <a:endParaRPr lang="en-US" sz="1150" dirty="0"/>
          </a:p>
        </p:txBody>
      </p:sp>
      <p:sp>
        <p:nvSpPr>
          <p:cNvPr id="19" name="Text 16"/>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64</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Sources — instruction datasets (what you actually train on)</a:t>
            </a:r>
            <a:endParaRPr lang="en-US" sz="29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017520"/>
                <a:gridCol w="1280160"/>
                <a:gridCol w="3931920"/>
                <a:gridCol w="292608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Dataset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Size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it was made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Quality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Magicoder OSS-Instruct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~75k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LLM invents a problem from a REAL open-source snippet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High — grounded in real code, not imagined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Magicoder Evol-Instruct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~110k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Iteratively complexified seed instructions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High, but complexity can become artificial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Evol-Instruct-Code (WizardCoder)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~80k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Depth + breadth evolution of seed prompts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Good; some degenerate over-complex examples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Glaive Code Assistant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~140k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Synthetic assistant dialogues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Mixed — useful volume, uneven quality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OpenCoder datasets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Large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Curated pipeline, well documented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Good; read their filtering paper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CodeAlpaca</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~20k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Self-Instruct from GPT-3.5, 2023</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Low by modern standards — useful as a NEGATIVE control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self-oss-instruct-sc2</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~50k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StarCoder2 self-generated, verified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Good; fully open provenance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434840"/>
            <a:ext cx="11155680" cy="566928"/>
          </a:xfrm>
          <a:prstGeom prst="roundRect">
            <a:avLst>
              <a:gd name="adj" fmla="val 9677"/>
            </a:avLst>
          </a:prstGeom>
          <a:solidFill>
            <a:srgbClr val="8FB573"/>
          </a:solidFill>
          <a:ln/>
        </p:spPr>
      </p:sp>
      <p:sp>
        <p:nvSpPr>
          <p:cNvPr id="6" name="Text 3"/>
          <p:cNvSpPr/>
          <p:nvPr/>
        </p:nvSpPr>
        <p:spPr>
          <a:xfrm>
            <a:off x="777240" y="443484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Start with Magicoder OSS-Instruct. Add CodeAlpaca deliberately as your 'bad data' control for the Phase 5 ablation.</a:t>
            </a:r>
            <a:endParaRPr lang="en-US" sz="1450" dirty="0"/>
          </a:p>
        </p:txBody>
      </p:sp>
      <p:sp>
        <p:nvSpPr>
          <p:cNvPr id="7" name="Shape 4"/>
          <p:cNvSpPr/>
          <p:nvPr/>
        </p:nvSpPr>
        <p:spPr>
          <a:xfrm>
            <a:off x="502920" y="5166360"/>
            <a:ext cx="11155680" cy="1188720"/>
          </a:xfrm>
          <a:prstGeom prst="roundRect">
            <a:avLst>
              <a:gd name="adj" fmla="val 5385"/>
            </a:avLst>
          </a:prstGeom>
          <a:solidFill>
            <a:srgbClr val="1F3D2E"/>
          </a:solidFill>
          <a:ln/>
        </p:spPr>
      </p:sp>
      <p:sp>
        <p:nvSpPr>
          <p:cNvPr id="8" name="Shape 5"/>
          <p:cNvSpPr/>
          <p:nvPr/>
        </p:nvSpPr>
        <p:spPr>
          <a:xfrm>
            <a:off x="740664" y="5349240"/>
            <a:ext cx="292608" cy="292608"/>
          </a:xfrm>
          <a:prstGeom prst="ellipse">
            <a:avLst/>
          </a:prstGeom>
          <a:solidFill>
            <a:srgbClr val="1F3D2E"/>
          </a:solidFill>
          <a:ln/>
        </p:spPr>
      </p:sp>
      <p:sp>
        <p:nvSpPr>
          <p:cNvPr id="9" name="Text 6"/>
          <p:cNvSpPr/>
          <p:nvPr/>
        </p:nvSpPr>
        <p:spPr>
          <a:xfrm>
            <a:off x="740664" y="53492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0" name="Text 7"/>
          <p:cNvSpPr/>
          <p:nvPr/>
        </p:nvSpPr>
        <p:spPr>
          <a:xfrm>
            <a:off x="1133856" y="53675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1" name="Text 8"/>
          <p:cNvSpPr/>
          <p:nvPr/>
        </p:nvSpPr>
        <p:spPr>
          <a:xfrm>
            <a:off x="740664" y="5742432"/>
            <a:ext cx="10680192" cy="43891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Having a known-bad dataset on hand is genuinely useful. When curated-10k beats CodeAlpaca-20k by nine points, you have a concrete demonstration of why data quality dominates — and you will need that conviction when curation gets tedious.</a:t>
            </a:r>
            <a:endParaRPr lang="en-US" sz="1150" dirty="0"/>
          </a:p>
        </p:txBody>
      </p:sp>
      <p:sp>
        <p:nvSpPr>
          <p:cNvPr id="12" name="Text 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65</a:t>
            </a:r>
            <a:endParaRPr lang="en-US" sz="9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Sources — problems WITH tests (your RLVR goldmine)</a:t>
            </a:r>
            <a:endParaRPr lang="en-US" sz="2900" dirty="0"/>
          </a:p>
        </p:txBody>
      </p:sp>
      <p:sp>
        <p:nvSpPr>
          <p:cNvPr id="4" name="Text 2"/>
          <p:cNvSpPr/>
          <p:nvPr/>
        </p:nvSpPr>
        <p:spPr>
          <a:xfrm>
            <a:off x="502920" y="1280160"/>
            <a:ext cx="11155680" cy="64008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These are different from instruction datasets and far more valuable later. A problem shipped with executable test cases is a training signal you can verify — which is what makes Phases 7 through 9 possible at all.</a:t>
            </a:r>
            <a:endParaRPr lang="en-US" sz="135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11155680" cy="914400"/>
        </p:xfrm>
        <a:graphic>
          <a:graphicData uri="http://schemas.openxmlformats.org/drawingml/2006/table">
            <a:tbl>
              <a:tblPr/>
              <a:tblGrid>
                <a:gridCol w="2834640"/>
                <a:gridCol w="1463040"/>
                <a:gridCol w="2194560"/>
                <a:gridCol w="3017520"/>
                <a:gridCol w="1645920"/>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Problems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Tests included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Difficulty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Used in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CodeContests (DeepMind)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~13.5k</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Yes, extensive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Competitive programming — hard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RFT, GRPO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APPS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Interview → competition, graded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RFT, GRPO, stratified eval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TACO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~26k</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Algorithmic, varied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GRPO at volume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MBPP (train split)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~600</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Basic</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Warm-up, sanity checks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HumanEval / MBPP test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164 / 378</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Mixed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EVAL ONLY — never train on these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4297680"/>
            <a:ext cx="11155680" cy="566928"/>
          </a:xfrm>
          <a:prstGeom prst="roundRect">
            <a:avLst>
              <a:gd name="adj" fmla="val 9677"/>
            </a:avLst>
          </a:prstGeom>
          <a:solidFill>
            <a:srgbClr val="A8482A"/>
          </a:solidFill>
          <a:ln/>
        </p:spPr>
      </p:sp>
      <p:sp>
        <p:nvSpPr>
          <p:cNvPr id="7" name="Text 4"/>
          <p:cNvSpPr/>
          <p:nvPr/>
        </p:nvSpPr>
        <p:spPr>
          <a:xfrm>
            <a:off x="777240" y="429768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HumanEval and MBPP test splits are EVAL ONLY. Training on them is the contamination that invalidates everything.</a:t>
            </a:r>
            <a:endParaRPr lang="en-US" sz="1450" dirty="0"/>
          </a:p>
        </p:txBody>
      </p:sp>
      <p:sp>
        <p:nvSpPr>
          <p:cNvPr id="8" name="Shape 5"/>
          <p:cNvSpPr/>
          <p:nvPr/>
        </p:nvSpPr>
        <p:spPr>
          <a:xfrm>
            <a:off x="502920" y="5029200"/>
            <a:ext cx="3621024" cy="1051560"/>
          </a:xfrm>
          <a:prstGeom prst="roundRect">
            <a:avLst>
              <a:gd name="adj" fmla="val 608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722376" y="5175504"/>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Test quality varies</a:t>
            </a:r>
            <a:endParaRPr lang="en-US" sz="1250" dirty="0"/>
          </a:p>
        </p:txBody>
      </p:sp>
      <p:sp>
        <p:nvSpPr>
          <p:cNvPr id="10" name="Text 7"/>
          <p:cNvSpPr/>
          <p:nvPr/>
        </p:nvSpPr>
        <p:spPr>
          <a:xfrm>
            <a:off x="722376" y="5486400"/>
            <a:ext cx="3182112" cy="4480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Some CodeContests tests are weak. Your model will find that out before you do.</a:t>
            </a:r>
            <a:endParaRPr lang="en-US" sz="1100" dirty="0"/>
          </a:p>
        </p:txBody>
      </p:sp>
      <p:sp>
        <p:nvSpPr>
          <p:cNvPr id="11" name="Shape 8"/>
          <p:cNvSpPr/>
          <p:nvPr/>
        </p:nvSpPr>
        <p:spPr>
          <a:xfrm>
            <a:off x="4270248" y="5029200"/>
            <a:ext cx="3621024" cy="1051560"/>
          </a:xfrm>
          <a:prstGeom prst="roundRect">
            <a:avLst>
              <a:gd name="adj" fmla="val 608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4489704" y="517550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Difficulty stratification is free</a:t>
            </a:r>
            <a:endParaRPr lang="en-US" sz="1250" dirty="0"/>
          </a:p>
        </p:txBody>
      </p:sp>
      <p:sp>
        <p:nvSpPr>
          <p:cNvPr id="13" name="Text 10"/>
          <p:cNvSpPr/>
          <p:nvPr/>
        </p:nvSpPr>
        <p:spPr>
          <a:xfrm>
            <a:off x="4489704" y="5486400"/>
            <a:ext cx="3182112" cy="4480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APPS ships difficulty labels. Use them — they prevent the difficulty collapse you hit in Phase 7.</a:t>
            </a:r>
            <a:endParaRPr lang="en-US" sz="1100" dirty="0"/>
          </a:p>
        </p:txBody>
      </p:sp>
      <p:sp>
        <p:nvSpPr>
          <p:cNvPr id="14" name="Shape 11"/>
          <p:cNvSpPr/>
          <p:nvPr/>
        </p:nvSpPr>
        <p:spPr>
          <a:xfrm>
            <a:off x="8037576" y="5029200"/>
            <a:ext cx="3621024" cy="1051560"/>
          </a:xfrm>
          <a:prstGeom prst="roundRect">
            <a:avLst>
              <a:gd name="adj" fmla="val 608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2"/>
          <p:cNvSpPr/>
          <p:nvPr/>
        </p:nvSpPr>
        <p:spPr>
          <a:xfrm>
            <a:off x="8257032" y="517550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Volume matters for RL</a:t>
            </a:r>
            <a:endParaRPr lang="en-US" sz="1250" dirty="0"/>
          </a:p>
        </p:txBody>
      </p:sp>
      <p:sp>
        <p:nvSpPr>
          <p:cNvPr id="16" name="Text 13"/>
          <p:cNvSpPr/>
          <p:nvPr/>
        </p:nvSpPr>
        <p:spPr>
          <a:xfrm>
            <a:off x="8257032" y="5486400"/>
            <a:ext cx="3182112" cy="4480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GRPO burns through problems. 13k+ is a comfortable floor.</a:t>
            </a:r>
            <a:endParaRPr lang="en-US" sz="1100" dirty="0"/>
          </a:p>
        </p:txBody>
      </p:sp>
      <p:sp>
        <p:nvSpPr>
          <p:cNvPr id="17" name="Text 1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66</a:t>
            </a:r>
            <a:endParaRPr lang="en-US" sz="9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Licensing and provenance — ten minutes now, or a rewrite later</a:t>
            </a:r>
            <a:endParaRPr lang="en-US" sz="2900" dirty="0"/>
          </a:p>
        </p:txBody>
      </p:sp>
      <p:sp>
        <p:nvSpPr>
          <p:cNvPr id="4" name="Shape 2"/>
          <p:cNvSpPr/>
          <p:nvPr/>
        </p:nvSpPr>
        <p:spPr>
          <a:xfrm>
            <a:off x="502920" y="128016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502920" y="1280160"/>
            <a:ext cx="91440" cy="667512"/>
          </a:xfrm>
          <a:prstGeom prst="rect">
            <a:avLst/>
          </a:prstGeom>
          <a:solidFill>
            <a:srgbClr val="A8482A"/>
          </a:solidFill>
          <a:ln/>
        </p:spPr>
      </p:sp>
      <p:sp>
        <p:nvSpPr>
          <p:cNvPr id="6" name="Text 4"/>
          <p:cNvSpPr/>
          <p:nvPr/>
        </p:nvSpPr>
        <p:spPr>
          <a:xfrm>
            <a:off x="822960" y="1389888"/>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Dataset license ≠ model license</a:t>
            </a:r>
            <a:endParaRPr lang="en-US" sz="1250" dirty="0"/>
          </a:p>
        </p:txBody>
      </p:sp>
      <p:sp>
        <p:nvSpPr>
          <p:cNvPr id="7" name="Text 5"/>
          <p:cNvSpPr/>
          <p:nvPr/>
        </p:nvSpPr>
        <p:spPr>
          <a:xfrm>
            <a:off x="822960" y="1682496"/>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two separate grants</a:t>
            </a:r>
            <a:endParaRPr lang="en-US" sz="950" dirty="0"/>
          </a:p>
        </p:txBody>
      </p:sp>
      <p:sp>
        <p:nvSpPr>
          <p:cNvPr id="8" name="Text 6"/>
          <p:cNvSpPr/>
          <p:nvPr/>
        </p:nvSpPr>
        <p:spPr>
          <a:xfrm>
            <a:off x="4160520" y="1371600"/>
            <a:ext cx="749808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You need permission to TRAIN on the data and permission to USE the base model's weights. They are different documents with different terms.</a:t>
            </a:r>
            <a:endParaRPr lang="en-US" sz="1180" dirty="0"/>
          </a:p>
        </p:txBody>
      </p:sp>
      <p:sp>
        <p:nvSpPr>
          <p:cNvPr id="9" name="Shape 7"/>
          <p:cNvSpPr/>
          <p:nvPr/>
        </p:nvSpPr>
        <p:spPr>
          <a:xfrm>
            <a:off x="502920" y="2039112"/>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502920" y="2039112"/>
            <a:ext cx="91440" cy="667512"/>
          </a:xfrm>
          <a:prstGeom prst="rect">
            <a:avLst/>
          </a:prstGeom>
          <a:solidFill>
            <a:srgbClr val="A8482A"/>
          </a:solidFill>
          <a:ln/>
        </p:spPr>
      </p:sp>
      <p:sp>
        <p:nvSpPr>
          <p:cNvPr id="11" name="Text 9"/>
          <p:cNvSpPr/>
          <p:nvPr/>
        </p:nvSpPr>
        <p:spPr>
          <a:xfrm>
            <a:off x="822960" y="2148840"/>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Teacher-output terms</a:t>
            </a:r>
            <a:endParaRPr lang="en-US" sz="1250" dirty="0"/>
          </a:p>
        </p:txBody>
      </p:sp>
      <p:sp>
        <p:nvSpPr>
          <p:cNvPr id="12" name="Text 10"/>
          <p:cNvSpPr/>
          <p:nvPr/>
        </p:nvSpPr>
        <p:spPr>
          <a:xfrm>
            <a:off x="822960" y="2441448"/>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distillation restrictions</a:t>
            </a:r>
            <a:endParaRPr lang="en-US" sz="950" dirty="0"/>
          </a:p>
        </p:txBody>
      </p:sp>
      <p:sp>
        <p:nvSpPr>
          <p:cNvPr id="13" name="Text 11"/>
          <p:cNvSpPr/>
          <p:nvPr/>
        </p:nvSpPr>
        <p:spPr>
          <a:xfrm>
            <a:off x="4160520" y="2130552"/>
            <a:ext cx="749808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Most commercial API providers prohibit using outputs to train competing models. Check before you distill from anything hosted.</a:t>
            </a:r>
            <a:endParaRPr lang="en-US" sz="1180" dirty="0"/>
          </a:p>
        </p:txBody>
      </p:sp>
      <p:sp>
        <p:nvSpPr>
          <p:cNvPr id="14" name="Shape 12"/>
          <p:cNvSpPr/>
          <p:nvPr/>
        </p:nvSpPr>
        <p:spPr>
          <a:xfrm>
            <a:off x="502920" y="2798064"/>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502920" y="2798064"/>
            <a:ext cx="91440" cy="667512"/>
          </a:xfrm>
          <a:prstGeom prst="rect">
            <a:avLst/>
          </a:prstGeom>
          <a:solidFill>
            <a:srgbClr val="D98E32"/>
          </a:solidFill>
          <a:ln/>
        </p:spPr>
      </p:sp>
      <p:sp>
        <p:nvSpPr>
          <p:cNvPr id="16" name="Text 14"/>
          <p:cNvSpPr/>
          <p:nvPr/>
        </p:nvSpPr>
        <p:spPr>
          <a:xfrm>
            <a:off x="822960" y="2907792"/>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Copyleft contamination</a:t>
            </a:r>
            <a:endParaRPr lang="en-US" sz="1250" dirty="0"/>
          </a:p>
        </p:txBody>
      </p:sp>
      <p:sp>
        <p:nvSpPr>
          <p:cNvPr id="17" name="Text 15"/>
          <p:cNvSpPr/>
          <p:nvPr/>
        </p:nvSpPr>
        <p:spPr>
          <a:xfrm>
            <a:off x="822960" y="3200400"/>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GPL in training data</a:t>
            </a:r>
            <a:endParaRPr lang="en-US" sz="950" dirty="0"/>
          </a:p>
        </p:txBody>
      </p:sp>
      <p:sp>
        <p:nvSpPr>
          <p:cNvPr id="18" name="Text 16"/>
          <p:cNvSpPr/>
          <p:nvPr/>
        </p:nvSpPr>
        <p:spPr>
          <a:xfrm>
            <a:off x="4160520" y="2889504"/>
            <a:ext cx="749808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The legal status of training on copyleft code is genuinely unsettled. The Stack's permissive-only filter exists for this reason.</a:t>
            </a:r>
            <a:endParaRPr lang="en-US" sz="1180" dirty="0"/>
          </a:p>
        </p:txBody>
      </p:sp>
      <p:sp>
        <p:nvSpPr>
          <p:cNvPr id="19" name="Shape 17"/>
          <p:cNvSpPr/>
          <p:nvPr/>
        </p:nvSpPr>
        <p:spPr>
          <a:xfrm>
            <a:off x="502920" y="3557016"/>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502920" y="3557016"/>
            <a:ext cx="91440" cy="667512"/>
          </a:xfrm>
          <a:prstGeom prst="rect">
            <a:avLst/>
          </a:prstGeom>
          <a:solidFill>
            <a:srgbClr val="D98E32"/>
          </a:solidFill>
          <a:ln/>
        </p:spPr>
      </p:sp>
      <p:sp>
        <p:nvSpPr>
          <p:cNvPr id="21" name="Text 19"/>
          <p:cNvSpPr/>
          <p:nvPr/>
        </p:nvSpPr>
        <p:spPr>
          <a:xfrm>
            <a:off x="822960" y="3666744"/>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Attribution requirements</a:t>
            </a:r>
            <a:endParaRPr lang="en-US" sz="1250" dirty="0"/>
          </a:p>
        </p:txBody>
      </p:sp>
      <p:sp>
        <p:nvSpPr>
          <p:cNvPr id="22" name="Text 20"/>
          <p:cNvSpPr/>
          <p:nvPr/>
        </p:nvSpPr>
        <p:spPr>
          <a:xfrm>
            <a:off x="822960" y="3959352"/>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some licenses require it</a:t>
            </a:r>
            <a:endParaRPr lang="en-US" sz="950" dirty="0"/>
          </a:p>
        </p:txBody>
      </p:sp>
      <p:sp>
        <p:nvSpPr>
          <p:cNvPr id="23" name="Text 21"/>
          <p:cNvSpPr/>
          <p:nvPr/>
        </p:nvSpPr>
        <p:spPr>
          <a:xfrm>
            <a:off x="4160520" y="3648456"/>
            <a:ext cx="749808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If you publish an adapter trained on attribution-required data, you may owe attribution. Record sources now, not later.</a:t>
            </a:r>
            <a:endParaRPr lang="en-US" sz="1180" dirty="0"/>
          </a:p>
        </p:txBody>
      </p:sp>
      <p:sp>
        <p:nvSpPr>
          <p:cNvPr id="24" name="Shape 22"/>
          <p:cNvSpPr/>
          <p:nvPr/>
        </p:nvSpPr>
        <p:spPr>
          <a:xfrm>
            <a:off x="502920" y="4315968"/>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502920" y="4315968"/>
            <a:ext cx="91440" cy="667512"/>
          </a:xfrm>
          <a:prstGeom prst="rect">
            <a:avLst/>
          </a:prstGeom>
          <a:solidFill>
            <a:srgbClr val="D98E32"/>
          </a:solidFill>
          <a:ln/>
        </p:spPr>
      </p:sp>
      <p:sp>
        <p:nvSpPr>
          <p:cNvPr id="26" name="Text 24"/>
          <p:cNvSpPr/>
          <p:nvPr/>
        </p:nvSpPr>
        <p:spPr>
          <a:xfrm>
            <a:off x="822960" y="4425696"/>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Opt-out honoring</a:t>
            </a:r>
            <a:endParaRPr lang="en-US" sz="1250" dirty="0"/>
          </a:p>
        </p:txBody>
      </p:sp>
      <p:sp>
        <p:nvSpPr>
          <p:cNvPr id="27" name="Text 25"/>
          <p:cNvSpPr/>
          <p:nvPr/>
        </p:nvSpPr>
        <p:spPr>
          <a:xfrm>
            <a:off x="822960" y="4718304"/>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am-I-in-the-stack</a:t>
            </a:r>
            <a:endParaRPr lang="en-US" sz="950" dirty="0"/>
          </a:p>
        </p:txBody>
      </p:sp>
      <p:sp>
        <p:nvSpPr>
          <p:cNvPr id="28" name="Text 26"/>
          <p:cNvSpPr/>
          <p:nvPr/>
        </p:nvSpPr>
        <p:spPr>
          <a:xfrm>
            <a:off x="4160520" y="4407408"/>
            <a:ext cx="749808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Developers can withdraw. Using a stale snapshot means using code someone asked to have removed.</a:t>
            </a:r>
            <a:endParaRPr lang="en-US" sz="1180" dirty="0"/>
          </a:p>
        </p:txBody>
      </p:sp>
      <p:sp>
        <p:nvSpPr>
          <p:cNvPr id="29" name="Shape 27"/>
          <p:cNvSpPr/>
          <p:nvPr/>
        </p:nvSpPr>
        <p:spPr>
          <a:xfrm>
            <a:off x="502920" y="507492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502920" y="5074920"/>
            <a:ext cx="91440" cy="667512"/>
          </a:xfrm>
          <a:prstGeom prst="rect">
            <a:avLst/>
          </a:prstGeom>
          <a:solidFill>
            <a:srgbClr val="8FB573"/>
          </a:solidFill>
          <a:ln/>
        </p:spPr>
      </p:sp>
      <p:sp>
        <p:nvSpPr>
          <p:cNvPr id="31" name="Text 29"/>
          <p:cNvSpPr/>
          <p:nvPr/>
        </p:nvSpPr>
        <p:spPr>
          <a:xfrm>
            <a:off x="822960" y="5184648"/>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Record everything</a:t>
            </a:r>
            <a:endParaRPr lang="en-US" sz="1250" dirty="0"/>
          </a:p>
        </p:txBody>
      </p:sp>
      <p:sp>
        <p:nvSpPr>
          <p:cNvPr id="32" name="Text 30"/>
          <p:cNvSpPr/>
          <p:nvPr/>
        </p:nvSpPr>
        <p:spPr>
          <a:xfrm>
            <a:off x="822960" y="5477256"/>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a provenance manifest</a:t>
            </a:r>
            <a:endParaRPr lang="en-US" sz="950" dirty="0"/>
          </a:p>
        </p:txBody>
      </p:sp>
      <p:sp>
        <p:nvSpPr>
          <p:cNvPr id="33" name="Text 31"/>
          <p:cNvSpPr/>
          <p:nvPr/>
        </p:nvSpPr>
        <p:spPr>
          <a:xfrm>
            <a:off x="4160520" y="5166360"/>
            <a:ext cx="749808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One JSON per raw dataset: URL, license, download date, SHA. Takes five minutes, answers every future question.</a:t>
            </a:r>
            <a:endParaRPr lang="en-US" sz="1180" dirty="0"/>
          </a:p>
        </p:txBody>
      </p:sp>
      <p:sp>
        <p:nvSpPr>
          <p:cNvPr id="34" name="Shape 32"/>
          <p:cNvSpPr/>
          <p:nvPr/>
        </p:nvSpPr>
        <p:spPr>
          <a:xfrm>
            <a:off x="502920" y="5852160"/>
            <a:ext cx="11155680" cy="777240"/>
          </a:xfrm>
          <a:prstGeom prst="roundRect">
            <a:avLst>
              <a:gd name="adj" fmla="val 8235"/>
            </a:avLst>
          </a:prstGeom>
          <a:solidFill>
            <a:srgbClr val="1F3D2E"/>
          </a:solidFill>
          <a:ln/>
        </p:spPr>
      </p:sp>
      <p:sp>
        <p:nvSpPr>
          <p:cNvPr id="35" name="Shape 33"/>
          <p:cNvSpPr/>
          <p:nvPr/>
        </p:nvSpPr>
        <p:spPr>
          <a:xfrm>
            <a:off x="740664" y="6035040"/>
            <a:ext cx="292608" cy="292608"/>
          </a:xfrm>
          <a:prstGeom prst="ellipse">
            <a:avLst/>
          </a:prstGeom>
          <a:solidFill>
            <a:srgbClr val="1F3D2E"/>
          </a:solidFill>
          <a:ln/>
        </p:spPr>
      </p:sp>
      <p:sp>
        <p:nvSpPr>
          <p:cNvPr id="36" name="Text 34"/>
          <p:cNvSpPr/>
          <p:nvPr/>
        </p:nvSpPr>
        <p:spPr>
          <a:xfrm>
            <a:off x="740664" y="60350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37" name="Text 35"/>
          <p:cNvSpPr/>
          <p:nvPr/>
        </p:nvSpPr>
        <p:spPr>
          <a:xfrm>
            <a:off x="1133856" y="60533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38" name="Text 36"/>
          <p:cNvSpPr/>
          <p:nvPr/>
        </p:nvSpPr>
        <p:spPr>
          <a:xfrm>
            <a:off x="740664" y="6428232"/>
            <a:ext cx="10680192" cy="274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This is not legal advice and I am not a lawyer. But recording provenance costs nothing and not recording it can cost you the whole project.</a:t>
            </a:r>
            <a:endParaRPr lang="en-US" sz="1150" dirty="0"/>
          </a:p>
        </p:txBody>
      </p:sp>
      <p:sp>
        <p:nvSpPr>
          <p:cNvPr id="39" name="Text 3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67</a:t>
            </a:r>
            <a:endParaRPr lang="en-US" sz="9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Schema design — decide this once, live with it for months</a:t>
            </a:r>
            <a:endParaRPr lang="en-US" sz="2900" dirty="0"/>
          </a:p>
        </p:txBody>
      </p:sp>
      <p:sp>
        <p:nvSpPr>
          <p:cNvPr id="4" name="Shape 2"/>
          <p:cNvSpPr/>
          <p:nvPr/>
        </p:nvSpPr>
        <p:spPr>
          <a:xfrm>
            <a:off x="502920" y="1280160"/>
            <a:ext cx="6126480" cy="4206240"/>
          </a:xfrm>
          <a:prstGeom prst="roundRect">
            <a:avLst>
              <a:gd name="adj" fmla="val 1304"/>
            </a:avLst>
          </a:prstGeom>
          <a:solidFill>
            <a:srgbClr val="0F1F17"/>
          </a:solidFill>
          <a:ln/>
        </p:spPr>
      </p:sp>
      <p:sp>
        <p:nvSpPr>
          <p:cNvPr id="5" name="Text 3"/>
          <p:cNvSpPr/>
          <p:nvPr/>
        </p:nvSpPr>
        <p:spPr>
          <a:xfrm>
            <a:off x="722376" y="1426464"/>
            <a:ext cx="568756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ONE TRAINING RECORD</a:t>
            </a:r>
            <a:endParaRPr lang="en-US" sz="950" dirty="0"/>
          </a:p>
        </p:txBody>
      </p:sp>
      <p:sp>
        <p:nvSpPr>
          <p:cNvPr id="6" name="Text 4"/>
          <p:cNvSpPr/>
          <p:nvPr/>
        </p:nvSpPr>
        <p:spPr>
          <a:xfrm>
            <a:off x="722376" y="1700784"/>
            <a:ext cx="5687568" cy="3639312"/>
          </a:xfrm>
          <a:prstGeom prst="rect">
            <a:avLst/>
          </a:prstGeom>
          <a:noFill/>
          <a:ln/>
        </p:spPr>
        <p:txBody>
          <a:bodyPr wrap="square" lIns="0" tIns="0" rIns="0" bIns="0" rtlCol="0" anchor="t"/>
          <a:lstStyle/>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"id": "ossinstruct-000123",        # stable, unique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"messages":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{"role": "user", "content": "Write a..."},</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{"role": "assistant", "content": "def f(..."}</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 provenance — never drop these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"source": "magicoder-oss-instruct",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"source_url": "hf://ise-uiuc/...",</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"license": "mit",</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 computed during curation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"n_tokens": 412,</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"ast_valid": true,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"lang": "python",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"difficulty": "medium",</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"category": ["recursion", "strings"],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"quality_score": 0.83,</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 dedup / decontam bookkeeping</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"content_hash": "a3f9...",</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"minhash_cluster": 8812,</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"contaminated": false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a:t>
            </a:r>
            <a:endParaRPr lang="en-US" sz="1000" dirty="0"/>
          </a:p>
        </p:txBody>
      </p:sp>
      <p:sp>
        <p:nvSpPr>
          <p:cNvPr id="7" name="Shape 5"/>
          <p:cNvSpPr/>
          <p:nvPr/>
        </p:nvSpPr>
        <p:spPr>
          <a:xfrm>
            <a:off x="6812280" y="1280160"/>
            <a:ext cx="4846320" cy="841248"/>
          </a:xfrm>
          <a:prstGeom prst="roundRect">
            <a:avLst>
              <a:gd name="adj" fmla="val 760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7031736" y="1426464"/>
            <a:ext cx="440740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Keep provenance forever</a:t>
            </a:r>
            <a:endParaRPr lang="en-US" sz="1250" dirty="0"/>
          </a:p>
        </p:txBody>
      </p:sp>
      <p:sp>
        <p:nvSpPr>
          <p:cNvPr id="9" name="Text 7"/>
          <p:cNvSpPr/>
          <p:nvPr/>
        </p:nvSpPr>
        <p:spPr>
          <a:xfrm>
            <a:off x="7031736" y="1737360"/>
            <a:ext cx="4407408" cy="23774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When you later discover a source was contaminated or badly licensed, you need to find and remove exactly those records. Without source tags you re-run everything.</a:t>
            </a:r>
            <a:endParaRPr lang="en-US" sz="1100" dirty="0"/>
          </a:p>
        </p:txBody>
      </p:sp>
      <p:sp>
        <p:nvSpPr>
          <p:cNvPr id="10" name="Shape 8"/>
          <p:cNvSpPr/>
          <p:nvPr/>
        </p:nvSpPr>
        <p:spPr>
          <a:xfrm>
            <a:off x="6812280" y="2212848"/>
            <a:ext cx="4846320" cy="841248"/>
          </a:xfrm>
          <a:prstGeom prst="roundRect">
            <a:avLst>
              <a:gd name="adj" fmla="val 760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7031736" y="2359152"/>
            <a:ext cx="44074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Compute-once fields</a:t>
            </a:r>
            <a:endParaRPr lang="en-US" sz="1250" dirty="0"/>
          </a:p>
        </p:txBody>
      </p:sp>
      <p:sp>
        <p:nvSpPr>
          <p:cNvPr id="12" name="Text 10"/>
          <p:cNvSpPr/>
          <p:nvPr/>
        </p:nvSpPr>
        <p:spPr>
          <a:xfrm>
            <a:off x="7031736" y="2670048"/>
            <a:ext cx="4407408" cy="23774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n_tokens, ast_valid, difficulty. Expensive to compute, cheap to store. Never recompute them in the training loop.</a:t>
            </a:r>
            <a:endParaRPr lang="en-US" sz="1100" dirty="0"/>
          </a:p>
        </p:txBody>
      </p:sp>
      <p:sp>
        <p:nvSpPr>
          <p:cNvPr id="13" name="Shape 11"/>
          <p:cNvSpPr/>
          <p:nvPr/>
        </p:nvSpPr>
        <p:spPr>
          <a:xfrm>
            <a:off x="6812280" y="3145536"/>
            <a:ext cx="4846320" cy="841248"/>
          </a:xfrm>
          <a:prstGeom prst="roundRect">
            <a:avLst>
              <a:gd name="adj" fmla="val 760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031736" y="3291840"/>
            <a:ext cx="44074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messages, not prompt/completion</a:t>
            </a:r>
            <a:endParaRPr lang="en-US" sz="1250" dirty="0"/>
          </a:p>
        </p:txBody>
      </p:sp>
      <p:sp>
        <p:nvSpPr>
          <p:cNvPr id="15" name="Text 13"/>
          <p:cNvSpPr/>
          <p:nvPr/>
        </p:nvSpPr>
        <p:spPr>
          <a:xfrm>
            <a:off x="7031736" y="3602736"/>
            <a:ext cx="4407408" cy="23774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chat-template format is the universal one. Converting later is painful; starting there is free.</a:t>
            </a:r>
            <a:endParaRPr lang="en-US" sz="1100" dirty="0"/>
          </a:p>
        </p:txBody>
      </p:sp>
      <p:sp>
        <p:nvSpPr>
          <p:cNvPr id="16" name="Shape 14"/>
          <p:cNvSpPr/>
          <p:nvPr/>
        </p:nvSpPr>
        <p:spPr>
          <a:xfrm>
            <a:off x="6812280" y="4078224"/>
            <a:ext cx="4846320" cy="841248"/>
          </a:xfrm>
          <a:prstGeom prst="roundRect">
            <a:avLst>
              <a:gd name="adj" fmla="val 760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7031736" y="4224528"/>
            <a:ext cx="44074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Stable ids</a:t>
            </a:r>
            <a:endParaRPr lang="en-US" sz="1250" dirty="0"/>
          </a:p>
        </p:txBody>
      </p:sp>
      <p:sp>
        <p:nvSpPr>
          <p:cNvPr id="18" name="Text 16"/>
          <p:cNvSpPr/>
          <p:nvPr/>
        </p:nvSpPr>
        <p:spPr>
          <a:xfrm>
            <a:off x="7031736" y="4535424"/>
            <a:ext cx="4407408" cy="23774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You will want to trace one bad generation back to one training record. Random ids make that impossible.</a:t>
            </a:r>
            <a:endParaRPr lang="en-US" sz="1100" dirty="0"/>
          </a:p>
        </p:txBody>
      </p:sp>
      <p:sp>
        <p:nvSpPr>
          <p:cNvPr id="19" name="Shape 17"/>
          <p:cNvSpPr/>
          <p:nvPr/>
        </p:nvSpPr>
        <p:spPr>
          <a:xfrm>
            <a:off x="6812280" y="5010912"/>
            <a:ext cx="4846320" cy="841248"/>
          </a:xfrm>
          <a:prstGeom prst="roundRect">
            <a:avLst>
              <a:gd name="adj" fmla="val 760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7031736" y="5157216"/>
            <a:ext cx="44074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Flags, not deletions</a:t>
            </a:r>
            <a:endParaRPr lang="en-US" sz="1250" dirty="0"/>
          </a:p>
        </p:txBody>
      </p:sp>
      <p:sp>
        <p:nvSpPr>
          <p:cNvPr id="21" name="Text 19"/>
          <p:cNvSpPr/>
          <p:nvPr/>
        </p:nvSpPr>
        <p:spPr>
          <a:xfrm>
            <a:off x="7031736" y="5468112"/>
            <a:ext cx="4407408" cy="23774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Mark contaminated: true rather than dropping the row. You keep the count, and you can revisit the threshold.</a:t>
            </a:r>
            <a:endParaRPr lang="en-US" sz="1100" dirty="0"/>
          </a:p>
        </p:txBody>
      </p:sp>
      <p:sp>
        <p:nvSpPr>
          <p:cNvPr id="22" name="Text 20"/>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68</a:t>
            </a:r>
            <a:endParaRPr lang="en-US" sz="9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Loss masking — the silent bug that costs everyone a week</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You want the model to learn to WRITE the answer, not to PREDICT THE QUESTION.</a:t>
            </a:r>
            <a:endParaRPr lang="en-US" sz="1300" dirty="0"/>
          </a:p>
        </p:txBody>
      </p:sp>
      <p:sp>
        <p:nvSpPr>
          <p:cNvPr id="5" name="Shape 3"/>
          <p:cNvSpPr/>
          <p:nvPr/>
        </p:nvSpPr>
        <p:spPr>
          <a:xfrm>
            <a:off x="502920" y="1536192"/>
            <a:ext cx="6400800" cy="2834640"/>
          </a:xfrm>
          <a:prstGeom prst="roundRect">
            <a:avLst>
              <a:gd name="adj" fmla="val 1935"/>
            </a:avLst>
          </a:prstGeom>
          <a:solidFill>
            <a:srgbClr val="0F1F17"/>
          </a:solidFill>
          <a:ln/>
        </p:spPr>
      </p:sp>
      <p:sp>
        <p:nvSpPr>
          <p:cNvPr id="6" name="Text 4"/>
          <p:cNvSpPr/>
          <p:nvPr/>
        </p:nvSpPr>
        <p:spPr>
          <a:xfrm>
            <a:off x="722376" y="1682496"/>
            <a:ext cx="596188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WHAT CORRECT MASKING LOOKS LIKE</a:t>
            </a:r>
            <a:endParaRPr lang="en-US" sz="950" dirty="0"/>
          </a:p>
        </p:txBody>
      </p:sp>
      <p:sp>
        <p:nvSpPr>
          <p:cNvPr id="7" name="Text 5"/>
          <p:cNvSpPr/>
          <p:nvPr/>
        </p:nvSpPr>
        <p:spPr>
          <a:xfrm>
            <a:off x="722376" y="1956816"/>
            <a:ext cx="5961888" cy="2267712"/>
          </a:xfrm>
          <a:prstGeom prst="rect">
            <a:avLst/>
          </a:prstGeom>
          <a:noFill/>
          <a:ln/>
        </p:spPr>
        <p:txBody>
          <a:bodyPr wrap="square" lIns="0" tIns="0" rIns="0" bIns="0" rtlCol="0" anchor="t"/>
          <a:lstStyle/>
          <a:p>
            <a:pPr indent="0" marL="0">
              <a:lnSpc>
                <a:spcPct val="112000"/>
              </a:lnSpc>
              <a:buNone/>
            </a:pPr>
            <a:r>
              <a:rPr lang="en-US" sz="1000" dirty="0">
                <a:solidFill>
                  <a:srgbClr val="6B7A70"/>
                </a:solidFill>
                <a:latin typeface="Courier New" pitchFamily="34" charset="0"/>
                <a:ea typeface="Courier New" pitchFamily="34" charset="-122"/>
                <a:cs typeface="Courier New" pitchFamily="34" charset="-120"/>
              </a:rPr>
              <a:t># tokens:  &lt;|im_start|&gt;user  Write a fn...  &lt;|im_end|&gt;</a:t>
            </a:r>
            <a:endParaRPr lang="en-US" sz="1000" dirty="0"/>
          </a:p>
          <a:p>
            <a:pPr indent="0" marL="0">
              <a:lnSpc>
                <a:spcPct val="112000"/>
              </a:lnSpc>
              <a:buNone/>
            </a:pPr>
            <a:r>
              <a:rPr lang="en-US" sz="1000" dirty="0">
                <a:solidFill>
                  <a:srgbClr val="D98E32"/>
                </a:solidFill>
                <a:latin typeface="Courier New" pitchFamily="34" charset="0"/>
                <a:ea typeface="Courier New" pitchFamily="34" charset="-122"/>
                <a:cs typeface="Courier New" pitchFamily="34" charset="-120"/>
              </a:rPr>
              <a:t># labels:      -100  -100      -100  -100     -100      &lt;- MASKED</a:t>
            </a:r>
            <a:endParaRPr lang="en-US" sz="1000" dirty="0"/>
          </a:p>
          <a:p>
            <a:pPr indent="0" marL="0">
              <a:lnSpc>
                <a:spcPct val="112000"/>
              </a:lnSpc>
              <a:buNone/>
            </a:pPr>
            <a:r>
              <a:rPr lang="en-US" sz="1000" dirty="0">
                <a:solidFill>
                  <a:srgbClr val="6B7A70"/>
                </a:solidFill>
                <a:latin typeface="Courier New" pitchFamily="34" charset="0"/>
                <a:ea typeface="Courier New" pitchFamily="34" charset="-122"/>
                <a:cs typeface="Courier New" pitchFamily="34" charset="-120"/>
              </a:rPr>
              <a:t># tokens:  &lt;|im_start|&gt;assistant  def f():  ...  &lt;|im_end|&gt;</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labels:      -100  -100         3251  ...  151645      &lt;- LEARNED</a:t>
            </a:r>
            <a:endParaRPr lang="en-US" sz="1000" dirty="0"/>
          </a:p>
          <a:p>
            <a:pPr indent="0" marL="0">
              <a:lnSpc>
                <a:spcPct val="112000"/>
              </a:lnSpc>
              <a:buNone/>
            </a:pPr>
            <a:endParaRPr lang="en-US" sz="1000" dirty="0"/>
          </a:p>
          <a:p>
            <a:pPr indent="0" marL="0">
              <a:lnSpc>
                <a:spcPct val="112000"/>
              </a:lnSpc>
              <a:buNone/>
            </a:pPr>
            <a:r>
              <a:rPr lang="en-US" sz="1000" b="1" dirty="0">
                <a:solidFill>
                  <a:srgbClr val="8FB573"/>
                </a:solidFill>
                <a:latin typeface="Courier New" pitchFamily="34" charset="0"/>
                <a:ea typeface="Courier New" pitchFamily="34" charset="-122"/>
                <a:cs typeface="Courier New" pitchFamily="34" charset="-120"/>
              </a:rPr>
              <a:t># VERIFY IT. Every new dataset. Ninety seconds.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batch = next(iter(dataloader))</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ids, labels = batch['input_ids'][0], batch['labels'][0]</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for i, l in zip(ids, labels):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mark = '.' if l == -100 else 'LEARN'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print(f'{mark:6} {tok.decode([i])!r}')</a:t>
            </a:r>
            <a:endParaRPr lang="en-US" sz="1000" dirty="0"/>
          </a:p>
          <a:p>
            <a:pPr indent="0" marL="0">
              <a:lnSpc>
                <a:spcPct val="112000"/>
              </a:lnSpc>
              <a:buNone/>
            </a:pPr>
            <a:endParaRPr lang="en-US" sz="1000" dirty="0"/>
          </a:p>
          <a:p>
            <a:pPr indent="0" marL="0">
              <a:lnSpc>
                <a:spcPct val="112000"/>
              </a:lnSpc>
              <a:buNone/>
            </a:pPr>
            <a:r>
              <a:rPr lang="en-US" sz="1000" dirty="0">
                <a:solidFill>
                  <a:srgbClr val="6B7A70"/>
                </a:solidFill>
                <a:latin typeface="Courier New" pitchFamily="34" charset="0"/>
                <a:ea typeface="Courier New" pitchFamily="34" charset="-122"/>
                <a:cs typeface="Courier New" pitchFamily="34" charset="-120"/>
              </a:rPr>
              <a:t># You should see '.' for the whole prompt,</a:t>
            </a:r>
            <a:endParaRPr lang="en-US" sz="1000" dirty="0"/>
          </a:p>
          <a:p>
            <a:pPr indent="0" marL="0">
              <a:lnSpc>
                <a:spcPct val="112000"/>
              </a:lnSpc>
              <a:buNone/>
            </a:pPr>
            <a:r>
              <a:rPr lang="en-US" sz="1000" dirty="0">
                <a:solidFill>
                  <a:srgbClr val="6B7A70"/>
                </a:solidFill>
                <a:latin typeface="Courier New" pitchFamily="34" charset="0"/>
                <a:ea typeface="Courier New" pitchFamily="34" charset="-122"/>
                <a:cs typeface="Courier New" pitchFamily="34" charset="-120"/>
              </a:rPr>
              <a:t># and 'LEARN' starting exactly at the assistant content.</a:t>
            </a:r>
            <a:endParaRPr lang="en-US" sz="1000" dirty="0"/>
          </a:p>
        </p:txBody>
      </p:sp>
      <p:sp>
        <p:nvSpPr>
          <p:cNvPr id="8" name="Shape 6"/>
          <p:cNvSpPr/>
          <p:nvPr/>
        </p:nvSpPr>
        <p:spPr>
          <a:xfrm>
            <a:off x="7086600" y="1536192"/>
            <a:ext cx="457200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7306056" y="1682496"/>
            <a:ext cx="413308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Symptom of getting it wrong</a:t>
            </a:r>
            <a:endParaRPr lang="en-US" sz="1250" dirty="0"/>
          </a:p>
        </p:txBody>
      </p:sp>
      <p:sp>
        <p:nvSpPr>
          <p:cNvPr id="10" name="Text 8"/>
          <p:cNvSpPr/>
          <p:nvPr/>
        </p:nvSpPr>
        <p:spPr>
          <a:xfrm>
            <a:off x="7306056" y="1993392"/>
            <a:ext cx="413308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Loss falls beautifully. Instruction-following gets measurably worse. You have taught the model to generate plausible user questions.</a:t>
            </a:r>
            <a:endParaRPr lang="en-US" sz="1100" dirty="0"/>
          </a:p>
        </p:txBody>
      </p:sp>
      <p:sp>
        <p:nvSpPr>
          <p:cNvPr id="11" name="Shape 9"/>
          <p:cNvSpPr/>
          <p:nvPr/>
        </p:nvSpPr>
        <p:spPr>
          <a:xfrm>
            <a:off x="7086600" y="2414016"/>
            <a:ext cx="457200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10"/>
          <p:cNvSpPr/>
          <p:nvPr/>
        </p:nvSpPr>
        <p:spPr>
          <a:xfrm>
            <a:off x="7306056" y="2560320"/>
            <a:ext cx="413308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TRL does this for you</a:t>
            </a:r>
            <a:endParaRPr lang="en-US" sz="1250" dirty="0"/>
          </a:p>
        </p:txBody>
      </p:sp>
      <p:sp>
        <p:nvSpPr>
          <p:cNvPr id="13" name="Text 11"/>
          <p:cNvSpPr/>
          <p:nvPr/>
        </p:nvSpPr>
        <p:spPr>
          <a:xfrm>
            <a:off x="7306056" y="2871216"/>
            <a:ext cx="413308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SFTTrainer with a DataCollatorForCompletionOnlyLM handles it — IF you pass the correct response template string. Get that string wrong and masking silently does nothing.</a:t>
            </a:r>
            <a:endParaRPr lang="en-US" sz="1100" dirty="0"/>
          </a:p>
        </p:txBody>
      </p:sp>
      <p:sp>
        <p:nvSpPr>
          <p:cNvPr id="14" name="Shape 12"/>
          <p:cNvSpPr/>
          <p:nvPr/>
        </p:nvSpPr>
        <p:spPr>
          <a:xfrm>
            <a:off x="7086600" y="3291840"/>
            <a:ext cx="457200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3"/>
          <p:cNvSpPr/>
          <p:nvPr/>
        </p:nvSpPr>
        <p:spPr>
          <a:xfrm>
            <a:off x="7306056" y="3438144"/>
            <a:ext cx="413308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Multi-turn is harder</a:t>
            </a:r>
            <a:endParaRPr lang="en-US" sz="1250" dirty="0"/>
          </a:p>
        </p:txBody>
      </p:sp>
      <p:sp>
        <p:nvSpPr>
          <p:cNvPr id="16" name="Text 14"/>
          <p:cNvSpPr/>
          <p:nvPr/>
        </p:nvSpPr>
        <p:spPr>
          <a:xfrm>
            <a:off x="7306056" y="3749040"/>
            <a:ext cx="413308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With several assistant turns, EVERY assistant span must be unmasked and every user span masked. Off-by-one errors here are common.</a:t>
            </a:r>
            <a:endParaRPr lang="en-US" sz="1100" dirty="0"/>
          </a:p>
        </p:txBody>
      </p:sp>
      <p:sp>
        <p:nvSpPr>
          <p:cNvPr id="17" name="Shape 15"/>
          <p:cNvSpPr/>
          <p:nvPr/>
        </p:nvSpPr>
        <p:spPr>
          <a:xfrm>
            <a:off x="7086600" y="4169664"/>
            <a:ext cx="457200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Text 16"/>
          <p:cNvSpPr/>
          <p:nvPr/>
        </p:nvSpPr>
        <p:spPr>
          <a:xfrm>
            <a:off x="7306056" y="4315968"/>
            <a:ext cx="413308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EOS must stay unmasked</a:t>
            </a:r>
            <a:endParaRPr lang="en-US" sz="1250" dirty="0"/>
          </a:p>
        </p:txBody>
      </p:sp>
      <p:sp>
        <p:nvSpPr>
          <p:cNvPr id="19" name="Text 17"/>
          <p:cNvSpPr/>
          <p:nvPr/>
        </p:nvSpPr>
        <p:spPr>
          <a:xfrm>
            <a:off x="7306056" y="4626864"/>
            <a:ext cx="413308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If EOS falls inside the masked region, the model never learns to stop. This is the endless-generation bug from Phase 2.</a:t>
            </a:r>
            <a:endParaRPr lang="en-US" sz="1100" dirty="0"/>
          </a:p>
        </p:txBody>
      </p:sp>
      <p:sp>
        <p:nvSpPr>
          <p:cNvPr id="20" name="Shape 18"/>
          <p:cNvSpPr/>
          <p:nvPr/>
        </p:nvSpPr>
        <p:spPr>
          <a:xfrm>
            <a:off x="502920" y="4572000"/>
            <a:ext cx="11155680" cy="1143000"/>
          </a:xfrm>
          <a:prstGeom prst="roundRect">
            <a:avLst>
              <a:gd name="adj" fmla="val 5600"/>
            </a:avLst>
          </a:prstGeom>
          <a:solidFill>
            <a:srgbClr val="1F3D2E"/>
          </a:solidFill>
          <a:ln/>
        </p:spPr>
      </p:sp>
      <p:sp>
        <p:nvSpPr>
          <p:cNvPr id="21" name="Shape 19"/>
          <p:cNvSpPr/>
          <p:nvPr/>
        </p:nvSpPr>
        <p:spPr>
          <a:xfrm>
            <a:off x="740664" y="4754880"/>
            <a:ext cx="292608" cy="292608"/>
          </a:xfrm>
          <a:prstGeom prst="ellipse">
            <a:avLst/>
          </a:prstGeom>
          <a:solidFill>
            <a:srgbClr val="1F3D2E"/>
          </a:solidFill>
          <a:ln/>
        </p:spPr>
      </p:sp>
      <p:sp>
        <p:nvSpPr>
          <p:cNvPr id="22" name="Text 20"/>
          <p:cNvSpPr/>
          <p:nvPr/>
        </p:nvSpPr>
        <p:spPr>
          <a:xfrm>
            <a:off x="740664" y="475488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3" name="Text 21"/>
          <p:cNvSpPr/>
          <p:nvPr/>
        </p:nvSpPr>
        <p:spPr>
          <a:xfrm>
            <a:off x="1133856" y="477316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4" name="Text 22"/>
          <p:cNvSpPr/>
          <p:nvPr/>
        </p:nvSpPr>
        <p:spPr>
          <a:xfrm>
            <a:off x="740664" y="5148072"/>
            <a:ext cx="10680192" cy="3931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Three days of training with loss over the prompt tokens too. Everything ran, loss went down, and the model got worse at following instructions because I was teaching it to predict my questions. Decode one batch and look at the labels. I now do this on every new dataset without exception.</a:t>
            </a:r>
            <a:endParaRPr lang="en-US" sz="1150" dirty="0"/>
          </a:p>
        </p:txBody>
      </p:sp>
      <p:sp>
        <p:nvSpPr>
          <p:cNvPr id="25" name="Text 2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69</a:t>
            </a:r>
            <a:endParaRPr lang="en-US" sz="9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Decontamination — the n-gram method</a:t>
            </a:r>
            <a:endParaRPr lang="en-US" sz="2900" dirty="0"/>
          </a:p>
        </p:txBody>
      </p:sp>
      <p:sp>
        <p:nvSpPr>
          <p:cNvPr id="4" name="Shape 2"/>
          <p:cNvSpPr/>
          <p:nvPr/>
        </p:nvSpPr>
        <p:spPr>
          <a:xfrm>
            <a:off x="502920" y="128016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412748"/>
            <a:ext cx="402336" cy="402336"/>
          </a:xfrm>
          <a:prstGeom prst="ellipse">
            <a:avLst/>
          </a:prstGeom>
          <a:solidFill>
            <a:srgbClr val="8FB573"/>
          </a:solidFill>
          <a:ln/>
        </p:spPr>
      </p:sp>
      <p:sp>
        <p:nvSpPr>
          <p:cNvPr id="6" name="Text 4"/>
          <p:cNvSpPr/>
          <p:nvPr/>
        </p:nvSpPr>
        <p:spPr>
          <a:xfrm>
            <a:off x="749808" y="141274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Build the contaminant set</a:t>
            </a:r>
            <a:endParaRPr lang="en-US" sz="1300" dirty="0"/>
          </a:p>
        </p:txBody>
      </p:sp>
      <p:sp>
        <p:nvSpPr>
          <p:cNvPr id="8" name="Text 6"/>
          <p:cNvSpPr/>
          <p:nvPr/>
        </p:nvSpPr>
        <p:spPr>
          <a:xfrm>
            <a:off x="1316736" y="1700784"/>
            <a:ext cx="10058400" cy="1554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Every eval problem you will ever report: HumanEval, HumanEval+, MBPP, MBPP+, your custom set. Include prompts AND reference solutions AND test code.</a:t>
            </a:r>
            <a:endParaRPr lang="en-US" sz="1150" dirty="0"/>
          </a:p>
        </p:txBody>
      </p:sp>
      <p:sp>
        <p:nvSpPr>
          <p:cNvPr id="9" name="Shape 7"/>
          <p:cNvSpPr/>
          <p:nvPr/>
        </p:nvSpPr>
        <p:spPr>
          <a:xfrm>
            <a:off x="502920" y="205740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189988"/>
            <a:ext cx="402336" cy="402336"/>
          </a:xfrm>
          <a:prstGeom prst="ellipse">
            <a:avLst/>
          </a:prstGeom>
          <a:solidFill>
            <a:srgbClr val="8FB573"/>
          </a:solidFill>
          <a:ln/>
        </p:spPr>
      </p:sp>
      <p:sp>
        <p:nvSpPr>
          <p:cNvPr id="11" name="Text 9"/>
          <p:cNvSpPr/>
          <p:nvPr/>
        </p:nvSpPr>
        <p:spPr>
          <a:xfrm>
            <a:off x="749808" y="218998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18541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Normalize aggressively</a:t>
            </a:r>
            <a:endParaRPr lang="en-US" sz="1300" dirty="0"/>
          </a:p>
        </p:txBody>
      </p:sp>
      <p:sp>
        <p:nvSpPr>
          <p:cNvPr id="13" name="Text 11"/>
          <p:cNvSpPr/>
          <p:nvPr/>
        </p:nvSpPr>
        <p:spPr>
          <a:xfrm>
            <a:off x="1316736" y="2478024"/>
            <a:ext cx="10058400" cy="1554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Lowercase, strip comments, collapse whitespace, normalize string literals. Contamination often survives cosmetic differences.</a:t>
            </a:r>
            <a:endParaRPr lang="en-US" sz="1150" dirty="0"/>
          </a:p>
        </p:txBody>
      </p:sp>
      <p:sp>
        <p:nvSpPr>
          <p:cNvPr id="14" name="Shape 12"/>
          <p:cNvSpPr/>
          <p:nvPr/>
        </p:nvSpPr>
        <p:spPr>
          <a:xfrm>
            <a:off x="502920" y="283464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2967228"/>
            <a:ext cx="402336" cy="402336"/>
          </a:xfrm>
          <a:prstGeom prst="ellipse">
            <a:avLst/>
          </a:prstGeom>
          <a:solidFill>
            <a:srgbClr val="8FB573"/>
          </a:solidFill>
          <a:ln/>
        </p:spPr>
      </p:sp>
      <p:sp>
        <p:nvSpPr>
          <p:cNvPr id="16" name="Text 14"/>
          <p:cNvSpPr/>
          <p:nvPr/>
        </p:nvSpPr>
        <p:spPr>
          <a:xfrm>
            <a:off x="749808" y="296722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296265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Extract n-grams</a:t>
            </a:r>
            <a:endParaRPr lang="en-US" sz="1300" dirty="0"/>
          </a:p>
        </p:txBody>
      </p:sp>
      <p:sp>
        <p:nvSpPr>
          <p:cNvPr id="18" name="Text 16"/>
          <p:cNvSpPr/>
          <p:nvPr/>
        </p:nvSpPr>
        <p:spPr>
          <a:xfrm>
            <a:off x="1316736" y="3255264"/>
            <a:ext cx="10058400" cy="1554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13-gram is the common threshold, inherited from GPT-3. Shorter catches more but false-positives on boilerplate; longer misses paraphrases.</a:t>
            </a:r>
            <a:endParaRPr lang="en-US" sz="1150" dirty="0"/>
          </a:p>
        </p:txBody>
      </p:sp>
      <p:sp>
        <p:nvSpPr>
          <p:cNvPr id="19" name="Shape 17"/>
          <p:cNvSpPr/>
          <p:nvPr/>
        </p:nvSpPr>
        <p:spPr>
          <a:xfrm>
            <a:off x="502920" y="361188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3744468"/>
            <a:ext cx="402336" cy="402336"/>
          </a:xfrm>
          <a:prstGeom prst="ellipse">
            <a:avLst/>
          </a:prstGeom>
          <a:solidFill>
            <a:srgbClr val="8FB573"/>
          </a:solidFill>
          <a:ln/>
        </p:spPr>
      </p:sp>
      <p:sp>
        <p:nvSpPr>
          <p:cNvPr id="21" name="Text 19"/>
          <p:cNvSpPr/>
          <p:nvPr/>
        </p:nvSpPr>
        <p:spPr>
          <a:xfrm>
            <a:off x="749808" y="374446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373989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Index and match</a:t>
            </a:r>
            <a:endParaRPr lang="en-US" sz="1300" dirty="0"/>
          </a:p>
        </p:txBody>
      </p:sp>
      <p:sp>
        <p:nvSpPr>
          <p:cNvPr id="23" name="Text 21"/>
          <p:cNvSpPr/>
          <p:nvPr/>
        </p:nvSpPr>
        <p:spPr>
          <a:xfrm>
            <a:off x="1316736" y="4032504"/>
            <a:ext cx="10058400" cy="1554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Build a set of eval n-grams. For each training record, flag it if it shares any n-gram with the contaminant set.</a:t>
            </a:r>
            <a:endParaRPr lang="en-US" sz="1150" dirty="0"/>
          </a:p>
        </p:txBody>
      </p:sp>
      <p:sp>
        <p:nvSpPr>
          <p:cNvPr id="24" name="Shape 22"/>
          <p:cNvSpPr/>
          <p:nvPr/>
        </p:nvSpPr>
        <p:spPr>
          <a:xfrm>
            <a:off x="502920" y="438912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4521708"/>
            <a:ext cx="402336" cy="402336"/>
          </a:xfrm>
          <a:prstGeom prst="ellipse">
            <a:avLst/>
          </a:prstGeom>
          <a:solidFill>
            <a:srgbClr val="8FB573"/>
          </a:solidFill>
          <a:ln/>
        </p:spPr>
      </p:sp>
      <p:sp>
        <p:nvSpPr>
          <p:cNvPr id="26" name="Text 24"/>
          <p:cNvSpPr/>
          <p:nvPr/>
        </p:nvSpPr>
        <p:spPr>
          <a:xfrm>
            <a:off x="749808" y="452170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451713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Flag, count, and remove</a:t>
            </a:r>
            <a:endParaRPr lang="en-US" sz="1300" dirty="0"/>
          </a:p>
        </p:txBody>
      </p:sp>
      <p:sp>
        <p:nvSpPr>
          <p:cNvPr id="28" name="Text 26"/>
          <p:cNvSpPr/>
          <p:nvPr/>
        </p:nvSpPr>
        <p:spPr>
          <a:xfrm>
            <a:off x="1316736" y="4809744"/>
            <a:ext cx="10058400" cy="1554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Write contaminated: true. Log the count per source dataset. THAT COUNT IS A FINDING — it tells you which sources to distrust.</a:t>
            </a:r>
            <a:endParaRPr lang="en-US" sz="1150" dirty="0"/>
          </a:p>
        </p:txBody>
      </p:sp>
      <p:sp>
        <p:nvSpPr>
          <p:cNvPr id="29" name="Shape 27"/>
          <p:cNvSpPr/>
          <p:nvPr/>
        </p:nvSpPr>
        <p:spPr>
          <a:xfrm>
            <a:off x="502920" y="516636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749808" y="5298948"/>
            <a:ext cx="402336" cy="402336"/>
          </a:xfrm>
          <a:prstGeom prst="ellipse">
            <a:avLst/>
          </a:prstGeom>
          <a:solidFill>
            <a:srgbClr val="8FB573"/>
          </a:solidFill>
          <a:ln/>
        </p:spPr>
      </p:sp>
      <p:sp>
        <p:nvSpPr>
          <p:cNvPr id="31" name="Text 29"/>
          <p:cNvSpPr/>
          <p:nvPr/>
        </p:nvSpPr>
        <p:spPr>
          <a:xfrm>
            <a:off x="749808" y="529894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1316736" y="52943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Re-run after every data change</a:t>
            </a:r>
            <a:endParaRPr lang="en-US" sz="1300" dirty="0"/>
          </a:p>
        </p:txBody>
      </p:sp>
      <p:sp>
        <p:nvSpPr>
          <p:cNvPr id="33" name="Text 31"/>
          <p:cNvSpPr/>
          <p:nvPr/>
        </p:nvSpPr>
        <p:spPr>
          <a:xfrm>
            <a:off x="1316736" y="5586984"/>
            <a:ext cx="10058400" cy="1554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Especially after synthetic generation, which can regenerate contaminated content from a contaminated model.</a:t>
            </a:r>
            <a:endParaRPr lang="en-US" sz="1150" dirty="0"/>
          </a:p>
        </p:txBody>
      </p:sp>
      <p:sp>
        <p:nvSpPr>
          <p:cNvPr id="34" name="Shape 32"/>
          <p:cNvSpPr/>
          <p:nvPr/>
        </p:nvSpPr>
        <p:spPr>
          <a:xfrm>
            <a:off x="502920" y="5943600"/>
            <a:ext cx="11155680" cy="566928"/>
          </a:xfrm>
          <a:prstGeom prst="roundRect">
            <a:avLst>
              <a:gd name="adj" fmla="val 9677"/>
            </a:avLst>
          </a:prstGeom>
          <a:solidFill>
            <a:srgbClr val="D98E32"/>
          </a:solidFill>
          <a:ln/>
        </p:spPr>
      </p:sp>
      <p:sp>
        <p:nvSpPr>
          <p:cNvPr id="35" name="Text 33"/>
          <p:cNvSpPr/>
          <p:nvPr/>
        </p:nvSpPr>
        <p:spPr>
          <a:xfrm>
            <a:off x="777240" y="594360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13-gram overlap is a floor, not a ceiling. It catches copies. It does not catch paraphrases.</a:t>
            </a:r>
            <a:endParaRPr lang="en-US" sz="1450" dirty="0"/>
          </a:p>
        </p:txBody>
      </p:sp>
      <p:sp>
        <p:nvSpPr>
          <p:cNvPr id="36" name="Text 3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70</a:t>
            </a:r>
            <a:endParaRPr lang="en-US" sz="9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Decontamination — the code-specific signals n-grams miss</a:t>
            </a:r>
            <a:endParaRPr lang="en-US" sz="2900" dirty="0"/>
          </a:p>
        </p:txBody>
      </p:sp>
      <p:sp>
        <p:nvSpPr>
          <p:cNvPr id="4" name="Shape 2"/>
          <p:cNvSpPr/>
          <p:nvPr/>
        </p:nvSpPr>
        <p:spPr>
          <a:xfrm>
            <a:off x="502920" y="128016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502920" y="1280160"/>
            <a:ext cx="91440" cy="667512"/>
          </a:xfrm>
          <a:prstGeom prst="rect">
            <a:avLst/>
          </a:prstGeom>
          <a:solidFill>
            <a:srgbClr val="A8482A"/>
          </a:solidFill>
          <a:ln/>
        </p:spPr>
      </p:sp>
      <p:sp>
        <p:nvSpPr>
          <p:cNvPr id="6" name="Text 4"/>
          <p:cNvSpPr/>
          <p:nvPr/>
        </p:nvSpPr>
        <p:spPr>
          <a:xfrm>
            <a:off x="822960" y="1389888"/>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Function-name match</a:t>
            </a:r>
            <a:endParaRPr lang="en-US" sz="1250" dirty="0"/>
          </a:p>
        </p:txBody>
      </p:sp>
      <p:sp>
        <p:nvSpPr>
          <p:cNvPr id="7" name="Text 5"/>
          <p:cNvSpPr/>
          <p:nvPr/>
        </p:nvSpPr>
        <p:spPr>
          <a:xfrm>
            <a:off x="822960" y="1682496"/>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def has_close_elements</a:t>
            </a:r>
            <a:endParaRPr lang="en-US" sz="950" dirty="0"/>
          </a:p>
        </p:txBody>
      </p:sp>
      <p:sp>
        <p:nvSpPr>
          <p:cNvPr id="8" name="Text 6"/>
          <p:cNvSpPr/>
          <p:nvPr/>
        </p:nvSpPr>
        <p:spPr>
          <a:xfrm>
            <a:off x="4069080" y="1371600"/>
            <a:ext cx="758952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HumanEval function names are distinctive. An exact name match is near-certain contamination even with a completely rewritten body.</a:t>
            </a:r>
            <a:endParaRPr lang="en-US" sz="1180" dirty="0"/>
          </a:p>
        </p:txBody>
      </p:sp>
      <p:sp>
        <p:nvSpPr>
          <p:cNvPr id="9" name="Shape 7"/>
          <p:cNvSpPr/>
          <p:nvPr/>
        </p:nvSpPr>
        <p:spPr>
          <a:xfrm>
            <a:off x="502920" y="2039112"/>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502920" y="2039112"/>
            <a:ext cx="91440" cy="667512"/>
          </a:xfrm>
          <a:prstGeom prst="rect">
            <a:avLst/>
          </a:prstGeom>
          <a:solidFill>
            <a:srgbClr val="A8482A"/>
          </a:solidFill>
          <a:ln/>
        </p:spPr>
      </p:sp>
      <p:sp>
        <p:nvSpPr>
          <p:cNvPr id="11" name="Text 9"/>
          <p:cNvSpPr/>
          <p:nvPr/>
        </p:nvSpPr>
        <p:spPr>
          <a:xfrm>
            <a:off x="822960" y="2148840"/>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Docstring similarity</a:t>
            </a:r>
            <a:endParaRPr lang="en-US" sz="1250" dirty="0"/>
          </a:p>
        </p:txBody>
      </p:sp>
      <p:sp>
        <p:nvSpPr>
          <p:cNvPr id="12" name="Text 10"/>
          <p:cNvSpPr/>
          <p:nvPr/>
        </p:nvSpPr>
        <p:spPr>
          <a:xfrm>
            <a:off x="822960" y="2441448"/>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embedding cosine &gt; 0.9</a:t>
            </a:r>
            <a:endParaRPr lang="en-US" sz="950" dirty="0"/>
          </a:p>
        </p:txBody>
      </p:sp>
      <p:sp>
        <p:nvSpPr>
          <p:cNvPr id="13" name="Text 11"/>
          <p:cNvSpPr/>
          <p:nvPr/>
        </p:nvSpPr>
        <p:spPr>
          <a:xfrm>
            <a:off x="4069080" y="2130552"/>
            <a:ext cx="758952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The problem statement paraphrased is still the problem. n-grams miss it entirely; embeddings catch it.</a:t>
            </a:r>
            <a:endParaRPr lang="en-US" sz="1180" dirty="0"/>
          </a:p>
        </p:txBody>
      </p:sp>
      <p:sp>
        <p:nvSpPr>
          <p:cNvPr id="14" name="Shape 12"/>
          <p:cNvSpPr/>
          <p:nvPr/>
        </p:nvSpPr>
        <p:spPr>
          <a:xfrm>
            <a:off x="502920" y="2798064"/>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502920" y="2798064"/>
            <a:ext cx="91440" cy="667512"/>
          </a:xfrm>
          <a:prstGeom prst="rect">
            <a:avLst/>
          </a:prstGeom>
          <a:solidFill>
            <a:srgbClr val="A8482A"/>
          </a:solidFill>
          <a:ln/>
        </p:spPr>
      </p:sp>
      <p:sp>
        <p:nvSpPr>
          <p:cNvPr id="16" name="Text 14"/>
          <p:cNvSpPr/>
          <p:nvPr/>
        </p:nvSpPr>
        <p:spPr>
          <a:xfrm>
            <a:off x="822960" y="2907792"/>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Test-case value match</a:t>
            </a:r>
            <a:endParaRPr lang="en-US" sz="1250" dirty="0"/>
          </a:p>
        </p:txBody>
      </p:sp>
      <p:sp>
        <p:nvSpPr>
          <p:cNvPr id="17" name="Text 15"/>
          <p:cNvSpPr/>
          <p:nvPr/>
        </p:nvSpPr>
        <p:spPr>
          <a:xfrm>
            <a:off x="822960" y="3200400"/>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the literal assert values</a:t>
            </a:r>
            <a:endParaRPr lang="en-US" sz="950" dirty="0"/>
          </a:p>
        </p:txBody>
      </p:sp>
      <p:sp>
        <p:nvSpPr>
          <p:cNvPr id="18" name="Text 16"/>
          <p:cNvSpPr/>
          <p:nvPr/>
        </p:nvSpPr>
        <p:spPr>
          <a:xfrm>
            <a:off x="4069080" y="2889504"/>
            <a:ext cx="758952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If a training example contains the exact input/output pairs from an eval test, it is contaminated regardless of surrounding text.</a:t>
            </a:r>
            <a:endParaRPr lang="en-US" sz="1180" dirty="0"/>
          </a:p>
        </p:txBody>
      </p:sp>
      <p:sp>
        <p:nvSpPr>
          <p:cNvPr id="19" name="Shape 17"/>
          <p:cNvSpPr/>
          <p:nvPr/>
        </p:nvSpPr>
        <p:spPr>
          <a:xfrm>
            <a:off x="502920" y="3557016"/>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502920" y="3557016"/>
            <a:ext cx="91440" cy="667512"/>
          </a:xfrm>
          <a:prstGeom prst="rect">
            <a:avLst/>
          </a:prstGeom>
          <a:solidFill>
            <a:srgbClr val="D98E32"/>
          </a:solidFill>
          <a:ln/>
        </p:spPr>
      </p:sp>
      <p:sp>
        <p:nvSpPr>
          <p:cNvPr id="21" name="Text 19"/>
          <p:cNvSpPr/>
          <p:nvPr/>
        </p:nvSpPr>
        <p:spPr>
          <a:xfrm>
            <a:off x="822960" y="3666744"/>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AST structural match</a:t>
            </a:r>
            <a:endParaRPr lang="en-US" sz="1250" dirty="0"/>
          </a:p>
        </p:txBody>
      </p:sp>
      <p:sp>
        <p:nvSpPr>
          <p:cNvPr id="22" name="Text 20"/>
          <p:cNvSpPr/>
          <p:nvPr/>
        </p:nvSpPr>
        <p:spPr>
          <a:xfrm>
            <a:off x="822960" y="3959352"/>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normalized parse tree</a:t>
            </a:r>
            <a:endParaRPr lang="en-US" sz="950" dirty="0"/>
          </a:p>
        </p:txBody>
      </p:sp>
      <p:sp>
        <p:nvSpPr>
          <p:cNvPr id="23" name="Text 21"/>
          <p:cNvSpPr/>
          <p:nvPr/>
        </p:nvSpPr>
        <p:spPr>
          <a:xfrm>
            <a:off x="4069080" y="3648456"/>
            <a:ext cx="758952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Rename every variable and n-grams see nothing. The AST shape is unchanged. Hash normalized ASTs to catch this.</a:t>
            </a:r>
            <a:endParaRPr lang="en-US" sz="1180" dirty="0"/>
          </a:p>
        </p:txBody>
      </p:sp>
      <p:sp>
        <p:nvSpPr>
          <p:cNvPr id="24" name="Shape 22"/>
          <p:cNvSpPr/>
          <p:nvPr/>
        </p:nvSpPr>
        <p:spPr>
          <a:xfrm>
            <a:off x="502920" y="4315968"/>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502920" y="4315968"/>
            <a:ext cx="91440" cy="667512"/>
          </a:xfrm>
          <a:prstGeom prst="rect">
            <a:avLst/>
          </a:prstGeom>
          <a:solidFill>
            <a:srgbClr val="D98E32"/>
          </a:solidFill>
          <a:ln/>
        </p:spPr>
      </p:sp>
      <p:sp>
        <p:nvSpPr>
          <p:cNvPr id="26" name="Text 24"/>
          <p:cNvSpPr/>
          <p:nvPr/>
        </p:nvSpPr>
        <p:spPr>
          <a:xfrm>
            <a:off x="822960" y="4425696"/>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Solution-approach match</a:t>
            </a:r>
            <a:endParaRPr lang="en-US" sz="1250" dirty="0"/>
          </a:p>
        </p:txBody>
      </p:sp>
      <p:sp>
        <p:nvSpPr>
          <p:cNvPr id="27" name="Text 25"/>
          <p:cNvSpPr/>
          <p:nvPr/>
        </p:nvSpPr>
        <p:spPr>
          <a:xfrm>
            <a:off x="822960" y="4718304"/>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same algorithm, diff names</a:t>
            </a:r>
            <a:endParaRPr lang="en-US" sz="950" dirty="0"/>
          </a:p>
        </p:txBody>
      </p:sp>
      <p:sp>
        <p:nvSpPr>
          <p:cNvPr id="28" name="Text 26"/>
          <p:cNvSpPr/>
          <p:nvPr/>
        </p:nvSpPr>
        <p:spPr>
          <a:xfrm>
            <a:off x="4069080" y="4407408"/>
            <a:ext cx="758952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The hardest case and the one you will not fully solve. Accept residual contamination; measure it against LiveCodeBench.</a:t>
            </a:r>
            <a:endParaRPr lang="en-US" sz="1180" dirty="0"/>
          </a:p>
        </p:txBody>
      </p:sp>
      <p:sp>
        <p:nvSpPr>
          <p:cNvPr id="29" name="Shape 27"/>
          <p:cNvSpPr/>
          <p:nvPr/>
        </p:nvSpPr>
        <p:spPr>
          <a:xfrm>
            <a:off x="502920" y="507492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502920" y="5074920"/>
            <a:ext cx="91440" cy="667512"/>
          </a:xfrm>
          <a:prstGeom prst="rect">
            <a:avLst/>
          </a:prstGeom>
          <a:solidFill>
            <a:srgbClr val="A8482A"/>
          </a:solidFill>
          <a:ln/>
        </p:spPr>
      </p:sp>
      <p:sp>
        <p:nvSpPr>
          <p:cNvPr id="31" name="Text 29"/>
          <p:cNvSpPr/>
          <p:nvPr/>
        </p:nvSpPr>
        <p:spPr>
          <a:xfrm>
            <a:off x="822960" y="5184648"/>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Synthetic regeneration</a:t>
            </a:r>
            <a:endParaRPr lang="en-US" sz="1250" dirty="0"/>
          </a:p>
        </p:txBody>
      </p:sp>
      <p:sp>
        <p:nvSpPr>
          <p:cNvPr id="32" name="Text 30"/>
          <p:cNvSpPr/>
          <p:nvPr/>
        </p:nvSpPr>
        <p:spPr>
          <a:xfrm>
            <a:off x="822960" y="5477256"/>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teacher saw the eval too</a:t>
            </a:r>
            <a:endParaRPr lang="en-US" sz="950" dirty="0"/>
          </a:p>
        </p:txBody>
      </p:sp>
      <p:sp>
        <p:nvSpPr>
          <p:cNvPr id="33" name="Text 31"/>
          <p:cNvSpPr/>
          <p:nvPr/>
        </p:nvSpPr>
        <p:spPr>
          <a:xfrm>
            <a:off x="4069080" y="5166360"/>
            <a:ext cx="758952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Your teacher model may reproduce eval problems from ITS training data. Decontaminate synthetic output, not just downloaded data.</a:t>
            </a:r>
            <a:endParaRPr lang="en-US" sz="1180" dirty="0"/>
          </a:p>
        </p:txBody>
      </p:sp>
      <p:sp>
        <p:nvSpPr>
          <p:cNvPr id="34" name="Shape 32"/>
          <p:cNvSpPr/>
          <p:nvPr/>
        </p:nvSpPr>
        <p:spPr>
          <a:xfrm>
            <a:off x="502920" y="5852160"/>
            <a:ext cx="11155680" cy="777240"/>
          </a:xfrm>
          <a:prstGeom prst="roundRect">
            <a:avLst>
              <a:gd name="adj" fmla="val 8235"/>
            </a:avLst>
          </a:prstGeom>
          <a:solidFill>
            <a:srgbClr val="1F3D2E"/>
          </a:solidFill>
          <a:ln/>
        </p:spPr>
      </p:sp>
      <p:sp>
        <p:nvSpPr>
          <p:cNvPr id="35" name="Shape 33"/>
          <p:cNvSpPr/>
          <p:nvPr/>
        </p:nvSpPr>
        <p:spPr>
          <a:xfrm>
            <a:off x="740664" y="6035040"/>
            <a:ext cx="292608" cy="292608"/>
          </a:xfrm>
          <a:prstGeom prst="ellipse">
            <a:avLst/>
          </a:prstGeom>
          <a:solidFill>
            <a:srgbClr val="1F3D2E"/>
          </a:solidFill>
          <a:ln/>
        </p:spPr>
      </p:sp>
      <p:sp>
        <p:nvSpPr>
          <p:cNvPr id="36" name="Text 34"/>
          <p:cNvSpPr/>
          <p:nvPr/>
        </p:nvSpPr>
        <p:spPr>
          <a:xfrm>
            <a:off x="740664" y="60350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37" name="Text 35"/>
          <p:cNvSpPr/>
          <p:nvPr/>
        </p:nvSpPr>
        <p:spPr>
          <a:xfrm>
            <a:off x="1133856" y="60533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38" name="Text 36"/>
          <p:cNvSpPr/>
          <p:nvPr/>
        </p:nvSpPr>
        <p:spPr>
          <a:xfrm>
            <a:off x="740664" y="6428232"/>
            <a:ext cx="10680192" cy="274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41 HumanEval problems verbatim in a popular instruction dataset. pass@1 dropped 5.1 points after removal — and that drop was the most valuable number I produced that month.</a:t>
            </a:r>
            <a:endParaRPr lang="en-US" sz="1150" dirty="0"/>
          </a:p>
        </p:txBody>
      </p:sp>
      <p:sp>
        <p:nvSpPr>
          <p:cNvPr id="39" name="Text 3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71</a:t>
            </a:r>
            <a:endParaRPr lang="en-US" sz="9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Deduplication — the three-rung ladder</a:t>
            </a:r>
            <a:endParaRPr lang="en-US" sz="2900" dirty="0"/>
          </a:p>
        </p:txBody>
      </p:sp>
      <p:sp>
        <p:nvSpPr>
          <p:cNvPr id="4" name="Shape 2"/>
          <p:cNvSpPr/>
          <p:nvPr/>
        </p:nvSpPr>
        <p:spPr>
          <a:xfrm>
            <a:off x="502920" y="1280160"/>
            <a:ext cx="11155680" cy="1143000"/>
          </a:xfrm>
          <a:prstGeom prst="roundRect">
            <a:avLst>
              <a:gd name="adj" fmla="val 56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650492"/>
            <a:ext cx="402336" cy="402336"/>
          </a:xfrm>
          <a:prstGeom prst="ellipse">
            <a:avLst/>
          </a:prstGeom>
          <a:solidFill>
            <a:srgbClr val="8FB573"/>
          </a:solidFill>
          <a:ln/>
        </p:spPr>
      </p:sp>
      <p:sp>
        <p:nvSpPr>
          <p:cNvPr id="6" name="Text 4"/>
          <p:cNvSpPr/>
          <p:nvPr/>
        </p:nvSpPr>
        <p:spPr>
          <a:xfrm>
            <a:off x="749808" y="165049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Exact — content hash</a:t>
            </a:r>
            <a:endParaRPr lang="en-US" sz="1300" dirty="0"/>
          </a:p>
        </p:txBody>
      </p:sp>
      <p:sp>
        <p:nvSpPr>
          <p:cNvPr id="8" name="Text 6"/>
          <p:cNvSpPr/>
          <p:nvPr/>
        </p:nvSpPr>
        <p:spPr>
          <a:xfrm>
            <a:off x="1316736" y="1700784"/>
            <a:ext cx="10058400" cy="63093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SHA256 of normalized content. Catches literal copies, which are more common than you expect because datasets are assembled from overlapping sources. Milliseconds. Always do this first.</a:t>
            </a:r>
            <a:endParaRPr lang="en-US" sz="1150" dirty="0"/>
          </a:p>
        </p:txBody>
      </p:sp>
      <p:sp>
        <p:nvSpPr>
          <p:cNvPr id="9" name="Shape 7"/>
          <p:cNvSpPr/>
          <p:nvPr/>
        </p:nvSpPr>
        <p:spPr>
          <a:xfrm>
            <a:off x="502920" y="2532888"/>
            <a:ext cx="11155680" cy="1143000"/>
          </a:xfrm>
          <a:prstGeom prst="roundRect">
            <a:avLst>
              <a:gd name="adj" fmla="val 56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903220"/>
            <a:ext cx="402336" cy="402336"/>
          </a:xfrm>
          <a:prstGeom prst="ellipse">
            <a:avLst/>
          </a:prstGeom>
          <a:solidFill>
            <a:srgbClr val="8FB573"/>
          </a:solidFill>
          <a:ln/>
        </p:spPr>
      </p:sp>
      <p:sp>
        <p:nvSpPr>
          <p:cNvPr id="11" name="Text 9"/>
          <p:cNvSpPr/>
          <p:nvPr/>
        </p:nvSpPr>
        <p:spPr>
          <a:xfrm>
            <a:off x="749808" y="290322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66090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Near-duplicate — MinHash + LSH</a:t>
            </a:r>
            <a:endParaRPr lang="en-US" sz="1300" dirty="0"/>
          </a:p>
        </p:txBody>
      </p:sp>
      <p:sp>
        <p:nvSpPr>
          <p:cNvPr id="13" name="Text 11"/>
          <p:cNvSpPr/>
          <p:nvPr/>
        </p:nvSpPr>
        <p:spPr>
          <a:xfrm>
            <a:off x="1316736" y="2953512"/>
            <a:ext cx="10058400" cy="63093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Estimates Jaccard similarity between token shingles without pairwise comparison. Threshold ~0.8. This is where the bulk of redundancy actually lives. Use datasketch.</a:t>
            </a:r>
            <a:endParaRPr lang="en-US" sz="1150" dirty="0"/>
          </a:p>
        </p:txBody>
      </p:sp>
      <p:sp>
        <p:nvSpPr>
          <p:cNvPr id="14" name="Shape 12"/>
          <p:cNvSpPr/>
          <p:nvPr/>
        </p:nvSpPr>
        <p:spPr>
          <a:xfrm>
            <a:off x="502920" y="3785616"/>
            <a:ext cx="11155680" cy="1143000"/>
          </a:xfrm>
          <a:prstGeom prst="roundRect">
            <a:avLst>
              <a:gd name="adj" fmla="val 56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4155948"/>
            <a:ext cx="402336" cy="402336"/>
          </a:xfrm>
          <a:prstGeom prst="ellipse">
            <a:avLst/>
          </a:prstGeom>
          <a:solidFill>
            <a:srgbClr val="8FB573"/>
          </a:solidFill>
          <a:ln/>
        </p:spPr>
      </p:sp>
      <p:sp>
        <p:nvSpPr>
          <p:cNvPr id="16" name="Text 14"/>
          <p:cNvSpPr/>
          <p:nvPr/>
        </p:nvSpPr>
        <p:spPr>
          <a:xfrm>
            <a:off x="749808" y="415594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3913632"/>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Semantic — embedding similarity</a:t>
            </a:r>
            <a:endParaRPr lang="en-US" sz="1300" dirty="0"/>
          </a:p>
        </p:txBody>
      </p:sp>
      <p:sp>
        <p:nvSpPr>
          <p:cNvPr id="18" name="Text 16"/>
          <p:cNvSpPr/>
          <p:nvPr/>
        </p:nvSpPr>
        <p:spPr>
          <a:xfrm>
            <a:off x="1316736" y="4206240"/>
            <a:ext cx="10058400" cy="63093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Encode with a code embedding model, cluster by cosine. Catches the same solution with different names and formatting. Expensive; run it last, on the already-reduced set.</a:t>
            </a:r>
            <a:endParaRPr lang="en-US" sz="1150" dirty="0"/>
          </a:p>
        </p:txBody>
      </p:sp>
      <p:sp>
        <p:nvSpPr>
          <p:cNvPr id="19" name="Shape 17"/>
          <p:cNvSpPr/>
          <p:nvPr/>
        </p:nvSpPr>
        <p:spPr>
          <a:xfrm>
            <a:off x="502920" y="4892040"/>
            <a:ext cx="11155680" cy="1417320"/>
          </a:xfrm>
          <a:prstGeom prst="roundRect">
            <a:avLst>
              <a:gd name="adj" fmla="val 3871"/>
            </a:avLst>
          </a:prstGeom>
          <a:solidFill>
            <a:srgbClr val="0F1F17"/>
          </a:solidFill>
          <a:ln/>
        </p:spPr>
      </p:sp>
      <p:sp>
        <p:nvSpPr>
          <p:cNvPr id="20" name="Text 18"/>
          <p:cNvSpPr/>
          <p:nvPr/>
        </p:nvSpPr>
        <p:spPr>
          <a:xfrm>
            <a:off x="722376" y="5038344"/>
            <a:ext cx="10716768" cy="112471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MinHash near-dup, the practical version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from datasketch import MinHash, MinHashLSH</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lsh = MinHashLSH(threshold=0.8, num_perm=128)</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for rec in records: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m = MinHash(num_perm=128)</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for shingle in shingles(rec['text'], k=5):   # 5-token shingles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m.update(shingle.encode())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if lsh.query(m): rec['dup'] = True      # near-duplicate of something already seen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else: lsh.insert(rec['id'], m)</a:t>
            </a:r>
            <a:endParaRPr lang="en-US" sz="1000" dirty="0"/>
          </a:p>
        </p:txBody>
      </p:sp>
      <p:sp>
        <p:nvSpPr>
          <p:cNvPr id="21" name="Text 1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72</a:t>
            </a:r>
            <a:endParaRPr lang="en-US" sz="9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Why deduplication matters more than it sounds</a:t>
            </a:r>
            <a:endParaRPr lang="en-US" sz="2900" dirty="0"/>
          </a:p>
        </p:txBody>
      </p:sp>
      <p:sp>
        <p:nvSpPr>
          <p:cNvPr id="4" name="Shape 2"/>
          <p:cNvSpPr/>
          <p:nvPr/>
        </p:nvSpPr>
        <p:spPr>
          <a:xfrm>
            <a:off x="502920"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Duplicates are implicit upweighting</a:t>
            </a:r>
            <a:endParaRPr lang="en-US" sz="1250" dirty="0"/>
          </a:p>
        </p:txBody>
      </p:sp>
      <p:sp>
        <p:nvSpPr>
          <p:cNvPr id="6" name="Text 4"/>
          <p:cNvSpPr/>
          <p:nvPr/>
        </p:nvSpPr>
        <p:spPr>
          <a:xfrm>
            <a:off x="722376"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An example appearing 50 times is trained on 50x. You did not choose that weighting — the dataset assembly process did, arbitrarily.</a:t>
            </a:r>
            <a:endParaRPr lang="en-US" sz="1100" dirty="0"/>
          </a:p>
        </p:txBody>
      </p:sp>
      <p:sp>
        <p:nvSpPr>
          <p:cNvPr id="7" name="Shape 5"/>
          <p:cNvSpPr/>
          <p:nvPr/>
        </p:nvSpPr>
        <p:spPr>
          <a:xfrm>
            <a:off x="4270248"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4489704" y="1426464"/>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It inflates your eval</a:t>
            </a:r>
            <a:endParaRPr lang="en-US" sz="1250" dirty="0"/>
          </a:p>
        </p:txBody>
      </p:sp>
      <p:sp>
        <p:nvSpPr>
          <p:cNvPr id="9" name="Text 7"/>
          <p:cNvSpPr/>
          <p:nvPr/>
        </p:nvSpPr>
        <p:spPr>
          <a:xfrm>
            <a:off x="4489704"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If a near-duplicate straddles your train/eval split, you are evaluating on training data. This is the #1 cause of 'great val, terrible reality'.</a:t>
            </a:r>
            <a:endParaRPr lang="en-US" sz="1100" dirty="0"/>
          </a:p>
        </p:txBody>
      </p:sp>
      <p:sp>
        <p:nvSpPr>
          <p:cNvPr id="10" name="Shape 8"/>
          <p:cNvSpPr/>
          <p:nvPr/>
        </p:nvSpPr>
        <p:spPr>
          <a:xfrm>
            <a:off x="8037576"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8257032" y="1426464"/>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It wastes your tiny compute budget</a:t>
            </a:r>
            <a:endParaRPr lang="en-US" sz="1250" dirty="0"/>
          </a:p>
        </p:txBody>
      </p:sp>
      <p:sp>
        <p:nvSpPr>
          <p:cNvPr id="12" name="Text 10"/>
          <p:cNvSpPr/>
          <p:nvPr/>
        </p:nvSpPr>
        <p:spPr>
          <a:xfrm>
            <a:off x="8257032"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On a 4GB card every gradient step is precious. Spending 30% of them on redundancy is a 30% cut to your effective budget.</a:t>
            </a:r>
            <a:endParaRPr lang="en-US" sz="1100" dirty="0"/>
          </a:p>
        </p:txBody>
      </p:sp>
      <p:sp>
        <p:nvSpPr>
          <p:cNvPr id="13" name="Shape 11"/>
          <p:cNvSpPr/>
          <p:nvPr/>
        </p:nvSpPr>
        <p:spPr>
          <a:xfrm>
            <a:off x="502920"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22376" y="3127248"/>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It causes memorization, not learning</a:t>
            </a:r>
            <a:endParaRPr lang="en-US" sz="1250" dirty="0"/>
          </a:p>
        </p:txBody>
      </p:sp>
      <p:sp>
        <p:nvSpPr>
          <p:cNvPr id="15" name="Text 13"/>
          <p:cNvSpPr/>
          <p:nvPr/>
        </p:nvSpPr>
        <p:spPr>
          <a:xfrm>
            <a:off x="722376"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Repeated exposure to identical text drives verbatim memorization — exactly the failure mode you are trying to avoid.</a:t>
            </a:r>
            <a:endParaRPr lang="en-US" sz="1100" dirty="0"/>
          </a:p>
        </p:txBody>
      </p:sp>
      <p:sp>
        <p:nvSpPr>
          <p:cNvPr id="16" name="Shape 14"/>
          <p:cNvSpPr/>
          <p:nvPr/>
        </p:nvSpPr>
        <p:spPr>
          <a:xfrm>
            <a:off x="4270248"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4489704" y="3127248"/>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DEDUP BEFORE SPLITTING</a:t>
            </a:r>
            <a:endParaRPr lang="en-US" sz="1250" dirty="0"/>
          </a:p>
        </p:txBody>
      </p:sp>
      <p:sp>
        <p:nvSpPr>
          <p:cNvPr id="18" name="Text 16"/>
          <p:cNvSpPr/>
          <p:nvPr/>
        </p:nvSpPr>
        <p:spPr>
          <a:xfrm>
            <a:off x="4489704"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Split first and duplicates land on both sides. This is the single most common ordering mistake in the whole pipeline.</a:t>
            </a:r>
            <a:endParaRPr lang="en-US" sz="1100" dirty="0"/>
          </a:p>
        </p:txBody>
      </p:sp>
      <p:sp>
        <p:nvSpPr>
          <p:cNvPr id="19" name="Shape 17"/>
          <p:cNvSpPr/>
          <p:nvPr/>
        </p:nvSpPr>
        <p:spPr>
          <a:xfrm>
            <a:off x="8037576"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8257032" y="312724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Log the reduction</a:t>
            </a:r>
            <a:endParaRPr lang="en-US" sz="1250" dirty="0"/>
          </a:p>
        </p:txBody>
      </p:sp>
      <p:sp>
        <p:nvSpPr>
          <p:cNvPr id="21" name="Text 19"/>
          <p:cNvSpPr/>
          <p:nvPr/>
        </p:nvSpPr>
        <p:spPr>
          <a:xfrm>
            <a:off x="8257032"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'100k → 68k after near-dup at 0.8'. That number belongs in results/. It is often the biggest single finding of the phase.</a:t>
            </a:r>
            <a:endParaRPr lang="en-US" sz="1100" dirty="0"/>
          </a:p>
        </p:txBody>
      </p:sp>
      <p:sp>
        <p:nvSpPr>
          <p:cNvPr id="22" name="Shape 20"/>
          <p:cNvSpPr/>
          <p:nvPr/>
        </p:nvSpPr>
        <p:spPr>
          <a:xfrm>
            <a:off x="502920" y="4892040"/>
            <a:ext cx="11155680" cy="566928"/>
          </a:xfrm>
          <a:prstGeom prst="roundRect">
            <a:avLst>
              <a:gd name="adj" fmla="val 9677"/>
            </a:avLst>
          </a:prstGeom>
          <a:solidFill>
            <a:srgbClr val="A8482A"/>
          </a:solidFill>
          <a:ln/>
        </p:spPr>
      </p:sp>
      <p:sp>
        <p:nvSpPr>
          <p:cNvPr id="23" name="Text 21"/>
          <p:cNvSpPr/>
          <p:nvPr/>
        </p:nvSpPr>
        <p:spPr>
          <a:xfrm>
            <a:off x="777240" y="489204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Order: decontaminate → dedup → split → filter. Any other order leaks something somewhere.</a:t>
            </a:r>
            <a:endParaRPr lang="en-US" sz="1450" dirty="0"/>
          </a:p>
        </p:txBody>
      </p:sp>
      <p:sp>
        <p:nvSpPr>
          <p:cNvPr id="24" name="Shape 22"/>
          <p:cNvSpPr/>
          <p:nvPr/>
        </p:nvSpPr>
        <p:spPr>
          <a:xfrm>
            <a:off x="502920" y="5623560"/>
            <a:ext cx="11155680" cy="914400"/>
          </a:xfrm>
          <a:prstGeom prst="roundRect">
            <a:avLst>
              <a:gd name="adj" fmla="val 7000"/>
            </a:avLst>
          </a:prstGeom>
          <a:solidFill>
            <a:srgbClr val="1F3D2E"/>
          </a:solidFill>
          <a:ln/>
        </p:spPr>
      </p:sp>
      <p:sp>
        <p:nvSpPr>
          <p:cNvPr id="25" name="Shape 23"/>
          <p:cNvSpPr/>
          <p:nvPr/>
        </p:nvSpPr>
        <p:spPr>
          <a:xfrm>
            <a:off x="740664" y="5806440"/>
            <a:ext cx="292608" cy="292608"/>
          </a:xfrm>
          <a:prstGeom prst="ellipse">
            <a:avLst/>
          </a:prstGeom>
          <a:solidFill>
            <a:srgbClr val="1F3D2E"/>
          </a:solidFill>
          <a:ln/>
        </p:spPr>
      </p:sp>
      <p:sp>
        <p:nvSpPr>
          <p:cNvPr id="26" name="Text 24"/>
          <p:cNvSpPr/>
          <p:nvPr/>
        </p:nvSpPr>
        <p:spPr>
          <a:xfrm>
            <a:off x="740664" y="58064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7" name="Text 25"/>
          <p:cNvSpPr/>
          <p:nvPr/>
        </p:nvSpPr>
        <p:spPr>
          <a:xfrm>
            <a:off x="1133856" y="58247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8" name="Text 26"/>
          <p:cNvSpPr/>
          <p:nvPr/>
        </p:nvSpPr>
        <p:spPr>
          <a:xfrm>
            <a:off x="740664" y="6199632"/>
            <a:ext cx="10680192" cy="1645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31% near-duplicate in my first assembled dataset. After dedup, the same compute budget produced a model 2.4 points better — not because I changed anything about training, but because a third of it had been redundant.</a:t>
            </a:r>
            <a:endParaRPr lang="en-US" sz="1150" dirty="0"/>
          </a:p>
        </p:txBody>
      </p:sp>
      <p:sp>
        <p:nvSpPr>
          <p:cNvPr id="29" name="Text 2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73</a:t>
            </a:r>
            <a:endParaRPr lang="en-US" sz="9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Quality filters — cheap to expensive</a:t>
            </a:r>
            <a:endParaRPr lang="en-US" sz="29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108960"/>
                <a:gridCol w="1828800"/>
                <a:gridCol w="2011680"/>
                <a:gridCol w="4206240"/>
              </a:tblGrid>
              <a:tr h="3611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Filter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Cost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Typically removes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catches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6118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Length bounds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Free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Truncated fragments, single-line non-answers, 10k-token dumps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118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ast.parse() validity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~0.1ms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3–8%</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Code that does not compile. Astonishingly common.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118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Language detection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Fast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Wrong-language records in a Python-only set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118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Non-answer patterns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Free regex</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'I cannot help with that', 'Here is the code:' with no code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118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Comment/code ratio</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Fast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Pure-prose records masquerading as code examples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118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Prompt/response overlap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Fast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Response that merely echoes the prompt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118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Reward-model / classifier score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Moderate (GPU)</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10–25%</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Low-quality-but-valid examples. Needs a trained scorer.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118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LLM-as-judge scoring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Expensive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15–30%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Subtle quality: correctness, idiom, helpfulness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118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Execution verification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Expensive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varies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The gold standard — does the code actually WORK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892040"/>
            <a:ext cx="11155680" cy="566928"/>
          </a:xfrm>
          <a:prstGeom prst="roundRect">
            <a:avLst>
              <a:gd name="adj" fmla="val 9677"/>
            </a:avLst>
          </a:prstGeom>
          <a:solidFill>
            <a:srgbClr val="8FB573"/>
          </a:solidFill>
          <a:ln/>
        </p:spPr>
      </p:sp>
      <p:sp>
        <p:nvSpPr>
          <p:cNvPr id="6" name="Text 3"/>
          <p:cNvSpPr/>
          <p:nvPr/>
        </p:nvSpPr>
        <p:spPr>
          <a:xfrm>
            <a:off x="777240" y="489204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Run them in cost order. Every cheap filter you apply first reduces the volume the expensive ones must process.</a:t>
            </a:r>
            <a:endParaRPr lang="en-US" sz="1450" dirty="0"/>
          </a:p>
        </p:txBody>
      </p:sp>
      <p:sp>
        <p:nvSpPr>
          <p:cNvPr id="7" name="Shape 4"/>
          <p:cNvSpPr/>
          <p:nvPr/>
        </p:nvSpPr>
        <p:spPr>
          <a:xfrm>
            <a:off x="502920" y="5623560"/>
            <a:ext cx="11155680" cy="914400"/>
          </a:xfrm>
          <a:prstGeom prst="roundRect">
            <a:avLst>
              <a:gd name="adj" fmla="val 7000"/>
            </a:avLst>
          </a:prstGeom>
          <a:solidFill>
            <a:srgbClr val="1F3D2E"/>
          </a:solidFill>
          <a:ln/>
        </p:spPr>
      </p:sp>
      <p:sp>
        <p:nvSpPr>
          <p:cNvPr id="8" name="Shape 5"/>
          <p:cNvSpPr/>
          <p:nvPr/>
        </p:nvSpPr>
        <p:spPr>
          <a:xfrm>
            <a:off x="740664" y="5806440"/>
            <a:ext cx="292608" cy="292608"/>
          </a:xfrm>
          <a:prstGeom prst="ellipse">
            <a:avLst/>
          </a:prstGeom>
          <a:solidFill>
            <a:srgbClr val="1F3D2E"/>
          </a:solidFill>
          <a:ln/>
        </p:spPr>
      </p:sp>
      <p:sp>
        <p:nvSpPr>
          <p:cNvPr id="9" name="Text 6"/>
          <p:cNvSpPr/>
          <p:nvPr/>
        </p:nvSpPr>
        <p:spPr>
          <a:xfrm>
            <a:off x="740664" y="58064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0" name="Text 7"/>
          <p:cNvSpPr/>
          <p:nvPr/>
        </p:nvSpPr>
        <p:spPr>
          <a:xfrm>
            <a:off x="1133856" y="58247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1" name="Text 8"/>
          <p:cNvSpPr/>
          <p:nvPr/>
        </p:nvSpPr>
        <p:spPr>
          <a:xfrm>
            <a:off x="740664" y="6199632"/>
            <a:ext cx="10680192" cy="1645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ast.parse rejected 7% of a dataset I had assumed was clean. Seven percent of my gradient updates were teaching the model to write code that does not compile.</a:t>
            </a:r>
            <a:endParaRPr lang="en-US" sz="1150" dirty="0"/>
          </a:p>
        </p:txBody>
      </p:sp>
      <p:sp>
        <p:nvSpPr>
          <p:cNvPr id="12" name="Text 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74</a:t>
            </a:r>
            <a:endParaRPr lang="en-US" sz="9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Execution verification — the filter only you can run</a:t>
            </a:r>
            <a:endParaRPr lang="en-US" sz="2900" dirty="0"/>
          </a:p>
        </p:txBody>
      </p:sp>
      <p:sp>
        <p:nvSpPr>
          <p:cNvPr id="4" name="Text 2"/>
          <p:cNvSpPr/>
          <p:nvPr/>
        </p:nvSpPr>
        <p:spPr>
          <a:xfrm>
            <a:off x="502920" y="1280160"/>
            <a:ext cx="11155680" cy="64008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You built a sandbox in Phase 3. Almost nobody assembling instruction datasets has one. That means you can apply a filter that most public datasets never had applied to them: does the code actually run?</a:t>
            </a:r>
            <a:endParaRPr lang="en-US" sz="1350" dirty="0"/>
          </a:p>
        </p:txBody>
      </p:sp>
      <p:sp>
        <p:nvSpPr>
          <p:cNvPr id="5" name="Shape 3"/>
          <p:cNvSpPr/>
          <p:nvPr/>
        </p:nvSpPr>
        <p:spPr>
          <a:xfrm>
            <a:off x="502920" y="2011680"/>
            <a:ext cx="11155680" cy="914400"/>
          </a:xfrm>
          <a:prstGeom prst="roundRect">
            <a:avLst>
              <a:gd name="adj" fmla="val 7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Shape 4"/>
          <p:cNvSpPr/>
          <p:nvPr/>
        </p:nvSpPr>
        <p:spPr>
          <a:xfrm>
            <a:off x="749808" y="2267712"/>
            <a:ext cx="402336" cy="402336"/>
          </a:xfrm>
          <a:prstGeom prst="ellipse">
            <a:avLst/>
          </a:prstGeom>
          <a:solidFill>
            <a:srgbClr val="8FB573"/>
          </a:solidFill>
          <a:ln/>
        </p:spPr>
      </p:sp>
      <p:sp>
        <p:nvSpPr>
          <p:cNvPr id="7" name="Text 5"/>
          <p:cNvSpPr/>
          <p:nvPr/>
        </p:nvSpPr>
        <p:spPr>
          <a:xfrm>
            <a:off x="749808" y="226771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316736" y="213969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For records that ship with tests</a:t>
            </a:r>
            <a:endParaRPr lang="en-US" sz="1300" dirty="0"/>
          </a:p>
        </p:txBody>
      </p:sp>
      <p:sp>
        <p:nvSpPr>
          <p:cNvPr id="9" name="Text 7"/>
          <p:cNvSpPr/>
          <p:nvPr/>
        </p:nvSpPr>
        <p:spPr>
          <a:xfrm>
            <a:off x="1316736" y="2432304"/>
            <a:ext cx="10058400" cy="40233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Run them. Keep only what passes. This is unambiguous and it is the strongest quality signal that exists.</a:t>
            </a:r>
            <a:endParaRPr lang="en-US" sz="1150" dirty="0"/>
          </a:p>
        </p:txBody>
      </p:sp>
      <p:sp>
        <p:nvSpPr>
          <p:cNvPr id="10" name="Shape 8"/>
          <p:cNvSpPr/>
          <p:nvPr/>
        </p:nvSpPr>
        <p:spPr>
          <a:xfrm>
            <a:off x="502920" y="3035808"/>
            <a:ext cx="11155680" cy="914400"/>
          </a:xfrm>
          <a:prstGeom prst="roundRect">
            <a:avLst>
              <a:gd name="adj" fmla="val 7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9"/>
          <p:cNvSpPr/>
          <p:nvPr/>
        </p:nvSpPr>
        <p:spPr>
          <a:xfrm>
            <a:off x="749808" y="3291840"/>
            <a:ext cx="402336" cy="402336"/>
          </a:xfrm>
          <a:prstGeom prst="ellipse">
            <a:avLst/>
          </a:prstGeom>
          <a:solidFill>
            <a:srgbClr val="8FB573"/>
          </a:solidFill>
          <a:ln/>
        </p:spPr>
      </p:sp>
      <p:sp>
        <p:nvSpPr>
          <p:cNvPr id="12" name="Text 10"/>
          <p:cNvSpPr/>
          <p:nvPr/>
        </p:nvSpPr>
        <p:spPr>
          <a:xfrm>
            <a:off x="749808" y="329184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1316736" y="316382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For records without tests — generate them</a:t>
            </a:r>
            <a:endParaRPr lang="en-US" sz="1300" dirty="0"/>
          </a:p>
        </p:txBody>
      </p:sp>
      <p:sp>
        <p:nvSpPr>
          <p:cNvPr id="14" name="Text 12"/>
          <p:cNvSpPr/>
          <p:nvPr/>
        </p:nvSpPr>
        <p:spPr>
          <a:xfrm>
            <a:off x="1316736" y="3456432"/>
            <a:ext cx="10058400" cy="40233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Have your Mac teacher write tests for the given solution, then run them. Weaker signal (the tests may be wrong), but far better than nothing.</a:t>
            </a:r>
            <a:endParaRPr lang="en-US" sz="1150" dirty="0"/>
          </a:p>
        </p:txBody>
      </p:sp>
      <p:sp>
        <p:nvSpPr>
          <p:cNvPr id="15" name="Shape 13"/>
          <p:cNvSpPr/>
          <p:nvPr/>
        </p:nvSpPr>
        <p:spPr>
          <a:xfrm>
            <a:off x="502920" y="4059936"/>
            <a:ext cx="11155680" cy="914400"/>
          </a:xfrm>
          <a:prstGeom prst="roundRect">
            <a:avLst>
              <a:gd name="adj" fmla="val 7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4"/>
          <p:cNvSpPr/>
          <p:nvPr/>
        </p:nvSpPr>
        <p:spPr>
          <a:xfrm>
            <a:off x="749808" y="4315968"/>
            <a:ext cx="402336" cy="402336"/>
          </a:xfrm>
          <a:prstGeom prst="ellipse">
            <a:avLst/>
          </a:prstGeom>
          <a:solidFill>
            <a:srgbClr val="8FB573"/>
          </a:solidFill>
          <a:ln/>
        </p:spPr>
      </p:sp>
      <p:sp>
        <p:nvSpPr>
          <p:cNvPr id="17" name="Text 15"/>
          <p:cNvSpPr/>
          <p:nvPr/>
        </p:nvSpPr>
        <p:spPr>
          <a:xfrm>
            <a:off x="749808" y="431596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1316736" y="4187952"/>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For records without tests — at minimum, execute</a:t>
            </a:r>
            <a:endParaRPr lang="en-US" sz="1300" dirty="0"/>
          </a:p>
        </p:txBody>
      </p:sp>
      <p:sp>
        <p:nvSpPr>
          <p:cNvPr id="19" name="Text 17"/>
          <p:cNvSpPr/>
          <p:nvPr/>
        </p:nvSpPr>
        <p:spPr>
          <a:xfrm>
            <a:off x="1316736" y="4480560"/>
            <a:ext cx="10058400" cy="40233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Import the module, call the function with trivial arguments. Catches runtime errors that ast.parse cannot: undefined names, bad imports, syntax-valid nonsense.</a:t>
            </a:r>
            <a:endParaRPr lang="en-US" sz="1150" dirty="0"/>
          </a:p>
        </p:txBody>
      </p:sp>
      <p:sp>
        <p:nvSpPr>
          <p:cNvPr id="20" name="Shape 18"/>
          <p:cNvSpPr/>
          <p:nvPr/>
        </p:nvSpPr>
        <p:spPr>
          <a:xfrm>
            <a:off x="502920" y="5084064"/>
            <a:ext cx="11155680" cy="914400"/>
          </a:xfrm>
          <a:prstGeom prst="roundRect">
            <a:avLst>
              <a:gd name="adj" fmla="val 7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Shape 19"/>
          <p:cNvSpPr/>
          <p:nvPr/>
        </p:nvSpPr>
        <p:spPr>
          <a:xfrm>
            <a:off x="749808" y="5340096"/>
            <a:ext cx="402336" cy="402336"/>
          </a:xfrm>
          <a:prstGeom prst="ellipse">
            <a:avLst/>
          </a:prstGeom>
          <a:solidFill>
            <a:srgbClr val="8FB573"/>
          </a:solidFill>
          <a:ln/>
        </p:spPr>
      </p:sp>
      <p:sp>
        <p:nvSpPr>
          <p:cNvPr id="22" name="Text 20"/>
          <p:cNvSpPr/>
          <p:nvPr/>
        </p:nvSpPr>
        <p:spPr>
          <a:xfrm>
            <a:off x="749808" y="5340096"/>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1316736" y="521208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Record the outcome as a field</a:t>
            </a:r>
            <a:endParaRPr lang="en-US" sz="1300" dirty="0"/>
          </a:p>
        </p:txBody>
      </p:sp>
      <p:sp>
        <p:nvSpPr>
          <p:cNvPr id="24" name="Text 22"/>
          <p:cNvSpPr/>
          <p:nvPr/>
        </p:nvSpPr>
        <p:spPr>
          <a:xfrm>
            <a:off x="1316736" y="5504688"/>
            <a:ext cx="10058400" cy="40233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verified: 'tests_pass' | 'runs' | 'compiles' | 'invalid'. This becomes a filterable quality tier and a mixing knob later.</a:t>
            </a:r>
            <a:endParaRPr lang="en-US" sz="1150" dirty="0"/>
          </a:p>
        </p:txBody>
      </p:sp>
      <p:sp>
        <p:nvSpPr>
          <p:cNvPr id="25" name="Shape 23"/>
          <p:cNvSpPr/>
          <p:nvPr/>
        </p:nvSpPr>
        <p:spPr>
          <a:xfrm>
            <a:off x="502920" y="5943600"/>
            <a:ext cx="11155680" cy="566928"/>
          </a:xfrm>
          <a:prstGeom prst="roundRect">
            <a:avLst>
              <a:gd name="adj" fmla="val 9677"/>
            </a:avLst>
          </a:prstGeom>
          <a:solidFill>
            <a:srgbClr val="8FB573"/>
          </a:solidFill>
          <a:ln/>
        </p:spPr>
      </p:sp>
      <p:sp>
        <p:nvSpPr>
          <p:cNvPr id="26" name="Text 24"/>
          <p:cNvSpPr/>
          <p:nvPr/>
        </p:nvSpPr>
        <p:spPr>
          <a:xfrm>
            <a:off x="777240" y="594360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This is your unfair advantage over anyone assembling a dataset without an executor. Use it aggressively.</a:t>
            </a:r>
            <a:endParaRPr lang="en-US" sz="1450" dirty="0"/>
          </a:p>
        </p:txBody>
      </p:sp>
      <p:sp>
        <p:nvSpPr>
          <p:cNvPr id="27" name="Text 2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75</a:t>
            </a:r>
            <a:endParaRPr lang="en-US" sz="9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Difficulty estimation and stratification</a:t>
            </a:r>
            <a:endParaRPr lang="en-US" sz="2900" dirty="0"/>
          </a:p>
        </p:txBody>
      </p:sp>
      <p:sp>
        <p:nvSpPr>
          <p:cNvPr id="4" name="Shape 2"/>
          <p:cNvSpPr/>
          <p:nvPr/>
        </p:nvSpPr>
        <p:spPr>
          <a:xfrm>
            <a:off x="502920"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Why you need it</a:t>
            </a:r>
            <a:endParaRPr lang="en-US" sz="1250" dirty="0"/>
          </a:p>
        </p:txBody>
      </p:sp>
      <p:sp>
        <p:nvSpPr>
          <p:cNvPr id="6" name="Text 4"/>
          <p:cNvSpPr/>
          <p:nvPr/>
        </p:nvSpPr>
        <p:spPr>
          <a:xfrm>
            <a:off x="722376"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Without difficulty labels, Phase 7 rejection sampling silently collapses onto easy problems — the only ones that produce passing samples.</a:t>
            </a:r>
            <a:endParaRPr lang="en-US" sz="1100" dirty="0"/>
          </a:p>
        </p:txBody>
      </p:sp>
      <p:sp>
        <p:nvSpPr>
          <p:cNvPr id="7" name="Shape 5"/>
          <p:cNvSpPr/>
          <p:nvPr/>
        </p:nvSpPr>
        <p:spPr>
          <a:xfrm>
            <a:off x="4270248"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4489704" y="14264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Signal 1 — provided labels</a:t>
            </a:r>
            <a:endParaRPr lang="en-US" sz="1250" dirty="0"/>
          </a:p>
        </p:txBody>
      </p:sp>
      <p:sp>
        <p:nvSpPr>
          <p:cNvPr id="9" name="Text 7"/>
          <p:cNvSpPr/>
          <p:nvPr/>
        </p:nvSpPr>
        <p:spPr>
          <a:xfrm>
            <a:off x="4489704"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APPS ships difficulty tiers. CodeContests has ratings. Free, reliable, use them when present.</a:t>
            </a:r>
            <a:endParaRPr lang="en-US" sz="1100" dirty="0"/>
          </a:p>
        </p:txBody>
      </p:sp>
      <p:sp>
        <p:nvSpPr>
          <p:cNvPr id="10" name="Shape 8"/>
          <p:cNvSpPr/>
          <p:nvPr/>
        </p:nvSpPr>
        <p:spPr>
          <a:xfrm>
            <a:off x="8037576"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8257032" y="14264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Signal 2 — pass rate</a:t>
            </a:r>
            <a:endParaRPr lang="en-US" sz="1250" dirty="0"/>
          </a:p>
        </p:txBody>
      </p:sp>
      <p:sp>
        <p:nvSpPr>
          <p:cNvPr id="12" name="Text 10"/>
          <p:cNvSpPr/>
          <p:nvPr/>
        </p:nvSpPr>
        <p:spPr>
          <a:xfrm>
            <a:off x="8257032"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Sample your baseline model n times per problem. Pass rate IS difficulty, measured against your actual model rather than a human's opinion.</a:t>
            </a:r>
            <a:endParaRPr lang="en-US" sz="1100" dirty="0"/>
          </a:p>
        </p:txBody>
      </p:sp>
      <p:sp>
        <p:nvSpPr>
          <p:cNvPr id="13" name="Shape 11"/>
          <p:cNvSpPr/>
          <p:nvPr/>
        </p:nvSpPr>
        <p:spPr>
          <a:xfrm>
            <a:off x="502920"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22376" y="3127248"/>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Signal 3 — solution length</a:t>
            </a:r>
            <a:endParaRPr lang="en-US" sz="1250" dirty="0"/>
          </a:p>
        </p:txBody>
      </p:sp>
      <p:sp>
        <p:nvSpPr>
          <p:cNvPr id="15" name="Text 13"/>
          <p:cNvSpPr/>
          <p:nvPr/>
        </p:nvSpPr>
        <p:spPr>
          <a:xfrm>
            <a:off x="722376"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Crude proxy. Longer reference solutions correlate with harder problems. Free and better than nothing.</a:t>
            </a:r>
            <a:endParaRPr lang="en-US" sz="1100" dirty="0"/>
          </a:p>
        </p:txBody>
      </p:sp>
      <p:sp>
        <p:nvSpPr>
          <p:cNvPr id="16" name="Shape 14"/>
          <p:cNvSpPr/>
          <p:nvPr/>
        </p:nvSpPr>
        <p:spPr>
          <a:xfrm>
            <a:off x="4270248"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4489704" y="3127248"/>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Signal 4 — AST complexity</a:t>
            </a:r>
            <a:endParaRPr lang="en-US" sz="1250" dirty="0"/>
          </a:p>
        </p:txBody>
      </p:sp>
      <p:sp>
        <p:nvSpPr>
          <p:cNvPr id="18" name="Text 16"/>
          <p:cNvSpPr/>
          <p:nvPr/>
        </p:nvSpPr>
        <p:spPr>
          <a:xfrm>
            <a:off x="4489704"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Cyclomatic complexity, nesting depth, node count of the reference solution. Cheap and surprisingly informative.</a:t>
            </a:r>
            <a:endParaRPr lang="en-US" sz="1100" dirty="0"/>
          </a:p>
        </p:txBody>
      </p:sp>
      <p:sp>
        <p:nvSpPr>
          <p:cNvPr id="19" name="Shape 17"/>
          <p:cNvSpPr/>
          <p:nvPr/>
        </p:nvSpPr>
        <p:spPr>
          <a:xfrm>
            <a:off x="8037576"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8257032" y="312724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Use it for stratified sampling</a:t>
            </a:r>
            <a:endParaRPr lang="en-US" sz="1250" dirty="0"/>
          </a:p>
        </p:txBody>
      </p:sp>
      <p:sp>
        <p:nvSpPr>
          <p:cNvPr id="21" name="Text 19"/>
          <p:cNvSpPr/>
          <p:nvPr/>
        </p:nvSpPr>
        <p:spPr>
          <a:xfrm>
            <a:off x="8257032"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Keep a fixed proportion from each difficulty band at every stage. This single habit prevents the most common Phase 7 failure.</a:t>
            </a:r>
            <a:endParaRPr lang="en-US" sz="1100" dirty="0"/>
          </a:p>
        </p:txBody>
      </p:sp>
      <p:sp>
        <p:nvSpPr>
          <p:cNvPr id="22" name="Shape 20"/>
          <p:cNvSpPr/>
          <p:nvPr/>
        </p:nvSpPr>
        <p:spPr>
          <a:xfrm>
            <a:off x="502920" y="4892040"/>
            <a:ext cx="11155680" cy="1234440"/>
          </a:xfrm>
          <a:prstGeom prst="roundRect">
            <a:avLst>
              <a:gd name="adj" fmla="val 4444"/>
            </a:avLst>
          </a:prstGeom>
          <a:solidFill>
            <a:srgbClr val="0F1F17"/>
          </a:solidFill>
          <a:ln/>
        </p:spPr>
      </p:sp>
      <p:sp>
        <p:nvSpPr>
          <p:cNvPr id="23" name="Text 21"/>
          <p:cNvSpPr/>
          <p:nvPr/>
        </p:nvSpPr>
        <p:spPr>
          <a:xfrm>
            <a:off x="722376" y="5038344"/>
            <a:ext cx="10716768" cy="94183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Model-measured difficulty — the most useful signal you can compute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for prob in problems: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sols = generate(baseline_model, prob, n=10, temperature=0.8)</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prob['pass_rate'] = mean(sandbox.run(s, prob.tests).ok for s in sols)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prob['difficulty'] = 'easy' if pass_rate &gt; .7 else 'hard' if pass_rate &lt; .2 else 'medium'</a:t>
            </a:r>
            <a:endParaRPr lang="en-US" sz="1000" dirty="0"/>
          </a:p>
        </p:txBody>
      </p:sp>
      <p:sp>
        <p:nvSpPr>
          <p:cNvPr id="24" name="Text 2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76</a:t>
            </a:r>
            <a:endParaRPr lang="en-US" sz="9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Data mixing ratios — the knob nobody documents</a:t>
            </a:r>
            <a:endParaRPr lang="en-US" sz="29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108960"/>
                <a:gridCol w="2011680"/>
                <a:gridCol w="2194560"/>
                <a:gridCol w="3840480"/>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Mixture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Code perf.</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General perf.</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When to use it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100% code instruction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Best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Degrades noticeably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Pure code appliance; you accept the forgetting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90% code / 10% general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Near-best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Mostly preserved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default. Cheap insurance against forgetting.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70% code / 30% general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Slightly lower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Well preserved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If the model must also converse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Code + 5% FIM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Same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Same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If you want to retain fill-in-the-middle ability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Code + math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Slightly better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Same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Math data measurably helps code reasoning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703320"/>
            <a:ext cx="11155680" cy="658368"/>
          </a:xfrm>
          <a:prstGeom prst="roundRect">
            <a:avLst>
              <a:gd name="adj" fmla="val 972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Shape 3"/>
          <p:cNvSpPr/>
          <p:nvPr/>
        </p:nvSpPr>
        <p:spPr>
          <a:xfrm>
            <a:off x="502920" y="3703320"/>
            <a:ext cx="91440" cy="658368"/>
          </a:xfrm>
          <a:prstGeom prst="rect">
            <a:avLst/>
          </a:prstGeom>
          <a:solidFill>
            <a:srgbClr val="8FB573"/>
          </a:solidFill>
          <a:ln/>
        </p:spPr>
      </p:sp>
      <p:sp>
        <p:nvSpPr>
          <p:cNvPr id="7" name="Text 4"/>
          <p:cNvSpPr/>
          <p:nvPr/>
        </p:nvSpPr>
        <p:spPr>
          <a:xfrm>
            <a:off x="822960" y="3813048"/>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Start at 90/10</a:t>
            </a:r>
            <a:endParaRPr lang="en-US" sz="1250" dirty="0"/>
          </a:p>
        </p:txBody>
      </p:sp>
      <p:sp>
        <p:nvSpPr>
          <p:cNvPr id="8" name="Text 5"/>
          <p:cNvSpPr/>
          <p:nvPr/>
        </p:nvSpPr>
        <p:spPr>
          <a:xfrm>
            <a:off x="822960" y="4105656"/>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code / general instruct</a:t>
            </a:r>
            <a:endParaRPr lang="en-US" sz="950" dirty="0"/>
          </a:p>
        </p:txBody>
      </p:sp>
      <p:sp>
        <p:nvSpPr>
          <p:cNvPr id="9" name="Text 6"/>
          <p:cNvSpPr/>
          <p:nvPr/>
        </p:nvSpPr>
        <p:spPr>
          <a:xfrm>
            <a:off x="3794760" y="3794760"/>
            <a:ext cx="7863840" cy="47548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It costs about half a point of code performance and buys back most general capability. Ablate it later if it matters.</a:t>
            </a:r>
            <a:endParaRPr lang="en-US" sz="1180" dirty="0"/>
          </a:p>
        </p:txBody>
      </p:sp>
      <p:sp>
        <p:nvSpPr>
          <p:cNvPr id="10" name="Shape 7"/>
          <p:cNvSpPr/>
          <p:nvPr/>
        </p:nvSpPr>
        <p:spPr>
          <a:xfrm>
            <a:off x="502920" y="4453128"/>
            <a:ext cx="11155680" cy="658368"/>
          </a:xfrm>
          <a:prstGeom prst="roundRect">
            <a:avLst>
              <a:gd name="adj" fmla="val 972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8"/>
          <p:cNvSpPr/>
          <p:nvPr/>
        </p:nvSpPr>
        <p:spPr>
          <a:xfrm>
            <a:off x="502920" y="4453128"/>
            <a:ext cx="91440" cy="658368"/>
          </a:xfrm>
          <a:prstGeom prst="rect">
            <a:avLst/>
          </a:prstGeom>
          <a:solidFill>
            <a:srgbClr val="D98E32"/>
          </a:solidFill>
          <a:ln/>
        </p:spPr>
      </p:sp>
      <p:sp>
        <p:nvSpPr>
          <p:cNvPr id="12" name="Text 9"/>
          <p:cNvSpPr/>
          <p:nvPr/>
        </p:nvSpPr>
        <p:spPr>
          <a:xfrm>
            <a:off x="822960" y="4562856"/>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Mix at the record level</a:t>
            </a:r>
            <a:endParaRPr lang="en-US" sz="1250" dirty="0"/>
          </a:p>
        </p:txBody>
      </p:sp>
      <p:sp>
        <p:nvSpPr>
          <p:cNvPr id="13" name="Text 10"/>
          <p:cNvSpPr/>
          <p:nvPr/>
        </p:nvSpPr>
        <p:spPr>
          <a:xfrm>
            <a:off x="822960" y="4855464"/>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not by alternating files</a:t>
            </a:r>
            <a:endParaRPr lang="en-US" sz="950" dirty="0"/>
          </a:p>
        </p:txBody>
      </p:sp>
      <p:sp>
        <p:nvSpPr>
          <p:cNvPr id="14" name="Text 11"/>
          <p:cNvSpPr/>
          <p:nvPr/>
        </p:nvSpPr>
        <p:spPr>
          <a:xfrm>
            <a:off x="3794760" y="4544568"/>
            <a:ext cx="7863840" cy="47548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Shuffle thoroughly. Training on 10k code records then 1k general records is curriculum learning by accident, not a mixture.</a:t>
            </a:r>
            <a:endParaRPr lang="en-US" sz="1180" dirty="0"/>
          </a:p>
        </p:txBody>
      </p:sp>
      <p:sp>
        <p:nvSpPr>
          <p:cNvPr id="15" name="Shape 12"/>
          <p:cNvSpPr/>
          <p:nvPr/>
        </p:nvSpPr>
        <p:spPr>
          <a:xfrm>
            <a:off x="502920" y="5202936"/>
            <a:ext cx="11155680" cy="658368"/>
          </a:xfrm>
          <a:prstGeom prst="roundRect">
            <a:avLst>
              <a:gd name="adj" fmla="val 972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3"/>
          <p:cNvSpPr/>
          <p:nvPr/>
        </p:nvSpPr>
        <p:spPr>
          <a:xfrm>
            <a:off x="502920" y="5202936"/>
            <a:ext cx="91440" cy="658368"/>
          </a:xfrm>
          <a:prstGeom prst="rect">
            <a:avLst/>
          </a:prstGeom>
          <a:solidFill>
            <a:srgbClr val="A8482A"/>
          </a:solidFill>
          <a:ln/>
        </p:spPr>
      </p:sp>
      <p:sp>
        <p:nvSpPr>
          <p:cNvPr id="17" name="Text 14"/>
          <p:cNvSpPr/>
          <p:nvPr/>
        </p:nvSpPr>
        <p:spPr>
          <a:xfrm>
            <a:off x="822960" y="5312664"/>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Ratios are per-token, not per-record</a:t>
            </a:r>
            <a:endParaRPr lang="en-US" sz="1250" dirty="0"/>
          </a:p>
        </p:txBody>
      </p:sp>
      <p:sp>
        <p:nvSpPr>
          <p:cNvPr id="18" name="Text 15"/>
          <p:cNvSpPr/>
          <p:nvPr/>
        </p:nvSpPr>
        <p:spPr>
          <a:xfrm>
            <a:off x="822960" y="5605272"/>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long code, short chat</a:t>
            </a:r>
            <a:endParaRPr lang="en-US" sz="950" dirty="0"/>
          </a:p>
        </p:txBody>
      </p:sp>
      <p:sp>
        <p:nvSpPr>
          <p:cNvPr id="19" name="Text 16"/>
          <p:cNvSpPr/>
          <p:nvPr/>
        </p:nvSpPr>
        <p:spPr>
          <a:xfrm>
            <a:off x="3794760" y="5294376"/>
            <a:ext cx="7863840" cy="47548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A 90/10 record ratio can be a 98/2 token ratio. Compute the mixture in tokens or your intended balance is fiction.</a:t>
            </a:r>
            <a:endParaRPr lang="en-US" sz="1180" dirty="0"/>
          </a:p>
        </p:txBody>
      </p:sp>
      <p:sp>
        <p:nvSpPr>
          <p:cNvPr id="20" name="Shape 17"/>
          <p:cNvSpPr/>
          <p:nvPr/>
        </p:nvSpPr>
        <p:spPr>
          <a:xfrm>
            <a:off x="502920" y="5852160"/>
            <a:ext cx="11155680" cy="777240"/>
          </a:xfrm>
          <a:prstGeom prst="roundRect">
            <a:avLst>
              <a:gd name="adj" fmla="val 8235"/>
            </a:avLst>
          </a:prstGeom>
          <a:solidFill>
            <a:srgbClr val="1F3D2E"/>
          </a:solidFill>
          <a:ln/>
        </p:spPr>
      </p:sp>
      <p:sp>
        <p:nvSpPr>
          <p:cNvPr id="21" name="Shape 18"/>
          <p:cNvSpPr/>
          <p:nvPr/>
        </p:nvSpPr>
        <p:spPr>
          <a:xfrm>
            <a:off x="740664" y="6035040"/>
            <a:ext cx="292608" cy="292608"/>
          </a:xfrm>
          <a:prstGeom prst="ellipse">
            <a:avLst/>
          </a:prstGeom>
          <a:solidFill>
            <a:srgbClr val="1F3D2E"/>
          </a:solidFill>
          <a:ln/>
        </p:spPr>
      </p:sp>
      <p:sp>
        <p:nvSpPr>
          <p:cNvPr id="22" name="Text 19"/>
          <p:cNvSpPr/>
          <p:nvPr/>
        </p:nvSpPr>
        <p:spPr>
          <a:xfrm>
            <a:off x="740664" y="60350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3" name="Text 20"/>
          <p:cNvSpPr/>
          <p:nvPr/>
        </p:nvSpPr>
        <p:spPr>
          <a:xfrm>
            <a:off x="1133856" y="60533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4" name="Text 21"/>
          <p:cNvSpPr/>
          <p:nvPr/>
        </p:nvSpPr>
        <p:spPr>
          <a:xfrm>
            <a:off x="740664" y="6428232"/>
            <a:ext cx="10680192" cy="274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The token-vs-record ratio one is subtle and cost me an ablation. My '80/20 mix' was 96/4 by tokens, and behaved exactly like pure code data.</a:t>
            </a:r>
            <a:endParaRPr lang="en-US" sz="1150" dirty="0"/>
          </a:p>
        </p:txBody>
      </p:sp>
      <p:sp>
        <p:nvSpPr>
          <p:cNvPr id="25" name="Text 2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77</a:t>
            </a:r>
            <a:endParaRPr lang="en-US" sz="9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Synthetic data — four generation strategies</a:t>
            </a:r>
            <a:endParaRPr lang="en-US" sz="2900" dirty="0"/>
          </a:p>
        </p:txBody>
      </p:sp>
      <p:sp>
        <p:nvSpPr>
          <p:cNvPr id="4" name="Shape 2"/>
          <p:cNvSpPr/>
          <p:nvPr/>
        </p:nvSpPr>
        <p:spPr>
          <a:xfrm>
            <a:off x="502920" y="1280160"/>
            <a:ext cx="5504688"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5065776"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Self-Instruct</a:t>
            </a:r>
            <a:endParaRPr lang="en-US" sz="1250" dirty="0"/>
          </a:p>
        </p:txBody>
      </p:sp>
      <p:sp>
        <p:nvSpPr>
          <p:cNvPr id="6" name="Text 4"/>
          <p:cNvSpPr/>
          <p:nvPr/>
        </p:nvSpPr>
        <p:spPr>
          <a:xfrm>
            <a:off x="722376" y="1737360"/>
            <a:ext cx="5065776" cy="9966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Seed with ~175 human-written tasks. Model generates new instructions in the same style, then generates responses. Filter for diversity and validity. The original recipe; now mostly of historical interest.</a:t>
            </a:r>
            <a:endParaRPr lang="en-US" sz="1100" dirty="0"/>
          </a:p>
        </p:txBody>
      </p:sp>
      <p:sp>
        <p:nvSpPr>
          <p:cNvPr id="7" name="Shape 5"/>
          <p:cNvSpPr/>
          <p:nvPr/>
        </p:nvSpPr>
        <p:spPr>
          <a:xfrm>
            <a:off x="6153912" y="1280160"/>
            <a:ext cx="5504688"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373368" y="1426464"/>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Evol-Instruct</a:t>
            </a:r>
            <a:endParaRPr lang="en-US" sz="1250" dirty="0"/>
          </a:p>
        </p:txBody>
      </p:sp>
      <p:sp>
        <p:nvSpPr>
          <p:cNvPr id="9" name="Text 7"/>
          <p:cNvSpPr/>
          <p:nvPr/>
        </p:nvSpPr>
        <p:spPr>
          <a:xfrm>
            <a:off x="6373368" y="1737360"/>
            <a:ext cx="5065776" cy="9966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Take a seed instruction and evolve it. DEPTH: add constraints, increase reasoning steps, complicate the input. BREADTH: generate a related but distinct new problem. Iterate several rounds.</a:t>
            </a:r>
            <a:endParaRPr lang="en-US" sz="1100" dirty="0"/>
          </a:p>
        </p:txBody>
      </p:sp>
      <p:sp>
        <p:nvSpPr>
          <p:cNvPr id="10" name="Shape 8"/>
          <p:cNvSpPr/>
          <p:nvPr/>
        </p:nvSpPr>
        <p:spPr>
          <a:xfrm>
            <a:off x="502920" y="3026664"/>
            <a:ext cx="5504688"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722376" y="3172968"/>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OSS-Instruct</a:t>
            </a:r>
            <a:endParaRPr lang="en-US" sz="1250" dirty="0"/>
          </a:p>
        </p:txBody>
      </p:sp>
      <p:sp>
        <p:nvSpPr>
          <p:cNvPr id="12" name="Text 10"/>
          <p:cNvSpPr/>
          <p:nvPr/>
        </p:nvSpPr>
        <p:spPr>
          <a:xfrm>
            <a:off x="722376" y="3483864"/>
            <a:ext cx="5065776" cy="9966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Sample a REAL code snippet from The Stack. Ask the model to invent a problem that this code solves, then write a clean solution. Grounded in real code, so the distribution is realistic.</a:t>
            </a:r>
            <a:endParaRPr lang="en-US" sz="1100" dirty="0"/>
          </a:p>
        </p:txBody>
      </p:sp>
      <p:sp>
        <p:nvSpPr>
          <p:cNvPr id="13" name="Shape 11"/>
          <p:cNvSpPr/>
          <p:nvPr/>
        </p:nvSpPr>
        <p:spPr>
          <a:xfrm>
            <a:off x="6153912" y="3026664"/>
            <a:ext cx="5504688"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6373368" y="3172968"/>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Back-translation</a:t>
            </a:r>
            <a:endParaRPr lang="en-US" sz="1250" dirty="0"/>
          </a:p>
        </p:txBody>
      </p:sp>
      <p:sp>
        <p:nvSpPr>
          <p:cNvPr id="15" name="Text 13"/>
          <p:cNvSpPr/>
          <p:nvPr/>
        </p:nvSpPr>
        <p:spPr>
          <a:xfrm>
            <a:off x="6373368" y="3483864"/>
            <a:ext cx="5065776" cy="9966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Take real code, generate the docstring/problem it answers, then discard the original and keep (generated problem, real code). The solution is guaranteed real; only the question is synthetic.</a:t>
            </a:r>
            <a:endParaRPr lang="en-US" sz="1100" dirty="0"/>
          </a:p>
        </p:txBody>
      </p:sp>
      <p:sp>
        <p:nvSpPr>
          <p:cNvPr id="16" name="Shape 14"/>
          <p:cNvSpPr/>
          <p:nvPr/>
        </p:nvSpPr>
        <p:spPr>
          <a:xfrm>
            <a:off x="502920" y="4617720"/>
            <a:ext cx="11155680" cy="566928"/>
          </a:xfrm>
          <a:prstGeom prst="roundRect">
            <a:avLst>
              <a:gd name="adj" fmla="val 9677"/>
            </a:avLst>
          </a:prstGeom>
          <a:solidFill>
            <a:srgbClr val="8FB573"/>
          </a:solidFill>
          <a:ln/>
        </p:spPr>
      </p:sp>
      <p:sp>
        <p:nvSpPr>
          <p:cNvPr id="17" name="Text 15"/>
          <p:cNvSpPr/>
          <p:nvPr/>
        </p:nvSpPr>
        <p:spPr>
          <a:xfrm>
            <a:off x="777240" y="461772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OSS-Instruct is the best default: real code as the seed means realistic distribution, and it needs only a mid-size teacher.</a:t>
            </a:r>
            <a:endParaRPr lang="en-US" sz="1450" dirty="0"/>
          </a:p>
        </p:txBody>
      </p:sp>
      <p:sp>
        <p:nvSpPr>
          <p:cNvPr id="18" name="Shape 16"/>
          <p:cNvSpPr/>
          <p:nvPr/>
        </p:nvSpPr>
        <p:spPr>
          <a:xfrm>
            <a:off x="502920" y="5349240"/>
            <a:ext cx="11155680" cy="1005840"/>
          </a:xfrm>
          <a:prstGeom prst="roundRect">
            <a:avLst>
              <a:gd name="adj" fmla="val 6364"/>
            </a:avLst>
          </a:prstGeom>
          <a:solidFill>
            <a:srgbClr val="1F3D2E"/>
          </a:solidFill>
          <a:ln/>
        </p:spPr>
      </p:sp>
      <p:sp>
        <p:nvSpPr>
          <p:cNvPr id="19" name="Shape 17"/>
          <p:cNvSpPr/>
          <p:nvPr/>
        </p:nvSpPr>
        <p:spPr>
          <a:xfrm>
            <a:off x="740664" y="5532120"/>
            <a:ext cx="292608" cy="292608"/>
          </a:xfrm>
          <a:prstGeom prst="ellipse">
            <a:avLst/>
          </a:prstGeom>
          <a:solidFill>
            <a:srgbClr val="1F3D2E"/>
          </a:solidFill>
          <a:ln/>
        </p:spPr>
      </p:sp>
      <p:sp>
        <p:nvSpPr>
          <p:cNvPr id="20" name="Text 18"/>
          <p:cNvSpPr/>
          <p:nvPr/>
        </p:nvSpPr>
        <p:spPr>
          <a:xfrm>
            <a:off x="740664" y="55321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1" name="Text 19"/>
          <p:cNvSpPr/>
          <p:nvPr/>
        </p:nvSpPr>
        <p:spPr>
          <a:xfrm>
            <a:off x="1133856" y="55504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2" name="Text 20"/>
          <p:cNvSpPr/>
          <p:nvPr/>
        </p:nvSpPr>
        <p:spPr>
          <a:xfrm>
            <a:off x="740664" y="5925312"/>
            <a:ext cx="10680192" cy="2560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Purely self-generated data drifts. By round three of unconstrained Evol-Instruct my problems were baroque nonsense with seven nested constraints that no human would ever write. Grounding in real code is what stops the drift.</a:t>
            </a:r>
            <a:endParaRPr lang="en-US" sz="1150" dirty="0"/>
          </a:p>
        </p:txBody>
      </p:sp>
      <p:sp>
        <p:nvSpPr>
          <p:cNvPr id="23" name="Text 21"/>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78</a:t>
            </a:r>
            <a:endParaRPr lang="en-US" sz="9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Verified synthetic generation — your actual pipeline</a:t>
            </a:r>
            <a:endParaRPr lang="en-US" sz="2900" dirty="0"/>
          </a:p>
        </p:txBody>
      </p:sp>
      <p:sp>
        <p:nvSpPr>
          <p:cNvPr id="4" name="Shape 2"/>
          <p:cNvSpPr/>
          <p:nvPr/>
        </p:nvSpPr>
        <p:spPr>
          <a:xfrm>
            <a:off x="502920" y="1280160"/>
            <a:ext cx="1953158" cy="1691640"/>
          </a:xfrm>
          <a:prstGeom prst="roundRect">
            <a:avLst>
              <a:gd name="adj" fmla="val 378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667512" y="1417320"/>
            <a:ext cx="1623974"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SEED (Mac)</a:t>
            </a:r>
            <a:endParaRPr lang="en-US" sz="1100" dirty="0"/>
          </a:p>
        </p:txBody>
      </p:sp>
      <p:sp>
        <p:nvSpPr>
          <p:cNvPr id="6" name="Text 4"/>
          <p:cNvSpPr/>
          <p:nvPr/>
        </p:nvSpPr>
        <p:spPr>
          <a:xfrm>
            <a:off x="667512" y="1700784"/>
            <a:ext cx="1623974"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Sample a real function from The Stack, filtered for quality and license.</a:t>
            </a:r>
            <a:endParaRPr lang="en-US" sz="1050" dirty="0"/>
          </a:p>
        </p:txBody>
      </p:sp>
      <p:sp>
        <p:nvSpPr>
          <p:cNvPr id="7" name="Text 5"/>
          <p:cNvSpPr/>
          <p:nvPr/>
        </p:nvSpPr>
        <p:spPr>
          <a:xfrm>
            <a:off x="2456078" y="1280160"/>
            <a:ext cx="347472" cy="16916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8" name="Shape 6"/>
          <p:cNvSpPr/>
          <p:nvPr/>
        </p:nvSpPr>
        <p:spPr>
          <a:xfrm>
            <a:off x="2803550" y="1280160"/>
            <a:ext cx="1953158" cy="1691640"/>
          </a:xfrm>
          <a:prstGeom prst="roundRect">
            <a:avLst>
              <a:gd name="adj" fmla="val 378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2968142" y="1417320"/>
            <a:ext cx="1623974"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INVENT (Mac)</a:t>
            </a:r>
            <a:endParaRPr lang="en-US" sz="1100" dirty="0"/>
          </a:p>
        </p:txBody>
      </p:sp>
      <p:sp>
        <p:nvSpPr>
          <p:cNvPr id="10" name="Text 8"/>
          <p:cNvSpPr/>
          <p:nvPr/>
        </p:nvSpPr>
        <p:spPr>
          <a:xfrm>
            <a:off x="2968142" y="1700784"/>
            <a:ext cx="1623974"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14B teacher writes a problem statement that this code solves.</a:t>
            </a:r>
            <a:endParaRPr lang="en-US" sz="1050" dirty="0"/>
          </a:p>
        </p:txBody>
      </p:sp>
      <p:sp>
        <p:nvSpPr>
          <p:cNvPr id="11" name="Text 9"/>
          <p:cNvSpPr/>
          <p:nvPr/>
        </p:nvSpPr>
        <p:spPr>
          <a:xfrm>
            <a:off x="4756709" y="1280160"/>
            <a:ext cx="347472" cy="16916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2" name="Shape 10"/>
          <p:cNvSpPr/>
          <p:nvPr/>
        </p:nvSpPr>
        <p:spPr>
          <a:xfrm>
            <a:off x="5104181" y="1280160"/>
            <a:ext cx="1953158" cy="1691640"/>
          </a:xfrm>
          <a:prstGeom prst="roundRect">
            <a:avLst>
              <a:gd name="adj" fmla="val 378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Text 11"/>
          <p:cNvSpPr/>
          <p:nvPr/>
        </p:nvSpPr>
        <p:spPr>
          <a:xfrm>
            <a:off x="5268773" y="1417320"/>
            <a:ext cx="1623974"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SOLVE (Mac)</a:t>
            </a:r>
            <a:endParaRPr lang="en-US" sz="1100" dirty="0"/>
          </a:p>
        </p:txBody>
      </p:sp>
      <p:sp>
        <p:nvSpPr>
          <p:cNvPr id="14" name="Text 12"/>
          <p:cNvSpPr/>
          <p:nvPr/>
        </p:nvSpPr>
        <p:spPr>
          <a:xfrm>
            <a:off x="5268773" y="1700784"/>
            <a:ext cx="1623974"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Teacher writes N fresh solutions to its own problem statement.</a:t>
            </a:r>
            <a:endParaRPr lang="en-US" sz="1050" dirty="0"/>
          </a:p>
        </p:txBody>
      </p:sp>
      <p:sp>
        <p:nvSpPr>
          <p:cNvPr id="15" name="Text 13"/>
          <p:cNvSpPr/>
          <p:nvPr/>
        </p:nvSpPr>
        <p:spPr>
          <a:xfrm>
            <a:off x="7057339" y="1280160"/>
            <a:ext cx="347472" cy="16916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6" name="Shape 14"/>
          <p:cNvSpPr/>
          <p:nvPr/>
        </p:nvSpPr>
        <p:spPr>
          <a:xfrm>
            <a:off x="7404811" y="1280160"/>
            <a:ext cx="1953158" cy="1691640"/>
          </a:xfrm>
          <a:prstGeom prst="roundRect">
            <a:avLst>
              <a:gd name="adj" fmla="val 378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7569403" y="1417320"/>
            <a:ext cx="1623974" cy="256032"/>
          </a:xfrm>
          <a:prstGeom prst="rect">
            <a:avLst/>
          </a:prstGeom>
          <a:noFill/>
          <a:ln/>
        </p:spPr>
        <p:txBody>
          <a:bodyPr wrap="square" lIns="0" tIns="0" rIns="0" bIns="0" rtlCol="0" anchor="ctr"/>
          <a:lstStyle/>
          <a:p>
            <a:pPr indent="0" marL="0">
              <a:buNone/>
            </a:pPr>
            <a:r>
              <a:rPr lang="en-US" sz="1100" b="1" spc="120" kern="0" dirty="0">
                <a:solidFill>
                  <a:srgbClr val="D98E32"/>
                </a:solidFill>
                <a:latin typeface="Calibri" pitchFamily="34" charset="0"/>
                <a:ea typeface="Calibri" pitchFamily="34" charset="-122"/>
                <a:cs typeface="Calibri" pitchFamily="34" charset="-120"/>
              </a:rPr>
              <a:t>TEST (Mac)</a:t>
            </a:r>
            <a:endParaRPr lang="en-US" sz="1100" dirty="0"/>
          </a:p>
        </p:txBody>
      </p:sp>
      <p:sp>
        <p:nvSpPr>
          <p:cNvPr id="18" name="Text 16"/>
          <p:cNvSpPr/>
          <p:nvPr/>
        </p:nvSpPr>
        <p:spPr>
          <a:xfrm>
            <a:off x="7569403" y="1700784"/>
            <a:ext cx="1623974"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Teacher writes test cases. Sandbox runs them against all N.</a:t>
            </a:r>
            <a:endParaRPr lang="en-US" sz="1050" dirty="0"/>
          </a:p>
        </p:txBody>
      </p:sp>
      <p:sp>
        <p:nvSpPr>
          <p:cNvPr id="19" name="Text 17"/>
          <p:cNvSpPr/>
          <p:nvPr/>
        </p:nvSpPr>
        <p:spPr>
          <a:xfrm>
            <a:off x="9357970" y="1280160"/>
            <a:ext cx="347472" cy="16916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20" name="Shape 18"/>
          <p:cNvSpPr/>
          <p:nvPr/>
        </p:nvSpPr>
        <p:spPr>
          <a:xfrm>
            <a:off x="9705442" y="1280160"/>
            <a:ext cx="1953158" cy="1691640"/>
          </a:xfrm>
          <a:prstGeom prst="roundRect">
            <a:avLst>
              <a:gd name="adj" fmla="val 378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Text 19"/>
          <p:cNvSpPr/>
          <p:nvPr/>
        </p:nvSpPr>
        <p:spPr>
          <a:xfrm>
            <a:off x="9870034" y="1417320"/>
            <a:ext cx="1623974" cy="256032"/>
          </a:xfrm>
          <a:prstGeom prst="rect">
            <a:avLst/>
          </a:prstGeom>
          <a:noFill/>
          <a:ln/>
        </p:spPr>
        <p:txBody>
          <a:bodyPr wrap="square" lIns="0" tIns="0" rIns="0" bIns="0" rtlCol="0" anchor="ctr"/>
          <a:lstStyle/>
          <a:p>
            <a:pPr indent="0" marL="0">
              <a:buNone/>
            </a:pPr>
            <a:r>
              <a:rPr lang="en-US" sz="1100" b="1" spc="120" kern="0" dirty="0">
                <a:solidFill>
                  <a:srgbClr val="2A5240"/>
                </a:solidFill>
                <a:latin typeface="Calibri" pitchFamily="34" charset="0"/>
                <a:ea typeface="Calibri" pitchFamily="34" charset="-122"/>
                <a:cs typeface="Calibri" pitchFamily="34" charset="-120"/>
              </a:rPr>
              <a:t>KEEP</a:t>
            </a:r>
            <a:endParaRPr lang="en-US" sz="1100" dirty="0"/>
          </a:p>
        </p:txBody>
      </p:sp>
      <p:sp>
        <p:nvSpPr>
          <p:cNvPr id="22" name="Text 20"/>
          <p:cNvSpPr/>
          <p:nvPr/>
        </p:nvSpPr>
        <p:spPr>
          <a:xfrm>
            <a:off x="9870034" y="1700784"/>
            <a:ext cx="1623974"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Retain only (problem, solution) pairs where the solution passes.</a:t>
            </a:r>
            <a:endParaRPr lang="en-US" sz="1050" dirty="0"/>
          </a:p>
        </p:txBody>
      </p:sp>
      <p:sp>
        <p:nvSpPr>
          <p:cNvPr id="23" name="Shape 21"/>
          <p:cNvSpPr/>
          <p:nvPr/>
        </p:nvSpPr>
        <p:spPr>
          <a:xfrm>
            <a:off x="502920" y="3200400"/>
            <a:ext cx="5504688"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4" name="Text 22"/>
          <p:cNvSpPr/>
          <p:nvPr/>
        </p:nvSpPr>
        <p:spPr>
          <a:xfrm>
            <a:off x="722376" y="3346704"/>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verification is the whole trick</a:t>
            </a:r>
            <a:endParaRPr lang="en-US" sz="1250" dirty="0"/>
          </a:p>
        </p:txBody>
      </p:sp>
      <p:sp>
        <p:nvSpPr>
          <p:cNvPr id="25" name="Text 23"/>
          <p:cNvSpPr/>
          <p:nvPr/>
        </p:nvSpPr>
        <p:spPr>
          <a:xfrm>
            <a:off x="722376" y="3657600"/>
            <a:ext cx="5065776"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 weak teacher producing occasionally-correct solutions still yields a perfectly clean dataset, because you only keep the verified ones.</a:t>
            </a:r>
            <a:endParaRPr lang="en-US" sz="1100" dirty="0"/>
          </a:p>
        </p:txBody>
      </p:sp>
      <p:sp>
        <p:nvSpPr>
          <p:cNvPr id="26" name="Shape 24"/>
          <p:cNvSpPr/>
          <p:nvPr/>
        </p:nvSpPr>
        <p:spPr>
          <a:xfrm>
            <a:off x="6153912" y="3200400"/>
            <a:ext cx="5504688"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7" name="Text 25"/>
          <p:cNvSpPr/>
          <p:nvPr/>
        </p:nvSpPr>
        <p:spPr>
          <a:xfrm>
            <a:off x="6373368" y="3346704"/>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Generate overnight</a:t>
            </a:r>
            <a:endParaRPr lang="en-US" sz="1250" dirty="0"/>
          </a:p>
        </p:txBody>
      </p:sp>
      <p:sp>
        <p:nvSpPr>
          <p:cNvPr id="28" name="Text 26"/>
          <p:cNvSpPr/>
          <p:nvPr/>
        </p:nvSpPr>
        <p:spPr>
          <a:xfrm>
            <a:off x="6373368" y="3657600"/>
            <a:ext cx="5065776"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This is Mac work and it is slow. Kick it off, sleep, wake to a dataset. This is the best use of having two machines.</a:t>
            </a:r>
            <a:endParaRPr lang="en-US" sz="1100" dirty="0"/>
          </a:p>
        </p:txBody>
      </p:sp>
      <p:sp>
        <p:nvSpPr>
          <p:cNvPr id="29" name="Shape 27"/>
          <p:cNvSpPr/>
          <p:nvPr/>
        </p:nvSpPr>
        <p:spPr>
          <a:xfrm>
            <a:off x="502920" y="4535424"/>
            <a:ext cx="5504688"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Text 28"/>
          <p:cNvSpPr/>
          <p:nvPr/>
        </p:nvSpPr>
        <p:spPr>
          <a:xfrm>
            <a:off x="722376" y="4681728"/>
            <a:ext cx="5065776"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Decontaminate the OUTPUT</a:t>
            </a:r>
            <a:endParaRPr lang="en-US" sz="1250" dirty="0"/>
          </a:p>
        </p:txBody>
      </p:sp>
      <p:sp>
        <p:nvSpPr>
          <p:cNvPr id="31" name="Text 29"/>
          <p:cNvSpPr/>
          <p:nvPr/>
        </p:nvSpPr>
        <p:spPr>
          <a:xfrm>
            <a:off x="722376" y="4992624"/>
            <a:ext cx="5065776"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teacher may reproduce eval problems from its own training data. Synthetic data needs decontamination too.</a:t>
            </a:r>
            <a:endParaRPr lang="en-US" sz="1100" dirty="0"/>
          </a:p>
        </p:txBody>
      </p:sp>
      <p:sp>
        <p:nvSpPr>
          <p:cNvPr id="32" name="Shape 30"/>
          <p:cNvSpPr/>
          <p:nvPr/>
        </p:nvSpPr>
        <p:spPr>
          <a:xfrm>
            <a:off x="6153912" y="4535424"/>
            <a:ext cx="5504688"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3" name="Text 31"/>
          <p:cNvSpPr/>
          <p:nvPr/>
        </p:nvSpPr>
        <p:spPr>
          <a:xfrm>
            <a:off x="6373368" y="4681728"/>
            <a:ext cx="5065776"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Watch for mode collapse</a:t>
            </a:r>
            <a:endParaRPr lang="en-US" sz="1250" dirty="0"/>
          </a:p>
        </p:txBody>
      </p:sp>
      <p:sp>
        <p:nvSpPr>
          <p:cNvPr id="34" name="Text 32"/>
          <p:cNvSpPr/>
          <p:nvPr/>
        </p:nvSpPr>
        <p:spPr>
          <a:xfrm>
            <a:off x="6373368" y="4992624"/>
            <a:ext cx="5065776"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Sampling seeds from a narrow slice of The Stack gives you a thousand variations of one problem. Stratify your seed sampling.</a:t>
            </a:r>
            <a:endParaRPr lang="en-US" sz="1100" dirty="0"/>
          </a:p>
        </p:txBody>
      </p:sp>
      <p:sp>
        <p:nvSpPr>
          <p:cNvPr id="35" name="Shape 33"/>
          <p:cNvSpPr/>
          <p:nvPr/>
        </p:nvSpPr>
        <p:spPr>
          <a:xfrm>
            <a:off x="502920" y="5715000"/>
            <a:ext cx="11155680" cy="822960"/>
          </a:xfrm>
          <a:prstGeom prst="roundRect">
            <a:avLst>
              <a:gd name="adj" fmla="val 7778"/>
            </a:avLst>
          </a:prstGeom>
          <a:solidFill>
            <a:srgbClr val="1F3D2E"/>
          </a:solidFill>
          <a:ln/>
        </p:spPr>
      </p:sp>
      <p:sp>
        <p:nvSpPr>
          <p:cNvPr id="36" name="Shape 34"/>
          <p:cNvSpPr/>
          <p:nvPr/>
        </p:nvSpPr>
        <p:spPr>
          <a:xfrm>
            <a:off x="740664" y="5897880"/>
            <a:ext cx="292608" cy="292608"/>
          </a:xfrm>
          <a:prstGeom prst="ellipse">
            <a:avLst/>
          </a:prstGeom>
          <a:solidFill>
            <a:srgbClr val="1F3D2E"/>
          </a:solidFill>
          <a:ln/>
        </p:spPr>
      </p:sp>
      <p:sp>
        <p:nvSpPr>
          <p:cNvPr id="37" name="Text 35"/>
          <p:cNvSpPr/>
          <p:nvPr/>
        </p:nvSpPr>
        <p:spPr>
          <a:xfrm>
            <a:off x="740664" y="589788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38" name="Text 36"/>
          <p:cNvSpPr/>
          <p:nvPr/>
        </p:nvSpPr>
        <p:spPr>
          <a:xfrm>
            <a:off x="1133856" y="591616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39" name="Text 37"/>
          <p:cNvSpPr/>
          <p:nvPr/>
        </p:nvSpPr>
        <p:spPr>
          <a:xfrm>
            <a:off x="740664" y="6291072"/>
            <a:ext cx="10680192" cy="731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This loop is the highest-value thing your hardware combination can do. It turns 'I have no data' into 'I have as much verified data as I have nights'.</a:t>
            </a:r>
            <a:endParaRPr lang="en-US" sz="1150" dirty="0"/>
          </a:p>
        </p:txBody>
      </p:sp>
      <p:sp>
        <p:nvSpPr>
          <p:cNvPr id="40" name="Text 3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79</a:t>
            </a:r>
            <a:endParaRPr lang="en-US" sz="9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Versioning and lineage</a:t>
            </a:r>
            <a:endParaRPr lang="en-US" sz="2900" dirty="0"/>
          </a:p>
        </p:txBody>
      </p:sp>
      <p:sp>
        <p:nvSpPr>
          <p:cNvPr id="4" name="Shape 2"/>
          <p:cNvSpPr/>
          <p:nvPr/>
        </p:nvSpPr>
        <p:spPr>
          <a:xfrm>
            <a:off x="502920" y="1280160"/>
            <a:ext cx="6126480" cy="3291840"/>
          </a:xfrm>
          <a:prstGeom prst="roundRect">
            <a:avLst>
              <a:gd name="adj" fmla="val 1667"/>
            </a:avLst>
          </a:prstGeom>
          <a:solidFill>
            <a:srgbClr val="0F1F17"/>
          </a:solidFill>
          <a:ln/>
        </p:spPr>
      </p:sp>
      <p:sp>
        <p:nvSpPr>
          <p:cNvPr id="5" name="Text 3"/>
          <p:cNvSpPr/>
          <p:nvPr/>
        </p:nvSpPr>
        <p:spPr>
          <a:xfrm>
            <a:off x="722376" y="1426464"/>
            <a:ext cx="568756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A VERSIONED DATASET</a:t>
            </a:r>
            <a:endParaRPr lang="en-US" sz="950" dirty="0"/>
          </a:p>
        </p:txBody>
      </p:sp>
      <p:sp>
        <p:nvSpPr>
          <p:cNvPr id="6" name="Text 4"/>
          <p:cNvSpPr/>
          <p:nvPr/>
        </p:nvSpPr>
        <p:spPr>
          <a:xfrm>
            <a:off x="722376" y="1700784"/>
            <a:ext cx="5687568" cy="2724912"/>
          </a:xfrm>
          <a:prstGeom prst="rect">
            <a:avLst/>
          </a:prstGeom>
          <a:noFill/>
          <a:ln/>
        </p:spPr>
        <p:txBody>
          <a:bodyPr wrap="square" lIns="0" tIns="0" rIns="0" bIns="0" rtlCol="0" anchor="t"/>
          <a:lstStyle/>
          <a:p>
            <a:pPr indent="0" marL="0">
              <a:lnSpc>
                <a:spcPct val="112000"/>
              </a:lnSpc>
              <a:buNone/>
            </a:pPr>
            <a:r>
              <a:rPr lang="en-US" sz="1000" b="1" dirty="0">
                <a:solidFill>
                  <a:srgbClr val="8FB573"/>
                </a:solidFill>
                <a:latin typeface="Courier New" pitchFamily="34" charset="0"/>
                <a:ea typeface="Courier New" pitchFamily="34" charset="-122"/>
                <a:cs typeface="Courier New" pitchFamily="34" charset="-120"/>
              </a:rPr>
              <a:t>data/processed/v3-curated-10k/</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train.jsonl            9,412 records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val.jsonl                 500 records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test.jsonl                500 records  (SEALED)</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MANIFEST.json</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MANIFEST.json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"version": "v3-curated-10k",</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"built": "2026-03-14T22:10:00Z",</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"code_sha": "8f2a1c9",</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"sources":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{"name": "magicoder-oss", "in": 75197, "out": 8102},</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{"name": "general-instruct", "in": 4000, "out": 1310}</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"removed": {"contaminated": 41, "near_dup": 12308,</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"ast_invalid": 4102, "low_quality": 49134},</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"eval_sets_decontaminated_against": ["humaneval+","mbpp+","custom-v1"]</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a:t>
            </a:r>
            <a:endParaRPr lang="en-US" sz="1000" dirty="0"/>
          </a:p>
        </p:txBody>
      </p:sp>
      <p:sp>
        <p:nvSpPr>
          <p:cNvPr id="7" name="Shape 5"/>
          <p:cNvSpPr/>
          <p:nvPr/>
        </p:nvSpPr>
        <p:spPr>
          <a:xfrm>
            <a:off x="6812280" y="1280160"/>
            <a:ext cx="4846320" cy="804672"/>
          </a:xfrm>
          <a:prstGeom prst="roundRect">
            <a:avLst>
              <a:gd name="adj" fmla="val 795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7031736" y="1426464"/>
            <a:ext cx="44074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Immutable once written</a:t>
            </a:r>
            <a:endParaRPr lang="en-US" sz="1250" dirty="0"/>
          </a:p>
        </p:txBody>
      </p:sp>
      <p:sp>
        <p:nvSpPr>
          <p:cNvPr id="9" name="Text 7"/>
          <p:cNvSpPr/>
          <p:nvPr/>
        </p:nvSpPr>
        <p:spPr>
          <a:xfrm>
            <a:off x="7031736" y="1737360"/>
            <a:ext cx="4407408" cy="20116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 version is never edited. Changed your filter? That is v4. This is the only way comparisons across weeks stay honest.</a:t>
            </a:r>
            <a:endParaRPr lang="en-US" sz="1100" dirty="0"/>
          </a:p>
        </p:txBody>
      </p:sp>
      <p:sp>
        <p:nvSpPr>
          <p:cNvPr id="10" name="Shape 8"/>
          <p:cNvSpPr/>
          <p:nvPr/>
        </p:nvSpPr>
        <p:spPr>
          <a:xfrm>
            <a:off x="6812280" y="2176272"/>
            <a:ext cx="4846320" cy="804672"/>
          </a:xfrm>
          <a:prstGeom prst="roundRect">
            <a:avLst>
              <a:gd name="adj" fmla="val 795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7031736" y="2322576"/>
            <a:ext cx="44074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MANIFEST is the contract</a:t>
            </a:r>
            <a:endParaRPr lang="en-US" sz="1250" dirty="0"/>
          </a:p>
        </p:txBody>
      </p:sp>
      <p:sp>
        <p:nvSpPr>
          <p:cNvPr id="12" name="Text 10"/>
          <p:cNvSpPr/>
          <p:nvPr/>
        </p:nvSpPr>
        <p:spPr>
          <a:xfrm>
            <a:off x="7031736" y="2633472"/>
            <a:ext cx="4407408" cy="20116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Every removal count, every source, the code SHA that built it. When a result looks strange, this file is where you look first.</a:t>
            </a:r>
            <a:endParaRPr lang="en-US" sz="1100" dirty="0"/>
          </a:p>
        </p:txBody>
      </p:sp>
      <p:sp>
        <p:nvSpPr>
          <p:cNvPr id="13" name="Shape 11"/>
          <p:cNvSpPr/>
          <p:nvPr/>
        </p:nvSpPr>
        <p:spPr>
          <a:xfrm>
            <a:off x="6812280" y="3072384"/>
            <a:ext cx="4846320" cy="804672"/>
          </a:xfrm>
          <a:prstGeom prst="roundRect">
            <a:avLst>
              <a:gd name="adj" fmla="val 795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031736" y="3218688"/>
            <a:ext cx="44074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Configs reference versions</a:t>
            </a:r>
            <a:endParaRPr lang="en-US" sz="1250" dirty="0"/>
          </a:p>
        </p:txBody>
      </p:sp>
      <p:sp>
        <p:nvSpPr>
          <p:cNvPr id="15" name="Text 13"/>
          <p:cNvSpPr/>
          <p:nvPr/>
        </p:nvSpPr>
        <p:spPr>
          <a:xfrm>
            <a:off x="7031736" y="3529584"/>
            <a:ext cx="4407408" cy="20116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data_version: v3-curated-10k in the training config. Now every run is traceable to exact data.</a:t>
            </a:r>
            <a:endParaRPr lang="en-US" sz="1100" dirty="0"/>
          </a:p>
        </p:txBody>
      </p:sp>
      <p:sp>
        <p:nvSpPr>
          <p:cNvPr id="16" name="Shape 14"/>
          <p:cNvSpPr/>
          <p:nvPr/>
        </p:nvSpPr>
        <p:spPr>
          <a:xfrm>
            <a:off x="6812280" y="3968496"/>
            <a:ext cx="4846320" cy="804672"/>
          </a:xfrm>
          <a:prstGeom prst="roundRect">
            <a:avLst>
              <a:gd name="adj" fmla="val 795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7031736" y="4114800"/>
            <a:ext cx="440740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test.jsonl is sealed</a:t>
            </a:r>
            <a:endParaRPr lang="en-US" sz="1250" dirty="0"/>
          </a:p>
        </p:txBody>
      </p:sp>
      <p:sp>
        <p:nvSpPr>
          <p:cNvPr id="18" name="Text 16"/>
          <p:cNvSpPr/>
          <p:nvPr/>
        </p:nvSpPr>
        <p:spPr>
          <a:xfrm>
            <a:off x="7031736" y="4425696"/>
            <a:ext cx="4407408" cy="20116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Write it once. Do not read it until the end of Phase 12. Consider making the file read-only so you cannot casually peek.</a:t>
            </a:r>
            <a:endParaRPr lang="en-US" sz="1100" dirty="0"/>
          </a:p>
        </p:txBody>
      </p:sp>
      <p:sp>
        <p:nvSpPr>
          <p:cNvPr id="19" name="Text 1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80</a:t>
            </a:r>
            <a:endParaRPr lang="en-US" sz="9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ablation that recalibrates everything</a:t>
            </a:r>
            <a:endParaRPr lang="en-US" sz="2900" dirty="0"/>
          </a:p>
        </p:txBody>
      </p:sp>
      <p:graphicFrame>
        <p:nvGraphicFramePr>
          <p:cNvPr id="4" name="Chart 0" descr=""/>
          <p:cNvGraphicFramePr/>
          <p:nvPr/>
        </p:nvGraphicFramePr>
        <p:xfrm>
          <a:off x="502920" y="1280160"/>
          <a:ext cx="6675120" cy="3383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269480" y="1280160"/>
            <a:ext cx="4389120" cy="1078992"/>
          </a:xfrm>
          <a:prstGeom prst="roundRect">
            <a:avLst>
              <a:gd name="adj" fmla="val 593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7488936" y="1426464"/>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+8.4 points</a:t>
            </a:r>
            <a:endParaRPr lang="en-US" sz="1250" dirty="0"/>
          </a:p>
        </p:txBody>
      </p:sp>
      <p:sp>
        <p:nvSpPr>
          <p:cNvPr id="7" name="Text 4"/>
          <p:cNvSpPr/>
          <p:nvPr/>
        </p:nvSpPr>
        <p:spPr>
          <a:xfrm>
            <a:off x="7488936" y="1737360"/>
            <a:ext cx="3950208" cy="47548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From data alone. No architecture change, no hyperparameter tuning, no extra compute. This is larger than most gains you will produce later.</a:t>
            </a:r>
            <a:endParaRPr lang="en-US" sz="1100" dirty="0"/>
          </a:p>
        </p:txBody>
      </p:sp>
      <p:sp>
        <p:nvSpPr>
          <p:cNvPr id="8" name="Shape 5"/>
          <p:cNvSpPr/>
          <p:nvPr/>
        </p:nvSpPr>
        <p:spPr>
          <a:xfrm>
            <a:off x="7269480" y="2478024"/>
            <a:ext cx="4389120" cy="1078992"/>
          </a:xfrm>
          <a:prstGeom prst="roundRect">
            <a:avLst>
              <a:gd name="adj" fmla="val 593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7488936" y="2624328"/>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10x less data, 10x faster runs</a:t>
            </a:r>
            <a:endParaRPr lang="en-US" sz="1250" dirty="0"/>
          </a:p>
        </p:txBody>
      </p:sp>
      <p:sp>
        <p:nvSpPr>
          <p:cNvPr id="10" name="Text 7"/>
          <p:cNvSpPr/>
          <p:nvPr/>
        </p:nvSpPr>
        <p:spPr>
          <a:xfrm>
            <a:off x="7488936" y="2935224"/>
            <a:ext cx="3950208" cy="47548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Which means 10x more experiments per day, which compounds into everything else you learn.</a:t>
            </a:r>
            <a:endParaRPr lang="en-US" sz="1100" dirty="0"/>
          </a:p>
        </p:txBody>
      </p:sp>
      <p:sp>
        <p:nvSpPr>
          <p:cNvPr id="11" name="Shape 8"/>
          <p:cNvSpPr/>
          <p:nvPr/>
        </p:nvSpPr>
        <p:spPr>
          <a:xfrm>
            <a:off x="7269480" y="3675888"/>
            <a:ext cx="4389120" cy="1078992"/>
          </a:xfrm>
          <a:prstGeom prst="roundRect">
            <a:avLst>
              <a:gd name="adj" fmla="val 593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7488936" y="3822192"/>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Run this FIRST</a:t>
            </a:r>
            <a:endParaRPr lang="en-US" sz="1250" dirty="0"/>
          </a:p>
        </p:txBody>
      </p:sp>
      <p:sp>
        <p:nvSpPr>
          <p:cNvPr id="13" name="Text 10"/>
          <p:cNvSpPr/>
          <p:nvPr/>
        </p:nvSpPr>
        <p:spPr>
          <a:xfrm>
            <a:off x="7488936" y="4133088"/>
            <a:ext cx="3950208" cy="47548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One afternoon. It permanently recalibrates where you think effort belongs — and you will need that conviction when curation gets boring.</a:t>
            </a:r>
            <a:endParaRPr lang="en-US" sz="1100" dirty="0"/>
          </a:p>
        </p:txBody>
      </p:sp>
      <p:sp>
        <p:nvSpPr>
          <p:cNvPr id="14" name="Shape 11"/>
          <p:cNvSpPr/>
          <p:nvPr/>
        </p:nvSpPr>
        <p:spPr>
          <a:xfrm>
            <a:off x="502920" y="4892040"/>
            <a:ext cx="11155680" cy="1325880"/>
          </a:xfrm>
          <a:prstGeom prst="roundRect">
            <a:avLst>
              <a:gd name="adj" fmla="val 4828"/>
            </a:avLst>
          </a:prstGeom>
          <a:solidFill>
            <a:srgbClr val="1F3D2E"/>
          </a:solidFill>
          <a:ln/>
        </p:spPr>
      </p:sp>
      <p:sp>
        <p:nvSpPr>
          <p:cNvPr id="15" name="Shape 12"/>
          <p:cNvSpPr/>
          <p:nvPr/>
        </p:nvSpPr>
        <p:spPr>
          <a:xfrm>
            <a:off x="740664" y="5074920"/>
            <a:ext cx="292608" cy="292608"/>
          </a:xfrm>
          <a:prstGeom prst="ellipse">
            <a:avLst/>
          </a:prstGeom>
          <a:solidFill>
            <a:srgbClr val="1F3D2E"/>
          </a:solidFill>
          <a:ln/>
        </p:spPr>
      </p:sp>
      <p:sp>
        <p:nvSpPr>
          <p:cNvPr id="16" name="Text 13"/>
          <p:cNvSpPr/>
          <p:nvPr/>
        </p:nvSpPr>
        <p:spPr>
          <a:xfrm>
            <a:off x="740664" y="50749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7" name="Text 14"/>
          <p:cNvSpPr/>
          <p:nvPr/>
        </p:nvSpPr>
        <p:spPr>
          <a:xfrm>
            <a:off x="1133856" y="50932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8" name="Text 15"/>
          <p:cNvSpPr/>
          <p:nvPr/>
        </p:nvSpPr>
        <p:spPr>
          <a:xfrm>
            <a:off x="740664" y="5468112"/>
            <a:ext cx="10680192" cy="5760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had been tuning learning rates for a week to chase two points. Then I spent one afternoon deduplicating and filtering, and got eight. Every instinct I had about where the leverage was in this field turned out to be wrong, and this was the experiment that told me.</a:t>
            </a:r>
            <a:endParaRPr lang="en-US" sz="1150" dirty="0"/>
          </a:p>
        </p:txBody>
      </p:sp>
      <p:sp>
        <p:nvSpPr>
          <p:cNvPr id="19" name="Text 16"/>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81</a:t>
            </a:r>
            <a:endParaRPr lang="en-US" sz="9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Data — path and traps</a:t>
            </a:r>
            <a:endParaRPr lang="en-US" sz="2900" dirty="0"/>
          </a:p>
        </p:txBody>
      </p:sp>
      <p:sp>
        <p:nvSpPr>
          <p:cNvPr id="4" name="Shape 2"/>
          <p:cNvSpPr/>
          <p:nvPr/>
        </p:nvSpPr>
        <p:spPr>
          <a:xfrm>
            <a:off x="502920" y="1335024"/>
            <a:ext cx="292608" cy="292608"/>
          </a:xfrm>
          <a:prstGeom prst="ellipse">
            <a:avLst/>
          </a:prstGeom>
          <a:solidFill>
            <a:srgbClr val="8FB573"/>
          </a:solidFill>
          <a:ln/>
        </p:spPr>
      </p:sp>
      <p:sp>
        <p:nvSpPr>
          <p:cNvPr id="5" name="Text 3"/>
          <p:cNvSpPr/>
          <p:nvPr/>
        </p:nvSpPr>
        <p:spPr>
          <a:xfrm>
            <a:off x="50292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89611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PATH</a:t>
            </a:r>
            <a:endParaRPr lang="en-US" sz="1100" dirty="0"/>
          </a:p>
        </p:txBody>
      </p:sp>
      <p:sp>
        <p:nvSpPr>
          <p:cNvPr id="7" name="Text 5"/>
          <p:cNvSpPr/>
          <p:nvPr/>
        </p:nvSpPr>
        <p:spPr>
          <a:xfrm>
            <a:off x="502920" y="1755648"/>
            <a:ext cx="5394960" cy="2743200"/>
          </a:xfrm>
          <a:prstGeom prst="rect">
            <a:avLst/>
          </a:prstGeom>
          <a:noFill/>
          <a:ln/>
        </p:spPr>
        <p:txBody>
          <a:bodyPr wrap="square" lIns="0" tIns="0" rIns="0" bIns="0" rtlCol="0" anchor="t"/>
          <a:lstStyle/>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Decontaminate → dedup → split → filter → format. In that order</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Log removal counts at every stage; they are findings, not bookkeeping</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Verify loss masking by decoding one batch, on every new dataset</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Use ast.parse and your sandbox — filters most datasets never had</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90/10 code-to-general mixture, computed in TOKENS not records</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Stratify by difficulty at every stage</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Version immutably with a MANIFEST; seal the test split</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Run the curation ablation early — it recalibrates your priorities</a:t>
            </a:r>
            <a:endParaRPr lang="en-US" sz="1180" dirty="0"/>
          </a:p>
        </p:txBody>
      </p:sp>
      <p:sp>
        <p:nvSpPr>
          <p:cNvPr id="8" name="Shape 6"/>
          <p:cNvSpPr/>
          <p:nvPr/>
        </p:nvSpPr>
        <p:spPr>
          <a:xfrm>
            <a:off x="6309360" y="1335024"/>
            <a:ext cx="292608" cy="292608"/>
          </a:xfrm>
          <a:prstGeom prst="ellipse">
            <a:avLst/>
          </a:prstGeom>
          <a:solidFill>
            <a:srgbClr val="D98E32"/>
          </a:solidFill>
          <a:ln/>
        </p:spPr>
      </p:sp>
      <p:sp>
        <p:nvSpPr>
          <p:cNvPr id="9" name="Text 7"/>
          <p:cNvSpPr/>
          <p:nvPr/>
        </p:nvSpPr>
        <p:spPr>
          <a:xfrm>
            <a:off x="630936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670255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TRAPS</a:t>
            </a:r>
            <a:endParaRPr lang="en-US" sz="1100" dirty="0"/>
          </a:p>
        </p:txBody>
      </p:sp>
      <p:sp>
        <p:nvSpPr>
          <p:cNvPr id="11" name="Text 9"/>
          <p:cNvSpPr/>
          <p:nvPr/>
        </p:nvSpPr>
        <p:spPr>
          <a:xfrm>
            <a:off x="6309360" y="1755648"/>
            <a:ext cx="5349240" cy="2743200"/>
          </a:xfrm>
          <a:prstGeom prst="rect">
            <a:avLst/>
          </a:prstGeom>
          <a:noFill/>
          <a:ln/>
        </p:spPr>
        <p:txBody>
          <a:bodyPr wrap="square" lIns="0" tIns="0" rIns="0" bIns="0" rtlCol="0" anchor="t"/>
          <a:lstStyle/>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Dedup before decontamination: hides contamination behind removed copies</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Splitting before dedup: near-duplicates straddle the boundary and leak</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Trusting a public dataset's quality claims without measuring</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Computing mixture ratios in records when tokens are what matter</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Unconstrained synthetic evolution: drifts into baroque nonsense by round 3</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Forgetting to decontaminate synthetic output — the teacher saw the evals too</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Editing a dataset version in place, silently invalidating old comparisons</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Chasing a perfect filter. Ship at 90% clean and move on</a:t>
            </a:r>
            <a:endParaRPr lang="en-US" sz="1180" dirty="0"/>
          </a:p>
        </p:txBody>
      </p:sp>
      <p:sp>
        <p:nvSpPr>
          <p:cNvPr id="12" name="Shape 10"/>
          <p:cNvSpPr/>
          <p:nvPr/>
        </p:nvSpPr>
        <p:spPr>
          <a:xfrm>
            <a:off x="502920" y="5102352"/>
            <a:ext cx="11155680" cy="1097280"/>
          </a:xfrm>
          <a:prstGeom prst="roundRect">
            <a:avLst>
              <a:gd name="adj" fmla="val 5833"/>
            </a:avLst>
          </a:prstGeom>
          <a:solidFill>
            <a:srgbClr val="1F3D2E"/>
          </a:solidFill>
          <a:ln/>
        </p:spPr>
      </p:sp>
      <p:sp>
        <p:nvSpPr>
          <p:cNvPr id="13" name="Shape 11"/>
          <p:cNvSpPr/>
          <p:nvPr/>
        </p:nvSpPr>
        <p:spPr>
          <a:xfrm>
            <a:off x="740664" y="5285232"/>
            <a:ext cx="292608" cy="292608"/>
          </a:xfrm>
          <a:prstGeom prst="ellipse">
            <a:avLst/>
          </a:prstGeom>
          <a:solidFill>
            <a:srgbClr val="1F3D2E"/>
          </a:solidFill>
          <a:ln/>
        </p:spPr>
      </p:sp>
      <p:sp>
        <p:nvSpPr>
          <p:cNvPr id="14" name="Text 12"/>
          <p:cNvSpPr/>
          <p:nvPr/>
        </p:nvSpPr>
        <p:spPr>
          <a:xfrm>
            <a:off x="740664" y="5285232"/>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303520"/>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678424"/>
            <a:ext cx="10680192" cy="3474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This is the phase people skip because it does not feel like machine learning. It is the phase with the highest return per hour in the entire curriculum, and nothing you do later can compensate for getting it wrong.</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82</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DATA</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data false positives</a:t>
            </a:r>
            <a:endParaRPr lang="en-US" sz="29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468880"/>
                <a:gridCol w="2651760"/>
                <a:gridCol w="3108960"/>
                <a:gridCol w="2926080"/>
              </a:tblGrid>
              <a:tr h="4114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False positive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you see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is actually happening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The check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Contamination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Excellent eval, mediocre real use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Eval problems present in training data</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n-gram + function-name + docstring embedding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Leaked near-duplicates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Val tracks train perfectly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You split before deduplicating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Dedup first; check cross-split MinHash overlap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More data looks better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100k beats 10k on val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Val is contaminated by the same duplicates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Compare on a clean, sealed held-out set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Filter that removes hard examples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Score rises after filtering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You filtered out difficulty, not noise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Track difficulty distribution before/after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Synthetic self-agreement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Teacher-graded quality is high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Teacher rates its own output favorably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Grade with execution, not with the generator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Token/record ratio confusion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'80/20 mix' behaves like 100/0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Long code records dominate the token count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Compute mixture in tokens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Quality score drift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Judge scores climb across versions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Your judge prompt changed, not the data</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Version the judge prompt like any other config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572000"/>
            <a:ext cx="11155680" cy="566928"/>
          </a:xfrm>
          <a:prstGeom prst="roundRect">
            <a:avLst>
              <a:gd name="adj" fmla="val 9677"/>
            </a:avLst>
          </a:prstGeom>
          <a:solidFill>
            <a:srgbClr val="A8482A"/>
          </a:solidFill>
          <a:ln/>
        </p:spPr>
      </p:sp>
      <p:sp>
        <p:nvSpPr>
          <p:cNvPr id="6" name="Text 3"/>
          <p:cNvSpPr/>
          <p:nvPr/>
        </p:nvSpPr>
        <p:spPr>
          <a:xfrm>
            <a:off x="777240" y="457200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Every one of these makes a number go UP. That is precisely why they survive so long.</a:t>
            </a:r>
            <a:endParaRPr lang="en-US" sz="1450" dirty="0"/>
          </a:p>
        </p:txBody>
      </p:sp>
      <p:sp>
        <p:nvSpPr>
          <p:cNvPr id="7" name="Shape 4"/>
          <p:cNvSpPr/>
          <p:nvPr/>
        </p:nvSpPr>
        <p:spPr>
          <a:xfrm>
            <a:off x="502920" y="5303520"/>
            <a:ext cx="11155680" cy="1051560"/>
          </a:xfrm>
          <a:prstGeom prst="roundRect">
            <a:avLst>
              <a:gd name="adj" fmla="val 6087"/>
            </a:avLst>
          </a:prstGeom>
          <a:solidFill>
            <a:srgbClr val="1F3D2E"/>
          </a:solidFill>
          <a:ln/>
        </p:spPr>
      </p:sp>
      <p:sp>
        <p:nvSpPr>
          <p:cNvPr id="8" name="Shape 5"/>
          <p:cNvSpPr/>
          <p:nvPr/>
        </p:nvSpPr>
        <p:spPr>
          <a:xfrm>
            <a:off x="740664" y="5486400"/>
            <a:ext cx="292608" cy="292608"/>
          </a:xfrm>
          <a:prstGeom prst="ellipse">
            <a:avLst/>
          </a:prstGeom>
          <a:solidFill>
            <a:srgbClr val="1F3D2E"/>
          </a:solidFill>
          <a:ln/>
        </p:spPr>
      </p:sp>
      <p:sp>
        <p:nvSpPr>
          <p:cNvPr id="9" name="Text 6"/>
          <p:cNvSpPr/>
          <p:nvPr/>
        </p:nvSpPr>
        <p:spPr>
          <a:xfrm>
            <a:off x="740664" y="548640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0" name="Text 7"/>
          <p:cNvSpPr/>
          <p:nvPr/>
        </p:nvSpPr>
        <p:spPr>
          <a:xfrm>
            <a:off x="1133856" y="550468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1" name="Text 8"/>
          <p:cNvSpPr/>
          <p:nvPr/>
        </p:nvSpPr>
        <p:spPr>
          <a:xfrm>
            <a:off x="740664" y="5879592"/>
            <a:ext cx="10680192" cy="3017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The 'filter removed hard examples' one is genuinely insidious. My quality filter was preferentially deleting long, complex, correct solutions because they looked unusual. The score went up and the model got worse at exactly the problems I cared about most.</a:t>
            </a:r>
            <a:endParaRPr lang="en-US" sz="1150" dirty="0"/>
          </a:p>
        </p:txBody>
      </p:sp>
      <p:sp>
        <p:nvSpPr>
          <p:cNvPr id="12" name="Text 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83</a:t>
            </a:r>
            <a:endParaRPr lang="en-US" sz="9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PHASE 6</a:t>
            </a:r>
            <a:endParaRPr lang="en-US" sz="1250" dirty="0"/>
          </a:p>
        </p:txBody>
      </p:sp>
      <p:sp>
        <p:nvSpPr>
          <p:cNvPr id="3" name="Text 1"/>
          <p:cNvSpPr/>
          <p:nvPr/>
        </p:nvSpPr>
        <p:spPr>
          <a:xfrm>
            <a:off x="777240" y="23317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Your First Real Training Run</a:t>
            </a:r>
            <a:endParaRPr lang="en-US" sz="4000" dirty="0"/>
          </a:p>
        </p:txBody>
      </p:sp>
      <p:sp>
        <p:nvSpPr>
          <p:cNvPr id="4" name="Text 2"/>
          <p:cNvSpPr/>
          <p:nvPr/>
        </p:nvSpPr>
        <p:spPr>
          <a:xfrm>
            <a:off x="777240" y="32004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One to two weeks. The mechanics are easy and the silent bugs are expensive.</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This is where you learn to read a training run rather than just launch one.</a:t>
            </a:r>
            <a:endParaRPr lang="en-US" sz="1550" dirty="0"/>
          </a:p>
        </p:txBody>
      </p:sp>
      <p:sp>
        <p:nvSpPr>
          <p:cNvPr id="5" name="Text 3"/>
          <p:cNvSpPr/>
          <p:nvPr/>
        </p:nvSpPr>
        <p:spPr>
          <a:xfrm>
            <a:off x="777240" y="4892040"/>
            <a:ext cx="10607040" cy="237744"/>
          </a:xfrm>
          <a:prstGeom prst="rect">
            <a:avLst/>
          </a:prstGeom>
          <a:noFill/>
          <a:ln/>
        </p:spPr>
        <p:txBody>
          <a:bodyPr wrap="square" lIns="0" tIns="0" rIns="0" bIns="0" rtlCol="0" anchor="ctr"/>
          <a:lstStyle/>
          <a:p>
            <a:pPr indent="0" marL="0">
              <a:buNone/>
            </a:pPr>
            <a:r>
              <a:rPr lang="en-US" sz="900" b="1" spc="250" kern="0" dirty="0">
                <a:solidFill>
                  <a:srgbClr val="2A5240"/>
                </a:solidFill>
                <a:latin typeface="Calibri" pitchFamily="34" charset="0"/>
                <a:ea typeface="Calibri" pitchFamily="34" charset="-122"/>
                <a:cs typeface="Calibri" pitchFamily="34" charset="-120"/>
              </a:rPr>
              <a:t>WHERE YOU ARE</a:t>
            </a:r>
            <a:endParaRPr lang="en-US" sz="900" dirty="0"/>
          </a:p>
        </p:txBody>
      </p:sp>
      <p:sp>
        <p:nvSpPr>
          <p:cNvPr id="6" name="Shape 4"/>
          <p:cNvSpPr/>
          <p:nvPr/>
        </p:nvSpPr>
        <p:spPr>
          <a:xfrm>
            <a:off x="777240" y="5212080"/>
            <a:ext cx="829056" cy="73152"/>
          </a:xfrm>
          <a:prstGeom prst="rect">
            <a:avLst/>
          </a:prstGeom>
          <a:solidFill>
            <a:srgbClr val="2A5240"/>
          </a:solidFill>
          <a:ln/>
        </p:spPr>
      </p:sp>
      <p:sp>
        <p:nvSpPr>
          <p:cNvPr id="7" name="Text 5"/>
          <p:cNvSpPr/>
          <p:nvPr/>
        </p:nvSpPr>
        <p:spPr>
          <a:xfrm>
            <a:off x="6858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SETUP</a:t>
            </a:r>
            <a:endParaRPr lang="en-US" sz="750" dirty="0"/>
          </a:p>
        </p:txBody>
      </p:sp>
      <p:sp>
        <p:nvSpPr>
          <p:cNvPr id="8" name="Shape 6"/>
          <p:cNvSpPr/>
          <p:nvPr/>
        </p:nvSpPr>
        <p:spPr>
          <a:xfrm>
            <a:off x="1661160" y="5212080"/>
            <a:ext cx="829056" cy="73152"/>
          </a:xfrm>
          <a:prstGeom prst="rect">
            <a:avLst/>
          </a:prstGeom>
          <a:solidFill>
            <a:srgbClr val="2A5240"/>
          </a:solidFill>
          <a:ln/>
        </p:spPr>
      </p:sp>
      <p:sp>
        <p:nvSpPr>
          <p:cNvPr id="9" name="Text 7"/>
          <p:cNvSpPr/>
          <p:nvPr/>
        </p:nvSpPr>
        <p:spPr>
          <a:xfrm>
            <a:off x="15697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MODEL</a:t>
            </a:r>
            <a:endParaRPr lang="en-US" sz="750" dirty="0"/>
          </a:p>
        </p:txBody>
      </p:sp>
      <p:sp>
        <p:nvSpPr>
          <p:cNvPr id="10" name="Shape 8"/>
          <p:cNvSpPr/>
          <p:nvPr/>
        </p:nvSpPr>
        <p:spPr>
          <a:xfrm>
            <a:off x="2545080" y="5212080"/>
            <a:ext cx="829056" cy="73152"/>
          </a:xfrm>
          <a:prstGeom prst="rect">
            <a:avLst/>
          </a:prstGeom>
          <a:solidFill>
            <a:srgbClr val="2A5240"/>
          </a:solidFill>
          <a:ln/>
        </p:spPr>
      </p:sp>
      <p:sp>
        <p:nvSpPr>
          <p:cNvPr id="11" name="Text 9"/>
          <p:cNvSpPr/>
          <p:nvPr/>
        </p:nvSpPr>
        <p:spPr>
          <a:xfrm>
            <a:off x="24536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SANDBOX</a:t>
            </a:r>
            <a:endParaRPr lang="en-US" sz="750" dirty="0"/>
          </a:p>
        </p:txBody>
      </p:sp>
      <p:sp>
        <p:nvSpPr>
          <p:cNvPr id="12" name="Shape 10"/>
          <p:cNvSpPr/>
          <p:nvPr/>
        </p:nvSpPr>
        <p:spPr>
          <a:xfrm>
            <a:off x="3429000" y="5212080"/>
            <a:ext cx="829056" cy="73152"/>
          </a:xfrm>
          <a:prstGeom prst="rect">
            <a:avLst/>
          </a:prstGeom>
          <a:solidFill>
            <a:srgbClr val="2A5240"/>
          </a:solidFill>
          <a:ln/>
        </p:spPr>
      </p:sp>
      <p:sp>
        <p:nvSpPr>
          <p:cNvPr id="13" name="Text 11"/>
          <p:cNvSpPr/>
          <p:nvPr/>
        </p:nvSpPr>
        <p:spPr>
          <a:xfrm>
            <a:off x="333756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EVAL</a:t>
            </a:r>
            <a:endParaRPr lang="en-US" sz="750" dirty="0"/>
          </a:p>
        </p:txBody>
      </p:sp>
      <p:sp>
        <p:nvSpPr>
          <p:cNvPr id="14" name="Shape 12"/>
          <p:cNvSpPr/>
          <p:nvPr/>
        </p:nvSpPr>
        <p:spPr>
          <a:xfrm>
            <a:off x="4312920" y="5212080"/>
            <a:ext cx="829056" cy="73152"/>
          </a:xfrm>
          <a:prstGeom prst="rect">
            <a:avLst/>
          </a:prstGeom>
          <a:solidFill>
            <a:srgbClr val="2A5240"/>
          </a:solidFill>
          <a:ln/>
        </p:spPr>
      </p:sp>
      <p:sp>
        <p:nvSpPr>
          <p:cNvPr id="15" name="Text 13"/>
          <p:cNvSpPr/>
          <p:nvPr/>
        </p:nvSpPr>
        <p:spPr>
          <a:xfrm>
            <a:off x="422148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DATA</a:t>
            </a:r>
            <a:endParaRPr lang="en-US" sz="750" dirty="0"/>
          </a:p>
        </p:txBody>
      </p:sp>
      <p:sp>
        <p:nvSpPr>
          <p:cNvPr id="16" name="Shape 14"/>
          <p:cNvSpPr/>
          <p:nvPr/>
        </p:nvSpPr>
        <p:spPr>
          <a:xfrm>
            <a:off x="5196840" y="5212080"/>
            <a:ext cx="829056" cy="182880"/>
          </a:xfrm>
          <a:prstGeom prst="rect">
            <a:avLst/>
          </a:prstGeom>
          <a:solidFill>
            <a:srgbClr val="8FB573"/>
          </a:solidFill>
          <a:ln/>
        </p:spPr>
      </p:sp>
      <p:sp>
        <p:nvSpPr>
          <p:cNvPr id="17" name="Text 15"/>
          <p:cNvSpPr/>
          <p:nvPr/>
        </p:nvSpPr>
        <p:spPr>
          <a:xfrm>
            <a:off x="5105400" y="5468112"/>
            <a:ext cx="1011936" cy="219456"/>
          </a:xfrm>
          <a:prstGeom prst="rect">
            <a:avLst/>
          </a:prstGeom>
          <a:noFill/>
          <a:ln/>
        </p:spPr>
        <p:txBody>
          <a:bodyPr wrap="square" lIns="0" tIns="0" rIns="0" bIns="0" rtlCol="0" anchor="ctr"/>
          <a:lstStyle/>
          <a:p>
            <a:pPr algn="ctr" indent="0" marL="0">
              <a:buNone/>
            </a:pPr>
            <a:r>
              <a:rPr lang="en-US" sz="750" b="1" dirty="0">
                <a:solidFill>
                  <a:srgbClr val="8FB573"/>
                </a:solidFill>
                <a:latin typeface="Calibri" pitchFamily="34" charset="0"/>
                <a:ea typeface="Calibri" pitchFamily="34" charset="-122"/>
                <a:cs typeface="Calibri" pitchFamily="34" charset="-120"/>
              </a:rPr>
              <a:t>SFT</a:t>
            </a:r>
            <a:endParaRPr lang="en-US" sz="750" dirty="0"/>
          </a:p>
        </p:txBody>
      </p:sp>
      <p:sp>
        <p:nvSpPr>
          <p:cNvPr id="18" name="Shape 16"/>
          <p:cNvSpPr/>
          <p:nvPr/>
        </p:nvSpPr>
        <p:spPr>
          <a:xfrm>
            <a:off x="6080760" y="5212080"/>
            <a:ext cx="829056" cy="73152"/>
          </a:xfrm>
          <a:prstGeom prst="rect">
            <a:avLst/>
          </a:prstGeom>
          <a:solidFill>
            <a:srgbClr val="27452F"/>
          </a:solidFill>
          <a:ln/>
        </p:spPr>
      </p:sp>
      <p:sp>
        <p:nvSpPr>
          <p:cNvPr id="19" name="Text 17"/>
          <p:cNvSpPr/>
          <p:nvPr/>
        </p:nvSpPr>
        <p:spPr>
          <a:xfrm>
            <a:off x="59893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RFT</a:t>
            </a:r>
            <a:endParaRPr lang="en-US" sz="750" dirty="0"/>
          </a:p>
        </p:txBody>
      </p:sp>
      <p:sp>
        <p:nvSpPr>
          <p:cNvPr id="20" name="Shape 18"/>
          <p:cNvSpPr/>
          <p:nvPr/>
        </p:nvSpPr>
        <p:spPr>
          <a:xfrm>
            <a:off x="6964680" y="5212080"/>
            <a:ext cx="829056" cy="73152"/>
          </a:xfrm>
          <a:prstGeom prst="rect">
            <a:avLst/>
          </a:prstGeom>
          <a:solidFill>
            <a:srgbClr val="27452F"/>
          </a:solidFill>
          <a:ln/>
        </p:spPr>
      </p:sp>
      <p:sp>
        <p:nvSpPr>
          <p:cNvPr id="21" name="Text 19"/>
          <p:cNvSpPr/>
          <p:nvPr/>
        </p:nvSpPr>
        <p:spPr>
          <a:xfrm>
            <a:off x="687324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DPO</a:t>
            </a:r>
            <a:endParaRPr lang="en-US" sz="750" dirty="0"/>
          </a:p>
        </p:txBody>
      </p:sp>
      <p:sp>
        <p:nvSpPr>
          <p:cNvPr id="22" name="Shape 20"/>
          <p:cNvSpPr/>
          <p:nvPr/>
        </p:nvSpPr>
        <p:spPr>
          <a:xfrm>
            <a:off x="7848600" y="5212080"/>
            <a:ext cx="829056" cy="73152"/>
          </a:xfrm>
          <a:prstGeom prst="rect">
            <a:avLst/>
          </a:prstGeom>
          <a:solidFill>
            <a:srgbClr val="27452F"/>
          </a:solidFill>
          <a:ln/>
        </p:spPr>
      </p:sp>
      <p:sp>
        <p:nvSpPr>
          <p:cNvPr id="23" name="Text 21"/>
          <p:cNvSpPr/>
          <p:nvPr/>
        </p:nvSpPr>
        <p:spPr>
          <a:xfrm>
            <a:off x="775716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GRPO</a:t>
            </a:r>
            <a:endParaRPr lang="en-US" sz="750" dirty="0"/>
          </a:p>
        </p:txBody>
      </p:sp>
      <p:sp>
        <p:nvSpPr>
          <p:cNvPr id="24" name="Shape 22"/>
          <p:cNvSpPr/>
          <p:nvPr/>
        </p:nvSpPr>
        <p:spPr>
          <a:xfrm>
            <a:off x="8732520" y="5212080"/>
            <a:ext cx="829056" cy="73152"/>
          </a:xfrm>
          <a:prstGeom prst="rect">
            <a:avLst/>
          </a:prstGeom>
          <a:solidFill>
            <a:srgbClr val="27452F"/>
          </a:solidFill>
          <a:ln/>
        </p:spPr>
      </p:sp>
      <p:sp>
        <p:nvSpPr>
          <p:cNvPr id="25" name="Text 23"/>
          <p:cNvSpPr/>
          <p:nvPr/>
        </p:nvSpPr>
        <p:spPr>
          <a:xfrm>
            <a:off x="864108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REPAIR</a:t>
            </a:r>
            <a:endParaRPr lang="en-US" sz="750" dirty="0"/>
          </a:p>
        </p:txBody>
      </p:sp>
      <p:sp>
        <p:nvSpPr>
          <p:cNvPr id="26" name="Shape 24"/>
          <p:cNvSpPr/>
          <p:nvPr/>
        </p:nvSpPr>
        <p:spPr>
          <a:xfrm>
            <a:off x="9616440" y="5212080"/>
            <a:ext cx="829056" cy="73152"/>
          </a:xfrm>
          <a:prstGeom prst="rect">
            <a:avLst/>
          </a:prstGeom>
          <a:solidFill>
            <a:srgbClr val="27452F"/>
          </a:solidFill>
          <a:ln/>
        </p:spPr>
      </p:sp>
      <p:sp>
        <p:nvSpPr>
          <p:cNvPr id="27" name="Text 25"/>
          <p:cNvSpPr/>
          <p:nvPr/>
        </p:nvSpPr>
        <p:spPr>
          <a:xfrm>
            <a:off x="95250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MERGE</a:t>
            </a:r>
            <a:endParaRPr lang="en-US" sz="750" dirty="0"/>
          </a:p>
        </p:txBody>
      </p:sp>
      <p:sp>
        <p:nvSpPr>
          <p:cNvPr id="28" name="Shape 26"/>
          <p:cNvSpPr/>
          <p:nvPr/>
        </p:nvSpPr>
        <p:spPr>
          <a:xfrm>
            <a:off x="10500360" y="5212080"/>
            <a:ext cx="829056" cy="73152"/>
          </a:xfrm>
          <a:prstGeom prst="rect">
            <a:avLst/>
          </a:prstGeom>
          <a:solidFill>
            <a:srgbClr val="27452F"/>
          </a:solidFill>
          <a:ln/>
        </p:spPr>
      </p:sp>
      <p:sp>
        <p:nvSpPr>
          <p:cNvPr id="29" name="Text 27"/>
          <p:cNvSpPr/>
          <p:nvPr/>
        </p:nvSpPr>
        <p:spPr>
          <a:xfrm>
            <a:off x="104089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SERVE</a:t>
            </a:r>
            <a:endParaRPr lang="en-US" sz="7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84</a:t>
            </a:r>
            <a:endParaRPr lang="en-US" sz="9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What SFT actually changes</a:t>
            </a:r>
            <a:endParaRPr lang="en-US" sz="2900" dirty="0"/>
          </a:p>
        </p:txBody>
      </p:sp>
      <p:sp>
        <p:nvSpPr>
          <p:cNvPr id="4" name="Shape 2"/>
          <p:cNvSpPr/>
          <p:nvPr/>
        </p:nvSpPr>
        <p:spPr>
          <a:xfrm>
            <a:off x="502920" y="1280160"/>
            <a:ext cx="5486400" cy="2651760"/>
          </a:xfrm>
          <a:prstGeom prst="roundRect">
            <a:avLst>
              <a:gd name="adj" fmla="val 241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SFT IS GOOD AT TEACHING</a:t>
            </a:r>
            <a:endParaRPr lang="en-US" sz="1250" dirty="0"/>
          </a:p>
        </p:txBody>
      </p:sp>
      <p:sp>
        <p:nvSpPr>
          <p:cNvPr id="6" name="Text 4"/>
          <p:cNvSpPr/>
          <p:nvPr/>
        </p:nvSpPr>
        <p:spPr>
          <a:xfrm>
            <a:off x="758952" y="1810512"/>
            <a:ext cx="4974336" cy="19568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Output FORMAT — code fences, structure, where to stop</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Task shape — what a response to this kind of prompt looks like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Style, tone, and idiom</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Domain vocabulary and conventions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When to use a tool, and how to call it</a:t>
            </a:r>
            <a:endParaRPr lang="en-US" sz="1150" dirty="0"/>
          </a:p>
        </p:txBody>
      </p:sp>
      <p:sp>
        <p:nvSpPr>
          <p:cNvPr id="7" name="Shape 5"/>
          <p:cNvSpPr/>
          <p:nvPr/>
        </p:nvSpPr>
        <p:spPr>
          <a:xfrm>
            <a:off x="6172200" y="1280160"/>
            <a:ext cx="5486400" cy="2651760"/>
          </a:xfrm>
          <a:prstGeom prst="roundRect">
            <a:avLst>
              <a:gd name="adj" fmla="val 241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SFT IS BAD AT TEACHING</a:t>
            </a:r>
            <a:endParaRPr lang="en-US" sz="1250" dirty="0"/>
          </a:p>
        </p:txBody>
      </p:sp>
      <p:sp>
        <p:nvSpPr>
          <p:cNvPr id="9" name="Text 7"/>
          <p:cNvSpPr/>
          <p:nvPr/>
        </p:nvSpPr>
        <p:spPr>
          <a:xfrm>
            <a:off x="6428232" y="1810512"/>
            <a:ext cx="4974336" cy="19568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New FACTS — use retrieval instead, not fine-tuning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New reasoning capability the base model lacks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Anything requiring more than surface pattern completion</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Correctness — it learns to imitate, not to verify</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Preferences between two plausible answers (that is Phase 8)</a:t>
            </a:r>
            <a:endParaRPr lang="en-US" sz="1150" dirty="0"/>
          </a:p>
        </p:txBody>
      </p:sp>
      <p:sp>
        <p:nvSpPr>
          <p:cNvPr id="10" name="Shape 8"/>
          <p:cNvSpPr/>
          <p:nvPr/>
        </p:nvSpPr>
        <p:spPr>
          <a:xfrm>
            <a:off x="502920" y="4160520"/>
            <a:ext cx="11155680" cy="566928"/>
          </a:xfrm>
          <a:prstGeom prst="roundRect">
            <a:avLst>
              <a:gd name="adj" fmla="val 9677"/>
            </a:avLst>
          </a:prstGeom>
          <a:solidFill>
            <a:srgbClr val="8FB573"/>
          </a:solidFill>
          <a:ln/>
        </p:spPr>
      </p:sp>
      <p:sp>
        <p:nvSpPr>
          <p:cNvPr id="11" name="Text 9"/>
          <p:cNvSpPr/>
          <p:nvPr/>
        </p:nvSpPr>
        <p:spPr>
          <a:xfrm>
            <a:off x="777240" y="416052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SFT teaches BEHAVIOR, not KNOWLEDGE. If you are fine-tuning to inject facts, you want retrieval.</a:t>
            </a:r>
            <a:endParaRPr lang="en-US" sz="1450" dirty="0"/>
          </a:p>
        </p:txBody>
      </p:sp>
      <p:sp>
        <p:nvSpPr>
          <p:cNvPr id="12" name="Shape 10"/>
          <p:cNvSpPr/>
          <p:nvPr/>
        </p:nvSpPr>
        <p:spPr>
          <a:xfrm>
            <a:off x="502920" y="4937760"/>
            <a:ext cx="11155680" cy="1417320"/>
          </a:xfrm>
          <a:prstGeom prst="roundRect">
            <a:avLst>
              <a:gd name="adj" fmla="val 4516"/>
            </a:avLst>
          </a:prstGeom>
          <a:solidFill>
            <a:srgbClr val="1F3D2E"/>
          </a:solidFill>
          <a:ln/>
        </p:spPr>
      </p:sp>
      <p:sp>
        <p:nvSpPr>
          <p:cNvPr id="13" name="Shape 11"/>
          <p:cNvSpPr/>
          <p:nvPr/>
        </p:nvSpPr>
        <p:spPr>
          <a:xfrm>
            <a:off x="740664" y="5120640"/>
            <a:ext cx="292608" cy="292608"/>
          </a:xfrm>
          <a:prstGeom prst="ellipse">
            <a:avLst/>
          </a:prstGeom>
          <a:solidFill>
            <a:srgbClr val="1F3D2E"/>
          </a:solidFill>
          <a:ln/>
        </p:spPr>
      </p:sp>
      <p:sp>
        <p:nvSpPr>
          <p:cNvPr id="14" name="Text 12"/>
          <p:cNvSpPr/>
          <p:nvPr/>
        </p:nvSpPr>
        <p:spPr>
          <a:xfrm>
            <a:off x="740664" y="51206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1389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513832"/>
            <a:ext cx="10680192" cy="66751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The clearest way I have heard it put: SFT does not make the model smarter, it makes the model's existing intelligence point in your direction. A 0.5B model that has never seen a good code answer will produce good-shaped code answers after SFT — but it will not become able to solve problems it fundamentally could not reason about before. That capability jump is what Phase 9 is for.</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85</a:t>
            </a:r>
            <a:endParaRPr lang="en-US" sz="9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Full fine-tuning vs PEFT — the real tradeoff</a:t>
            </a:r>
            <a:endParaRPr lang="en-US" sz="2900" dirty="0"/>
          </a:p>
        </p:txBody>
      </p:sp>
      <p:graphicFrame>
        <p:nvGraphicFramePr>
          <p:cNvPr id="87"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108960"/>
                <a:gridCol w="2743200"/>
                <a:gridCol w="2651760"/>
                <a:gridCol w="2651760"/>
              </a:tblGrid>
              <a:tr h="365760">
                <a:tc>
                  <a:txBody>
                    <a:bodyPr/>
                    <a:lstStyle/>
                    <a:p>
                      <a:pPr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Full fine-tune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LoRA</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QLoRA</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Trainable params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0.1 – 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0.1 – 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Memory for 0.5B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~8 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~1.5 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~0.6 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Memory for 1.5B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~24 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~4.5 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~1.6 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Memory for 7B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~112 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~20 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~6 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Runs on your 4GB card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0.5B only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Both, comfortably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Quality ceiling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Highest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~98% of full FT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~97% of full FT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Artifact size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Full model (GB)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Adapter (MB)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Adapter (MB)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Hot-swappable at serve time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Catastrophic forgetting risk</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Lower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Lower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892040"/>
            <a:ext cx="3621024"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722376" y="503834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Use QLoRA. All of it.</a:t>
            </a:r>
            <a:endParaRPr lang="en-US" sz="1250" dirty="0"/>
          </a:p>
        </p:txBody>
      </p:sp>
      <p:sp>
        <p:nvSpPr>
          <p:cNvPr id="7" name="Text 4"/>
          <p:cNvSpPr/>
          <p:nvPr/>
        </p:nvSpPr>
        <p:spPr>
          <a:xfrm>
            <a:off x="722376" y="5349240"/>
            <a:ext cx="3182112"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On your hardware there is no decision to make. QLoRA is the only option that reaches 1.5B, and the quality gap is within noise.</a:t>
            </a:r>
            <a:endParaRPr lang="en-US" sz="1100" dirty="0"/>
          </a:p>
        </p:txBody>
      </p:sp>
      <p:sp>
        <p:nvSpPr>
          <p:cNvPr id="8" name="Shape 5"/>
          <p:cNvSpPr/>
          <p:nvPr/>
        </p:nvSpPr>
        <p:spPr>
          <a:xfrm>
            <a:off x="4270248" y="4892040"/>
            <a:ext cx="3621024"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4489704" y="503834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The gap is smaller than people think</a:t>
            </a:r>
            <a:endParaRPr lang="en-US" sz="1250" dirty="0"/>
          </a:p>
        </p:txBody>
      </p:sp>
      <p:sp>
        <p:nvSpPr>
          <p:cNvPr id="10" name="Text 7"/>
          <p:cNvSpPr/>
          <p:nvPr/>
        </p:nvSpPr>
        <p:spPr>
          <a:xfrm>
            <a:off x="4489704" y="5349240"/>
            <a:ext cx="3182112"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For task adaptation, LoRA is within a point or two of full FT. Full FT wins on large distribution shifts, which is not what you are doing.</a:t>
            </a:r>
            <a:endParaRPr lang="en-US" sz="1100" dirty="0"/>
          </a:p>
        </p:txBody>
      </p:sp>
      <p:sp>
        <p:nvSpPr>
          <p:cNvPr id="11" name="Shape 8"/>
          <p:cNvSpPr/>
          <p:nvPr/>
        </p:nvSpPr>
        <p:spPr>
          <a:xfrm>
            <a:off x="8037576" y="4892040"/>
            <a:ext cx="3621024"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8257032" y="503834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Adapters are a feature, not a compromise</a:t>
            </a:r>
            <a:endParaRPr lang="en-US" sz="1250" dirty="0"/>
          </a:p>
        </p:txBody>
      </p:sp>
      <p:sp>
        <p:nvSpPr>
          <p:cNvPr id="13" name="Text 10"/>
          <p:cNvSpPr/>
          <p:nvPr/>
        </p:nvSpPr>
        <p:spPr>
          <a:xfrm>
            <a:off x="8257032" y="5349240"/>
            <a:ext cx="3182112"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Tens of MB, versionable, hot-swappable, mergeable. Full checkpoints are none of those things.</a:t>
            </a:r>
            <a:endParaRPr lang="en-US" sz="1100" dirty="0"/>
          </a:p>
        </p:txBody>
      </p:sp>
      <p:sp>
        <p:nvSpPr>
          <p:cNvPr id="14" name="Text 11"/>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86</a:t>
            </a:r>
            <a:endParaRPr lang="en-US" sz="9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LoRA — what is actually happening</a:t>
            </a:r>
            <a:endParaRPr lang="en-US" sz="2900" dirty="0"/>
          </a:p>
        </p:txBody>
      </p:sp>
      <p:sp>
        <p:nvSpPr>
          <p:cNvPr id="4" name="Shape 2"/>
          <p:cNvSpPr/>
          <p:nvPr/>
        </p:nvSpPr>
        <p:spPr>
          <a:xfrm>
            <a:off x="502920" y="1280160"/>
            <a:ext cx="5943600" cy="2651760"/>
          </a:xfrm>
          <a:prstGeom prst="roundRect">
            <a:avLst>
              <a:gd name="adj" fmla="val 2069"/>
            </a:avLst>
          </a:prstGeom>
          <a:solidFill>
            <a:srgbClr val="0F1F17"/>
          </a:solidFill>
          <a:ln/>
        </p:spPr>
      </p:sp>
      <p:sp>
        <p:nvSpPr>
          <p:cNvPr id="5" name="Text 3"/>
          <p:cNvSpPr/>
          <p:nvPr/>
        </p:nvSpPr>
        <p:spPr>
          <a:xfrm>
            <a:off x="722376" y="1426464"/>
            <a:ext cx="550468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THE DECOMPOSITION</a:t>
            </a:r>
            <a:endParaRPr lang="en-US" sz="950" dirty="0"/>
          </a:p>
        </p:txBody>
      </p:sp>
      <p:sp>
        <p:nvSpPr>
          <p:cNvPr id="6" name="Text 4"/>
          <p:cNvSpPr/>
          <p:nvPr/>
        </p:nvSpPr>
        <p:spPr>
          <a:xfrm>
            <a:off x="722376" y="1700784"/>
            <a:ext cx="5504688" cy="2084832"/>
          </a:xfrm>
          <a:prstGeom prst="rect">
            <a:avLst/>
          </a:prstGeom>
          <a:noFill/>
          <a:ln/>
        </p:spPr>
        <p:txBody>
          <a:bodyPr wrap="square" lIns="0" tIns="0" rIns="0" bIns="0" rtlCol="0" anchor="t"/>
          <a:lstStyle/>
          <a:p>
            <a:pPr indent="0" marL="0">
              <a:lnSpc>
                <a:spcPct val="112000"/>
              </a:lnSpc>
              <a:buNone/>
            </a:pPr>
            <a:r>
              <a:rPr lang="en-US" sz="1000" dirty="0">
                <a:solidFill>
                  <a:srgbClr val="6B7A70"/>
                </a:solidFill>
                <a:latin typeface="Courier New" pitchFamily="34" charset="0"/>
                <a:ea typeface="Courier New" pitchFamily="34" charset="-122"/>
                <a:cs typeface="Courier New" pitchFamily="34" charset="-120"/>
              </a:rPr>
              <a:t># A frozen weight matrix W  (d x k), e.g. 2048 x 2048</a:t>
            </a:r>
            <a:endParaRPr lang="en-US" sz="1000" dirty="0"/>
          </a:p>
          <a:p>
            <a:pPr indent="0" marL="0">
              <a:lnSpc>
                <a:spcPct val="112000"/>
              </a:lnSpc>
              <a:buNone/>
            </a:pPr>
            <a:endParaRPr lang="en-US" sz="1000" dirty="0"/>
          </a:p>
          <a:p>
            <a:pPr indent="0" marL="0">
              <a:lnSpc>
                <a:spcPct val="112000"/>
              </a:lnSpc>
              <a:buNone/>
            </a:pPr>
            <a:r>
              <a:rPr lang="en-US" sz="1000" dirty="0">
                <a:solidFill>
                  <a:srgbClr val="D98E32"/>
                </a:solidFill>
                <a:latin typeface="Courier New" pitchFamily="34" charset="0"/>
                <a:ea typeface="Courier New" pitchFamily="34" charset="-122"/>
                <a:cs typeface="Courier New" pitchFamily="34" charset="-120"/>
              </a:rPr>
              <a:t># Full fine-tuning learns a dense update: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W' = W + dW          # dW is 2048x2048 = 4.2M params</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LoRA constrains dW to be LOW RANK:</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W' = W + (alpha/r) * B @ A</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A is r x k   (16 x 2048 =  32,768)</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B is d x r   (2048 x 16 =  32,768)</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total        =  65,536 params  -&gt;  1.5% of dW</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B is initialized to ZERO, so at step 0:  W' == W</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The model starts exactly as it was. Nothing is broken.</a:t>
            </a:r>
            <a:endParaRPr lang="en-US" sz="1000" dirty="0"/>
          </a:p>
        </p:txBody>
      </p:sp>
      <p:sp>
        <p:nvSpPr>
          <p:cNvPr id="7" name="Shape 5"/>
          <p:cNvSpPr/>
          <p:nvPr/>
        </p:nvSpPr>
        <p:spPr>
          <a:xfrm>
            <a:off x="6629400" y="1280160"/>
            <a:ext cx="5029200" cy="960120"/>
          </a:xfrm>
          <a:prstGeom prst="roundRect">
            <a:avLst>
              <a:gd name="adj" fmla="val 6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848856" y="1426464"/>
            <a:ext cx="459028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Why low rank works</a:t>
            </a:r>
            <a:endParaRPr lang="en-US" sz="1250" dirty="0"/>
          </a:p>
        </p:txBody>
      </p:sp>
      <p:sp>
        <p:nvSpPr>
          <p:cNvPr id="9" name="Text 7"/>
          <p:cNvSpPr/>
          <p:nvPr/>
        </p:nvSpPr>
        <p:spPr>
          <a:xfrm>
            <a:off x="6848856" y="1737360"/>
            <a:ext cx="4590288" cy="3566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Empirically, the update needed to adapt a pretrained model to a task has low intrinsic dimensionality. You are not learning new capability — you are steering existing capability.</a:t>
            </a:r>
            <a:endParaRPr lang="en-US" sz="1100" dirty="0"/>
          </a:p>
        </p:txBody>
      </p:sp>
      <p:sp>
        <p:nvSpPr>
          <p:cNvPr id="10" name="Shape 8"/>
          <p:cNvSpPr/>
          <p:nvPr/>
        </p:nvSpPr>
        <p:spPr>
          <a:xfrm>
            <a:off x="6629400" y="2350008"/>
            <a:ext cx="5029200" cy="960120"/>
          </a:xfrm>
          <a:prstGeom prst="roundRect">
            <a:avLst>
              <a:gd name="adj" fmla="val 6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6848856" y="2496312"/>
            <a:ext cx="45902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B starts at zero</a:t>
            </a:r>
            <a:endParaRPr lang="en-US" sz="1250" dirty="0"/>
          </a:p>
        </p:txBody>
      </p:sp>
      <p:sp>
        <p:nvSpPr>
          <p:cNvPr id="12" name="Text 10"/>
          <p:cNvSpPr/>
          <p:nvPr/>
        </p:nvSpPr>
        <p:spPr>
          <a:xfrm>
            <a:off x="6848856" y="2807208"/>
            <a:ext cx="4590288" cy="3566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Which means the adapted model is identical to the base at initialization. Training cannot 'break' the model on step one, unlike full FT with a bad LR.</a:t>
            </a:r>
            <a:endParaRPr lang="en-US" sz="1100" dirty="0"/>
          </a:p>
        </p:txBody>
      </p:sp>
      <p:sp>
        <p:nvSpPr>
          <p:cNvPr id="13" name="Shape 11"/>
          <p:cNvSpPr/>
          <p:nvPr/>
        </p:nvSpPr>
        <p:spPr>
          <a:xfrm>
            <a:off x="6629400" y="3419856"/>
            <a:ext cx="5029200" cy="960120"/>
          </a:xfrm>
          <a:prstGeom prst="roundRect">
            <a:avLst>
              <a:gd name="adj" fmla="val 6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6848856" y="3566160"/>
            <a:ext cx="45902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base is frozen</a:t>
            </a:r>
            <a:endParaRPr lang="en-US" sz="1250" dirty="0"/>
          </a:p>
        </p:txBody>
      </p:sp>
      <p:sp>
        <p:nvSpPr>
          <p:cNvPr id="15" name="Text 13"/>
          <p:cNvSpPr/>
          <p:nvPr/>
        </p:nvSpPr>
        <p:spPr>
          <a:xfrm>
            <a:off x="6848856" y="3877056"/>
            <a:ext cx="4590288" cy="3566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No gradients, no optimizer state for 99% of parameters. That is where the 20x memory saving comes from — not from the adapter being small.</a:t>
            </a:r>
            <a:endParaRPr lang="en-US" sz="1100" dirty="0"/>
          </a:p>
        </p:txBody>
      </p:sp>
      <p:sp>
        <p:nvSpPr>
          <p:cNvPr id="16" name="Shape 14"/>
          <p:cNvSpPr/>
          <p:nvPr/>
        </p:nvSpPr>
        <p:spPr>
          <a:xfrm>
            <a:off x="6629400" y="4489704"/>
            <a:ext cx="5029200" cy="960120"/>
          </a:xfrm>
          <a:prstGeom prst="roundRect">
            <a:avLst>
              <a:gd name="adj" fmla="val 6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6848856" y="4636008"/>
            <a:ext cx="45902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Merging is exact</a:t>
            </a:r>
            <a:endParaRPr lang="en-US" sz="1250" dirty="0"/>
          </a:p>
        </p:txBody>
      </p:sp>
      <p:sp>
        <p:nvSpPr>
          <p:cNvPr id="18" name="Text 16"/>
          <p:cNvSpPr/>
          <p:nvPr/>
        </p:nvSpPr>
        <p:spPr>
          <a:xfrm>
            <a:off x="6848856" y="4946904"/>
            <a:ext cx="4590288" cy="3566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 + (alpha/r)·BA can be folded back into W with no approximation. A merged model is not an approximation of the adapter.</a:t>
            </a:r>
            <a:endParaRPr lang="en-US" sz="1100" dirty="0"/>
          </a:p>
        </p:txBody>
      </p:sp>
      <p:sp>
        <p:nvSpPr>
          <p:cNvPr id="19" name="Text 1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87</a:t>
            </a:r>
            <a:endParaRPr lang="en-US" sz="9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LoRA hyperparameter — rank (r)</a:t>
            </a:r>
            <a:endParaRPr lang="en-US" sz="2900" dirty="0"/>
          </a:p>
        </p:txBody>
      </p:sp>
      <p:graphicFrame>
        <p:nvGraphicFramePr>
          <p:cNvPr id="89"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914400"/>
                <a:gridCol w="3291840"/>
                <a:gridCol w="2926080"/>
                <a:gridCol w="402336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Params (0.5B, all-linear)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Capacity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 when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~1.5 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Very constrained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Tiny datasets (&lt; 1k), style-only adaptation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~3 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Light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Small datasets, quick experiments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~6 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Balanced — the default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Most tasks. Start here.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32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~12 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Generous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Larger datasets (50k+), bigger distribution shift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64</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~24 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Substantial behavior change; watch for overfitting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128+</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~48 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Approaching full FT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Rarely justified. Usually a sign the problem is elsewhere.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977640"/>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Shape 3"/>
          <p:cNvSpPr/>
          <p:nvPr/>
        </p:nvSpPr>
        <p:spPr>
          <a:xfrm>
            <a:off x="502920" y="3977640"/>
            <a:ext cx="91440" cy="621792"/>
          </a:xfrm>
          <a:prstGeom prst="rect">
            <a:avLst/>
          </a:prstGeom>
          <a:solidFill>
            <a:srgbClr val="A8482A"/>
          </a:solidFill>
          <a:ln/>
        </p:spPr>
      </p:sp>
      <p:sp>
        <p:nvSpPr>
          <p:cNvPr id="7" name="Text 4"/>
          <p:cNvSpPr/>
          <p:nvPr/>
        </p:nvSpPr>
        <p:spPr>
          <a:xfrm>
            <a:off x="822960" y="4087368"/>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Higher rank is not 'better'</a:t>
            </a:r>
            <a:endParaRPr lang="en-US" sz="1250" dirty="0"/>
          </a:p>
        </p:txBody>
      </p:sp>
      <p:sp>
        <p:nvSpPr>
          <p:cNvPr id="8" name="Text 5"/>
          <p:cNvSpPr/>
          <p:nvPr/>
        </p:nvSpPr>
        <p:spPr>
          <a:xfrm>
            <a:off x="822960" y="4379976"/>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it is more capacity</a:t>
            </a:r>
            <a:endParaRPr lang="en-US" sz="950" dirty="0"/>
          </a:p>
        </p:txBody>
      </p:sp>
      <p:sp>
        <p:nvSpPr>
          <p:cNvPr id="9" name="Text 6"/>
          <p:cNvSpPr/>
          <p:nvPr/>
        </p:nvSpPr>
        <p:spPr>
          <a:xfrm>
            <a:off x="3794760" y="4069080"/>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More capacity on a small dataset means faster memorization, not better generalization. Rank should scale with data volume, not ambition.</a:t>
            </a:r>
            <a:endParaRPr lang="en-US" sz="1180" dirty="0"/>
          </a:p>
        </p:txBody>
      </p:sp>
      <p:sp>
        <p:nvSpPr>
          <p:cNvPr id="10" name="Shape 7"/>
          <p:cNvSpPr/>
          <p:nvPr/>
        </p:nvSpPr>
        <p:spPr>
          <a:xfrm>
            <a:off x="502920" y="4690872"/>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8"/>
          <p:cNvSpPr/>
          <p:nvPr/>
        </p:nvSpPr>
        <p:spPr>
          <a:xfrm>
            <a:off x="502920" y="4690872"/>
            <a:ext cx="91440" cy="621792"/>
          </a:xfrm>
          <a:prstGeom prst="rect">
            <a:avLst/>
          </a:prstGeom>
          <a:solidFill>
            <a:srgbClr val="8FB573"/>
          </a:solidFill>
          <a:ln/>
        </p:spPr>
      </p:sp>
      <p:sp>
        <p:nvSpPr>
          <p:cNvPr id="12" name="Text 9"/>
          <p:cNvSpPr/>
          <p:nvPr/>
        </p:nvSpPr>
        <p:spPr>
          <a:xfrm>
            <a:off x="822960" y="4800600"/>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Rank interacts with data size</a:t>
            </a:r>
            <a:endParaRPr lang="en-US" sz="1250" dirty="0"/>
          </a:p>
        </p:txBody>
      </p:sp>
      <p:sp>
        <p:nvSpPr>
          <p:cNvPr id="13" name="Text 10"/>
          <p:cNvSpPr/>
          <p:nvPr/>
        </p:nvSpPr>
        <p:spPr>
          <a:xfrm>
            <a:off x="822960" y="5093208"/>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rule of thumb</a:t>
            </a:r>
            <a:endParaRPr lang="en-US" sz="950" dirty="0"/>
          </a:p>
        </p:txBody>
      </p:sp>
      <p:sp>
        <p:nvSpPr>
          <p:cNvPr id="14" name="Text 11"/>
          <p:cNvSpPr/>
          <p:nvPr/>
        </p:nvSpPr>
        <p:spPr>
          <a:xfrm>
            <a:off x="3794760" y="4782312"/>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&lt; 5k examples: r=8. 5k–50k: r=16. 50k+: r=32. Then ablate around your starting point.</a:t>
            </a:r>
            <a:endParaRPr lang="en-US" sz="1180" dirty="0"/>
          </a:p>
        </p:txBody>
      </p:sp>
      <p:sp>
        <p:nvSpPr>
          <p:cNvPr id="15" name="Shape 12"/>
          <p:cNvSpPr/>
          <p:nvPr/>
        </p:nvSpPr>
        <p:spPr>
          <a:xfrm>
            <a:off x="502920" y="5404104"/>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3"/>
          <p:cNvSpPr/>
          <p:nvPr/>
        </p:nvSpPr>
        <p:spPr>
          <a:xfrm>
            <a:off x="502920" y="5404104"/>
            <a:ext cx="91440" cy="621792"/>
          </a:xfrm>
          <a:prstGeom prst="rect">
            <a:avLst/>
          </a:prstGeom>
          <a:solidFill>
            <a:srgbClr val="D98E32"/>
          </a:solidFill>
          <a:ln/>
        </p:spPr>
      </p:sp>
      <p:sp>
        <p:nvSpPr>
          <p:cNvPr id="17" name="Text 14"/>
          <p:cNvSpPr/>
          <p:nvPr/>
        </p:nvSpPr>
        <p:spPr>
          <a:xfrm>
            <a:off x="822960" y="5513832"/>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Ablate rank AFTER data is clean</a:t>
            </a:r>
            <a:endParaRPr lang="en-US" sz="1250" dirty="0"/>
          </a:p>
        </p:txBody>
      </p:sp>
      <p:sp>
        <p:nvSpPr>
          <p:cNvPr id="18" name="Text 15"/>
          <p:cNvSpPr/>
          <p:nvPr/>
        </p:nvSpPr>
        <p:spPr>
          <a:xfrm>
            <a:off x="822960" y="5806440"/>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order matters</a:t>
            </a:r>
            <a:endParaRPr lang="en-US" sz="950" dirty="0"/>
          </a:p>
        </p:txBody>
      </p:sp>
      <p:sp>
        <p:nvSpPr>
          <p:cNvPr id="19" name="Text 16"/>
          <p:cNvSpPr/>
          <p:nvPr/>
        </p:nvSpPr>
        <p:spPr>
          <a:xfrm>
            <a:off x="3794760" y="5495544"/>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Tuning rank on dirty data optimizes for memorizing noise. Fix the data first — the answer often changes.</a:t>
            </a:r>
            <a:endParaRPr lang="en-US" sz="1180" dirty="0"/>
          </a:p>
        </p:txBody>
      </p:sp>
      <p:sp>
        <p:nvSpPr>
          <p:cNvPr id="20" name="Text 1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88</a:t>
            </a:r>
            <a:endParaRPr lang="en-US" sz="9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LoRA hyperparameter — alpha, and the scaling trap</a:t>
            </a:r>
            <a:endParaRPr lang="en-US" sz="2900" dirty="0"/>
          </a:p>
        </p:txBody>
      </p:sp>
      <p:sp>
        <p:nvSpPr>
          <p:cNvPr id="4" name="Text 2"/>
          <p:cNvSpPr/>
          <p:nvPr/>
        </p:nvSpPr>
        <p:spPr>
          <a:xfrm>
            <a:off x="502920" y="1280160"/>
            <a:ext cx="11155680" cy="59436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alpha does not control capacity. It controls the MAGNITUDE of the update, through the scaling factor alpha/r. This is the parameter people most often misunderstand.</a:t>
            </a:r>
            <a:endParaRPr lang="en-US" sz="1350" dirty="0"/>
          </a:p>
        </p:txBody>
      </p:sp>
      <p:sp>
        <p:nvSpPr>
          <p:cNvPr id="5" name="Shape 3"/>
          <p:cNvSpPr/>
          <p:nvPr/>
        </p:nvSpPr>
        <p:spPr>
          <a:xfrm>
            <a:off x="502920" y="1965960"/>
            <a:ext cx="5943600" cy="2194560"/>
          </a:xfrm>
          <a:prstGeom prst="roundRect">
            <a:avLst>
              <a:gd name="adj" fmla="val 2500"/>
            </a:avLst>
          </a:prstGeom>
          <a:solidFill>
            <a:srgbClr val="0F1F17"/>
          </a:solidFill>
          <a:ln/>
        </p:spPr>
      </p:sp>
      <p:sp>
        <p:nvSpPr>
          <p:cNvPr id="6" name="Text 4"/>
          <p:cNvSpPr/>
          <p:nvPr/>
        </p:nvSpPr>
        <p:spPr>
          <a:xfrm>
            <a:off x="722376" y="2112264"/>
            <a:ext cx="550468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SCALING</a:t>
            </a:r>
            <a:endParaRPr lang="en-US" sz="950" dirty="0"/>
          </a:p>
        </p:txBody>
      </p:sp>
      <p:sp>
        <p:nvSpPr>
          <p:cNvPr id="7" name="Text 5"/>
          <p:cNvSpPr/>
          <p:nvPr/>
        </p:nvSpPr>
        <p:spPr>
          <a:xfrm>
            <a:off x="722376" y="2386584"/>
            <a:ext cx="5504688" cy="1627632"/>
          </a:xfrm>
          <a:prstGeom prst="rect">
            <a:avLst/>
          </a:prstGeom>
          <a:noFill/>
          <a:ln/>
        </p:spPr>
        <p:txBody>
          <a:bodyPr wrap="square" lIns="0" tIns="0" rIns="0" bIns="0" rtlCol="0" anchor="t"/>
          <a:lstStyle/>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W' = W + (alpha / r) * B @ A</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r=16, alpha=32  -&gt;  scale 2.0    &lt;- common default</a:t>
            </a:r>
            <a:endParaRPr lang="en-US" sz="1000" dirty="0"/>
          </a:p>
          <a:p>
            <a:pPr indent="0" marL="0">
              <a:lnSpc>
                <a:spcPct val="112000"/>
              </a:lnSpc>
              <a:buNone/>
            </a:pPr>
            <a:r>
              <a:rPr lang="en-US" sz="1000" dirty="0">
                <a:solidFill>
                  <a:srgbClr val="16211B"/>
                </a:solidFill>
                <a:latin typeface="Courier New" pitchFamily="34" charset="0"/>
                <a:ea typeface="Courier New" pitchFamily="34" charset="-122"/>
                <a:cs typeface="Courier New" pitchFamily="34" charset="-120"/>
              </a:rPr>
              <a:t># r=16, alpha=16  -&gt;  scale 1.0    &lt;- conservative</a:t>
            </a:r>
            <a:endParaRPr lang="en-US" sz="1000" dirty="0"/>
          </a:p>
          <a:p>
            <a:pPr indent="0" marL="0">
              <a:lnSpc>
                <a:spcPct val="112000"/>
              </a:lnSpc>
              <a:buNone/>
            </a:pPr>
            <a:r>
              <a:rPr lang="en-US" sz="1000" dirty="0">
                <a:solidFill>
                  <a:srgbClr val="A8482A"/>
                </a:solidFill>
                <a:latin typeface="Courier New" pitchFamily="34" charset="0"/>
                <a:ea typeface="Courier New" pitchFamily="34" charset="-122"/>
                <a:cs typeface="Courier New" pitchFamily="34" charset="-120"/>
              </a:rPr>
              <a:t># r=64, alpha=16  -&gt;  scale 0.25   &lt;- update barely applied!</a:t>
            </a:r>
            <a:endParaRPr lang="en-US" sz="1000" dirty="0"/>
          </a:p>
          <a:p>
            <a:pPr indent="0" marL="0">
              <a:lnSpc>
                <a:spcPct val="112000"/>
              </a:lnSpc>
              <a:buNone/>
            </a:pPr>
            <a:endParaRPr lang="en-US" sz="1000" dirty="0"/>
          </a:p>
          <a:p>
            <a:pPr indent="0" marL="0">
              <a:lnSpc>
                <a:spcPct val="112000"/>
              </a:lnSpc>
              <a:buNone/>
            </a:pPr>
            <a:r>
              <a:rPr lang="en-US" sz="1000" b="1" dirty="0">
                <a:solidFill>
                  <a:srgbClr val="A8482A"/>
                </a:solidFill>
                <a:latin typeface="Courier New" pitchFamily="34" charset="0"/>
                <a:ea typeface="Courier New" pitchFamily="34" charset="-122"/>
                <a:cs typeface="Courier New" pitchFamily="34" charset="-120"/>
              </a:rPr>
              <a:t># THE TRAP: raising r while keeping alpha fixed</a:t>
            </a:r>
            <a:endParaRPr lang="en-US" sz="1000" dirty="0"/>
          </a:p>
          <a:p>
            <a:pPr indent="0" marL="0">
              <a:lnSpc>
                <a:spcPct val="112000"/>
              </a:lnSpc>
              <a:buNone/>
            </a:pPr>
            <a:r>
              <a:rPr lang="en-US" sz="1000" dirty="0">
                <a:solidFill>
                  <a:srgbClr val="A8482A"/>
                </a:solidFill>
                <a:latin typeface="Courier New" pitchFamily="34" charset="0"/>
                <a:ea typeface="Courier New" pitchFamily="34" charset="-122"/>
                <a:cs typeface="Courier New" pitchFamily="34" charset="-120"/>
              </a:rPr>
              <a:t># SHRINKS the effective update. People raise rank,</a:t>
            </a:r>
            <a:endParaRPr lang="en-US" sz="1000" dirty="0"/>
          </a:p>
          <a:p>
            <a:pPr indent="0" marL="0">
              <a:lnSpc>
                <a:spcPct val="112000"/>
              </a:lnSpc>
              <a:buNone/>
            </a:pPr>
            <a:r>
              <a:rPr lang="en-US" sz="1000" dirty="0">
                <a:solidFill>
                  <a:srgbClr val="A8482A"/>
                </a:solidFill>
                <a:latin typeface="Courier New" pitchFamily="34" charset="0"/>
                <a:ea typeface="Courier New" pitchFamily="34" charset="-122"/>
                <a:cs typeface="Courier New" pitchFamily="34" charset="-120"/>
              </a:rPr>
              <a:t># see no improvement, and conclude rank does not matter.</a:t>
            </a:r>
            <a:endParaRPr lang="en-US" sz="1000" dirty="0"/>
          </a:p>
        </p:txBody>
      </p:sp>
      <p:sp>
        <p:nvSpPr>
          <p:cNvPr id="8" name="Shape 6"/>
          <p:cNvSpPr/>
          <p:nvPr/>
        </p:nvSpPr>
        <p:spPr>
          <a:xfrm>
            <a:off x="6629400" y="1965960"/>
            <a:ext cx="502920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6848856" y="2112264"/>
            <a:ext cx="45902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convention</a:t>
            </a:r>
            <a:endParaRPr lang="en-US" sz="1250" dirty="0"/>
          </a:p>
        </p:txBody>
      </p:sp>
      <p:sp>
        <p:nvSpPr>
          <p:cNvPr id="10" name="Text 8"/>
          <p:cNvSpPr/>
          <p:nvPr/>
        </p:nvSpPr>
        <p:spPr>
          <a:xfrm>
            <a:off x="6848856" y="2423160"/>
            <a:ext cx="459028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alpha = 2r. Keeps the scale at 2.0 as you vary rank, so a rank sweep actually measures rank.</a:t>
            </a:r>
            <a:endParaRPr lang="en-US" sz="1100" dirty="0"/>
          </a:p>
        </p:txBody>
      </p:sp>
      <p:sp>
        <p:nvSpPr>
          <p:cNvPr id="11" name="Shape 9"/>
          <p:cNvSpPr/>
          <p:nvPr/>
        </p:nvSpPr>
        <p:spPr>
          <a:xfrm>
            <a:off x="6629400" y="2843784"/>
            <a:ext cx="502920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10"/>
          <p:cNvSpPr/>
          <p:nvPr/>
        </p:nvSpPr>
        <p:spPr>
          <a:xfrm>
            <a:off x="6848856" y="2990088"/>
            <a:ext cx="45902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alternative convention</a:t>
            </a:r>
            <a:endParaRPr lang="en-US" sz="1250" dirty="0"/>
          </a:p>
        </p:txBody>
      </p:sp>
      <p:sp>
        <p:nvSpPr>
          <p:cNvPr id="13" name="Text 11"/>
          <p:cNvSpPr/>
          <p:nvPr/>
        </p:nvSpPr>
        <p:spPr>
          <a:xfrm>
            <a:off x="6848856" y="3300984"/>
            <a:ext cx="459028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alpha = r, scale 1.0. Also fine. What matters is that you keep it CONSISTENT across a sweep.</a:t>
            </a:r>
            <a:endParaRPr lang="en-US" sz="1100" dirty="0"/>
          </a:p>
        </p:txBody>
      </p:sp>
      <p:sp>
        <p:nvSpPr>
          <p:cNvPr id="14" name="Shape 12"/>
          <p:cNvSpPr/>
          <p:nvPr/>
        </p:nvSpPr>
        <p:spPr>
          <a:xfrm>
            <a:off x="6629400" y="3721608"/>
            <a:ext cx="502920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3"/>
          <p:cNvSpPr/>
          <p:nvPr/>
        </p:nvSpPr>
        <p:spPr>
          <a:xfrm>
            <a:off x="6848856" y="3867912"/>
            <a:ext cx="459028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rsLoRA changes the formula</a:t>
            </a:r>
            <a:endParaRPr lang="en-US" sz="1250" dirty="0"/>
          </a:p>
        </p:txBody>
      </p:sp>
      <p:sp>
        <p:nvSpPr>
          <p:cNvPr id="16" name="Text 14"/>
          <p:cNvSpPr/>
          <p:nvPr/>
        </p:nvSpPr>
        <p:spPr>
          <a:xfrm>
            <a:off x="6848856" y="4178808"/>
            <a:ext cx="459028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Rank-stabilized LoRA uses alpha/sqrt(r) instead of alpha/r, which keeps the scale sane at high rank. Worth enabling for r &gt;= 64.</a:t>
            </a:r>
            <a:endParaRPr lang="en-US" sz="1100" dirty="0"/>
          </a:p>
        </p:txBody>
      </p:sp>
      <p:sp>
        <p:nvSpPr>
          <p:cNvPr id="17" name="Shape 15"/>
          <p:cNvSpPr/>
          <p:nvPr/>
        </p:nvSpPr>
        <p:spPr>
          <a:xfrm>
            <a:off x="6629400" y="4599432"/>
            <a:ext cx="502920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Text 16"/>
          <p:cNvSpPr/>
          <p:nvPr/>
        </p:nvSpPr>
        <p:spPr>
          <a:xfrm>
            <a:off x="6848856" y="4745736"/>
            <a:ext cx="459028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alpha interacts with LR</a:t>
            </a:r>
            <a:endParaRPr lang="en-US" sz="1250" dirty="0"/>
          </a:p>
        </p:txBody>
      </p:sp>
      <p:sp>
        <p:nvSpPr>
          <p:cNvPr id="19" name="Text 17"/>
          <p:cNvSpPr/>
          <p:nvPr/>
        </p:nvSpPr>
        <p:spPr>
          <a:xfrm>
            <a:off x="6848856" y="5056632"/>
            <a:ext cx="459028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Doubling alpha is roughly like doubling the learning rate for the adapter. Do not tune both at once.</a:t>
            </a:r>
            <a:endParaRPr lang="en-US" sz="1100" dirty="0"/>
          </a:p>
        </p:txBody>
      </p:sp>
      <p:sp>
        <p:nvSpPr>
          <p:cNvPr id="20" name="Shape 18"/>
          <p:cNvSpPr/>
          <p:nvPr/>
        </p:nvSpPr>
        <p:spPr>
          <a:xfrm>
            <a:off x="502920" y="4389120"/>
            <a:ext cx="11155680" cy="1188720"/>
          </a:xfrm>
          <a:prstGeom prst="roundRect">
            <a:avLst>
              <a:gd name="adj" fmla="val 5385"/>
            </a:avLst>
          </a:prstGeom>
          <a:solidFill>
            <a:srgbClr val="1F3D2E"/>
          </a:solidFill>
          <a:ln/>
        </p:spPr>
      </p:sp>
      <p:sp>
        <p:nvSpPr>
          <p:cNvPr id="21" name="Shape 19"/>
          <p:cNvSpPr/>
          <p:nvPr/>
        </p:nvSpPr>
        <p:spPr>
          <a:xfrm>
            <a:off x="740664" y="4572000"/>
            <a:ext cx="292608" cy="292608"/>
          </a:xfrm>
          <a:prstGeom prst="ellipse">
            <a:avLst/>
          </a:prstGeom>
          <a:solidFill>
            <a:srgbClr val="1F3D2E"/>
          </a:solidFill>
          <a:ln/>
        </p:spPr>
      </p:sp>
      <p:sp>
        <p:nvSpPr>
          <p:cNvPr id="22" name="Text 20"/>
          <p:cNvSpPr/>
          <p:nvPr/>
        </p:nvSpPr>
        <p:spPr>
          <a:xfrm>
            <a:off x="740664" y="457200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3" name="Text 21"/>
          <p:cNvSpPr/>
          <p:nvPr/>
        </p:nvSpPr>
        <p:spPr>
          <a:xfrm>
            <a:off x="1133856" y="459028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4" name="Text 22"/>
          <p:cNvSpPr/>
          <p:nvPr/>
        </p:nvSpPr>
        <p:spPr>
          <a:xfrm>
            <a:off x="740664" y="4965192"/>
            <a:ext cx="10680192" cy="43891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ran a rank sweep — 8, 16, 32, 64 — with alpha pinned at 16, and concluded that rank had no effect on my task. It did not, because I was simultaneously scaling the update down by 8x. Set alpha = 2r and sweep again.</a:t>
            </a:r>
            <a:endParaRPr lang="en-US" sz="1150" dirty="0"/>
          </a:p>
        </p:txBody>
      </p:sp>
      <p:sp>
        <p:nvSpPr>
          <p:cNvPr id="25" name="Text 2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89</a:t>
            </a:r>
            <a:endParaRPr lang="en-US" sz="9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LoRA hyperparameter — target modules</a:t>
            </a:r>
            <a:endParaRPr lang="en-US" sz="2900" dirty="0"/>
          </a:p>
        </p:txBody>
      </p:sp>
      <p:graphicFrame>
        <p:nvGraphicFramePr>
          <p:cNvPr id="9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291840"/>
                <a:gridCol w="3657600"/>
                <a:gridCol w="1463040"/>
                <a:gridCol w="2743200"/>
              </a:tblGrid>
              <a:tr h="42062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Target set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Modules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Effect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Attention only (original paper)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q_proj, v_proj</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Lowest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Works, but leaves capability on the table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Full attention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q, k, v, o_proj</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Better; still misses the MLP where most parameters live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all-linear (recommended)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q,k,v,o + gate,up,down_proj</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Consistently best in practice. The default you want.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 embeddings / lm_head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above + embed_tokens, lm_head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Only if you added tokens to the vocabulary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337560"/>
            <a:ext cx="3621024"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722376" y="34838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Target all-linear</a:t>
            </a:r>
            <a:endParaRPr lang="en-US" sz="1250" dirty="0"/>
          </a:p>
        </p:txBody>
      </p:sp>
      <p:sp>
        <p:nvSpPr>
          <p:cNvPr id="7" name="Text 4"/>
          <p:cNvSpPr/>
          <p:nvPr/>
        </p:nvSpPr>
        <p:spPr>
          <a:xfrm>
            <a:off x="722376" y="3794760"/>
            <a:ext cx="3182112" cy="9966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original LoRA paper targeted attention because that was the 2021 intuition. Subsequent work — and QLoRA specifically — found that including the MLP projections matters more. Most of a transformer's parameters live in the MLP.</a:t>
            </a:r>
            <a:endParaRPr lang="en-US" sz="1100" dirty="0"/>
          </a:p>
        </p:txBody>
      </p:sp>
      <p:sp>
        <p:nvSpPr>
          <p:cNvPr id="8" name="Shape 5"/>
          <p:cNvSpPr/>
          <p:nvPr/>
        </p:nvSpPr>
        <p:spPr>
          <a:xfrm>
            <a:off x="4270248" y="3337560"/>
            <a:ext cx="3621024"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4489704" y="3483864"/>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Do NOT target embeddings by default</a:t>
            </a:r>
            <a:endParaRPr lang="en-US" sz="1250" dirty="0"/>
          </a:p>
        </p:txBody>
      </p:sp>
      <p:sp>
        <p:nvSpPr>
          <p:cNvPr id="10" name="Text 7"/>
          <p:cNvSpPr/>
          <p:nvPr/>
        </p:nvSpPr>
        <p:spPr>
          <a:xfrm>
            <a:off x="4489704" y="3794760"/>
            <a:ext cx="3182112" cy="9966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Large, slow to train, and rarely helpful. The exception is when you have added special tokens to the vocabulary, in which case you must.</a:t>
            </a:r>
            <a:endParaRPr lang="en-US" sz="1100" dirty="0"/>
          </a:p>
        </p:txBody>
      </p:sp>
      <p:sp>
        <p:nvSpPr>
          <p:cNvPr id="11" name="Shape 8"/>
          <p:cNvSpPr/>
          <p:nvPr/>
        </p:nvSpPr>
        <p:spPr>
          <a:xfrm>
            <a:off x="8037576" y="3337560"/>
            <a:ext cx="3621024"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8257032" y="3483864"/>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Verify what you actually hit</a:t>
            </a:r>
            <a:endParaRPr lang="en-US" sz="1250" dirty="0"/>
          </a:p>
        </p:txBody>
      </p:sp>
      <p:sp>
        <p:nvSpPr>
          <p:cNvPr id="13" name="Text 10"/>
          <p:cNvSpPr/>
          <p:nvPr/>
        </p:nvSpPr>
        <p:spPr>
          <a:xfrm>
            <a:off x="8257032" y="3794760"/>
            <a:ext cx="3182112" cy="9966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print the module names PEFT matched. A typo in target_modules silently trains nothing at all and looks like a normal run.</a:t>
            </a:r>
            <a:endParaRPr lang="en-US" sz="1100" dirty="0"/>
          </a:p>
        </p:txBody>
      </p:sp>
      <p:sp>
        <p:nvSpPr>
          <p:cNvPr id="14" name="Shape 11"/>
          <p:cNvSpPr/>
          <p:nvPr/>
        </p:nvSpPr>
        <p:spPr>
          <a:xfrm>
            <a:off x="502920" y="5120640"/>
            <a:ext cx="11155680" cy="1188720"/>
          </a:xfrm>
          <a:prstGeom prst="roundRect">
            <a:avLst>
              <a:gd name="adj" fmla="val 4615"/>
            </a:avLst>
          </a:prstGeom>
          <a:solidFill>
            <a:srgbClr val="0F1F17"/>
          </a:solidFill>
          <a:ln/>
        </p:spPr>
      </p:sp>
      <p:sp>
        <p:nvSpPr>
          <p:cNvPr id="15" name="Text 12"/>
          <p:cNvSpPr/>
          <p:nvPr/>
        </p:nvSpPr>
        <p:spPr>
          <a:xfrm>
            <a:off x="722376" y="5266944"/>
            <a:ext cx="10716768" cy="896112"/>
          </a:xfrm>
          <a:prstGeom prst="rect">
            <a:avLst/>
          </a:prstGeom>
          <a:noFill/>
          <a:ln/>
        </p:spPr>
        <p:txBody>
          <a:bodyPr wrap="square" lIns="0" tIns="0" rIns="0" bIns="0" rtlCol="0" anchor="t"/>
          <a:lstStyle/>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peft_config = LoraConfig(r=16, lora_alpha=32, lora_dropout=0.05,</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target_modules='all-linear', task_type='CAUSAL_LM')</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model = get_peft_model(model, peft_config)</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model.print_trainable_parameters()   # ALWAYS. Expect ~0.5-2%. If it says 0.0%, you targeted nothing.</a:t>
            </a:r>
            <a:endParaRPr lang="en-US" sz="1000" dirty="0"/>
          </a:p>
        </p:txBody>
      </p:sp>
      <p:sp>
        <p:nvSpPr>
          <p:cNvPr id="16" name="Text 1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90</a:t>
            </a:r>
            <a:endParaRPr lang="en-US" sz="9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QLoRA — the three tricks that fit 1.5B on 4GB</a:t>
            </a:r>
            <a:endParaRPr lang="en-US" sz="2900" dirty="0"/>
          </a:p>
        </p:txBody>
      </p:sp>
      <p:sp>
        <p:nvSpPr>
          <p:cNvPr id="4" name="Shape 2"/>
          <p:cNvSpPr/>
          <p:nvPr/>
        </p:nvSpPr>
        <p:spPr>
          <a:xfrm>
            <a:off x="502920" y="1280160"/>
            <a:ext cx="11155680" cy="1176528"/>
          </a:xfrm>
          <a:prstGeom prst="roundRect">
            <a:avLst>
              <a:gd name="adj" fmla="val 54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667256"/>
            <a:ext cx="402336" cy="402336"/>
          </a:xfrm>
          <a:prstGeom prst="ellipse">
            <a:avLst/>
          </a:prstGeom>
          <a:solidFill>
            <a:srgbClr val="8FB573"/>
          </a:solidFill>
          <a:ln/>
        </p:spPr>
      </p:sp>
      <p:sp>
        <p:nvSpPr>
          <p:cNvPr id="6" name="Text 4"/>
          <p:cNvSpPr/>
          <p:nvPr/>
        </p:nvSpPr>
        <p:spPr>
          <a:xfrm>
            <a:off x="749808" y="1667256"/>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NF4 — 4-bit NormalFloat quantization</a:t>
            </a:r>
            <a:endParaRPr lang="en-US" sz="1300" dirty="0"/>
          </a:p>
        </p:txBody>
      </p:sp>
      <p:sp>
        <p:nvSpPr>
          <p:cNvPr id="8" name="Text 6"/>
          <p:cNvSpPr/>
          <p:nvPr/>
        </p:nvSpPr>
        <p:spPr>
          <a:xfrm>
            <a:off x="1316736" y="1700784"/>
            <a:ext cx="10058400" cy="664464"/>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The frozen base weights are stored in a 4-bit datatype that is information-theoretically optimal for normally-distributed values, which is what neural network weights approximately are. Dequantized on the fly during the forward pass. ~8x smaller than fp32.</a:t>
            </a:r>
            <a:endParaRPr lang="en-US" sz="1150" dirty="0"/>
          </a:p>
        </p:txBody>
      </p:sp>
      <p:sp>
        <p:nvSpPr>
          <p:cNvPr id="9" name="Shape 7"/>
          <p:cNvSpPr/>
          <p:nvPr/>
        </p:nvSpPr>
        <p:spPr>
          <a:xfrm>
            <a:off x="502920" y="2566416"/>
            <a:ext cx="11155680" cy="1176528"/>
          </a:xfrm>
          <a:prstGeom prst="roundRect">
            <a:avLst>
              <a:gd name="adj" fmla="val 54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953512"/>
            <a:ext cx="402336" cy="402336"/>
          </a:xfrm>
          <a:prstGeom prst="ellipse">
            <a:avLst/>
          </a:prstGeom>
          <a:solidFill>
            <a:srgbClr val="8FB573"/>
          </a:solidFill>
          <a:ln/>
        </p:spPr>
      </p:sp>
      <p:sp>
        <p:nvSpPr>
          <p:cNvPr id="11" name="Text 9"/>
          <p:cNvSpPr/>
          <p:nvPr/>
        </p:nvSpPr>
        <p:spPr>
          <a:xfrm>
            <a:off x="749808" y="295351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694432"/>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Double quantization</a:t>
            </a:r>
            <a:endParaRPr lang="en-US" sz="1300" dirty="0"/>
          </a:p>
        </p:txBody>
      </p:sp>
      <p:sp>
        <p:nvSpPr>
          <p:cNvPr id="13" name="Text 11"/>
          <p:cNvSpPr/>
          <p:nvPr/>
        </p:nvSpPr>
        <p:spPr>
          <a:xfrm>
            <a:off x="1316736" y="2987040"/>
            <a:ext cx="10058400" cy="664464"/>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The quantization constants themselves are quantized. Saves roughly another 0.4 bits per parameter. Small in percentage terms, meaningful when you are 200MB from an OOM.</a:t>
            </a:r>
            <a:endParaRPr lang="en-US" sz="1150" dirty="0"/>
          </a:p>
        </p:txBody>
      </p:sp>
      <p:sp>
        <p:nvSpPr>
          <p:cNvPr id="14" name="Shape 12"/>
          <p:cNvSpPr/>
          <p:nvPr/>
        </p:nvSpPr>
        <p:spPr>
          <a:xfrm>
            <a:off x="502920" y="3852672"/>
            <a:ext cx="11155680" cy="1176528"/>
          </a:xfrm>
          <a:prstGeom prst="roundRect">
            <a:avLst>
              <a:gd name="adj" fmla="val 54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4239768"/>
            <a:ext cx="402336" cy="402336"/>
          </a:xfrm>
          <a:prstGeom prst="ellipse">
            <a:avLst/>
          </a:prstGeom>
          <a:solidFill>
            <a:srgbClr val="8FB573"/>
          </a:solidFill>
          <a:ln/>
        </p:spPr>
      </p:sp>
      <p:sp>
        <p:nvSpPr>
          <p:cNvPr id="16" name="Text 14"/>
          <p:cNvSpPr/>
          <p:nvPr/>
        </p:nvSpPr>
        <p:spPr>
          <a:xfrm>
            <a:off x="749808" y="423976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3980688"/>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Paged optimizers</a:t>
            </a:r>
            <a:endParaRPr lang="en-US" sz="1300" dirty="0"/>
          </a:p>
        </p:txBody>
      </p:sp>
      <p:sp>
        <p:nvSpPr>
          <p:cNvPr id="18" name="Text 16"/>
          <p:cNvSpPr/>
          <p:nvPr/>
        </p:nvSpPr>
        <p:spPr>
          <a:xfrm>
            <a:off x="1316736" y="4273296"/>
            <a:ext cx="10058400" cy="664464"/>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Optimizer state lives in unified memory and pages to CPU RAM under pressure, using NVIDIA's unified memory. Turns a hard OOM crash during a memory spike into a slowdown. On a 4GB card this is what makes long runs survivable.</a:t>
            </a:r>
            <a:endParaRPr lang="en-US" sz="1150" dirty="0"/>
          </a:p>
        </p:txBody>
      </p:sp>
      <p:sp>
        <p:nvSpPr>
          <p:cNvPr id="19" name="Shape 17"/>
          <p:cNvSpPr/>
          <p:nvPr/>
        </p:nvSpPr>
        <p:spPr>
          <a:xfrm>
            <a:off x="502920" y="5166360"/>
            <a:ext cx="11155680" cy="1143000"/>
          </a:xfrm>
          <a:prstGeom prst="roundRect">
            <a:avLst>
              <a:gd name="adj" fmla="val 4800"/>
            </a:avLst>
          </a:prstGeom>
          <a:solidFill>
            <a:srgbClr val="0F1F17"/>
          </a:solidFill>
          <a:ln/>
        </p:spPr>
      </p:sp>
      <p:sp>
        <p:nvSpPr>
          <p:cNvPr id="20" name="Text 18"/>
          <p:cNvSpPr/>
          <p:nvPr/>
        </p:nvSpPr>
        <p:spPr>
          <a:xfrm>
            <a:off x="722376" y="5312664"/>
            <a:ext cx="10716768" cy="850392"/>
          </a:xfrm>
          <a:prstGeom prst="rect">
            <a:avLst/>
          </a:prstGeom>
          <a:noFill/>
          <a:ln/>
        </p:spPr>
        <p:txBody>
          <a:bodyPr wrap="square" lIns="0" tIns="0" rIns="0" bIns="0" rtlCol="0" anchor="t"/>
          <a:lstStyle/>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bnb_config = BitsAndBytesConfig(</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load_in_4bit=True, bnb_4bit_quant_type='nf4',</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bnb_4bit_use_double_quant=True, bnb_4bit_compute_dtype=torch.bfloat16)</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compute_dtype is NOT the storage dtype — weights are stored 4-bit, computed in bf16</a:t>
            </a:r>
            <a:endParaRPr lang="en-US" sz="1000" dirty="0"/>
          </a:p>
        </p:txBody>
      </p:sp>
      <p:sp>
        <p:nvSpPr>
          <p:cNvPr id="21" name="Text 1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91</a:t>
            </a:r>
            <a:endParaRPr lang="en-US" sz="9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memory math — your 4GB budget, line by line</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Measured ceiling: 79 MB held at idle, ~3.87 GB free — but it moves with desktop use, so budget the 3.1 GiB floor.</a:t>
            </a:r>
            <a:endParaRPr lang="en-US" sz="1300" dirty="0"/>
          </a:p>
        </p:txBody>
      </p:sp>
      <p:graphicFrame>
        <p:nvGraphicFramePr>
          <p:cNvPr id="93"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55680" cy="914400"/>
        </p:xfrm>
        <a:graphic>
          <a:graphicData uri="http://schemas.openxmlformats.org/drawingml/2006/table">
            <a:tbl>
              <a:tblPr/>
              <a:tblGrid>
                <a:gridCol w="3657600"/>
                <a:gridCol w="3108960"/>
                <a:gridCol w="2194560"/>
                <a:gridCol w="2194560"/>
              </a:tblGrid>
              <a:tr h="31546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Component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Formula</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0.5B QLoRA</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1.5B QLoRA</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1546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Base weights (NF4)</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~0.55 bytes/param</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0.28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0.83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LoRA adapter (bf16)</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 bytes/trainable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0.01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0.03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Gradients (adapter only)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 bytes/trainable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0.01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0.03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Optimizer state (8-bit Adam)</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 bytes/trainable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0.01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0.03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Activations (seq 512, batch 1)</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scales with seq x batch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0.35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0.75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CUDA context + fragmentation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fixed overhead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0.50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0.50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Desktop compositor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 on Linux — was 0.5–1.0 on Windows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0.00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0.00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~1.2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~2.2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1546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Headroom — budget the 3.1 GiB FLOOR, not the peak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2.1 GB — raise batch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1.1 GB — raise seq_len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4800600"/>
            <a:ext cx="11155680" cy="566928"/>
          </a:xfrm>
          <a:prstGeom prst="roundRect">
            <a:avLst>
              <a:gd name="adj" fmla="val 9677"/>
            </a:avLst>
          </a:prstGeom>
          <a:solidFill>
            <a:srgbClr val="8FB573"/>
          </a:solidFill>
          <a:ln/>
        </p:spPr>
      </p:sp>
      <p:sp>
        <p:nvSpPr>
          <p:cNvPr id="7" name="Text 4"/>
          <p:cNvSpPr/>
          <p:nvPr/>
        </p:nvSpPr>
        <p:spPr>
          <a:xfrm>
            <a:off x="777240" y="480060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Activations dominate and they scale with seq_len x batch_size. Cut sequence length before you cut model size.</a:t>
            </a:r>
            <a:endParaRPr lang="en-US" sz="1450" dirty="0"/>
          </a:p>
        </p:txBody>
      </p:sp>
      <p:sp>
        <p:nvSpPr>
          <p:cNvPr id="8" name="Shape 5"/>
          <p:cNvSpPr/>
          <p:nvPr/>
        </p:nvSpPr>
        <p:spPr>
          <a:xfrm>
            <a:off x="502920" y="5394960"/>
            <a:ext cx="3621024" cy="960120"/>
          </a:xfrm>
          <a:prstGeom prst="roundRect">
            <a:avLst>
              <a:gd name="adj" fmla="val 6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722376" y="55412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Gradient checkpointing</a:t>
            </a:r>
            <a:endParaRPr lang="en-US" sz="1250" dirty="0"/>
          </a:p>
        </p:txBody>
      </p:sp>
      <p:sp>
        <p:nvSpPr>
          <p:cNvPr id="10" name="Text 7"/>
          <p:cNvSpPr/>
          <p:nvPr/>
        </p:nvSpPr>
        <p:spPr>
          <a:xfrm>
            <a:off x="722376" y="5852160"/>
            <a:ext cx="3182112" cy="3566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Trades ~30% speed for a large activation reduction. Turn it on the moment you hit OOM.</a:t>
            </a:r>
            <a:endParaRPr lang="en-US" sz="1100" dirty="0"/>
          </a:p>
        </p:txBody>
      </p:sp>
      <p:sp>
        <p:nvSpPr>
          <p:cNvPr id="11" name="Shape 8"/>
          <p:cNvSpPr/>
          <p:nvPr/>
        </p:nvSpPr>
        <p:spPr>
          <a:xfrm>
            <a:off x="4270248" y="5394960"/>
            <a:ext cx="3621024" cy="960120"/>
          </a:xfrm>
          <a:prstGeom prst="roundRect">
            <a:avLst>
              <a:gd name="adj" fmla="val 6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4489704" y="55412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Flash Attention 2</a:t>
            </a:r>
            <a:endParaRPr lang="en-US" sz="1250" dirty="0"/>
          </a:p>
        </p:txBody>
      </p:sp>
      <p:sp>
        <p:nvSpPr>
          <p:cNvPr id="13" name="Text 10"/>
          <p:cNvSpPr/>
          <p:nvPr/>
        </p:nvSpPr>
        <p:spPr>
          <a:xfrm>
            <a:off x="4489704" y="5852160"/>
            <a:ext cx="3182112" cy="3566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Attention memory from O(n²) to O(n). Free win on Ampere. Compile it once.</a:t>
            </a:r>
            <a:endParaRPr lang="en-US" sz="1100" dirty="0"/>
          </a:p>
        </p:txBody>
      </p:sp>
      <p:sp>
        <p:nvSpPr>
          <p:cNvPr id="14" name="Shape 11"/>
          <p:cNvSpPr/>
          <p:nvPr/>
        </p:nvSpPr>
        <p:spPr>
          <a:xfrm>
            <a:off x="8037576" y="5394960"/>
            <a:ext cx="3621024" cy="960120"/>
          </a:xfrm>
          <a:prstGeom prst="roundRect">
            <a:avLst>
              <a:gd name="adj" fmla="val 6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2"/>
          <p:cNvSpPr/>
          <p:nvPr/>
        </p:nvSpPr>
        <p:spPr>
          <a:xfrm>
            <a:off x="8257032" y="55412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Unsloth</a:t>
            </a:r>
            <a:endParaRPr lang="en-US" sz="1250" dirty="0"/>
          </a:p>
        </p:txBody>
      </p:sp>
      <p:sp>
        <p:nvSpPr>
          <p:cNvPr id="16" name="Text 13"/>
          <p:cNvSpPr/>
          <p:nvPr/>
        </p:nvSpPr>
        <p:spPr>
          <a:xfrm>
            <a:off x="8257032" y="5852160"/>
            <a:ext cx="3182112" cy="3566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Halves the budget again via fused kernels. Non-optional at 1.5B.</a:t>
            </a:r>
            <a:endParaRPr lang="en-US" sz="1100" dirty="0"/>
          </a:p>
        </p:txBody>
      </p:sp>
      <p:sp>
        <p:nvSpPr>
          <p:cNvPr id="17" name="Text 1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92</a:t>
            </a:r>
            <a:endParaRPr lang="en-US" sz="9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Learning rate — the single most important knob</a:t>
            </a:r>
            <a:endParaRPr lang="en-US" sz="2900" dirty="0"/>
          </a:p>
        </p:txBody>
      </p:sp>
      <p:graphicFrame>
        <p:nvGraphicFramePr>
          <p:cNvPr id="94"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926080"/>
                <a:gridCol w="2377440"/>
                <a:gridCol w="3108960"/>
                <a:gridCol w="2743200"/>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Setting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Typical LR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Symptom if too high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Symptom if too low</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Full fine-tune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1e-5 – 5e-5</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Loss spikes, then NaN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Barely moves off baseline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LoRA / QLoRA</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1e-4 – 3e-4</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Loss oscillates; output degrades into repetition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Loss falls slowly, model unchanged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Embeddings (if targeted)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1e-5 – 5e-5</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Vocabulary collapse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 effect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DPO (Phase 8)</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5e-7 – 5e-6</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Reference drift, gibberish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Preference margin never separates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GRPO (Phase 9)</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1e-6 – 5e-6</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Policy collapse within ~50 steps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Reward flat for hours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703320"/>
            <a:ext cx="11155680" cy="566928"/>
          </a:xfrm>
          <a:prstGeom prst="roundRect">
            <a:avLst>
              <a:gd name="adj" fmla="val 9677"/>
            </a:avLst>
          </a:prstGeom>
          <a:solidFill>
            <a:srgbClr val="A8482A"/>
          </a:solidFill>
          <a:ln/>
        </p:spPr>
      </p:sp>
      <p:sp>
        <p:nvSpPr>
          <p:cNvPr id="6" name="Text 3"/>
          <p:cNvSpPr/>
          <p:nvPr/>
        </p:nvSpPr>
        <p:spPr>
          <a:xfrm>
            <a:off x="777240" y="370332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LoRA needs a learning rate roughly 10x higher than full fine-tuning. Copying an LR from a full-FT tutorial is the classic 'LoRA doesn't work' bug.</a:t>
            </a:r>
            <a:endParaRPr lang="en-US" sz="1450" dirty="0"/>
          </a:p>
        </p:txBody>
      </p:sp>
      <p:sp>
        <p:nvSpPr>
          <p:cNvPr id="7" name="Shape 4"/>
          <p:cNvSpPr/>
          <p:nvPr/>
        </p:nvSpPr>
        <p:spPr>
          <a:xfrm>
            <a:off x="502920" y="4434840"/>
            <a:ext cx="3621024"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5"/>
          <p:cNvSpPr/>
          <p:nvPr/>
        </p:nvSpPr>
        <p:spPr>
          <a:xfrm>
            <a:off x="722376" y="458114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Schedule: cosine with warmup</a:t>
            </a:r>
            <a:endParaRPr lang="en-US" sz="1250" dirty="0"/>
          </a:p>
        </p:txBody>
      </p:sp>
      <p:sp>
        <p:nvSpPr>
          <p:cNvPr id="9" name="Text 6"/>
          <p:cNvSpPr/>
          <p:nvPr/>
        </p:nvSpPr>
        <p:spPr>
          <a:xfrm>
            <a:off x="722376" y="4892040"/>
            <a:ext cx="3182112"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Warmup 3–5% of total steps, then cosine decay to ~10% of peak. Boring, reliable, hard to beat.</a:t>
            </a:r>
            <a:endParaRPr lang="en-US" sz="1100" dirty="0"/>
          </a:p>
        </p:txBody>
      </p:sp>
      <p:sp>
        <p:nvSpPr>
          <p:cNvPr id="10" name="Shape 7"/>
          <p:cNvSpPr/>
          <p:nvPr/>
        </p:nvSpPr>
        <p:spPr>
          <a:xfrm>
            <a:off x="4270248" y="4434840"/>
            <a:ext cx="3621024"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8"/>
          <p:cNvSpPr/>
          <p:nvPr/>
        </p:nvSpPr>
        <p:spPr>
          <a:xfrm>
            <a:off x="4489704" y="458114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Sweep in multiples of 3</a:t>
            </a:r>
            <a:endParaRPr lang="en-US" sz="1250" dirty="0"/>
          </a:p>
        </p:txBody>
      </p:sp>
      <p:sp>
        <p:nvSpPr>
          <p:cNvPr id="12" name="Text 9"/>
          <p:cNvSpPr/>
          <p:nvPr/>
        </p:nvSpPr>
        <p:spPr>
          <a:xfrm>
            <a:off x="4489704" y="4892040"/>
            <a:ext cx="3182112"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1e-4, 3e-4, 1e-3. Factor-of-3 steps. Sweeping 2e-4 vs 2.5e-4 is measuring noise.</a:t>
            </a:r>
            <a:endParaRPr lang="en-US" sz="1100" dirty="0"/>
          </a:p>
        </p:txBody>
      </p:sp>
      <p:sp>
        <p:nvSpPr>
          <p:cNvPr id="13" name="Shape 10"/>
          <p:cNvSpPr/>
          <p:nvPr/>
        </p:nvSpPr>
        <p:spPr>
          <a:xfrm>
            <a:off x="8037576" y="4434840"/>
            <a:ext cx="3621024"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1"/>
          <p:cNvSpPr/>
          <p:nvPr/>
        </p:nvSpPr>
        <p:spPr>
          <a:xfrm>
            <a:off x="8257032" y="4581144"/>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Verify the schedule is real</a:t>
            </a:r>
            <a:endParaRPr lang="en-US" sz="1250" dirty="0"/>
          </a:p>
        </p:txBody>
      </p:sp>
      <p:sp>
        <p:nvSpPr>
          <p:cNvPr id="15" name="Text 12"/>
          <p:cNvSpPr/>
          <p:nvPr/>
        </p:nvSpPr>
        <p:spPr>
          <a:xfrm>
            <a:off x="8257032" y="4892040"/>
            <a:ext cx="3182112"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Log the LR every step. A misconfigured scheduler that stays flat at peak is a common and invisible bug.</a:t>
            </a:r>
            <a:endParaRPr lang="en-US" sz="1100" dirty="0"/>
          </a:p>
        </p:txBody>
      </p:sp>
      <p:sp>
        <p:nvSpPr>
          <p:cNvPr id="16" name="Shape 13"/>
          <p:cNvSpPr/>
          <p:nvPr/>
        </p:nvSpPr>
        <p:spPr>
          <a:xfrm>
            <a:off x="502920" y="5760720"/>
            <a:ext cx="11155680" cy="822960"/>
          </a:xfrm>
          <a:prstGeom prst="roundRect">
            <a:avLst>
              <a:gd name="adj" fmla="val 7778"/>
            </a:avLst>
          </a:prstGeom>
          <a:solidFill>
            <a:srgbClr val="1F3D2E"/>
          </a:solidFill>
          <a:ln/>
        </p:spPr>
      </p:sp>
      <p:sp>
        <p:nvSpPr>
          <p:cNvPr id="17" name="Shape 14"/>
          <p:cNvSpPr/>
          <p:nvPr/>
        </p:nvSpPr>
        <p:spPr>
          <a:xfrm>
            <a:off x="740664" y="5943600"/>
            <a:ext cx="292608" cy="292608"/>
          </a:xfrm>
          <a:prstGeom prst="ellipse">
            <a:avLst/>
          </a:prstGeom>
          <a:solidFill>
            <a:srgbClr val="1F3D2E"/>
          </a:solidFill>
          <a:ln/>
        </p:spPr>
      </p:sp>
      <p:sp>
        <p:nvSpPr>
          <p:cNvPr id="18" name="Text 15"/>
          <p:cNvSpPr/>
          <p:nvPr/>
        </p:nvSpPr>
        <p:spPr>
          <a:xfrm>
            <a:off x="740664" y="594360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9" name="Text 16"/>
          <p:cNvSpPr/>
          <p:nvPr/>
        </p:nvSpPr>
        <p:spPr>
          <a:xfrm>
            <a:off x="1133856" y="596188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0" name="Text 17"/>
          <p:cNvSpPr/>
          <p:nvPr/>
        </p:nvSpPr>
        <p:spPr>
          <a:xfrm>
            <a:off x="740664" y="6336792"/>
            <a:ext cx="10680192" cy="731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My first LoRA run used 2e-5 from a full-FT guide. Loss dropped a little, eval was unchanged, and I spent two days assuming LoRA was overhyped. It was 10x too low.</a:t>
            </a:r>
            <a:endParaRPr lang="en-US" sz="1150" dirty="0"/>
          </a:p>
        </p:txBody>
      </p:sp>
      <p:sp>
        <p:nvSpPr>
          <p:cNvPr id="21" name="Text 1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93</a:t>
            </a:r>
            <a:endParaRPr lang="en-US" sz="9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Batch size, gradient accumulation, and effective batch</a:t>
            </a:r>
            <a:endParaRPr lang="en-US" sz="2900" dirty="0"/>
          </a:p>
        </p:txBody>
      </p:sp>
      <p:sp>
        <p:nvSpPr>
          <p:cNvPr id="4" name="Shape 2"/>
          <p:cNvSpPr/>
          <p:nvPr/>
        </p:nvSpPr>
        <p:spPr>
          <a:xfrm>
            <a:off x="502920" y="1280160"/>
            <a:ext cx="5943600" cy="1828800"/>
          </a:xfrm>
          <a:prstGeom prst="roundRect">
            <a:avLst>
              <a:gd name="adj" fmla="val 3000"/>
            </a:avLst>
          </a:prstGeom>
          <a:solidFill>
            <a:srgbClr val="0F1F17"/>
          </a:solidFill>
          <a:ln/>
        </p:spPr>
      </p:sp>
      <p:sp>
        <p:nvSpPr>
          <p:cNvPr id="5" name="Text 3"/>
          <p:cNvSpPr/>
          <p:nvPr/>
        </p:nvSpPr>
        <p:spPr>
          <a:xfrm>
            <a:off x="722376" y="1426464"/>
            <a:ext cx="550468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THE ONLY EQUATION THAT MATTERS</a:t>
            </a:r>
            <a:endParaRPr lang="en-US" sz="950" dirty="0"/>
          </a:p>
        </p:txBody>
      </p:sp>
      <p:sp>
        <p:nvSpPr>
          <p:cNvPr id="6" name="Text 4"/>
          <p:cNvSpPr/>
          <p:nvPr/>
        </p:nvSpPr>
        <p:spPr>
          <a:xfrm>
            <a:off x="722376" y="1700784"/>
            <a:ext cx="5504688" cy="1261872"/>
          </a:xfrm>
          <a:prstGeom prst="rect">
            <a:avLst/>
          </a:prstGeom>
          <a:noFill/>
          <a:ln/>
        </p:spPr>
        <p:txBody>
          <a:bodyPr wrap="square" lIns="0" tIns="0" rIns="0" bIns="0" rtlCol="0" anchor="t"/>
          <a:lstStyle/>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effective_batch = per_device_batch</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x gradient_accumulation_steps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x num_devices</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Your 4GB reality:</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per_device_batch = 1        # VRAM-bound</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gradient_accumulation = 16  # free, costs only time</a:t>
            </a:r>
            <a:endParaRPr lang="en-US" sz="1000" dirty="0"/>
          </a:p>
          <a:p>
            <a:pPr indent="0" marL="0">
              <a:lnSpc>
                <a:spcPct val="112000"/>
              </a:lnSpc>
              <a:buNone/>
            </a:pPr>
            <a:r>
              <a:rPr lang="en-US" sz="1000" b="1" dirty="0">
                <a:solidFill>
                  <a:srgbClr val="8FB573"/>
                </a:solidFill>
                <a:latin typeface="Courier New" pitchFamily="34" charset="0"/>
                <a:ea typeface="Courier New" pitchFamily="34" charset="-122"/>
                <a:cs typeface="Courier New" pitchFamily="34" charset="-120"/>
              </a:rPr>
              <a:t>effective_batch = 16        # &lt;- what actually matters</a:t>
            </a:r>
            <a:endParaRPr lang="en-US" sz="1000" dirty="0"/>
          </a:p>
        </p:txBody>
      </p:sp>
      <p:sp>
        <p:nvSpPr>
          <p:cNvPr id="7" name="Shape 5"/>
          <p:cNvSpPr/>
          <p:nvPr/>
        </p:nvSpPr>
        <p:spPr>
          <a:xfrm>
            <a:off x="6629400" y="1280160"/>
            <a:ext cx="5029200" cy="804672"/>
          </a:xfrm>
          <a:prstGeom prst="roundRect">
            <a:avLst>
              <a:gd name="adj" fmla="val 795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848856" y="1426464"/>
            <a:ext cx="45902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Only effective batch matters for quality</a:t>
            </a:r>
            <a:endParaRPr lang="en-US" sz="1250" dirty="0"/>
          </a:p>
        </p:txBody>
      </p:sp>
      <p:sp>
        <p:nvSpPr>
          <p:cNvPr id="9" name="Text 7"/>
          <p:cNvSpPr/>
          <p:nvPr/>
        </p:nvSpPr>
        <p:spPr>
          <a:xfrm>
            <a:off x="6848856" y="1737360"/>
            <a:ext cx="4590288" cy="20116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Gradient accumulation is mathematically equivalent to a larger batch (modulo batch norm, which transformers do not use). You are not compromising.</a:t>
            </a:r>
            <a:endParaRPr lang="en-US" sz="1100" dirty="0"/>
          </a:p>
        </p:txBody>
      </p:sp>
      <p:sp>
        <p:nvSpPr>
          <p:cNvPr id="10" name="Shape 8"/>
          <p:cNvSpPr/>
          <p:nvPr/>
        </p:nvSpPr>
        <p:spPr>
          <a:xfrm>
            <a:off x="6629400" y="2176272"/>
            <a:ext cx="5029200" cy="804672"/>
          </a:xfrm>
          <a:prstGeom prst="roundRect">
            <a:avLst>
              <a:gd name="adj" fmla="val 795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6848856" y="2322576"/>
            <a:ext cx="45902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Target 16–64 effective for SFT</a:t>
            </a:r>
            <a:endParaRPr lang="en-US" sz="1250" dirty="0"/>
          </a:p>
        </p:txBody>
      </p:sp>
      <p:sp>
        <p:nvSpPr>
          <p:cNvPr id="12" name="Text 10"/>
          <p:cNvSpPr/>
          <p:nvPr/>
        </p:nvSpPr>
        <p:spPr>
          <a:xfrm>
            <a:off x="6848856" y="2633472"/>
            <a:ext cx="4590288" cy="20116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Below 8 the gradients are noisy and training is unstable. Above 128 you are wasting steps on a small dataset.</a:t>
            </a:r>
            <a:endParaRPr lang="en-US" sz="1100" dirty="0"/>
          </a:p>
        </p:txBody>
      </p:sp>
      <p:sp>
        <p:nvSpPr>
          <p:cNvPr id="13" name="Shape 11"/>
          <p:cNvSpPr/>
          <p:nvPr/>
        </p:nvSpPr>
        <p:spPr>
          <a:xfrm>
            <a:off x="6629400" y="3072384"/>
            <a:ext cx="5029200" cy="804672"/>
          </a:xfrm>
          <a:prstGeom prst="roundRect">
            <a:avLst>
              <a:gd name="adj" fmla="val 795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6848856" y="3218688"/>
            <a:ext cx="459028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Accumulation costs time, not memory</a:t>
            </a:r>
            <a:endParaRPr lang="en-US" sz="1250" dirty="0"/>
          </a:p>
        </p:txBody>
      </p:sp>
      <p:sp>
        <p:nvSpPr>
          <p:cNvPr id="15" name="Text 13"/>
          <p:cNvSpPr/>
          <p:nvPr/>
        </p:nvSpPr>
        <p:spPr>
          <a:xfrm>
            <a:off x="6848856" y="3529584"/>
            <a:ext cx="4590288" cy="20116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16 accumulation steps means 16 forward/backward passes before one optimizer step. Slower wall clock, identical memory.</a:t>
            </a:r>
            <a:endParaRPr lang="en-US" sz="1100" dirty="0"/>
          </a:p>
        </p:txBody>
      </p:sp>
      <p:sp>
        <p:nvSpPr>
          <p:cNvPr id="16" name="Shape 14"/>
          <p:cNvSpPr/>
          <p:nvPr/>
        </p:nvSpPr>
        <p:spPr>
          <a:xfrm>
            <a:off x="6629400" y="3968496"/>
            <a:ext cx="5029200" cy="804672"/>
          </a:xfrm>
          <a:prstGeom prst="roundRect">
            <a:avLst>
              <a:gd name="adj" fmla="val 795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6848856" y="4114800"/>
            <a:ext cx="459028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Verify it took effect</a:t>
            </a:r>
            <a:endParaRPr lang="en-US" sz="1250" dirty="0"/>
          </a:p>
        </p:txBody>
      </p:sp>
      <p:sp>
        <p:nvSpPr>
          <p:cNvPr id="18" name="Text 16"/>
          <p:cNvSpPr/>
          <p:nvPr/>
        </p:nvSpPr>
        <p:spPr>
          <a:xfrm>
            <a:off x="6848856" y="4425696"/>
            <a:ext cx="4590288" cy="20116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Log the actual number of optimizer steps. A config that silently runs accum=1 gives you effective batch 1 and terrible results.</a:t>
            </a:r>
            <a:endParaRPr lang="en-US" sz="1100" dirty="0"/>
          </a:p>
        </p:txBody>
      </p:sp>
      <p:sp>
        <p:nvSpPr>
          <p:cNvPr id="19" name="Shape 17"/>
          <p:cNvSpPr/>
          <p:nvPr/>
        </p:nvSpPr>
        <p:spPr>
          <a:xfrm>
            <a:off x="502920" y="3383280"/>
            <a:ext cx="11155680" cy="640080"/>
          </a:xfrm>
          <a:prstGeom prst="roundRect">
            <a:avLst>
              <a:gd name="adj" fmla="val 10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502920" y="3383280"/>
            <a:ext cx="91440" cy="640080"/>
          </a:xfrm>
          <a:prstGeom prst="rect">
            <a:avLst/>
          </a:prstGeom>
          <a:solidFill>
            <a:srgbClr val="A8482A"/>
          </a:solidFill>
          <a:ln/>
        </p:spPr>
      </p:sp>
      <p:sp>
        <p:nvSpPr>
          <p:cNvPr id="21" name="Text 19"/>
          <p:cNvSpPr/>
          <p:nvPr/>
        </p:nvSpPr>
        <p:spPr>
          <a:xfrm>
            <a:off x="822960" y="3493008"/>
            <a:ext cx="21945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Small effective batch</a:t>
            </a:r>
            <a:endParaRPr lang="en-US" sz="1250" dirty="0"/>
          </a:p>
        </p:txBody>
      </p:sp>
      <p:sp>
        <p:nvSpPr>
          <p:cNvPr id="22" name="Text 20"/>
          <p:cNvSpPr/>
          <p:nvPr/>
        </p:nvSpPr>
        <p:spPr>
          <a:xfrm>
            <a:off x="822960" y="3785616"/>
            <a:ext cx="21945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eff = 1-4</a:t>
            </a:r>
            <a:endParaRPr lang="en-US" sz="950" dirty="0"/>
          </a:p>
        </p:txBody>
      </p:sp>
      <p:sp>
        <p:nvSpPr>
          <p:cNvPr id="23" name="Text 21"/>
          <p:cNvSpPr/>
          <p:nvPr/>
        </p:nvSpPr>
        <p:spPr>
          <a:xfrm>
            <a:off x="3246120" y="3474720"/>
            <a:ext cx="8412480" cy="45720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Noisy gradients, unstable loss, poor final quality. Almost always an accidental misconfiguration.</a:t>
            </a:r>
            <a:endParaRPr lang="en-US" sz="1180" dirty="0"/>
          </a:p>
        </p:txBody>
      </p:sp>
      <p:sp>
        <p:nvSpPr>
          <p:cNvPr id="24" name="Shape 22"/>
          <p:cNvSpPr/>
          <p:nvPr/>
        </p:nvSpPr>
        <p:spPr>
          <a:xfrm>
            <a:off x="502920" y="4114800"/>
            <a:ext cx="11155680" cy="640080"/>
          </a:xfrm>
          <a:prstGeom prst="roundRect">
            <a:avLst>
              <a:gd name="adj" fmla="val 10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502920" y="4114800"/>
            <a:ext cx="91440" cy="640080"/>
          </a:xfrm>
          <a:prstGeom prst="rect">
            <a:avLst/>
          </a:prstGeom>
          <a:solidFill>
            <a:srgbClr val="8FB573"/>
          </a:solidFill>
          <a:ln/>
        </p:spPr>
      </p:sp>
      <p:sp>
        <p:nvSpPr>
          <p:cNvPr id="26" name="Text 24"/>
          <p:cNvSpPr/>
          <p:nvPr/>
        </p:nvSpPr>
        <p:spPr>
          <a:xfrm>
            <a:off x="822960" y="4224528"/>
            <a:ext cx="21945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Good effective batch</a:t>
            </a:r>
            <a:endParaRPr lang="en-US" sz="1250" dirty="0"/>
          </a:p>
        </p:txBody>
      </p:sp>
      <p:sp>
        <p:nvSpPr>
          <p:cNvPr id="27" name="Text 25"/>
          <p:cNvSpPr/>
          <p:nvPr/>
        </p:nvSpPr>
        <p:spPr>
          <a:xfrm>
            <a:off x="822960" y="4517136"/>
            <a:ext cx="21945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eff = 16-64</a:t>
            </a:r>
            <a:endParaRPr lang="en-US" sz="950" dirty="0"/>
          </a:p>
        </p:txBody>
      </p:sp>
      <p:sp>
        <p:nvSpPr>
          <p:cNvPr id="28" name="Text 26"/>
          <p:cNvSpPr/>
          <p:nvPr/>
        </p:nvSpPr>
        <p:spPr>
          <a:xfrm>
            <a:off x="3246120" y="4206240"/>
            <a:ext cx="8412480" cy="45720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The sweet spot for SFT on datasets of 5k-100k examples.</a:t>
            </a:r>
            <a:endParaRPr lang="en-US" sz="1180" dirty="0"/>
          </a:p>
        </p:txBody>
      </p:sp>
      <p:sp>
        <p:nvSpPr>
          <p:cNvPr id="29" name="Shape 27"/>
          <p:cNvSpPr/>
          <p:nvPr/>
        </p:nvSpPr>
        <p:spPr>
          <a:xfrm>
            <a:off x="502920" y="4846320"/>
            <a:ext cx="11155680" cy="640080"/>
          </a:xfrm>
          <a:prstGeom prst="roundRect">
            <a:avLst>
              <a:gd name="adj" fmla="val 10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502920" y="4846320"/>
            <a:ext cx="91440" cy="640080"/>
          </a:xfrm>
          <a:prstGeom prst="rect">
            <a:avLst/>
          </a:prstGeom>
          <a:solidFill>
            <a:srgbClr val="D98E32"/>
          </a:solidFill>
          <a:ln/>
        </p:spPr>
      </p:sp>
      <p:sp>
        <p:nvSpPr>
          <p:cNvPr id="31" name="Text 29"/>
          <p:cNvSpPr/>
          <p:nvPr/>
        </p:nvSpPr>
        <p:spPr>
          <a:xfrm>
            <a:off x="822960" y="4956048"/>
            <a:ext cx="21945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Large effective batch</a:t>
            </a:r>
            <a:endParaRPr lang="en-US" sz="1250" dirty="0"/>
          </a:p>
        </p:txBody>
      </p:sp>
      <p:sp>
        <p:nvSpPr>
          <p:cNvPr id="32" name="Text 30"/>
          <p:cNvSpPr/>
          <p:nvPr/>
        </p:nvSpPr>
        <p:spPr>
          <a:xfrm>
            <a:off x="822960" y="5248656"/>
            <a:ext cx="21945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eff = 128+</a:t>
            </a:r>
            <a:endParaRPr lang="en-US" sz="950" dirty="0"/>
          </a:p>
        </p:txBody>
      </p:sp>
      <p:sp>
        <p:nvSpPr>
          <p:cNvPr id="33" name="Text 31"/>
          <p:cNvSpPr/>
          <p:nvPr/>
        </p:nvSpPr>
        <p:spPr>
          <a:xfrm>
            <a:off x="3246120" y="4937760"/>
            <a:ext cx="8412480" cy="45720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Smoother, but on a 10k dataset that is only ~80 optimizer steps per epoch. Too few to learn much.</a:t>
            </a:r>
            <a:endParaRPr lang="en-US" sz="1180" dirty="0"/>
          </a:p>
        </p:txBody>
      </p:sp>
      <p:sp>
        <p:nvSpPr>
          <p:cNvPr id="34" name="Shape 32"/>
          <p:cNvSpPr/>
          <p:nvPr/>
        </p:nvSpPr>
        <p:spPr>
          <a:xfrm>
            <a:off x="502920" y="5669280"/>
            <a:ext cx="11155680" cy="914400"/>
          </a:xfrm>
          <a:prstGeom prst="roundRect">
            <a:avLst>
              <a:gd name="adj" fmla="val 7000"/>
            </a:avLst>
          </a:prstGeom>
          <a:solidFill>
            <a:srgbClr val="1F3D2E"/>
          </a:solidFill>
          <a:ln/>
        </p:spPr>
      </p:sp>
      <p:sp>
        <p:nvSpPr>
          <p:cNvPr id="35" name="Shape 33"/>
          <p:cNvSpPr/>
          <p:nvPr/>
        </p:nvSpPr>
        <p:spPr>
          <a:xfrm>
            <a:off x="740664" y="5852160"/>
            <a:ext cx="292608" cy="292608"/>
          </a:xfrm>
          <a:prstGeom prst="ellipse">
            <a:avLst/>
          </a:prstGeom>
          <a:solidFill>
            <a:srgbClr val="1F3D2E"/>
          </a:solidFill>
          <a:ln/>
        </p:spPr>
      </p:sp>
      <p:sp>
        <p:nvSpPr>
          <p:cNvPr id="36" name="Text 34"/>
          <p:cNvSpPr/>
          <p:nvPr/>
        </p:nvSpPr>
        <p:spPr>
          <a:xfrm>
            <a:off x="740664" y="585216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37" name="Text 35"/>
          <p:cNvSpPr/>
          <p:nvPr/>
        </p:nvSpPr>
        <p:spPr>
          <a:xfrm>
            <a:off x="1133856" y="587044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38" name="Text 36"/>
          <p:cNvSpPr/>
          <p:nvPr/>
        </p:nvSpPr>
        <p:spPr>
          <a:xfrm>
            <a:off x="740664" y="6245352"/>
            <a:ext cx="10680192" cy="1645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lost a week to an effective batch size of 1. I had set gradient_accumulation_steps in the wrong config block, it was silently ignored, and every run was noisy and bad. Log the optimizer step count.</a:t>
            </a:r>
            <a:endParaRPr lang="en-US" sz="1150" dirty="0"/>
          </a:p>
        </p:txBody>
      </p:sp>
      <p:sp>
        <p:nvSpPr>
          <p:cNvPr id="39" name="Text 3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94</a:t>
            </a:r>
            <a:endParaRPr lang="en-US" sz="9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Sequence length, packing, and truncation</a:t>
            </a:r>
            <a:endParaRPr lang="en-US" sz="2900" dirty="0"/>
          </a:p>
        </p:txBody>
      </p:sp>
      <p:sp>
        <p:nvSpPr>
          <p:cNvPr id="4" name="Shape 2"/>
          <p:cNvSpPr/>
          <p:nvPr/>
        </p:nvSpPr>
        <p:spPr>
          <a:xfrm>
            <a:off x="502920" y="1280160"/>
            <a:ext cx="5486400" cy="2651760"/>
          </a:xfrm>
          <a:prstGeom prst="roundRect">
            <a:avLst>
              <a:gd name="adj" fmla="val 241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PADDING (default)</a:t>
            </a:r>
            <a:endParaRPr lang="en-US" sz="1250" dirty="0"/>
          </a:p>
        </p:txBody>
      </p:sp>
      <p:sp>
        <p:nvSpPr>
          <p:cNvPr id="6" name="Text 4"/>
          <p:cNvSpPr/>
          <p:nvPr/>
        </p:nvSpPr>
        <p:spPr>
          <a:xfrm>
            <a:off x="758952" y="1810512"/>
            <a:ext cx="4974336" cy="19568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Each example padded to seq_len</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Simple, obviously correct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Wastes compute on padding tokens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Short-example datasets can be 60% padding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Attention mask prevents cross-contamination</a:t>
            </a:r>
            <a:endParaRPr lang="en-US" sz="1150" dirty="0"/>
          </a:p>
        </p:txBody>
      </p:sp>
      <p:sp>
        <p:nvSpPr>
          <p:cNvPr id="7" name="Shape 5"/>
          <p:cNvSpPr/>
          <p:nvPr/>
        </p:nvSpPr>
        <p:spPr>
          <a:xfrm>
            <a:off x="6172200" y="1280160"/>
            <a:ext cx="5486400" cy="2651760"/>
          </a:xfrm>
          <a:prstGeom prst="roundRect">
            <a:avLst>
              <a:gd name="adj" fmla="val 241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PACKING</a:t>
            </a:r>
            <a:endParaRPr lang="en-US" sz="1250" dirty="0"/>
          </a:p>
        </p:txBody>
      </p:sp>
      <p:sp>
        <p:nvSpPr>
          <p:cNvPr id="9" name="Text 7"/>
          <p:cNvSpPr/>
          <p:nvPr/>
        </p:nvSpPr>
        <p:spPr>
          <a:xfrm>
            <a:off x="6428232" y="1810512"/>
            <a:ext cx="4974336" cy="19568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Multiple examples concatenated into one sequence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Near-zero wasted compute — often 2–3x throughput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Needs correct position ids and attention masking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Naive packing lets examples ATTEND ACROSS boundaries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TRL supports it; verify the mask, do not assume</a:t>
            </a:r>
            <a:endParaRPr lang="en-US" sz="1150" dirty="0"/>
          </a:p>
        </p:txBody>
      </p:sp>
      <p:sp>
        <p:nvSpPr>
          <p:cNvPr id="10" name="Shape 8"/>
          <p:cNvSpPr/>
          <p:nvPr/>
        </p:nvSpPr>
        <p:spPr>
          <a:xfrm>
            <a:off x="502920" y="4160520"/>
            <a:ext cx="11155680" cy="640080"/>
          </a:xfrm>
          <a:prstGeom prst="roundRect">
            <a:avLst>
              <a:gd name="adj" fmla="val 10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9"/>
          <p:cNvSpPr/>
          <p:nvPr/>
        </p:nvSpPr>
        <p:spPr>
          <a:xfrm>
            <a:off x="502920" y="4160520"/>
            <a:ext cx="91440" cy="640080"/>
          </a:xfrm>
          <a:prstGeom prst="rect">
            <a:avLst/>
          </a:prstGeom>
          <a:solidFill>
            <a:srgbClr val="8FB573"/>
          </a:solidFill>
          <a:ln/>
        </p:spPr>
      </p:sp>
      <p:sp>
        <p:nvSpPr>
          <p:cNvPr id="12" name="Text 10"/>
          <p:cNvSpPr/>
          <p:nvPr/>
        </p:nvSpPr>
        <p:spPr>
          <a:xfrm>
            <a:off x="822960" y="4270248"/>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Choose seq_len from the p95</a:t>
            </a:r>
            <a:endParaRPr lang="en-US" sz="1250" dirty="0"/>
          </a:p>
        </p:txBody>
      </p:sp>
      <p:sp>
        <p:nvSpPr>
          <p:cNvPr id="13" name="Text 11"/>
          <p:cNvSpPr/>
          <p:nvPr/>
        </p:nvSpPr>
        <p:spPr>
          <a:xfrm>
            <a:off x="822960" y="4562856"/>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measure, do not guess</a:t>
            </a:r>
            <a:endParaRPr lang="en-US" sz="950" dirty="0"/>
          </a:p>
        </p:txBody>
      </p:sp>
      <p:sp>
        <p:nvSpPr>
          <p:cNvPr id="14" name="Text 12"/>
          <p:cNvSpPr/>
          <p:nvPr/>
        </p:nvSpPr>
        <p:spPr>
          <a:xfrm>
            <a:off x="3794760" y="4251960"/>
            <a:ext cx="7863840" cy="45720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Compute your dataset's token-length percentiles. Set seq_len at p95. Truncating 5% is fine; truncating 25% silently destroys your data.</a:t>
            </a:r>
            <a:endParaRPr lang="en-US" sz="1180" dirty="0"/>
          </a:p>
        </p:txBody>
      </p:sp>
      <p:sp>
        <p:nvSpPr>
          <p:cNvPr id="15" name="Shape 13"/>
          <p:cNvSpPr/>
          <p:nvPr/>
        </p:nvSpPr>
        <p:spPr>
          <a:xfrm>
            <a:off x="502920" y="4892040"/>
            <a:ext cx="11155680" cy="640080"/>
          </a:xfrm>
          <a:prstGeom prst="roundRect">
            <a:avLst>
              <a:gd name="adj" fmla="val 10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4"/>
          <p:cNvSpPr/>
          <p:nvPr/>
        </p:nvSpPr>
        <p:spPr>
          <a:xfrm>
            <a:off x="502920" y="4892040"/>
            <a:ext cx="91440" cy="640080"/>
          </a:xfrm>
          <a:prstGeom prst="rect">
            <a:avLst/>
          </a:prstGeom>
          <a:solidFill>
            <a:srgbClr val="A8482A"/>
          </a:solidFill>
          <a:ln/>
        </p:spPr>
      </p:sp>
      <p:sp>
        <p:nvSpPr>
          <p:cNvPr id="17" name="Text 15"/>
          <p:cNvSpPr/>
          <p:nvPr/>
        </p:nvSpPr>
        <p:spPr>
          <a:xfrm>
            <a:off x="822960" y="5001768"/>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Truncation is invisible</a:t>
            </a:r>
            <a:endParaRPr lang="en-US" sz="1250" dirty="0"/>
          </a:p>
        </p:txBody>
      </p:sp>
      <p:sp>
        <p:nvSpPr>
          <p:cNvPr id="18" name="Text 16"/>
          <p:cNvSpPr/>
          <p:nvPr/>
        </p:nvSpPr>
        <p:spPr>
          <a:xfrm>
            <a:off x="822960" y="5294376"/>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no warning is emitted</a:t>
            </a:r>
            <a:endParaRPr lang="en-US" sz="950" dirty="0"/>
          </a:p>
        </p:txBody>
      </p:sp>
      <p:sp>
        <p:nvSpPr>
          <p:cNvPr id="19" name="Text 17"/>
          <p:cNvSpPr/>
          <p:nvPr/>
        </p:nvSpPr>
        <p:spPr>
          <a:xfrm>
            <a:off x="3794760" y="4983480"/>
            <a:ext cx="7863840" cy="45720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A truncated example teaches the model to stop mid-function. Log the truncation rate every run.</a:t>
            </a:r>
            <a:endParaRPr lang="en-US" sz="1180" dirty="0"/>
          </a:p>
        </p:txBody>
      </p:sp>
      <p:sp>
        <p:nvSpPr>
          <p:cNvPr id="20" name="Shape 18"/>
          <p:cNvSpPr/>
          <p:nvPr/>
        </p:nvSpPr>
        <p:spPr>
          <a:xfrm>
            <a:off x="502920" y="5623560"/>
            <a:ext cx="11155680" cy="640080"/>
          </a:xfrm>
          <a:prstGeom prst="roundRect">
            <a:avLst>
              <a:gd name="adj" fmla="val 10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Shape 19"/>
          <p:cNvSpPr/>
          <p:nvPr/>
        </p:nvSpPr>
        <p:spPr>
          <a:xfrm>
            <a:off x="502920" y="5623560"/>
            <a:ext cx="91440" cy="640080"/>
          </a:xfrm>
          <a:prstGeom prst="rect">
            <a:avLst/>
          </a:prstGeom>
          <a:solidFill>
            <a:srgbClr val="D98E32"/>
          </a:solidFill>
          <a:ln/>
        </p:spPr>
      </p:sp>
      <p:sp>
        <p:nvSpPr>
          <p:cNvPr id="22" name="Text 20"/>
          <p:cNvSpPr/>
          <p:nvPr/>
        </p:nvSpPr>
        <p:spPr>
          <a:xfrm>
            <a:off x="822960" y="5733288"/>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Packing changes the batch math</a:t>
            </a:r>
            <a:endParaRPr lang="en-US" sz="1250" dirty="0"/>
          </a:p>
        </p:txBody>
      </p:sp>
      <p:sp>
        <p:nvSpPr>
          <p:cNvPr id="23" name="Text 21"/>
          <p:cNvSpPr/>
          <p:nvPr/>
        </p:nvSpPr>
        <p:spPr>
          <a:xfrm>
            <a:off x="822960" y="6025896"/>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eff. batch is fuzzy</a:t>
            </a:r>
            <a:endParaRPr lang="en-US" sz="950" dirty="0"/>
          </a:p>
        </p:txBody>
      </p:sp>
      <p:sp>
        <p:nvSpPr>
          <p:cNvPr id="24" name="Text 22"/>
          <p:cNvSpPr/>
          <p:nvPr/>
        </p:nvSpPr>
        <p:spPr>
          <a:xfrm>
            <a:off x="3794760" y="5715000"/>
            <a:ext cx="7863840" cy="45720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With packing, 'batch size 1' may be six examples. Your effective batch is larger than the config says.</a:t>
            </a:r>
            <a:endParaRPr lang="en-US" sz="1180" dirty="0"/>
          </a:p>
        </p:txBody>
      </p:sp>
      <p:sp>
        <p:nvSpPr>
          <p:cNvPr id="25" name="Text 2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95</a:t>
            </a:r>
            <a:endParaRPr lang="en-US" sz="9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Epochs, overfitting, and checkpoint selection</a:t>
            </a:r>
            <a:endParaRPr lang="en-US" sz="2900" dirty="0"/>
          </a:p>
        </p:txBody>
      </p:sp>
      <p:graphicFrame>
        <p:nvGraphicFramePr>
          <p:cNvPr id="4" name="Chart 0" descr=""/>
          <p:cNvGraphicFramePr/>
          <p:nvPr/>
        </p:nvGraphicFramePr>
        <p:xfrm>
          <a:off x="502920" y="1280160"/>
          <a:ext cx="667512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269480" y="1280160"/>
            <a:ext cx="438912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7488936" y="1426464"/>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1–3 epochs for SFT</a:t>
            </a:r>
            <a:endParaRPr lang="en-US" sz="1250" dirty="0"/>
          </a:p>
        </p:txBody>
      </p:sp>
      <p:sp>
        <p:nvSpPr>
          <p:cNvPr id="7" name="Text 4"/>
          <p:cNvSpPr/>
          <p:nvPr/>
        </p:nvSpPr>
        <p:spPr>
          <a:xfrm>
            <a:off x="7488936" y="1737360"/>
            <a:ext cx="3950208" cy="1737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Beyond three, you are memorizing. On small curated datasets the peak is often before epoch 2.</a:t>
            </a:r>
            <a:endParaRPr lang="en-US" sz="1100" dirty="0"/>
          </a:p>
        </p:txBody>
      </p:sp>
      <p:sp>
        <p:nvSpPr>
          <p:cNvPr id="8" name="Shape 5"/>
          <p:cNvSpPr/>
          <p:nvPr/>
        </p:nvSpPr>
        <p:spPr>
          <a:xfrm>
            <a:off x="7269480" y="2148840"/>
            <a:ext cx="438912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7488936" y="2295144"/>
            <a:ext cx="395020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Checkpoint on EVAL, never on loss</a:t>
            </a:r>
            <a:endParaRPr lang="en-US" sz="1250" dirty="0"/>
          </a:p>
        </p:txBody>
      </p:sp>
      <p:sp>
        <p:nvSpPr>
          <p:cNvPr id="10" name="Text 7"/>
          <p:cNvSpPr/>
          <p:nvPr/>
        </p:nvSpPr>
        <p:spPr>
          <a:xfrm>
            <a:off x="7488936" y="2606040"/>
            <a:ext cx="3950208" cy="1737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two diverge after roughly epoch 1.5. Saving on best-loss ships your worst useful model.</a:t>
            </a:r>
            <a:endParaRPr lang="en-US" sz="1100" dirty="0"/>
          </a:p>
        </p:txBody>
      </p:sp>
      <p:sp>
        <p:nvSpPr>
          <p:cNvPr id="11" name="Shape 8"/>
          <p:cNvSpPr/>
          <p:nvPr/>
        </p:nvSpPr>
        <p:spPr>
          <a:xfrm>
            <a:off x="7269480" y="3017520"/>
            <a:ext cx="438912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7488936" y="3163824"/>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Evaluate mid-epoch</a:t>
            </a:r>
            <a:endParaRPr lang="en-US" sz="1250" dirty="0"/>
          </a:p>
        </p:txBody>
      </p:sp>
      <p:sp>
        <p:nvSpPr>
          <p:cNvPr id="13" name="Text 10"/>
          <p:cNvSpPr/>
          <p:nvPr/>
        </p:nvSpPr>
        <p:spPr>
          <a:xfrm>
            <a:off x="7488936" y="3474720"/>
            <a:ext cx="3950208" cy="1737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On a 10k dataset one epoch is few steps. Evaluate every N steps, not every epoch, or you will miss the peak entirely.</a:t>
            </a:r>
            <a:endParaRPr lang="en-US" sz="1100" dirty="0"/>
          </a:p>
        </p:txBody>
      </p:sp>
      <p:sp>
        <p:nvSpPr>
          <p:cNvPr id="14" name="Shape 11"/>
          <p:cNvSpPr/>
          <p:nvPr/>
        </p:nvSpPr>
        <p:spPr>
          <a:xfrm>
            <a:off x="7269480" y="3886200"/>
            <a:ext cx="438912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2"/>
          <p:cNvSpPr/>
          <p:nvPr/>
        </p:nvSpPr>
        <p:spPr>
          <a:xfrm>
            <a:off x="7488936" y="4032504"/>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Keep every checkpoint</a:t>
            </a:r>
            <a:endParaRPr lang="en-US" sz="1250" dirty="0"/>
          </a:p>
        </p:txBody>
      </p:sp>
      <p:sp>
        <p:nvSpPr>
          <p:cNvPr id="16" name="Text 13"/>
          <p:cNvSpPr/>
          <p:nvPr/>
        </p:nvSpPr>
        <p:spPr>
          <a:xfrm>
            <a:off x="7488936" y="4343400"/>
            <a:ext cx="3950208" cy="1737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Adapters are tens of MB. Keep them all — you will want them in Phase 11 for merging.</a:t>
            </a:r>
            <a:endParaRPr lang="en-US" sz="1100" dirty="0"/>
          </a:p>
        </p:txBody>
      </p:sp>
      <p:sp>
        <p:nvSpPr>
          <p:cNvPr id="17" name="Shape 14"/>
          <p:cNvSpPr/>
          <p:nvPr/>
        </p:nvSpPr>
        <p:spPr>
          <a:xfrm>
            <a:off x="502920" y="4663440"/>
            <a:ext cx="11155680" cy="1005840"/>
          </a:xfrm>
          <a:prstGeom prst="roundRect">
            <a:avLst>
              <a:gd name="adj" fmla="val 6364"/>
            </a:avLst>
          </a:prstGeom>
          <a:solidFill>
            <a:srgbClr val="1F3D2E"/>
          </a:solidFill>
          <a:ln/>
        </p:spPr>
      </p:sp>
      <p:sp>
        <p:nvSpPr>
          <p:cNvPr id="18" name="Shape 15"/>
          <p:cNvSpPr/>
          <p:nvPr/>
        </p:nvSpPr>
        <p:spPr>
          <a:xfrm>
            <a:off x="740664" y="4846320"/>
            <a:ext cx="292608" cy="292608"/>
          </a:xfrm>
          <a:prstGeom prst="ellipse">
            <a:avLst/>
          </a:prstGeom>
          <a:solidFill>
            <a:srgbClr val="1F3D2E"/>
          </a:solidFill>
          <a:ln/>
        </p:spPr>
      </p:sp>
      <p:sp>
        <p:nvSpPr>
          <p:cNvPr id="19" name="Text 16"/>
          <p:cNvSpPr/>
          <p:nvPr/>
        </p:nvSpPr>
        <p:spPr>
          <a:xfrm>
            <a:off x="740664" y="48463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0" name="Text 17"/>
          <p:cNvSpPr/>
          <p:nvPr/>
        </p:nvSpPr>
        <p:spPr>
          <a:xfrm>
            <a:off x="1133856" y="48646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1" name="Text 18"/>
          <p:cNvSpPr/>
          <p:nvPr/>
        </p:nvSpPr>
        <p:spPr>
          <a:xfrm>
            <a:off x="740664" y="5239512"/>
            <a:ext cx="10680192" cy="2560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shipped the epoch-5 checkpoint because the loss curve looked like a textbook. It was two points worse than epoch 2 on anything it had not seen. Every run now saves on best-eval and the loss curve is decoration.</a:t>
            </a:r>
            <a:endParaRPr lang="en-US" sz="1150" dirty="0"/>
          </a:p>
        </p:txBody>
      </p:sp>
      <p:sp>
        <p:nvSpPr>
          <p:cNvPr id="22" name="Text 1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96</a:t>
            </a:r>
            <a:endParaRPr lang="en-US" sz="9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Precision, checkpointing, and optimizers</a:t>
            </a:r>
            <a:endParaRPr lang="en-US" sz="2900" dirty="0"/>
          </a:p>
        </p:txBody>
      </p:sp>
      <p:sp>
        <p:nvSpPr>
          <p:cNvPr id="4" name="Shape 2"/>
          <p:cNvSpPr/>
          <p:nvPr/>
        </p:nvSpPr>
        <p:spPr>
          <a:xfrm>
            <a:off x="502920" y="1280160"/>
            <a:ext cx="11155680" cy="731520"/>
          </a:xfrm>
          <a:prstGeom prst="roundRect">
            <a:avLst>
              <a:gd name="adj" fmla="val 87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502920" y="1280160"/>
            <a:ext cx="91440" cy="731520"/>
          </a:xfrm>
          <a:prstGeom prst="rect">
            <a:avLst/>
          </a:prstGeom>
          <a:solidFill>
            <a:srgbClr val="8FB573"/>
          </a:solidFill>
          <a:ln/>
        </p:spPr>
      </p:sp>
      <p:sp>
        <p:nvSpPr>
          <p:cNvPr id="6" name="Text 4"/>
          <p:cNvSpPr/>
          <p:nvPr/>
        </p:nvSpPr>
        <p:spPr>
          <a:xfrm>
            <a:off x="822960" y="1389888"/>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bf16, not fp16</a:t>
            </a:r>
            <a:endParaRPr lang="en-US" sz="1250" dirty="0"/>
          </a:p>
        </p:txBody>
      </p:sp>
      <p:sp>
        <p:nvSpPr>
          <p:cNvPr id="7" name="Text 5"/>
          <p:cNvSpPr/>
          <p:nvPr/>
        </p:nvSpPr>
        <p:spPr>
          <a:xfrm>
            <a:off x="822960" y="1682496"/>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bnb_4bit_compute_dtype=bfloat16</a:t>
            </a:r>
            <a:endParaRPr lang="en-US" sz="950" dirty="0"/>
          </a:p>
        </p:txBody>
      </p:sp>
      <p:sp>
        <p:nvSpPr>
          <p:cNvPr id="8" name="Text 6"/>
          <p:cNvSpPr/>
          <p:nvPr/>
        </p:nvSpPr>
        <p:spPr>
          <a:xfrm>
            <a:off x="4069080" y="1371600"/>
            <a:ext cx="7589520" cy="54864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Ampere and later support bfloat16. It has fp32's exponent range, so it does not overflow the way fp16 does. fp16 NaN on step 1 is nearly always this.</a:t>
            </a:r>
            <a:endParaRPr lang="en-US" sz="1180" dirty="0"/>
          </a:p>
        </p:txBody>
      </p:sp>
      <p:sp>
        <p:nvSpPr>
          <p:cNvPr id="9" name="Shape 7"/>
          <p:cNvSpPr/>
          <p:nvPr/>
        </p:nvSpPr>
        <p:spPr>
          <a:xfrm>
            <a:off x="502920" y="2103120"/>
            <a:ext cx="11155680" cy="731520"/>
          </a:xfrm>
          <a:prstGeom prst="roundRect">
            <a:avLst>
              <a:gd name="adj" fmla="val 87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502920" y="2103120"/>
            <a:ext cx="91440" cy="731520"/>
          </a:xfrm>
          <a:prstGeom prst="rect">
            <a:avLst/>
          </a:prstGeom>
          <a:solidFill>
            <a:srgbClr val="8FB573"/>
          </a:solidFill>
          <a:ln/>
        </p:spPr>
      </p:sp>
      <p:sp>
        <p:nvSpPr>
          <p:cNvPr id="11" name="Text 9"/>
          <p:cNvSpPr/>
          <p:nvPr/>
        </p:nvSpPr>
        <p:spPr>
          <a:xfrm>
            <a:off x="822960" y="2212848"/>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Gradient checkpointing</a:t>
            </a:r>
            <a:endParaRPr lang="en-US" sz="1250" dirty="0"/>
          </a:p>
        </p:txBody>
      </p:sp>
      <p:sp>
        <p:nvSpPr>
          <p:cNvPr id="12" name="Text 10"/>
          <p:cNvSpPr/>
          <p:nvPr/>
        </p:nvSpPr>
        <p:spPr>
          <a:xfrm>
            <a:off x="822960" y="2505456"/>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gradient_checkpointing=True</a:t>
            </a:r>
            <a:endParaRPr lang="en-US" sz="950" dirty="0"/>
          </a:p>
        </p:txBody>
      </p:sp>
      <p:sp>
        <p:nvSpPr>
          <p:cNvPr id="13" name="Text 11"/>
          <p:cNvSpPr/>
          <p:nvPr/>
        </p:nvSpPr>
        <p:spPr>
          <a:xfrm>
            <a:off x="4069080" y="2194560"/>
            <a:ext cx="7589520" cy="54864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Recomputes activations during the backward pass instead of storing them. Roughly 30% slower, large memory saving. Turn on at the first OOM.</a:t>
            </a:r>
            <a:endParaRPr lang="en-US" sz="1180" dirty="0"/>
          </a:p>
        </p:txBody>
      </p:sp>
      <p:sp>
        <p:nvSpPr>
          <p:cNvPr id="14" name="Shape 12"/>
          <p:cNvSpPr/>
          <p:nvPr/>
        </p:nvSpPr>
        <p:spPr>
          <a:xfrm>
            <a:off x="502920" y="2926080"/>
            <a:ext cx="11155680" cy="731520"/>
          </a:xfrm>
          <a:prstGeom prst="roundRect">
            <a:avLst>
              <a:gd name="adj" fmla="val 87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502920" y="2926080"/>
            <a:ext cx="91440" cy="731520"/>
          </a:xfrm>
          <a:prstGeom prst="rect">
            <a:avLst/>
          </a:prstGeom>
          <a:solidFill>
            <a:srgbClr val="8FB573"/>
          </a:solidFill>
          <a:ln/>
        </p:spPr>
      </p:sp>
      <p:sp>
        <p:nvSpPr>
          <p:cNvPr id="16" name="Text 14"/>
          <p:cNvSpPr/>
          <p:nvPr/>
        </p:nvSpPr>
        <p:spPr>
          <a:xfrm>
            <a:off x="822960" y="3035808"/>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8-bit Adam</a:t>
            </a:r>
            <a:endParaRPr lang="en-US" sz="1250" dirty="0"/>
          </a:p>
        </p:txBody>
      </p:sp>
      <p:sp>
        <p:nvSpPr>
          <p:cNvPr id="17" name="Text 15"/>
          <p:cNvSpPr/>
          <p:nvPr/>
        </p:nvSpPr>
        <p:spPr>
          <a:xfrm>
            <a:off x="822960" y="3328416"/>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optim='paged_adamw_8bit'</a:t>
            </a:r>
            <a:endParaRPr lang="en-US" sz="950" dirty="0"/>
          </a:p>
        </p:txBody>
      </p:sp>
      <p:sp>
        <p:nvSpPr>
          <p:cNvPr id="18" name="Text 16"/>
          <p:cNvSpPr/>
          <p:nvPr/>
        </p:nvSpPr>
        <p:spPr>
          <a:xfrm>
            <a:off x="4069080" y="3017520"/>
            <a:ext cx="7589520" cy="54864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Optimizer state at 1/4 the memory. With LoRA the state is already small, but paged is what survives spikes on 4GB.</a:t>
            </a:r>
            <a:endParaRPr lang="en-US" sz="1180" dirty="0"/>
          </a:p>
        </p:txBody>
      </p:sp>
      <p:sp>
        <p:nvSpPr>
          <p:cNvPr id="19" name="Shape 17"/>
          <p:cNvSpPr/>
          <p:nvPr/>
        </p:nvSpPr>
        <p:spPr>
          <a:xfrm>
            <a:off x="502920" y="3749040"/>
            <a:ext cx="11155680" cy="731520"/>
          </a:xfrm>
          <a:prstGeom prst="roundRect">
            <a:avLst>
              <a:gd name="adj" fmla="val 87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502920" y="3749040"/>
            <a:ext cx="91440" cy="731520"/>
          </a:xfrm>
          <a:prstGeom prst="rect">
            <a:avLst/>
          </a:prstGeom>
          <a:solidFill>
            <a:srgbClr val="D98E32"/>
          </a:solidFill>
          <a:ln/>
        </p:spPr>
      </p:sp>
      <p:sp>
        <p:nvSpPr>
          <p:cNvPr id="21" name="Text 19"/>
          <p:cNvSpPr/>
          <p:nvPr/>
        </p:nvSpPr>
        <p:spPr>
          <a:xfrm>
            <a:off x="822960" y="3858768"/>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Do not use fp32</a:t>
            </a:r>
            <a:endParaRPr lang="en-US" sz="1250" dirty="0"/>
          </a:p>
        </p:txBody>
      </p:sp>
      <p:sp>
        <p:nvSpPr>
          <p:cNvPr id="22" name="Text 20"/>
          <p:cNvSpPr/>
          <p:nvPr/>
        </p:nvSpPr>
        <p:spPr>
          <a:xfrm>
            <a:off x="822960" y="4151376"/>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wastes everything</a:t>
            </a:r>
            <a:endParaRPr lang="en-US" sz="950" dirty="0"/>
          </a:p>
        </p:txBody>
      </p:sp>
      <p:sp>
        <p:nvSpPr>
          <p:cNvPr id="23" name="Text 21"/>
          <p:cNvSpPr/>
          <p:nvPr/>
        </p:nvSpPr>
        <p:spPr>
          <a:xfrm>
            <a:off x="4069080" y="3840480"/>
            <a:ext cx="7589520" cy="54864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No benefit at this scale and 2x the memory. bf16 mixed precision is the default for good reason.</a:t>
            </a:r>
            <a:endParaRPr lang="en-US" sz="1180" dirty="0"/>
          </a:p>
        </p:txBody>
      </p:sp>
      <p:sp>
        <p:nvSpPr>
          <p:cNvPr id="24" name="Shape 22"/>
          <p:cNvSpPr/>
          <p:nvPr/>
        </p:nvSpPr>
        <p:spPr>
          <a:xfrm>
            <a:off x="502920" y="4572000"/>
            <a:ext cx="11155680" cy="731520"/>
          </a:xfrm>
          <a:prstGeom prst="roundRect">
            <a:avLst>
              <a:gd name="adj" fmla="val 87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502920" y="4572000"/>
            <a:ext cx="91440" cy="731520"/>
          </a:xfrm>
          <a:prstGeom prst="rect">
            <a:avLst/>
          </a:prstGeom>
          <a:solidFill>
            <a:srgbClr val="16211B"/>
          </a:solidFill>
          <a:ln/>
        </p:spPr>
      </p:sp>
      <p:sp>
        <p:nvSpPr>
          <p:cNvPr id="26" name="Text 24"/>
          <p:cNvSpPr/>
          <p:nvPr/>
        </p:nvSpPr>
        <p:spPr>
          <a:xfrm>
            <a:off x="822960" y="4681728"/>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torch.compile</a:t>
            </a:r>
            <a:endParaRPr lang="en-US" sz="1250" dirty="0"/>
          </a:p>
        </p:txBody>
      </p:sp>
      <p:sp>
        <p:nvSpPr>
          <p:cNvPr id="27" name="Text 25"/>
          <p:cNvSpPr/>
          <p:nvPr/>
        </p:nvSpPr>
        <p:spPr>
          <a:xfrm>
            <a:off x="822960" y="4974336"/>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optional, fiddly</a:t>
            </a:r>
            <a:endParaRPr lang="en-US" sz="950" dirty="0"/>
          </a:p>
        </p:txBody>
      </p:sp>
      <p:sp>
        <p:nvSpPr>
          <p:cNvPr id="28" name="Text 26"/>
          <p:cNvSpPr/>
          <p:nvPr/>
        </p:nvSpPr>
        <p:spPr>
          <a:xfrm>
            <a:off x="4069080" y="4663440"/>
            <a:ext cx="7589520" cy="54864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Can give real speedups; also breaks frequently with PEFT and quantization. Try it late, not early.</a:t>
            </a:r>
            <a:endParaRPr lang="en-US" sz="1180" dirty="0"/>
          </a:p>
        </p:txBody>
      </p:sp>
      <p:sp>
        <p:nvSpPr>
          <p:cNvPr id="29" name="Shape 27"/>
          <p:cNvSpPr/>
          <p:nvPr/>
        </p:nvSpPr>
        <p:spPr>
          <a:xfrm>
            <a:off x="502920" y="5394960"/>
            <a:ext cx="11155680" cy="731520"/>
          </a:xfrm>
          <a:prstGeom prst="roundRect">
            <a:avLst>
              <a:gd name="adj" fmla="val 87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502920" y="5394960"/>
            <a:ext cx="91440" cy="731520"/>
          </a:xfrm>
          <a:prstGeom prst="rect">
            <a:avLst/>
          </a:prstGeom>
          <a:solidFill>
            <a:srgbClr val="8FB573"/>
          </a:solidFill>
          <a:ln/>
        </p:spPr>
      </p:sp>
      <p:sp>
        <p:nvSpPr>
          <p:cNvPr id="31" name="Text 29"/>
          <p:cNvSpPr/>
          <p:nvPr/>
        </p:nvSpPr>
        <p:spPr>
          <a:xfrm>
            <a:off x="822960" y="5504688"/>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Watch grad_norm</a:t>
            </a:r>
            <a:endParaRPr lang="en-US" sz="1250" dirty="0"/>
          </a:p>
        </p:txBody>
      </p:sp>
      <p:sp>
        <p:nvSpPr>
          <p:cNvPr id="32" name="Text 30"/>
          <p:cNvSpPr/>
          <p:nvPr/>
        </p:nvSpPr>
        <p:spPr>
          <a:xfrm>
            <a:off x="822960" y="5797296"/>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log it every step</a:t>
            </a:r>
            <a:endParaRPr lang="en-US" sz="950" dirty="0"/>
          </a:p>
        </p:txBody>
      </p:sp>
      <p:sp>
        <p:nvSpPr>
          <p:cNvPr id="33" name="Text 31"/>
          <p:cNvSpPr/>
          <p:nvPr/>
        </p:nvSpPr>
        <p:spPr>
          <a:xfrm>
            <a:off x="4069080" y="5486400"/>
            <a:ext cx="7589520" cy="54864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Rising grad_norm precedes divergence. It is your earliest warning that the LR is too high — earlier than the loss curve.</a:t>
            </a:r>
            <a:endParaRPr lang="en-US" sz="1180" dirty="0"/>
          </a:p>
        </p:txBody>
      </p:sp>
      <p:sp>
        <p:nvSpPr>
          <p:cNvPr id="34" name="Text 3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97</a:t>
            </a:r>
            <a:endParaRPr lang="en-US" sz="9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Unsloth — why it is not optional on 4GB</a:t>
            </a:r>
            <a:endParaRPr lang="en-US" sz="2900" dirty="0"/>
          </a:p>
        </p:txBody>
      </p:sp>
      <p:sp>
        <p:nvSpPr>
          <p:cNvPr id="4" name="Shape 2"/>
          <p:cNvSpPr/>
          <p:nvPr/>
        </p:nvSpPr>
        <p:spPr>
          <a:xfrm>
            <a:off x="502920" y="1280160"/>
            <a:ext cx="5504688" cy="1325880"/>
          </a:xfrm>
          <a:prstGeom prst="roundRect">
            <a:avLst>
              <a:gd name="adj" fmla="val 482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5065776"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What it does</a:t>
            </a:r>
            <a:endParaRPr lang="en-US" sz="1250" dirty="0"/>
          </a:p>
        </p:txBody>
      </p:sp>
      <p:sp>
        <p:nvSpPr>
          <p:cNvPr id="6" name="Text 4"/>
          <p:cNvSpPr/>
          <p:nvPr/>
        </p:nvSpPr>
        <p:spPr>
          <a:xfrm>
            <a:off x="722376" y="1737360"/>
            <a:ext cx="5065776" cy="7223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Replaces the hot paths — attention, MLP, RoPE, cross-entropy — with hand-written Triton kernels and a manual backward pass. Same math, far less overhead.</a:t>
            </a:r>
            <a:endParaRPr lang="en-US" sz="1100" dirty="0"/>
          </a:p>
        </p:txBody>
      </p:sp>
      <p:sp>
        <p:nvSpPr>
          <p:cNvPr id="7" name="Shape 5"/>
          <p:cNvSpPr/>
          <p:nvPr/>
        </p:nvSpPr>
        <p:spPr>
          <a:xfrm>
            <a:off x="6153912" y="1280160"/>
            <a:ext cx="5504688" cy="1325880"/>
          </a:xfrm>
          <a:prstGeom prst="roundRect">
            <a:avLst>
              <a:gd name="adj" fmla="val 482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373368" y="1426464"/>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What you get</a:t>
            </a:r>
            <a:endParaRPr lang="en-US" sz="1250" dirty="0"/>
          </a:p>
        </p:txBody>
      </p:sp>
      <p:sp>
        <p:nvSpPr>
          <p:cNvPr id="9" name="Text 7"/>
          <p:cNvSpPr/>
          <p:nvPr/>
        </p:nvSpPr>
        <p:spPr>
          <a:xfrm>
            <a:off x="6373368" y="1737360"/>
            <a:ext cx="5065776" cy="7223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Roughly 2x throughput and 50–70% less VRAM versus stock HF + PEFT. No accuracy loss; this is an implementation optimization, not an approximation.</a:t>
            </a:r>
            <a:endParaRPr lang="en-US" sz="1100" dirty="0"/>
          </a:p>
        </p:txBody>
      </p:sp>
      <p:sp>
        <p:nvSpPr>
          <p:cNvPr id="10" name="Shape 8"/>
          <p:cNvSpPr/>
          <p:nvPr/>
        </p:nvSpPr>
        <p:spPr>
          <a:xfrm>
            <a:off x="502920" y="2752344"/>
            <a:ext cx="5504688" cy="1325880"/>
          </a:xfrm>
          <a:prstGeom prst="roundRect">
            <a:avLst>
              <a:gd name="adj" fmla="val 482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722376" y="2898648"/>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Why it matters here</a:t>
            </a:r>
            <a:endParaRPr lang="en-US" sz="1250" dirty="0"/>
          </a:p>
        </p:txBody>
      </p:sp>
      <p:sp>
        <p:nvSpPr>
          <p:cNvPr id="12" name="Text 10"/>
          <p:cNvSpPr/>
          <p:nvPr/>
        </p:nvSpPr>
        <p:spPr>
          <a:xfrm>
            <a:off x="722376" y="3209544"/>
            <a:ext cx="5065776" cy="7223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It is the difference between 1.5B being trainable on your card and not. At 0.5B it means twice as many experiments per day.</a:t>
            </a:r>
            <a:endParaRPr lang="en-US" sz="1100" dirty="0"/>
          </a:p>
        </p:txBody>
      </p:sp>
      <p:sp>
        <p:nvSpPr>
          <p:cNvPr id="13" name="Shape 11"/>
          <p:cNvSpPr/>
          <p:nvPr/>
        </p:nvSpPr>
        <p:spPr>
          <a:xfrm>
            <a:off x="6153912" y="2752344"/>
            <a:ext cx="5504688" cy="1325880"/>
          </a:xfrm>
          <a:prstGeom prst="roundRect">
            <a:avLst>
              <a:gd name="adj" fmla="val 482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6373368" y="2898648"/>
            <a:ext cx="5065776"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The catch</a:t>
            </a:r>
            <a:endParaRPr lang="en-US" sz="1250" dirty="0"/>
          </a:p>
        </p:txBody>
      </p:sp>
      <p:sp>
        <p:nvSpPr>
          <p:cNvPr id="15" name="Text 13"/>
          <p:cNvSpPr/>
          <p:nvPr/>
        </p:nvSpPr>
        <p:spPr>
          <a:xfrm>
            <a:off x="6373368" y="3209544"/>
            <a:ext cx="5065776" cy="7223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CUDA only, so the Mac cannot use it. Model coverage is good but not universal — check that your architecture is supported before building a pipeline around it.</a:t>
            </a:r>
            <a:endParaRPr lang="en-US" sz="1100" dirty="0"/>
          </a:p>
        </p:txBody>
      </p:sp>
      <p:sp>
        <p:nvSpPr>
          <p:cNvPr id="16" name="Shape 14"/>
          <p:cNvSpPr/>
          <p:nvPr/>
        </p:nvSpPr>
        <p:spPr>
          <a:xfrm>
            <a:off x="502920" y="3977640"/>
            <a:ext cx="11155680" cy="1828800"/>
          </a:xfrm>
          <a:prstGeom prst="roundRect">
            <a:avLst>
              <a:gd name="adj" fmla="val 3000"/>
            </a:avLst>
          </a:prstGeom>
          <a:solidFill>
            <a:srgbClr val="0F1F17"/>
          </a:solidFill>
          <a:ln/>
        </p:spPr>
      </p:sp>
      <p:sp>
        <p:nvSpPr>
          <p:cNvPr id="17" name="Text 15"/>
          <p:cNvSpPr/>
          <p:nvPr/>
        </p:nvSpPr>
        <p:spPr>
          <a:xfrm>
            <a:off x="722376" y="4123944"/>
            <a:ext cx="10716768" cy="1536192"/>
          </a:xfrm>
          <a:prstGeom prst="rect">
            <a:avLst/>
          </a:prstGeom>
          <a:noFill/>
          <a:ln/>
        </p:spPr>
        <p:txBody>
          <a:bodyPr wrap="square" lIns="0" tIns="0" rIns="0" bIns="0" rtlCol="0" anchor="t"/>
          <a:lstStyle/>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from unsloth import FastLanguageModel</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model, tok = FastLanguageModel.from_pretrained(</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'unsloth/Qwen2.5-Coder-0.5B-Instruct', max_seq_length=1024,</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load_in_4bit=True, dtype=None)                    # dtype=None -&gt; auto bf16</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model = FastLanguageModel.get_peft_model(</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model, r=16, lora_alpha=32, lora_dropout=0.0,     # 0.0 is Unsloth's fast path</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target_modules=['q_proj','k_proj','v_proj','o_proj',</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'gate_proj','up_proj','down_proj'],</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use_gradient_checkpointing='unsloth')             # their own, more efficient variant</a:t>
            </a:r>
            <a:endParaRPr lang="en-US" sz="1000" dirty="0"/>
          </a:p>
        </p:txBody>
      </p:sp>
      <p:sp>
        <p:nvSpPr>
          <p:cNvPr id="18" name="Text 16"/>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98</a:t>
            </a:r>
            <a:endParaRPr lang="en-US" sz="9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TRL SFTTrainer, annotated</a:t>
            </a:r>
            <a:endParaRPr lang="en-US" sz="2900" dirty="0"/>
          </a:p>
        </p:txBody>
      </p:sp>
      <p:sp>
        <p:nvSpPr>
          <p:cNvPr id="4" name="Shape 2"/>
          <p:cNvSpPr/>
          <p:nvPr/>
        </p:nvSpPr>
        <p:spPr>
          <a:xfrm>
            <a:off x="502920" y="1280160"/>
            <a:ext cx="11155680" cy="4023360"/>
          </a:xfrm>
          <a:prstGeom prst="roundRect">
            <a:avLst>
              <a:gd name="adj" fmla="val 1364"/>
            </a:avLst>
          </a:prstGeom>
          <a:solidFill>
            <a:srgbClr val="0F1F17"/>
          </a:solidFill>
          <a:ln/>
        </p:spPr>
      </p:sp>
      <p:sp>
        <p:nvSpPr>
          <p:cNvPr id="5" name="Text 3"/>
          <p:cNvSpPr/>
          <p:nvPr/>
        </p:nvSpPr>
        <p:spPr>
          <a:xfrm>
            <a:off x="722376" y="1426464"/>
            <a:ext cx="1071676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sft.py</a:t>
            </a:r>
            <a:endParaRPr lang="en-US" sz="950" dirty="0"/>
          </a:p>
        </p:txBody>
      </p:sp>
      <p:sp>
        <p:nvSpPr>
          <p:cNvPr id="6" name="Text 4"/>
          <p:cNvSpPr/>
          <p:nvPr/>
        </p:nvSpPr>
        <p:spPr>
          <a:xfrm>
            <a:off x="722376" y="1700784"/>
            <a:ext cx="10716768" cy="3456432"/>
          </a:xfrm>
          <a:prstGeom prst="rect">
            <a:avLst/>
          </a:prstGeom>
          <a:noFill/>
          <a:ln/>
        </p:spPr>
        <p:txBody>
          <a:bodyPr wrap="square" lIns="0" tIns="0" rIns="0" bIns="0" rtlCol="0" anchor="t"/>
          <a:lstStyle/>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from trl import SFTTrainer, SFTConfig</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from trl import DataCollatorForCompletionOnlyLM</a:t>
            </a:r>
            <a:endParaRPr lang="en-US" sz="1000" dirty="0"/>
          </a:p>
          <a:p>
            <a:pPr indent="0" marL="0">
              <a:lnSpc>
                <a:spcPct val="112000"/>
              </a:lnSpc>
              <a:buNone/>
            </a:pPr>
            <a:endParaRPr lang="en-US" sz="1000" dirty="0"/>
          </a:p>
          <a:p>
            <a:pPr indent="0" marL="0">
              <a:lnSpc>
                <a:spcPct val="112000"/>
              </a:lnSpc>
              <a:buNone/>
            </a:pPr>
            <a:r>
              <a:rPr lang="en-US" sz="1000" b="1" dirty="0">
                <a:solidFill>
                  <a:srgbClr val="A8482A"/>
                </a:solidFill>
                <a:latin typeface="Courier New" pitchFamily="34" charset="0"/>
                <a:ea typeface="Courier New" pitchFamily="34" charset="-122"/>
                <a:cs typeface="Courier New" pitchFamily="34" charset="-120"/>
              </a:rPr>
              <a:t># THE CRITICAL LINE — this string must match your template EXACTLY</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collator = DataCollatorForCompletionOnlyLM(</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response_template='&lt;|im_start|&gt;assistant\n', tokenizer=tok)</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cfg = SFTConfig(</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output_dir='ckpt/06-sft-r16-lr2e4',</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per_device_train_batch_size=1,</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gradient_accumulation_steps=16,      # effective batch = 16</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num_train_epochs=2,</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learning_rate=2e-4,                  # 10x a full-FT LR</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lr_scheduler_type='cosine', warmup_ratio=0.03,</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bf16=True, gradient_checkpointing=True,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optim='paged_adamw_8bit',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max_seq_length=1024,                 # from YOUR p95, not a guess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logging_steps=10,</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eval_strategy='steps', eval_steps=100,          # mid-epoch eval</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load_best_model_at_end=True,                    # pick on EVAL</a:t>
            </a:r>
            <a:endParaRPr lang="en-US" sz="1000" dirty="0"/>
          </a:p>
          <a:p>
            <a:pPr indent="0" marL="0">
              <a:lnSpc>
                <a:spcPct val="112000"/>
              </a:lnSpc>
              <a:buNone/>
            </a:pPr>
            <a:r>
              <a:rPr lang="en-US" sz="1000" b="1" dirty="0">
                <a:solidFill>
                  <a:srgbClr val="8FB573"/>
                </a:solidFill>
                <a:latin typeface="Courier New" pitchFamily="34" charset="0"/>
                <a:ea typeface="Courier New" pitchFamily="34" charset="-122"/>
                <a:cs typeface="Courier New" pitchFamily="34" charset="-120"/>
              </a:rPr>
              <a:t>    metric_for_best_model='eval_pass_at_1',         # not eval_loss!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seed=0, report_to='wandb',</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trainer = SFTTrainer(model=model, args=cfg, train_dataset=ds,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data_collator=collator, peft_config=peft_config)</a:t>
            </a:r>
            <a:endParaRPr lang="en-US" sz="1000" dirty="0"/>
          </a:p>
        </p:txBody>
      </p:sp>
      <p:sp>
        <p:nvSpPr>
          <p:cNvPr id="7" name="Shape 5"/>
          <p:cNvSpPr/>
          <p:nvPr/>
        </p:nvSpPr>
        <p:spPr>
          <a:xfrm>
            <a:off x="502920" y="5486400"/>
            <a:ext cx="11155680" cy="566928"/>
          </a:xfrm>
          <a:prstGeom prst="roundRect">
            <a:avLst>
              <a:gd name="adj" fmla="val 9677"/>
            </a:avLst>
          </a:prstGeom>
          <a:solidFill>
            <a:srgbClr val="A8482A"/>
          </a:solidFill>
          <a:ln/>
        </p:spPr>
      </p:sp>
      <p:sp>
        <p:nvSpPr>
          <p:cNvPr id="8" name="Text 6"/>
          <p:cNvSpPr/>
          <p:nvPr/>
        </p:nvSpPr>
        <p:spPr>
          <a:xfrm>
            <a:off x="777240" y="548640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response_template must match your chat template byte for byte. A mismatch means NO masking is applied and nothing warns you.</a:t>
            </a:r>
            <a:endParaRPr lang="en-US" sz="1450" dirty="0"/>
          </a:p>
        </p:txBody>
      </p:sp>
      <p:sp>
        <p:nvSpPr>
          <p:cNvPr id="9" name="Text 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99</a:t>
            </a:r>
            <a:endParaRPr lang="en-US" sz="9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Alternatives — Axolotl, LLaMA-Factory, and the MLX path</a:t>
            </a:r>
            <a:endParaRPr lang="en-US" sz="2900" dirty="0"/>
          </a:p>
        </p:txBody>
      </p:sp>
      <p:sp>
        <p:nvSpPr>
          <p:cNvPr id="4" name="Shape 2"/>
          <p:cNvSpPr/>
          <p:nvPr/>
        </p:nvSpPr>
        <p:spPr>
          <a:xfrm>
            <a:off x="502920" y="1280160"/>
            <a:ext cx="5504688" cy="1371600"/>
          </a:xfrm>
          <a:prstGeom prst="roundRect">
            <a:avLst>
              <a:gd name="adj" fmla="val 4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5065776"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Axolotl</a:t>
            </a:r>
            <a:endParaRPr lang="en-US" sz="1250" dirty="0"/>
          </a:p>
        </p:txBody>
      </p:sp>
      <p:sp>
        <p:nvSpPr>
          <p:cNvPr id="6" name="Text 4"/>
          <p:cNvSpPr/>
          <p:nvPr/>
        </p:nvSpPr>
        <p:spPr>
          <a:xfrm>
            <a:off x="722376" y="1737360"/>
            <a:ext cx="5065776" cy="7680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Config-driven YAML, no Python required for standard runs. Excellent defaults, wide model support. Good when you want to run many variants without writing code.</a:t>
            </a:r>
            <a:endParaRPr lang="en-US" sz="1100" dirty="0"/>
          </a:p>
        </p:txBody>
      </p:sp>
      <p:sp>
        <p:nvSpPr>
          <p:cNvPr id="7" name="Shape 5"/>
          <p:cNvSpPr/>
          <p:nvPr/>
        </p:nvSpPr>
        <p:spPr>
          <a:xfrm>
            <a:off x="6153912" y="1280160"/>
            <a:ext cx="5504688" cy="1371600"/>
          </a:xfrm>
          <a:prstGeom prst="roundRect">
            <a:avLst>
              <a:gd name="adj" fmla="val 4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373368" y="1426464"/>
            <a:ext cx="5065776"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LLaMA-Factory</a:t>
            </a:r>
            <a:endParaRPr lang="en-US" sz="1250" dirty="0"/>
          </a:p>
        </p:txBody>
      </p:sp>
      <p:sp>
        <p:nvSpPr>
          <p:cNvPr id="9" name="Text 7"/>
          <p:cNvSpPr/>
          <p:nvPr/>
        </p:nvSpPr>
        <p:spPr>
          <a:xfrm>
            <a:off x="6373368" y="1737360"/>
            <a:ext cx="5065776" cy="7680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Similar philosophy, plus a web UI. Very broad method coverage — SFT, DPO, PPO, KTO all in one place.</a:t>
            </a:r>
            <a:endParaRPr lang="en-US" sz="1100" dirty="0"/>
          </a:p>
        </p:txBody>
      </p:sp>
      <p:sp>
        <p:nvSpPr>
          <p:cNvPr id="10" name="Shape 8"/>
          <p:cNvSpPr/>
          <p:nvPr/>
        </p:nvSpPr>
        <p:spPr>
          <a:xfrm>
            <a:off x="502920" y="2798064"/>
            <a:ext cx="5504688" cy="1371600"/>
          </a:xfrm>
          <a:prstGeom prst="roundRect">
            <a:avLst>
              <a:gd name="adj" fmla="val 4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722376" y="2944368"/>
            <a:ext cx="5065776"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torchtune</a:t>
            </a:r>
            <a:endParaRPr lang="en-US" sz="1250" dirty="0"/>
          </a:p>
        </p:txBody>
      </p:sp>
      <p:sp>
        <p:nvSpPr>
          <p:cNvPr id="12" name="Text 10"/>
          <p:cNvSpPr/>
          <p:nvPr/>
        </p:nvSpPr>
        <p:spPr>
          <a:xfrm>
            <a:off x="722376" y="3255264"/>
            <a:ext cx="5065776" cy="7680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PyTorch-native, readable recipes. Good if you want to READ the training loop rather than configure one.</a:t>
            </a:r>
            <a:endParaRPr lang="en-US" sz="1100" dirty="0"/>
          </a:p>
        </p:txBody>
      </p:sp>
      <p:sp>
        <p:nvSpPr>
          <p:cNvPr id="13" name="Shape 11"/>
          <p:cNvSpPr/>
          <p:nvPr/>
        </p:nvSpPr>
        <p:spPr>
          <a:xfrm>
            <a:off x="6153912" y="2798064"/>
            <a:ext cx="5504688" cy="1371600"/>
          </a:xfrm>
          <a:prstGeom prst="roundRect">
            <a:avLst>
              <a:gd name="adj" fmla="val 4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6373368" y="2944368"/>
            <a:ext cx="5065776"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MLX (Mac)</a:t>
            </a:r>
            <a:endParaRPr lang="en-US" sz="1250" dirty="0"/>
          </a:p>
        </p:txBody>
      </p:sp>
      <p:sp>
        <p:nvSpPr>
          <p:cNvPr id="15" name="Text 13"/>
          <p:cNvSpPr/>
          <p:nvPr/>
        </p:nvSpPr>
        <p:spPr>
          <a:xfrm>
            <a:off x="6373368" y="3255264"/>
            <a:ext cx="5065776" cy="7680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mlx_lm.lora trains on Apple Silicon. Fast for its class. Apple-specific, so the knowledge does not transfer — use it for local iteration, not as your primary path.</a:t>
            </a:r>
            <a:endParaRPr lang="en-US" sz="1100" dirty="0"/>
          </a:p>
        </p:txBody>
      </p:sp>
      <p:sp>
        <p:nvSpPr>
          <p:cNvPr id="16" name="Shape 14"/>
          <p:cNvSpPr/>
          <p:nvPr/>
        </p:nvSpPr>
        <p:spPr>
          <a:xfrm>
            <a:off x="502920" y="4069080"/>
            <a:ext cx="11155680" cy="1463040"/>
          </a:xfrm>
          <a:prstGeom prst="roundRect">
            <a:avLst>
              <a:gd name="adj" fmla="val 3750"/>
            </a:avLst>
          </a:prstGeom>
          <a:solidFill>
            <a:srgbClr val="0F1F17"/>
          </a:solidFill>
          <a:ln/>
        </p:spPr>
      </p:sp>
      <p:sp>
        <p:nvSpPr>
          <p:cNvPr id="17" name="Text 15"/>
          <p:cNvSpPr/>
          <p:nvPr/>
        </p:nvSpPr>
        <p:spPr>
          <a:xfrm>
            <a:off x="722376" y="4215384"/>
            <a:ext cx="10716768" cy="117043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The MLX path on the Mac — useful for a parallel run while the Asus is busy</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mlx_lm.lora --model Qwen/Qwen2.5-Coder-0.5B-Instruct --train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--data data/processed/v3-curated-10k --batch-size 4 --num-layers 16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--iters 2000 --learning-rate 2e-4 --adapter-path ckpt/mlx-sft-v3</a:t>
            </a:r>
            <a:endParaRPr lang="en-US" sz="1000" dirty="0"/>
          </a:p>
        </p:txBody>
      </p:sp>
      <p:sp>
        <p:nvSpPr>
          <p:cNvPr id="18" name="Shape 16"/>
          <p:cNvSpPr/>
          <p:nvPr/>
        </p:nvSpPr>
        <p:spPr>
          <a:xfrm>
            <a:off x="502920" y="5715000"/>
            <a:ext cx="11155680" cy="566928"/>
          </a:xfrm>
          <a:prstGeom prst="roundRect">
            <a:avLst>
              <a:gd name="adj" fmla="val 9677"/>
            </a:avLst>
          </a:prstGeom>
          <a:solidFill>
            <a:srgbClr val="8FB573"/>
          </a:solidFill>
          <a:ln/>
        </p:spPr>
      </p:sp>
      <p:sp>
        <p:nvSpPr>
          <p:cNvPr id="19" name="Text 17"/>
          <p:cNvSpPr/>
          <p:nvPr/>
        </p:nvSpPr>
        <p:spPr>
          <a:xfrm>
            <a:off x="777240" y="571500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Recommendation: write sft.py with TRL yourself. You are here to learn the mechanics, and configs hide them.</a:t>
            </a:r>
            <a:endParaRPr lang="en-US" sz="1450" dirty="0"/>
          </a:p>
        </p:txBody>
      </p:sp>
      <p:sp>
        <p:nvSpPr>
          <p:cNvPr id="20" name="Text 1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100</a:t>
            </a:r>
            <a:endParaRPr lang="en-US" sz="9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Catastrophic forgetting — measure it or it happens invisibly</a:t>
            </a:r>
            <a:endParaRPr lang="en-US" sz="2900" dirty="0"/>
          </a:p>
        </p:txBody>
      </p:sp>
      <p:sp>
        <p:nvSpPr>
          <p:cNvPr id="4" name="Shape 2"/>
          <p:cNvSpPr/>
          <p:nvPr/>
        </p:nvSpPr>
        <p:spPr>
          <a:xfrm>
            <a:off x="502920"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What it is</a:t>
            </a:r>
            <a:endParaRPr lang="en-US" sz="1250" dirty="0"/>
          </a:p>
        </p:txBody>
      </p:sp>
      <p:sp>
        <p:nvSpPr>
          <p:cNvPr id="6" name="Text 4"/>
          <p:cNvSpPr/>
          <p:nvPr/>
        </p:nvSpPr>
        <p:spPr>
          <a:xfrm>
            <a:off x="722376"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model gains your task and loses unrelated abilities. Weights that encoded general capability get overwritten by your narrow gradient signal.</a:t>
            </a:r>
            <a:endParaRPr lang="en-US" sz="1100" dirty="0"/>
          </a:p>
        </p:txBody>
      </p:sp>
      <p:sp>
        <p:nvSpPr>
          <p:cNvPr id="7" name="Shape 5"/>
          <p:cNvSpPr/>
          <p:nvPr/>
        </p:nvSpPr>
        <p:spPr>
          <a:xfrm>
            <a:off x="4270248"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4489704" y="14264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Why LoRA helps</a:t>
            </a:r>
            <a:endParaRPr lang="en-US" sz="1250" dirty="0"/>
          </a:p>
        </p:txBody>
      </p:sp>
      <p:sp>
        <p:nvSpPr>
          <p:cNvPr id="9" name="Text 7"/>
          <p:cNvSpPr/>
          <p:nvPr/>
        </p:nvSpPr>
        <p:spPr>
          <a:xfrm>
            <a:off x="4489704"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base is frozen and the update is low-rank, so the damage is bounded. LoRA forgets far less than full fine-tuning — but it still forgets.</a:t>
            </a:r>
            <a:endParaRPr lang="en-US" sz="1100" dirty="0"/>
          </a:p>
        </p:txBody>
      </p:sp>
      <p:sp>
        <p:nvSpPr>
          <p:cNvPr id="10" name="Shape 8"/>
          <p:cNvSpPr/>
          <p:nvPr/>
        </p:nvSpPr>
        <p:spPr>
          <a:xfrm>
            <a:off x="8037576"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8257032" y="1426464"/>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How to see it</a:t>
            </a:r>
            <a:endParaRPr lang="en-US" sz="1250" dirty="0"/>
          </a:p>
        </p:txBody>
      </p:sp>
      <p:sp>
        <p:nvSpPr>
          <p:cNvPr id="12" name="Text 10"/>
          <p:cNvSpPr/>
          <p:nvPr/>
        </p:nvSpPr>
        <p:spPr>
          <a:xfrm>
            <a:off x="8257032"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Run a general benchmark on every checkpoint. Without that, forgetting is completely invisible until a user complains.</a:t>
            </a:r>
            <a:endParaRPr lang="en-US" sz="1100" dirty="0"/>
          </a:p>
        </p:txBody>
      </p:sp>
      <p:sp>
        <p:nvSpPr>
          <p:cNvPr id="13" name="Shape 11"/>
          <p:cNvSpPr/>
          <p:nvPr/>
        </p:nvSpPr>
        <p:spPr>
          <a:xfrm>
            <a:off x="502920"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22376" y="312724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Mitigation 1 — mix in general data</a:t>
            </a:r>
            <a:endParaRPr lang="en-US" sz="1250" dirty="0"/>
          </a:p>
        </p:txBody>
      </p:sp>
      <p:sp>
        <p:nvSpPr>
          <p:cNvPr id="15" name="Text 13"/>
          <p:cNvSpPr/>
          <p:nvPr/>
        </p:nvSpPr>
        <p:spPr>
          <a:xfrm>
            <a:off x="722376"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5–15% general instruction data. Costs about half a point of code performance, recovers most general ability.</a:t>
            </a:r>
            <a:endParaRPr lang="en-US" sz="1100" dirty="0"/>
          </a:p>
        </p:txBody>
      </p:sp>
      <p:sp>
        <p:nvSpPr>
          <p:cNvPr id="16" name="Shape 14"/>
          <p:cNvSpPr/>
          <p:nvPr/>
        </p:nvSpPr>
        <p:spPr>
          <a:xfrm>
            <a:off x="4270248"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4489704" y="312724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Mitigation 2 — lower rank / fewer epochs</a:t>
            </a:r>
            <a:endParaRPr lang="en-US" sz="1250" dirty="0"/>
          </a:p>
        </p:txBody>
      </p:sp>
      <p:sp>
        <p:nvSpPr>
          <p:cNvPr id="18" name="Text 16"/>
          <p:cNvSpPr/>
          <p:nvPr/>
        </p:nvSpPr>
        <p:spPr>
          <a:xfrm>
            <a:off x="4489704"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Less capacity and less exposure means less overwriting. Often the simplest fix.</a:t>
            </a:r>
            <a:endParaRPr lang="en-US" sz="1100" dirty="0"/>
          </a:p>
        </p:txBody>
      </p:sp>
      <p:sp>
        <p:nvSpPr>
          <p:cNvPr id="19" name="Shape 17"/>
          <p:cNvSpPr/>
          <p:nvPr/>
        </p:nvSpPr>
        <p:spPr>
          <a:xfrm>
            <a:off x="8037576"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8257032" y="312724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Mitigation 3 — merge with the base</a:t>
            </a:r>
            <a:endParaRPr lang="en-US" sz="1250" dirty="0"/>
          </a:p>
        </p:txBody>
      </p:sp>
      <p:sp>
        <p:nvSpPr>
          <p:cNvPr id="21" name="Text 19"/>
          <p:cNvSpPr/>
          <p:nvPr/>
        </p:nvSpPr>
        <p:spPr>
          <a:xfrm>
            <a:off x="8257032"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In Phase 11, merging your fine-tune back toward the base recovers general ability at some task cost. A genuine dial.</a:t>
            </a:r>
            <a:endParaRPr lang="en-US" sz="1100" dirty="0"/>
          </a:p>
        </p:txBody>
      </p:sp>
      <p:sp>
        <p:nvSpPr>
          <p:cNvPr id="22" name="Shape 20"/>
          <p:cNvSpPr/>
          <p:nvPr/>
        </p:nvSpPr>
        <p:spPr>
          <a:xfrm>
            <a:off x="502920" y="4892040"/>
            <a:ext cx="11155680" cy="566928"/>
          </a:xfrm>
          <a:prstGeom prst="roundRect">
            <a:avLst>
              <a:gd name="adj" fmla="val 9677"/>
            </a:avLst>
          </a:prstGeom>
          <a:solidFill>
            <a:srgbClr val="8FB573"/>
          </a:solidFill>
          <a:ln/>
        </p:spPr>
      </p:sp>
      <p:sp>
        <p:nvSpPr>
          <p:cNvPr id="23" name="Text 21"/>
          <p:cNvSpPr/>
          <p:nvPr/>
        </p:nvSpPr>
        <p:spPr>
          <a:xfrm>
            <a:off x="777240" y="489204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Forgetting is a legitimate design CHOICE. It should never be a surprise.</a:t>
            </a:r>
            <a:endParaRPr lang="en-US" sz="1450" dirty="0"/>
          </a:p>
        </p:txBody>
      </p:sp>
      <p:sp>
        <p:nvSpPr>
          <p:cNvPr id="24" name="Shape 22"/>
          <p:cNvSpPr/>
          <p:nvPr/>
        </p:nvSpPr>
        <p:spPr>
          <a:xfrm>
            <a:off x="502920" y="5623560"/>
            <a:ext cx="11155680" cy="914400"/>
          </a:xfrm>
          <a:prstGeom prst="roundRect">
            <a:avLst>
              <a:gd name="adj" fmla="val 7000"/>
            </a:avLst>
          </a:prstGeom>
          <a:solidFill>
            <a:srgbClr val="1F3D2E"/>
          </a:solidFill>
          <a:ln/>
        </p:spPr>
      </p:sp>
      <p:sp>
        <p:nvSpPr>
          <p:cNvPr id="25" name="Shape 23"/>
          <p:cNvSpPr/>
          <p:nvPr/>
        </p:nvSpPr>
        <p:spPr>
          <a:xfrm>
            <a:off x="740664" y="5806440"/>
            <a:ext cx="292608" cy="292608"/>
          </a:xfrm>
          <a:prstGeom prst="ellipse">
            <a:avLst/>
          </a:prstGeom>
          <a:solidFill>
            <a:srgbClr val="1F3D2E"/>
          </a:solidFill>
          <a:ln/>
        </p:spPr>
      </p:sp>
      <p:sp>
        <p:nvSpPr>
          <p:cNvPr id="26" name="Text 24"/>
          <p:cNvSpPr/>
          <p:nvPr/>
        </p:nvSpPr>
        <p:spPr>
          <a:xfrm>
            <a:off x="740664" y="58064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7" name="Text 25"/>
          <p:cNvSpPr/>
          <p:nvPr/>
        </p:nvSpPr>
        <p:spPr>
          <a:xfrm>
            <a:off x="1133856" y="58247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8" name="Text 26"/>
          <p:cNvSpPr/>
          <p:nvPr/>
        </p:nvSpPr>
        <p:spPr>
          <a:xfrm>
            <a:off x="740664" y="6199632"/>
            <a:ext cx="10680192" cy="1645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My best code checkpoint could no longer answer a general knowledge question in a complete sentence. It had become a function-emitting appliance. Fine as a deliberate decision; alarming as a discovery.</a:t>
            </a:r>
            <a:endParaRPr lang="en-US" sz="1150" dirty="0"/>
          </a:p>
        </p:txBody>
      </p:sp>
      <p:sp>
        <p:nvSpPr>
          <p:cNvPr id="29" name="Text 2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101</a:t>
            </a:r>
            <a:endParaRPr lang="en-US" sz="9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Reading training curves like an engineer</a:t>
            </a:r>
            <a:endParaRPr lang="en-US" sz="290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566160"/>
                <a:gridCol w="3840480"/>
                <a:gridCol w="374904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you see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means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to do</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Loss flat from step 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LR too low, or nothing is trainable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print_trainable_parameters(); raise LR 10x</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Loss drops then plateaus high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Underfitting: capacity or LR too low</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Raise rank, raise LR, train longer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Loss drops smoothly, eval flat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Memorization — the classic</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Fewer epochs; checkpoint on eval; check for duplicates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Loss oscillates violently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LR too high, or effective batch too small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Lower LR 3x; raise gradient accumulation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Sudden spike then recovery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 bad batch — outlier or corrupt record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Usually benign; if repeated, inspect that data slice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Loss → NaN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fp16 overflow, or LR far too high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Switch to bf16; lower LR; check for inf in data</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grad_norm climbing steadily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Approaching divergence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Lower LR now, before the loss shows it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Eval improves then declines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Overfitting past the peak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You already have the best checkpoint. Stop.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Train and eval both flat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Data problem, not a training problem</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Go back to Phase 5. Check masking and templates.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5029200"/>
            <a:ext cx="11155680" cy="566928"/>
          </a:xfrm>
          <a:prstGeom prst="roundRect">
            <a:avLst>
              <a:gd name="adj" fmla="val 9677"/>
            </a:avLst>
          </a:prstGeom>
          <a:solidFill>
            <a:srgbClr val="8FB573"/>
          </a:solidFill>
          <a:ln/>
        </p:spPr>
      </p:sp>
      <p:sp>
        <p:nvSpPr>
          <p:cNvPr id="6" name="Text 3"/>
          <p:cNvSpPr/>
          <p:nvPr/>
        </p:nvSpPr>
        <p:spPr>
          <a:xfrm>
            <a:off x="777240" y="502920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The loss curve tells you about optimization. Only the eval curve tells you about capability.</a:t>
            </a:r>
            <a:endParaRPr lang="en-US" sz="1450" dirty="0"/>
          </a:p>
        </p:txBody>
      </p:sp>
      <p:sp>
        <p:nvSpPr>
          <p:cNvPr id="7" name="Text 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102</a:t>
            </a:r>
            <a:endParaRPr lang="en-US" sz="9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Debugging — OOM on a 4GB card</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Work down this list in order. The first two solve most cases.</a:t>
            </a:r>
            <a:endParaRPr lang="en-US" sz="1300" dirty="0"/>
          </a:p>
        </p:txBody>
      </p:sp>
      <p:sp>
        <p:nvSpPr>
          <p:cNvPr id="5" name="Shape 3"/>
          <p:cNvSpPr/>
          <p:nvPr/>
        </p:nvSpPr>
        <p:spPr>
          <a:xfrm>
            <a:off x="502920" y="1481328"/>
            <a:ext cx="11155680" cy="518922"/>
          </a:xfrm>
          <a:prstGeom prst="roundRect">
            <a:avLst>
              <a:gd name="adj" fmla="val 123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Shape 4"/>
          <p:cNvSpPr/>
          <p:nvPr/>
        </p:nvSpPr>
        <p:spPr>
          <a:xfrm>
            <a:off x="749808" y="1539621"/>
            <a:ext cx="402336" cy="402336"/>
          </a:xfrm>
          <a:prstGeom prst="ellipse">
            <a:avLst/>
          </a:prstGeom>
          <a:solidFill>
            <a:srgbClr val="8FB573"/>
          </a:solidFill>
          <a:ln/>
        </p:spPr>
      </p:sp>
      <p:sp>
        <p:nvSpPr>
          <p:cNvPr id="7" name="Text 5"/>
          <p:cNvSpPr/>
          <p:nvPr/>
        </p:nvSpPr>
        <p:spPr>
          <a:xfrm>
            <a:off x="749808" y="1539621"/>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316736" y="160934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Confirm the card is actually idle</a:t>
            </a:r>
            <a:endParaRPr lang="en-US" sz="1300" dirty="0"/>
          </a:p>
        </p:txBody>
      </p:sp>
      <p:sp>
        <p:nvSpPr>
          <p:cNvPr id="9" name="Text 7"/>
          <p:cNvSpPr/>
          <p:nvPr/>
        </p:nvSpPr>
        <p:spPr>
          <a:xfrm>
            <a:off x="1316736" y="1901952"/>
            <a:ext cx="10058400" cy="685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nvidia-smi should read single-digit MB before you start. Hundreds means the dGPU drives your display, or a dead process holds the context.</a:t>
            </a:r>
            <a:endParaRPr lang="en-US" sz="1150" dirty="0"/>
          </a:p>
        </p:txBody>
      </p:sp>
      <p:sp>
        <p:nvSpPr>
          <p:cNvPr id="10" name="Shape 8"/>
          <p:cNvSpPr/>
          <p:nvPr/>
        </p:nvSpPr>
        <p:spPr>
          <a:xfrm>
            <a:off x="502920" y="2109978"/>
            <a:ext cx="11155680" cy="518922"/>
          </a:xfrm>
          <a:prstGeom prst="roundRect">
            <a:avLst>
              <a:gd name="adj" fmla="val 123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9"/>
          <p:cNvSpPr/>
          <p:nvPr/>
        </p:nvSpPr>
        <p:spPr>
          <a:xfrm>
            <a:off x="749808" y="2168271"/>
            <a:ext cx="402336" cy="402336"/>
          </a:xfrm>
          <a:prstGeom prst="ellipse">
            <a:avLst/>
          </a:prstGeom>
          <a:solidFill>
            <a:srgbClr val="8FB573"/>
          </a:solidFill>
          <a:ln/>
        </p:spPr>
      </p:sp>
      <p:sp>
        <p:nvSpPr>
          <p:cNvPr id="12" name="Text 10"/>
          <p:cNvSpPr/>
          <p:nvPr/>
        </p:nvSpPr>
        <p:spPr>
          <a:xfrm>
            <a:off x="749808" y="2168271"/>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1316736" y="223799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Lower seq_len before anything else</a:t>
            </a:r>
            <a:endParaRPr lang="en-US" sz="1300" dirty="0"/>
          </a:p>
        </p:txBody>
      </p:sp>
      <p:sp>
        <p:nvSpPr>
          <p:cNvPr id="14" name="Text 12"/>
          <p:cNvSpPr/>
          <p:nvPr/>
        </p:nvSpPr>
        <p:spPr>
          <a:xfrm>
            <a:off x="1316736" y="2530602"/>
            <a:ext cx="10058400" cy="685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Activations scale with sequence length. 1024 → 512 roughly halves activation memory and is the single most effective lever.</a:t>
            </a:r>
            <a:endParaRPr lang="en-US" sz="1150" dirty="0"/>
          </a:p>
        </p:txBody>
      </p:sp>
      <p:sp>
        <p:nvSpPr>
          <p:cNvPr id="15" name="Shape 13"/>
          <p:cNvSpPr/>
          <p:nvPr/>
        </p:nvSpPr>
        <p:spPr>
          <a:xfrm>
            <a:off x="502920" y="2738628"/>
            <a:ext cx="11155680" cy="518922"/>
          </a:xfrm>
          <a:prstGeom prst="roundRect">
            <a:avLst>
              <a:gd name="adj" fmla="val 123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4"/>
          <p:cNvSpPr/>
          <p:nvPr/>
        </p:nvSpPr>
        <p:spPr>
          <a:xfrm>
            <a:off x="749808" y="2796921"/>
            <a:ext cx="402336" cy="402336"/>
          </a:xfrm>
          <a:prstGeom prst="ellipse">
            <a:avLst/>
          </a:prstGeom>
          <a:solidFill>
            <a:srgbClr val="8FB573"/>
          </a:solidFill>
          <a:ln/>
        </p:spPr>
      </p:sp>
      <p:sp>
        <p:nvSpPr>
          <p:cNvPr id="17" name="Text 15"/>
          <p:cNvSpPr/>
          <p:nvPr/>
        </p:nvSpPr>
        <p:spPr>
          <a:xfrm>
            <a:off x="749808" y="2796921"/>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1316736" y="286664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Enable gradient checkpointing</a:t>
            </a:r>
            <a:endParaRPr lang="en-US" sz="1300" dirty="0"/>
          </a:p>
        </p:txBody>
      </p:sp>
      <p:sp>
        <p:nvSpPr>
          <p:cNvPr id="19" name="Text 17"/>
          <p:cNvSpPr/>
          <p:nvPr/>
        </p:nvSpPr>
        <p:spPr>
          <a:xfrm>
            <a:off x="1316736" y="3159252"/>
            <a:ext cx="10058400" cy="685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gradient_checkpointing=True. About 30% slower, large memory saving. Should be on by default at this scale.</a:t>
            </a:r>
            <a:endParaRPr lang="en-US" sz="1150" dirty="0"/>
          </a:p>
        </p:txBody>
      </p:sp>
      <p:sp>
        <p:nvSpPr>
          <p:cNvPr id="20" name="Shape 18"/>
          <p:cNvSpPr/>
          <p:nvPr/>
        </p:nvSpPr>
        <p:spPr>
          <a:xfrm>
            <a:off x="502920" y="3367278"/>
            <a:ext cx="11155680" cy="518922"/>
          </a:xfrm>
          <a:prstGeom prst="roundRect">
            <a:avLst>
              <a:gd name="adj" fmla="val 123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Shape 19"/>
          <p:cNvSpPr/>
          <p:nvPr/>
        </p:nvSpPr>
        <p:spPr>
          <a:xfrm>
            <a:off x="749808" y="3425571"/>
            <a:ext cx="402336" cy="402336"/>
          </a:xfrm>
          <a:prstGeom prst="ellipse">
            <a:avLst/>
          </a:prstGeom>
          <a:solidFill>
            <a:srgbClr val="8FB573"/>
          </a:solidFill>
          <a:ln/>
        </p:spPr>
      </p:sp>
      <p:sp>
        <p:nvSpPr>
          <p:cNvPr id="22" name="Text 20"/>
          <p:cNvSpPr/>
          <p:nvPr/>
        </p:nvSpPr>
        <p:spPr>
          <a:xfrm>
            <a:off x="749808" y="3425571"/>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1316736" y="349529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Use Unsloth</a:t>
            </a:r>
            <a:endParaRPr lang="en-US" sz="1300" dirty="0"/>
          </a:p>
        </p:txBody>
      </p:sp>
      <p:sp>
        <p:nvSpPr>
          <p:cNvPr id="24" name="Text 22"/>
          <p:cNvSpPr/>
          <p:nvPr/>
        </p:nvSpPr>
        <p:spPr>
          <a:xfrm>
            <a:off x="1316736" y="3787902"/>
            <a:ext cx="10058400" cy="685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50–70% less VRAM for identical math. If you are not using it on this card, start.</a:t>
            </a:r>
            <a:endParaRPr lang="en-US" sz="1150" dirty="0"/>
          </a:p>
        </p:txBody>
      </p:sp>
      <p:sp>
        <p:nvSpPr>
          <p:cNvPr id="25" name="Shape 23"/>
          <p:cNvSpPr/>
          <p:nvPr/>
        </p:nvSpPr>
        <p:spPr>
          <a:xfrm>
            <a:off x="502920" y="3995928"/>
            <a:ext cx="11155680" cy="518922"/>
          </a:xfrm>
          <a:prstGeom prst="roundRect">
            <a:avLst>
              <a:gd name="adj" fmla="val 123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6" name="Shape 24"/>
          <p:cNvSpPr/>
          <p:nvPr/>
        </p:nvSpPr>
        <p:spPr>
          <a:xfrm>
            <a:off x="749808" y="4054221"/>
            <a:ext cx="402336" cy="402336"/>
          </a:xfrm>
          <a:prstGeom prst="ellipse">
            <a:avLst/>
          </a:prstGeom>
          <a:solidFill>
            <a:srgbClr val="8FB573"/>
          </a:solidFill>
          <a:ln/>
        </p:spPr>
      </p:sp>
      <p:sp>
        <p:nvSpPr>
          <p:cNvPr id="27" name="Text 25"/>
          <p:cNvSpPr/>
          <p:nvPr/>
        </p:nvSpPr>
        <p:spPr>
          <a:xfrm>
            <a:off x="749808" y="4054221"/>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8" name="Text 26"/>
          <p:cNvSpPr/>
          <p:nvPr/>
        </p:nvSpPr>
        <p:spPr>
          <a:xfrm>
            <a:off x="1316736" y="412394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Switch to paged 8-bit optimizer</a:t>
            </a:r>
            <a:endParaRPr lang="en-US" sz="1300" dirty="0"/>
          </a:p>
        </p:txBody>
      </p:sp>
      <p:sp>
        <p:nvSpPr>
          <p:cNvPr id="29" name="Text 27"/>
          <p:cNvSpPr/>
          <p:nvPr/>
        </p:nvSpPr>
        <p:spPr>
          <a:xfrm>
            <a:off x="1316736" y="4416552"/>
            <a:ext cx="10058400" cy="685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optim='paged_adamw_8bit'. Survives transient spikes by paging to host RAM instead of crashing.</a:t>
            </a:r>
            <a:endParaRPr lang="en-US" sz="1150" dirty="0"/>
          </a:p>
        </p:txBody>
      </p:sp>
      <p:sp>
        <p:nvSpPr>
          <p:cNvPr id="30" name="Shape 28"/>
          <p:cNvSpPr/>
          <p:nvPr/>
        </p:nvSpPr>
        <p:spPr>
          <a:xfrm>
            <a:off x="502920" y="4624578"/>
            <a:ext cx="11155680" cy="518922"/>
          </a:xfrm>
          <a:prstGeom prst="roundRect">
            <a:avLst>
              <a:gd name="adj" fmla="val 123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1" name="Shape 29"/>
          <p:cNvSpPr/>
          <p:nvPr/>
        </p:nvSpPr>
        <p:spPr>
          <a:xfrm>
            <a:off x="749808" y="4682871"/>
            <a:ext cx="402336" cy="402336"/>
          </a:xfrm>
          <a:prstGeom prst="ellipse">
            <a:avLst/>
          </a:prstGeom>
          <a:solidFill>
            <a:srgbClr val="8FB573"/>
          </a:solidFill>
          <a:ln/>
        </p:spPr>
      </p:sp>
      <p:sp>
        <p:nvSpPr>
          <p:cNvPr id="32" name="Text 30"/>
          <p:cNvSpPr/>
          <p:nvPr/>
        </p:nvSpPr>
        <p:spPr>
          <a:xfrm>
            <a:off x="749808" y="4682871"/>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6</a:t>
            </a:r>
            <a:endParaRPr lang="en-US" sz="1500" dirty="0"/>
          </a:p>
        </p:txBody>
      </p:sp>
      <p:sp>
        <p:nvSpPr>
          <p:cNvPr id="33" name="Text 31"/>
          <p:cNvSpPr/>
          <p:nvPr/>
        </p:nvSpPr>
        <p:spPr>
          <a:xfrm>
            <a:off x="1316736" y="475259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Reduce batch to 1, raise accumulation</a:t>
            </a:r>
            <a:endParaRPr lang="en-US" sz="1300" dirty="0"/>
          </a:p>
        </p:txBody>
      </p:sp>
      <p:sp>
        <p:nvSpPr>
          <p:cNvPr id="34" name="Text 32"/>
          <p:cNvSpPr/>
          <p:nvPr/>
        </p:nvSpPr>
        <p:spPr>
          <a:xfrm>
            <a:off x="1316736" y="5045202"/>
            <a:ext cx="10058400" cy="685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Effective batch is preserved. Costs wall-clock time only.</a:t>
            </a:r>
            <a:endParaRPr lang="en-US" sz="1150" dirty="0"/>
          </a:p>
        </p:txBody>
      </p:sp>
      <p:sp>
        <p:nvSpPr>
          <p:cNvPr id="35" name="Shape 33"/>
          <p:cNvSpPr/>
          <p:nvPr/>
        </p:nvSpPr>
        <p:spPr>
          <a:xfrm>
            <a:off x="502920" y="5253228"/>
            <a:ext cx="11155680" cy="518922"/>
          </a:xfrm>
          <a:prstGeom prst="roundRect">
            <a:avLst>
              <a:gd name="adj" fmla="val 123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6" name="Shape 34"/>
          <p:cNvSpPr/>
          <p:nvPr/>
        </p:nvSpPr>
        <p:spPr>
          <a:xfrm>
            <a:off x="749808" y="5311521"/>
            <a:ext cx="402336" cy="402336"/>
          </a:xfrm>
          <a:prstGeom prst="ellipse">
            <a:avLst/>
          </a:prstGeom>
          <a:solidFill>
            <a:srgbClr val="8FB573"/>
          </a:solidFill>
          <a:ln/>
        </p:spPr>
      </p:sp>
      <p:sp>
        <p:nvSpPr>
          <p:cNvPr id="37" name="Text 35"/>
          <p:cNvSpPr/>
          <p:nvPr/>
        </p:nvSpPr>
        <p:spPr>
          <a:xfrm>
            <a:off x="749808" y="5311521"/>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7</a:t>
            </a:r>
            <a:endParaRPr lang="en-US" sz="1500" dirty="0"/>
          </a:p>
        </p:txBody>
      </p:sp>
      <p:sp>
        <p:nvSpPr>
          <p:cNvPr id="38" name="Text 36"/>
          <p:cNvSpPr/>
          <p:nvPr/>
        </p:nvSpPr>
        <p:spPr>
          <a:xfrm>
            <a:off x="1316736" y="538124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Set the allocator config</a:t>
            </a:r>
            <a:endParaRPr lang="en-US" sz="1300" dirty="0"/>
          </a:p>
        </p:txBody>
      </p:sp>
      <p:sp>
        <p:nvSpPr>
          <p:cNvPr id="39" name="Text 37"/>
          <p:cNvSpPr/>
          <p:nvPr/>
        </p:nvSpPr>
        <p:spPr>
          <a:xfrm>
            <a:off x="1316736" y="5673852"/>
            <a:ext cx="10058400" cy="685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PYTORCH_CUDA_ALLOC_CONF=expandable_segments:True helps materially with fragmentation on small cards.</a:t>
            </a:r>
            <a:endParaRPr lang="en-US" sz="1150" dirty="0"/>
          </a:p>
        </p:txBody>
      </p:sp>
      <p:sp>
        <p:nvSpPr>
          <p:cNvPr id="40" name="Shape 38"/>
          <p:cNvSpPr/>
          <p:nvPr/>
        </p:nvSpPr>
        <p:spPr>
          <a:xfrm>
            <a:off x="502920" y="5881878"/>
            <a:ext cx="11155680" cy="518922"/>
          </a:xfrm>
          <a:prstGeom prst="roundRect">
            <a:avLst>
              <a:gd name="adj" fmla="val 123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41" name="Shape 39"/>
          <p:cNvSpPr/>
          <p:nvPr/>
        </p:nvSpPr>
        <p:spPr>
          <a:xfrm>
            <a:off x="749808" y="5940171"/>
            <a:ext cx="402336" cy="402336"/>
          </a:xfrm>
          <a:prstGeom prst="ellipse">
            <a:avLst/>
          </a:prstGeom>
          <a:solidFill>
            <a:srgbClr val="8FB573"/>
          </a:solidFill>
          <a:ln/>
        </p:spPr>
      </p:sp>
      <p:sp>
        <p:nvSpPr>
          <p:cNvPr id="42" name="Text 40"/>
          <p:cNvSpPr/>
          <p:nvPr/>
        </p:nvSpPr>
        <p:spPr>
          <a:xfrm>
            <a:off x="749808" y="5940171"/>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8</a:t>
            </a:r>
            <a:endParaRPr lang="en-US" sz="1500" dirty="0"/>
          </a:p>
        </p:txBody>
      </p:sp>
      <p:sp>
        <p:nvSpPr>
          <p:cNvPr id="43" name="Text 41"/>
          <p:cNvSpPr/>
          <p:nvPr/>
        </p:nvSpPr>
        <p:spPr>
          <a:xfrm>
            <a:off x="1316736" y="600989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Last resort — drop to a TTY</a:t>
            </a:r>
            <a:endParaRPr lang="en-US" sz="1300" dirty="0"/>
          </a:p>
        </p:txBody>
      </p:sp>
      <p:sp>
        <p:nvSpPr>
          <p:cNvPr id="44" name="Text 42"/>
          <p:cNvSpPr/>
          <p:nvPr/>
        </p:nvSpPr>
        <p:spPr>
          <a:xfrm>
            <a:off x="1316736" y="6302502"/>
            <a:ext cx="10058400" cy="685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Ctrl+Alt+F3, log in, run headless. Buys back the last ~20MB and removes any chance the desktop touches the card mid-run.</a:t>
            </a:r>
            <a:endParaRPr lang="en-US" sz="1150" dirty="0"/>
          </a:p>
        </p:txBody>
      </p:sp>
      <p:sp>
        <p:nvSpPr>
          <p:cNvPr id="45" name="Text 4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103</a:t>
            </a:r>
            <a:endParaRPr lang="en-US" sz="9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SFT — path and traps</a:t>
            </a:r>
            <a:endParaRPr lang="en-US" sz="2900" dirty="0"/>
          </a:p>
        </p:txBody>
      </p:sp>
      <p:sp>
        <p:nvSpPr>
          <p:cNvPr id="4" name="Shape 2"/>
          <p:cNvSpPr/>
          <p:nvPr/>
        </p:nvSpPr>
        <p:spPr>
          <a:xfrm>
            <a:off x="502920" y="1335024"/>
            <a:ext cx="292608" cy="292608"/>
          </a:xfrm>
          <a:prstGeom prst="ellipse">
            <a:avLst/>
          </a:prstGeom>
          <a:solidFill>
            <a:srgbClr val="8FB573"/>
          </a:solidFill>
          <a:ln/>
        </p:spPr>
      </p:sp>
      <p:sp>
        <p:nvSpPr>
          <p:cNvPr id="5" name="Text 3"/>
          <p:cNvSpPr/>
          <p:nvPr/>
        </p:nvSpPr>
        <p:spPr>
          <a:xfrm>
            <a:off x="50292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89611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PATH</a:t>
            </a:r>
            <a:endParaRPr lang="en-US" sz="1100" dirty="0"/>
          </a:p>
        </p:txBody>
      </p:sp>
      <p:sp>
        <p:nvSpPr>
          <p:cNvPr id="7" name="Text 5"/>
          <p:cNvSpPr/>
          <p:nvPr/>
        </p:nvSpPr>
        <p:spPr>
          <a:xfrm>
            <a:off x="502920" y="1755648"/>
            <a:ext cx="5394960" cy="27432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QLoRA, r=16, alpha=32, target all-linear, bf16</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LR 2e-4 with cosine schedule and 3% warmup</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Effective batch 16 via batch 1 x accumulation 16</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seq_len from your data's p95, not a round number</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1–3 epochs; evaluate every 100 steps, not every epoch</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Checkpoint on eval_pass_at_1, never on eval_loss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Verify masking by decoding a batch; verify trainable % is non-zero</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Run a general benchmark each checkpoint to catch forgetting</a:t>
            </a:r>
            <a:endParaRPr lang="en-US" sz="1150" dirty="0"/>
          </a:p>
        </p:txBody>
      </p:sp>
      <p:sp>
        <p:nvSpPr>
          <p:cNvPr id="8" name="Shape 6"/>
          <p:cNvSpPr/>
          <p:nvPr/>
        </p:nvSpPr>
        <p:spPr>
          <a:xfrm>
            <a:off x="6309360" y="1335024"/>
            <a:ext cx="292608" cy="292608"/>
          </a:xfrm>
          <a:prstGeom prst="ellipse">
            <a:avLst/>
          </a:prstGeom>
          <a:solidFill>
            <a:srgbClr val="D98E32"/>
          </a:solidFill>
          <a:ln/>
        </p:spPr>
      </p:sp>
      <p:sp>
        <p:nvSpPr>
          <p:cNvPr id="9" name="Text 7"/>
          <p:cNvSpPr/>
          <p:nvPr/>
        </p:nvSpPr>
        <p:spPr>
          <a:xfrm>
            <a:off x="630936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670255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TRAPS</a:t>
            </a:r>
            <a:endParaRPr lang="en-US" sz="1100" dirty="0"/>
          </a:p>
        </p:txBody>
      </p:sp>
      <p:sp>
        <p:nvSpPr>
          <p:cNvPr id="11" name="Text 9"/>
          <p:cNvSpPr/>
          <p:nvPr/>
        </p:nvSpPr>
        <p:spPr>
          <a:xfrm>
            <a:off x="6309360" y="1755648"/>
            <a:ext cx="5349240" cy="27432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Full-FT learning rate (2e-5) on LoRA — 10x too low, looks like 'LoRA doesn't work'</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Loss over prompt tokens: the silent bug that costs a week</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response_template not matching the chat template: masking silently disabled</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Raising rank while holding alpha fixed: shrinks the update, hides the effect</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Saving on best loss: ships your most memorized checkpoint</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seq_len guessed: silently truncates a quarter of your data</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grad accumulation set in the wrong config block: effective batch 1</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fp16 on a bf16-capable card: NaN on step 1</a:t>
            </a:r>
            <a:endParaRPr lang="en-US" sz="1150" dirty="0"/>
          </a:p>
        </p:txBody>
      </p:sp>
      <p:sp>
        <p:nvSpPr>
          <p:cNvPr id="12" name="Shape 10"/>
          <p:cNvSpPr/>
          <p:nvPr/>
        </p:nvSpPr>
        <p:spPr>
          <a:xfrm>
            <a:off x="502920" y="5010912"/>
            <a:ext cx="11155680" cy="1188720"/>
          </a:xfrm>
          <a:prstGeom prst="roundRect">
            <a:avLst>
              <a:gd name="adj" fmla="val 5385"/>
            </a:avLst>
          </a:prstGeom>
          <a:solidFill>
            <a:srgbClr val="1F3D2E"/>
          </a:solidFill>
          <a:ln/>
        </p:spPr>
      </p:sp>
      <p:sp>
        <p:nvSpPr>
          <p:cNvPr id="13" name="Shape 11"/>
          <p:cNvSpPr/>
          <p:nvPr/>
        </p:nvSpPr>
        <p:spPr>
          <a:xfrm>
            <a:off x="740664" y="5193792"/>
            <a:ext cx="292608" cy="292608"/>
          </a:xfrm>
          <a:prstGeom prst="ellipse">
            <a:avLst/>
          </a:prstGeom>
          <a:solidFill>
            <a:srgbClr val="1F3D2E"/>
          </a:solidFill>
          <a:ln/>
        </p:spPr>
      </p:sp>
      <p:sp>
        <p:nvSpPr>
          <p:cNvPr id="14" name="Text 12"/>
          <p:cNvSpPr/>
          <p:nvPr/>
        </p:nvSpPr>
        <p:spPr>
          <a:xfrm>
            <a:off x="740664" y="5193792"/>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212080"/>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586984"/>
            <a:ext cx="10680192" cy="43891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Every trap on the right produces a run that COMPLETES. Nothing errors. The loss curve often looks fine. That is what makes SFT deceptively hard — the failure mode is not a crash, it is a plausible-looking run that taught the model the wrong thing.</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104</a:t>
            </a:r>
            <a:endParaRPr lang="en-US" sz="9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SFT false positives</a:t>
            </a:r>
            <a:endParaRPr lang="en-US" sz="2900" dirty="0"/>
          </a:p>
        </p:txBody>
      </p:sp>
      <p:graphicFrame>
        <p:nvGraphicFramePr>
          <p:cNvPr id="10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468880"/>
                <a:gridCol w="2743200"/>
                <a:gridCol w="3108960"/>
                <a:gridCol w="283464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False positive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you see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is actually happening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The check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Memorization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Train loss beautiful, eval flat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Model memorized the training set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Checkpoint on eval; check dedup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Nothing was trained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Loss decreases slightly, model unchanged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target_modules typo — 0% trainable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print_trainable_parameters()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Masking silently off</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Loss looks normal, behavior degrades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response_template mismatch, no masking applied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Decode a batch, inspect labels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Truncation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Model stops mid-function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seq_len below your data's p95</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Log truncation rate every run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Template mismatch at eval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Fine-tune scores WORSE than base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Trained with one template, evaluated with another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Diff the rendered strings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Effective batch of 1</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Noisy loss, poor results, no error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Accumulation config silently ignored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Log optimizer step count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Forgetting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Code up, everything else quietly gone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Narrow gradient overwrote general ability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General benchmark every checkpoint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Cherry-picked checkpoint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Best-of-20 looks excellent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Overfit to the validation set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Select on val, report on sealed test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754880"/>
            <a:ext cx="11155680" cy="566928"/>
          </a:xfrm>
          <a:prstGeom prst="roundRect">
            <a:avLst>
              <a:gd name="adj" fmla="val 9677"/>
            </a:avLst>
          </a:prstGeom>
          <a:solidFill>
            <a:srgbClr val="A8482A"/>
          </a:solidFill>
          <a:ln/>
        </p:spPr>
      </p:sp>
      <p:sp>
        <p:nvSpPr>
          <p:cNvPr id="6" name="Text 3"/>
          <p:cNvSpPr/>
          <p:nvPr/>
        </p:nvSpPr>
        <p:spPr>
          <a:xfrm>
            <a:off x="777240" y="475488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Three of these produce a HIGHER number than the truth. Five produce a run that looks entirely normal.</a:t>
            </a:r>
            <a:endParaRPr lang="en-US" sz="1450" dirty="0"/>
          </a:p>
        </p:txBody>
      </p:sp>
      <p:sp>
        <p:nvSpPr>
          <p:cNvPr id="7" name="Shape 4"/>
          <p:cNvSpPr/>
          <p:nvPr/>
        </p:nvSpPr>
        <p:spPr>
          <a:xfrm>
            <a:off x="502920" y="5486400"/>
            <a:ext cx="11155680" cy="868680"/>
          </a:xfrm>
          <a:prstGeom prst="roundRect">
            <a:avLst>
              <a:gd name="adj" fmla="val 7368"/>
            </a:avLst>
          </a:prstGeom>
          <a:solidFill>
            <a:srgbClr val="1F3D2E"/>
          </a:solidFill>
          <a:ln/>
        </p:spPr>
      </p:sp>
      <p:sp>
        <p:nvSpPr>
          <p:cNvPr id="8" name="Shape 5"/>
          <p:cNvSpPr/>
          <p:nvPr/>
        </p:nvSpPr>
        <p:spPr>
          <a:xfrm>
            <a:off x="740664" y="5669280"/>
            <a:ext cx="292608" cy="292608"/>
          </a:xfrm>
          <a:prstGeom prst="ellipse">
            <a:avLst/>
          </a:prstGeom>
          <a:solidFill>
            <a:srgbClr val="1F3D2E"/>
          </a:solidFill>
          <a:ln/>
        </p:spPr>
      </p:sp>
      <p:sp>
        <p:nvSpPr>
          <p:cNvPr id="9" name="Text 6"/>
          <p:cNvSpPr/>
          <p:nvPr/>
        </p:nvSpPr>
        <p:spPr>
          <a:xfrm>
            <a:off x="740664" y="566928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0" name="Text 7"/>
          <p:cNvSpPr/>
          <p:nvPr/>
        </p:nvSpPr>
        <p:spPr>
          <a:xfrm>
            <a:off x="1133856" y="568756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1" name="Text 8"/>
          <p:cNvSpPr/>
          <p:nvPr/>
        </p:nvSpPr>
        <p:spPr>
          <a:xfrm>
            <a:off x="740664" y="6062472"/>
            <a:ext cx="10680192" cy="1188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'Fine-tune scores worse than base' is almost never the fine-tune. It is almost always the template. Check that first, every time.</a:t>
            </a:r>
            <a:endParaRPr lang="en-US" sz="1150" dirty="0"/>
          </a:p>
        </p:txBody>
      </p:sp>
      <p:sp>
        <p:nvSpPr>
          <p:cNvPr id="12" name="Text 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105</a:t>
            </a:r>
            <a:endParaRPr lang="en-US" sz="9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PHASE 7</a:t>
            </a:r>
            <a:endParaRPr lang="en-US" sz="1250" dirty="0"/>
          </a:p>
        </p:txBody>
      </p:sp>
      <p:sp>
        <p:nvSpPr>
          <p:cNvPr id="3" name="Text 1"/>
          <p:cNvSpPr/>
          <p:nvPr/>
        </p:nvSpPr>
        <p:spPr>
          <a:xfrm>
            <a:off x="777240" y="23317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Rejection Sampling — Self-Improvement Without RL</a:t>
            </a:r>
            <a:endParaRPr lang="en-US" sz="4000" dirty="0"/>
          </a:p>
        </p:txBody>
      </p:sp>
      <p:sp>
        <p:nvSpPr>
          <p:cNvPr id="4" name="Text 2"/>
          <p:cNvSpPr/>
          <p:nvPr/>
        </p:nvSpPr>
        <p:spPr>
          <a:xfrm>
            <a:off x="777240" y="32004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One week. The simplest idea in the whole curriculum, and it works far better</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than it has any right to. This is where the model starts teaching itself.</a:t>
            </a:r>
            <a:endParaRPr lang="en-US" sz="1550" dirty="0"/>
          </a:p>
        </p:txBody>
      </p:sp>
      <p:sp>
        <p:nvSpPr>
          <p:cNvPr id="5" name="Text 3"/>
          <p:cNvSpPr/>
          <p:nvPr/>
        </p:nvSpPr>
        <p:spPr>
          <a:xfrm>
            <a:off x="777240" y="4892040"/>
            <a:ext cx="10607040" cy="237744"/>
          </a:xfrm>
          <a:prstGeom prst="rect">
            <a:avLst/>
          </a:prstGeom>
          <a:noFill/>
          <a:ln/>
        </p:spPr>
        <p:txBody>
          <a:bodyPr wrap="square" lIns="0" tIns="0" rIns="0" bIns="0" rtlCol="0" anchor="ctr"/>
          <a:lstStyle/>
          <a:p>
            <a:pPr indent="0" marL="0">
              <a:buNone/>
            </a:pPr>
            <a:r>
              <a:rPr lang="en-US" sz="900" b="1" spc="250" kern="0" dirty="0">
                <a:solidFill>
                  <a:srgbClr val="2A5240"/>
                </a:solidFill>
                <a:latin typeface="Calibri" pitchFamily="34" charset="0"/>
                <a:ea typeface="Calibri" pitchFamily="34" charset="-122"/>
                <a:cs typeface="Calibri" pitchFamily="34" charset="-120"/>
              </a:rPr>
              <a:t>WHERE YOU ARE</a:t>
            </a:r>
            <a:endParaRPr lang="en-US" sz="900" dirty="0"/>
          </a:p>
        </p:txBody>
      </p:sp>
      <p:sp>
        <p:nvSpPr>
          <p:cNvPr id="6" name="Shape 4"/>
          <p:cNvSpPr/>
          <p:nvPr/>
        </p:nvSpPr>
        <p:spPr>
          <a:xfrm>
            <a:off x="777240" y="5212080"/>
            <a:ext cx="829056" cy="73152"/>
          </a:xfrm>
          <a:prstGeom prst="rect">
            <a:avLst/>
          </a:prstGeom>
          <a:solidFill>
            <a:srgbClr val="2A5240"/>
          </a:solidFill>
          <a:ln/>
        </p:spPr>
      </p:sp>
      <p:sp>
        <p:nvSpPr>
          <p:cNvPr id="7" name="Text 5"/>
          <p:cNvSpPr/>
          <p:nvPr/>
        </p:nvSpPr>
        <p:spPr>
          <a:xfrm>
            <a:off x="6858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SETUP</a:t>
            </a:r>
            <a:endParaRPr lang="en-US" sz="750" dirty="0"/>
          </a:p>
        </p:txBody>
      </p:sp>
      <p:sp>
        <p:nvSpPr>
          <p:cNvPr id="8" name="Shape 6"/>
          <p:cNvSpPr/>
          <p:nvPr/>
        </p:nvSpPr>
        <p:spPr>
          <a:xfrm>
            <a:off x="1661160" y="5212080"/>
            <a:ext cx="829056" cy="73152"/>
          </a:xfrm>
          <a:prstGeom prst="rect">
            <a:avLst/>
          </a:prstGeom>
          <a:solidFill>
            <a:srgbClr val="2A5240"/>
          </a:solidFill>
          <a:ln/>
        </p:spPr>
      </p:sp>
      <p:sp>
        <p:nvSpPr>
          <p:cNvPr id="9" name="Text 7"/>
          <p:cNvSpPr/>
          <p:nvPr/>
        </p:nvSpPr>
        <p:spPr>
          <a:xfrm>
            <a:off x="15697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MODEL</a:t>
            </a:r>
            <a:endParaRPr lang="en-US" sz="750" dirty="0"/>
          </a:p>
        </p:txBody>
      </p:sp>
      <p:sp>
        <p:nvSpPr>
          <p:cNvPr id="10" name="Shape 8"/>
          <p:cNvSpPr/>
          <p:nvPr/>
        </p:nvSpPr>
        <p:spPr>
          <a:xfrm>
            <a:off x="2545080" y="5212080"/>
            <a:ext cx="829056" cy="73152"/>
          </a:xfrm>
          <a:prstGeom prst="rect">
            <a:avLst/>
          </a:prstGeom>
          <a:solidFill>
            <a:srgbClr val="2A5240"/>
          </a:solidFill>
          <a:ln/>
        </p:spPr>
      </p:sp>
      <p:sp>
        <p:nvSpPr>
          <p:cNvPr id="11" name="Text 9"/>
          <p:cNvSpPr/>
          <p:nvPr/>
        </p:nvSpPr>
        <p:spPr>
          <a:xfrm>
            <a:off x="24536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SANDBOX</a:t>
            </a:r>
            <a:endParaRPr lang="en-US" sz="750" dirty="0"/>
          </a:p>
        </p:txBody>
      </p:sp>
      <p:sp>
        <p:nvSpPr>
          <p:cNvPr id="12" name="Shape 10"/>
          <p:cNvSpPr/>
          <p:nvPr/>
        </p:nvSpPr>
        <p:spPr>
          <a:xfrm>
            <a:off x="3429000" y="5212080"/>
            <a:ext cx="829056" cy="73152"/>
          </a:xfrm>
          <a:prstGeom prst="rect">
            <a:avLst/>
          </a:prstGeom>
          <a:solidFill>
            <a:srgbClr val="2A5240"/>
          </a:solidFill>
          <a:ln/>
        </p:spPr>
      </p:sp>
      <p:sp>
        <p:nvSpPr>
          <p:cNvPr id="13" name="Text 11"/>
          <p:cNvSpPr/>
          <p:nvPr/>
        </p:nvSpPr>
        <p:spPr>
          <a:xfrm>
            <a:off x="333756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EVAL</a:t>
            </a:r>
            <a:endParaRPr lang="en-US" sz="750" dirty="0"/>
          </a:p>
        </p:txBody>
      </p:sp>
      <p:sp>
        <p:nvSpPr>
          <p:cNvPr id="14" name="Shape 12"/>
          <p:cNvSpPr/>
          <p:nvPr/>
        </p:nvSpPr>
        <p:spPr>
          <a:xfrm>
            <a:off x="4312920" y="5212080"/>
            <a:ext cx="829056" cy="73152"/>
          </a:xfrm>
          <a:prstGeom prst="rect">
            <a:avLst/>
          </a:prstGeom>
          <a:solidFill>
            <a:srgbClr val="2A5240"/>
          </a:solidFill>
          <a:ln/>
        </p:spPr>
      </p:sp>
      <p:sp>
        <p:nvSpPr>
          <p:cNvPr id="15" name="Text 13"/>
          <p:cNvSpPr/>
          <p:nvPr/>
        </p:nvSpPr>
        <p:spPr>
          <a:xfrm>
            <a:off x="422148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DATA</a:t>
            </a:r>
            <a:endParaRPr lang="en-US" sz="750" dirty="0"/>
          </a:p>
        </p:txBody>
      </p:sp>
      <p:sp>
        <p:nvSpPr>
          <p:cNvPr id="16" name="Shape 14"/>
          <p:cNvSpPr/>
          <p:nvPr/>
        </p:nvSpPr>
        <p:spPr>
          <a:xfrm>
            <a:off x="5196840" y="5212080"/>
            <a:ext cx="829056" cy="73152"/>
          </a:xfrm>
          <a:prstGeom prst="rect">
            <a:avLst/>
          </a:prstGeom>
          <a:solidFill>
            <a:srgbClr val="2A5240"/>
          </a:solidFill>
          <a:ln/>
        </p:spPr>
      </p:sp>
      <p:sp>
        <p:nvSpPr>
          <p:cNvPr id="17" name="Text 15"/>
          <p:cNvSpPr/>
          <p:nvPr/>
        </p:nvSpPr>
        <p:spPr>
          <a:xfrm>
            <a:off x="51054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SFT</a:t>
            </a:r>
            <a:endParaRPr lang="en-US" sz="750" dirty="0"/>
          </a:p>
        </p:txBody>
      </p:sp>
      <p:sp>
        <p:nvSpPr>
          <p:cNvPr id="18" name="Shape 16"/>
          <p:cNvSpPr/>
          <p:nvPr/>
        </p:nvSpPr>
        <p:spPr>
          <a:xfrm>
            <a:off x="6080760" y="5212080"/>
            <a:ext cx="829056" cy="182880"/>
          </a:xfrm>
          <a:prstGeom prst="rect">
            <a:avLst/>
          </a:prstGeom>
          <a:solidFill>
            <a:srgbClr val="8FB573"/>
          </a:solidFill>
          <a:ln/>
        </p:spPr>
      </p:sp>
      <p:sp>
        <p:nvSpPr>
          <p:cNvPr id="19" name="Text 17"/>
          <p:cNvSpPr/>
          <p:nvPr/>
        </p:nvSpPr>
        <p:spPr>
          <a:xfrm>
            <a:off x="5989320" y="5468112"/>
            <a:ext cx="1011936" cy="219456"/>
          </a:xfrm>
          <a:prstGeom prst="rect">
            <a:avLst/>
          </a:prstGeom>
          <a:noFill/>
          <a:ln/>
        </p:spPr>
        <p:txBody>
          <a:bodyPr wrap="square" lIns="0" tIns="0" rIns="0" bIns="0" rtlCol="0" anchor="ctr"/>
          <a:lstStyle/>
          <a:p>
            <a:pPr algn="ctr" indent="0" marL="0">
              <a:buNone/>
            </a:pPr>
            <a:r>
              <a:rPr lang="en-US" sz="750" b="1" dirty="0">
                <a:solidFill>
                  <a:srgbClr val="8FB573"/>
                </a:solidFill>
                <a:latin typeface="Calibri" pitchFamily="34" charset="0"/>
                <a:ea typeface="Calibri" pitchFamily="34" charset="-122"/>
                <a:cs typeface="Calibri" pitchFamily="34" charset="-120"/>
              </a:rPr>
              <a:t>RFT</a:t>
            </a:r>
            <a:endParaRPr lang="en-US" sz="750" dirty="0"/>
          </a:p>
        </p:txBody>
      </p:sp>
      <p:sp>
        <p:nvSpPr>
          <p:cNvPr id="20" name="Shape 18"/>
          <p:cNvSpPr/>
          <p:nvPr/>
        </p:nvSpPr>
        <p:spPr>
          <a:xfrm>
            <a:off x="6964680" y="5212080"/>
            <a:ext cx="829056" cy="73152"/>
          </a:xfrm>
          <a:prstGeom prst="rect">
            <a:avLst/>
          </a:prstGeom>
          <a:solidFill>
            <a:srgbClr val="27452F"/>
          </a:solidFill>
          <a:ln/>
        </p:spPr>
      </p:sp>
      <p:sp>
        <p:nvSpPr>
          <p:cNvPr id="21" name="Text 19"/>
          <p:cNvSpPr/>
          <p:nvPr/>
        </p:nvSpPr>
        <p:spPr>
          <a:xfrm>
            <a:off x="687324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DPO</a:t>
            </a:r>
            <a:endParaRPr lang="en-US" sz="750" dirty="0"/>
          </a:p>
        </p:txBody>
      </p:sp>
      <p:sp>
        <p:nvSpPr>
          <p:cNvPr id="22" name="Shape 20"/>
          <p:cNvSpPr/>
          <p:nvPr/>
        </p:nvSpPr>
        <p:spPr>
          <a:xfrm>
            <a:off x="7848600" y="5212080"/>
            <a:ext cx="829056" cy="73152"/>
          </a:xfrm>
          <a:prstGeom prst="rect">
            <a:avLst/>
          </a:prstGeom>
          <a:solidFill>
            <a:srgbClr val="27452F"/>
          </a:solidFill>
          <a:ln/>
        </p:spPr>
      </p:sp>
      <p:sp>
        <p:nvSpPr>
          <p:cNvPr id="23" name="Text 21"/>
          <p:cNvSpPr/>
          <p:nvPr/>
        </p:nvSpPr>
        <p:spPr>
          <a:xfrm>
            <a:off x="775716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GRPO</a:t>
            </a:r>
            <a:endParaRPr lang="en-US" sz="750" dirty="0"/>
          </a:p>
        </p:txBody>
      </p:sp>
      <p:sp>
        <p:nvSpPr>
          <p:cNvPr id="24" name="Shape 22"/>
          <p:cNvSpPr/>
          <p:nvPr/>
        </p:nvSpPr>
        <p:spPr>
          <a:xfrm>
            <a:off x="8732520" y="5212080"/>
            <a:ext cx="829056" cy="73152"/>
          </a:xfrm>
          <a:prstGeom prst="rect">
            <a:avLst/>
          </a:prstGeom>
          <a:solidFill>
            <a:srgbClr val="27452F"/>
          </a:solidFill>
          <a:ln/>
        </p:spPr>
      </p:sp>
      <p:sp>
        <p:nvSpPr>
          <p:cNvPr id="25" name="Text 23"/>
          <p:cNvSpPr/>
          <p:nvPr/>
        </p:nvSpPr>
        <p:spPr>
          <a:xfrm>
            <a:off x="864108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REPAIR</a:t>
            </a:r>
            <a:endParaRPr lang="en-US" sz="750" dirty="0"/>
          </a:p>
        </p:txBody>
      </p:sp>
      <p:sp>
        <p:nvSpPr>
          <p:cNvPr id="26" name="Shape 24"/>
          <p:cNvSpPr/>
          <p:nvPr/>
        </p:nvSpPr>
        <p:spPr>
          <a:xfrm>
            <a:off x="9616440" y="5212080"/>
            <a:ext cx="829056" cy="73152"/>
          </a:xfrm>
          <a:prstGeom prst="rect">
            <a:avLst/>
          </a:prstGeom>
          <a:solidFill>
            <a:srgbClr val="27452F"/>
          </a:solidFill>
          <a:ln/>
        </p:spPr>
      </p:sp>
      <p:sp>
        <p:nvSpPr>
          <p:cNvPr id="27" name="Text 25"/>
          <p:cNvSpPr/>
          <p:nvPr/>
        </p:nvSpPr>
        <p:spPr>
          <a:xfrm>
            <a:off x="95250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MERGE</a:t>
            </a:r>
            <a:endParaRPr lang="en-US" sz="750" dirty="0"/>
          </a:p>
        </p:txBody>
      </p:sp>
      <p:sp>
        <p:nvSpPr>
          <p:cNvPr id="28" name="Shape 26"/>
          <p:cNvSpPr/>
          <p:nvPr/>
        </p:nvSpPr>
        <p:spPr>
          <a:xfrm>
            <a:off x="10500360" y="5212080"/>
            <a:ext cx="829056" cy="73152"/>
          </a:xfrm>
          <a:prstGeom prst="rect">
            <a:avLst/>
          </a:prstGeom>
          <a:solidFill>
            <a:srgbClr val="27452F"/>
          </a:solidFill>
          <a:ln/>
        </p:spPr>
      </p:sp>
      <p:sp>
        <p:nvSpPr>
          <p:cNvPr id="29" name="Text 27"/>
          <p:cNvSpPr/>
          <p:nvPr/>
        </p:nvSpPr>
        <p:spPr>
          <a:xfrm>
            <a:off x="104089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SERVE</a:t>
            </a:r>
            <a:endParaRPr lang="en-US" sz="7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106</a:t>
            </a:r>
            <a:endParaRPr lang="en-US" sz="9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idea, in one sentence</a:t>
            </a:r>
            <a:endParaRPr lang="en-US" sz="2900" dirty="0"/>
          </a:p>
        </p:txBody>
      </p:sp>
      <p:sp>
        <p:nvSpPr>
          <p:cNvPr id="4" name="Shape 2"/>
          <p:cNvSpPr/>
          <p:nvPr/>
        </p:nvSpPr>
        <p:spPr>
          <a:xfrm>
            <a:off x="502920" y="1280160"/>
            <a:ext cx="11155680" cy="685800"/>
          </a:xfrm>
          <a:prstGeom prst="roundRect">
            <a:avLst>
              <a:gd name="adj" fmla="val 8000"/>
            </a:avLst>
          </a:prstGeom>
          <a:solidFill>
            <a:srgbClr val="8FB573"/>
          </a:solidFill>
          <a:ln/>
        </p:spPr>
      </p:sp>
      <p:sp>
        <p:nvSpPr>
          <p:cNvPr id="5" name="Text 3"/>
          <p:cNvSpPr/>
          <p:nvPr/>
        </p:nvSpPr>
        <p:spPr>
          <a:xfrm>
            <a:off x="777240" y="1280160"/>
            <a:ext cx="10607040" cy="685800"/>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Generate many attempts. Keep only the ones that actually pass the tests. Fine-tune on those. Repeat.</a:t>
            </a:r>
            <a:endParaRPr lang="en-US" sz="1450" dirty="0"/>
          </a:p>
        </p:txBody>
      </p:sp>
      <p:sp>
        <p:nvSpPr>
          <p:cNvPr id="6" name="Text 4"/>
          <p:cNvSpPr/>
          <p:nvPr/>
        </p:nvSpPr>
        <p:spPr>
          <a:xfrm>
            <a:off x="502920" y="2121408"/>
            <a:ext cx="11155680" cy="59436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That is the entire method. No policy gradients, no reward model, no KL penalty, no value function. It is ordinary SFT — the only novelty is where the training data comes from.</a:t>
            </a:r>
            <a:endParaRPr lang="en-US" sz="1350" dirty="0"/>
          </a:p>
        </p:txBody>
      </p:sp>
      <p:sp>
        <p:nvSpPr>
          <p:cNvPr id="7" name="Shape 5"/>
          <p:cNvSpPr/>
          <p:nvPr/>
        </p:nvSpPr>
        <p:spPr>
          <a:xfrm>
            <a:off x="502920" y="2788920"/>
            <a:ext cx="3621024"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722376" y="293522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Why it works</a:t>
            </a:r>
            <a:endParaRPr lang="en-US" sz="1250" dirty="0"/>
          </a:p>
        </p:txBody>
      </p:sp>
      <p:sp>
        <p:nvSpPr>
          <p:cNvPr id="9" name="Text 7"/>
          <p:cNvSpPr/>
          <p:nvPr/>
        </p:nvSpPr>
        <p:spPr>
          <a:xfrm>
            <a:off x="722376" y="3246120"/>
            <a:ext cx="3182112" cy="9966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model can already produce correct solutions occasionally — just not reliably. Filtering by execution concentrates probability mass on the behavior that was already there.</a:t>
            </a:r>
            <a:endParaRPr lang="en-US" sz="1100" dirty="0"/>
          </a:p>
        </p:txBody>
      </p:sp>
      <p:sp>
        <p:nvSpPr>
          <p:cNvPr id="10" name="Shape 8"/>
          <p:cNvSpPr/>
          <p:nvPr/>
        </p:nvSpPr>
        <p:spPr>
          <a:xfrm>
            <a:off x="4270248" y="2788920"/>
            <a:ext cx="3621024"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4489704" y="293522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Why it is safe</a:t>
            </a:r>
            <a:endParaRPr lang="en-US" sz="1250" dirty="0"/>
          </a:p>
        </p:txBody>
      </p:sp>
      <p:sp>
        <p:nvSpPr>
          <p:cNvPr id="12" name="Text 10"/>
          <p:cNvSpPr/>
          <p:nvPr/>
        </p:nvSpPr>
        <p:spPr>
          <a:xfrm>
            <a:off x="4489704" y="3246120"/>
            <a:ext cx="3182112" cy="9966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Every training example is verified correct. There are no noisy labels at all, which is a guarantee no human-annotated dataset can offer.</a:t>
            </a:r>
            <a:endParaRPr lang="en-US" sz="1100" dirty="0"/>
          </a:p>
        </p:txBody>
      </p:sp>
      <p:sp>
        <p:nvSpPr>
          <p:cNvPr id="13" name="Shape 11"/>
          <p:cNvSpPr/>
          <p:nvPr/>
        </p:nvSpPr>
        <p:spPr>
          <a:xfrm>
            <a:off x="8037576" y="2788920"/>
            <a:ext cx="3621024"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8257032" y="293522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Why it is cheap</a:t>
            </a:r>
            <a:endParaRPr lang="en-US" sz="1250" dirty="0"/>
          </a:p>
        </p:txBody>
      </p:sp>
      <p:sp>
        <p:nvSpPr>
          <p:cNvPr id="15" name="Text 13"/>
          <p:cNvSpPr/>
          <p:nvPr/>
        </p:nvSpPr>
        <p:spPr>
          <a:xfrm>
            <a:off x="8257032" y="3246120"/>
            <a:ext cx="3182112" cy="9966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It is SFT. Same trainer, same hyperparameters, same debugging intuitions you built in Phase 6. Only the dataset changed.</a:t>
            </a:r>
            <a:endParaRPr lang="en-US" sz="1100" dirty="0"/>
          </a:p>
        </p:txBody>
      </p:sp>
      <p:sp>
        <p:nvSpPr>
          <p:cNvPr id="16" name="Shape 14"/>
          <p:cNvSpPr/>
          <p:nvPr/>
        </p:nvSpPr>
        <p:spPr>
          <a:xfrm>
            <a:off x="502920" y="4535424"/>
            <a:ext cx="3621024"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722376" y="468172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Why it comes before RL</a:t>
            </a:r>
            <a:endParaRPr lang="en-US" sz="1250" dirty="0"/>
          </a:p>
        </p:txBody>
      </p:sp>
      <p:sp>
        <p:nvSpPr>
          <p:cNvPr id="18" name="Text 16"/>
          <p:cNvSpPr/>
          <p:nvPr/>
        </p:nvSpPr>
        <p:spPr>
          <a:xfrm>
            <a:off x="722376" y="4992624"/>
            <a:ext cx="3182112" cy="9966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It captures most of the achievable gain with none of the instability. If RFT does not help, GRPO will not save you — your data or verifier is wrong.</a:t>
            </a:r>
            <a:endParaRPr lang="en-US" sz="1100" dirty="0"/>
          </a:p>
        </p:txBody>
      </p:sp>
      <p:sp>
        <p:nvSpPr>
          <p:cNvPr id="19" name="Shape 17"/>
          <p:cNvSpPr/>
          <p:nvPr/>
        </p:nvSpPr>
        <p:spPr>
          <a:xfrm>
            <a:off x="4270248" y="4535424"/>
            <a:ext cx="3621024"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4489704" y="4681728"/>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Known by many names</a:t>
            </a:r>
            <a:endParaRPr lang="en-US" sz="1250" dirty="0"/>
          </a:p>
        </p:txBody>
      </p:sp>
      <p:sp>
        <p:nvSpPr>
          <p:cNvPr id="21" name="Text 19"/>
          <p:cNvSpPr/>
          <p:nvPr/>
        </p:nvSpPr>
        <p:spPr>
          <a:xfrm>
            <a:off x="4489704" y="4992624"/>
            <a:ext cx="3182112" cy="9966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Rejection sampling fine-tuning, RFT, RAFT, best-of-n distillation, STaR (when iterated). The same core idea rediscovered repeatedly.</a:t>
            </a:r>
            <a:endParaRPr lang="en-US" sz="1100" dirty="0"/>
          </a:p>
        </p:txBody>
      </p:sp>
      <p:sp>
        <p:nvSpPr>
          <p:cNvPr id="22" name="Shape 20"/>
          <p:cNvSpPr/>
          <p:nvPr/>
        </p:nvSpPr>
        <p:spPr>
          <a:xfrm>
            <a:off x="8037576" y="4535424"/>
            <a:ext cx="3621024" cy="1600200"/>
          </a:xfrm>
          <a:prstGeom prst="roundRect">
            <a:avLst>
              <a:gd name="adj" fmla="val 4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3" name="Text 21"/>
          <p:cNvSpPr/>
          <p:nvPr/>
        </p:nvSpPr>
        <p:spPr>
          <a:xfrm>
            <a:off x="8257032" y="468172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self-improvement loop</a:t>
            </a:r>
            <a:endParaRPr lang="en-US" sz="1250" dirty="0"/>
          </a:p>
        </p:txBody>
      </p:sp>
      <p:sp>
        <p:nvSpPr>
          <p:cNvPr id="24" name="Text 22"/>
          <p:cNvSpPr/>
          <p:nvPr/>
        </p:nvSpPr>
        <p:spPr>
          <a:xfrm>
            <a:off x="8257032" y="4992624"/>
            <a:ext cx="3182112" cy="9966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Model generates → verifier filters → model trains on its own verified output → model improves → generates better. This is the conceptual core of Phases 7 through 10.</a:t>
            </a:r>
            <a:endParaRPr lang="en-US" sz="1100" dirty="0"/>
          </a:p>
        </p:txBody>
      </p:sp>
      <p:sp>
        <p:nvSpPr>
          <p:cNvPr id="25" name="Shape 23"/>
          <p:cNvSpPr/>
          <p:nvPr/>
        </p:nvSpPr>
        <p:spPr>
          <a:xfrm>
            <a:off x="502920" y="5394960"/>
            <a:ext cx="11155680" cy="960120"/>
          </a:xfrm>
          <a:prstGeom prst="roundRect">
            <a:avLst>
              <a:gd name="adj" fmla="val 6667"/>
            </a:avLst>
          </a:prstGeom>
          <a:solidFill>
            <a:srgbClr val="1F3D2E"/>
          </a:solidFill>
          <a:ln/>
        </p:spPr>
      </p:sp>
      <p:sp>
        <p:nvSpPr>
          <p:cNvPr id="26" name="Shape 24"/>
          <p:cNvSpPr/>
          <p:nvPr/>
        </p:nvSpPr>
        <p:spPr>
          <a:xfrm>
            <a:off x="740664" y="5577840"/>
            <a:ext cx="292608" cy="292608"/>
          </a:xfrm>
          <a:prstGeom prst="ellipse">
            <a:avLst/>
          </a:prstGeom>
          <a:solidFill>
            <a:srgbClr val="1F3D2E"/>
          </a:solidFill>
          <a:ln/>
        </p:spPr>
      </p:sp>
      <p:sp>
        <p:nvSpPr>
          <p:cNvPr id="27" name="Text 25"/>
          <p:cNvSpPr/>
          <p:nvPr/>
        </p:nvSpPr>
        <p:spPr>
          <a:xfrm>
            <a:off x="740664" y="55778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8" name="Text 26"/>
          <p:cNvSpPr/>
          <p:nvPr/>
        </p:nvSpPr>
        <p:spPr>
          <a:xfrm>
            <a:off x="1133856" y="55961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9" name="Text 27"/>
          <p:cNvSpPr/>
          <p:nvPr/>
        </p:nvSpPr>
        <p:spPr>
          <a:xfrm>
            <a:off x="740664" y="5971032"/>
            <a:ext cx="10680192" cy="21031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put off RFT because it seemed too simple to be worth a week. It produced a bigger single gain than DPO did, at a fraction of the complexity. Do not skip it on the assumption that the sophisticated method must be better.</a:t>
            </a:r>
            <a:endParaRPr lang="en-US" sz="11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107</a:t>
            </a:r>
            <a:endParaRPr lang="en-US" sz="9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loop in detail</a:t>
            </a:r>
            <a:endParaRPr lang="en-US" sz="2900" dirty="0"/>
          </a:p>
        </p:txBody>
      </p:sp>
      <p:sp>
        <p:nvSpPr>
          <p:cNvPr id="4" name="Shape 2"/>
          <p:cNvSpPr/>
          <p:nvPr/>
        </p:nvSpPr>
        <p:spPr>
          <a:xfrm>
            <a:off x="502920" y="1280160"/>
            <a:ext cx="11155680" cy="549783"/>
          </a:xfrm>
          <a:prstGeom prst="roundRect">
            <a:avLst>
              <a:gd name="adj" fmla="val 116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353883"/>
            <a:ext cx="402336" cy="402336"/>
          </a:xfrm>
          <a:prstGeom prst="ellipse">
            <a:avLst/>
          </a:prstGeom>
          <a:solidFill>
            <a:srgbClr val="8FB573"/>
          </a:solidFill>
          <a:ln/>
        </p:spPr>
      </p:sp>
      <p:sp>
        <p:nvSpPr>
          <p:cNvPr id="6" name="Text 4"/>
          <p:cNvSpPr/>
          <p:nvPr/>
        </p:nvSpPr>
        <p:spPr>
          <a:xfrm>
            <a:off x="749808" y="1353883"/>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Take problems that ship with tests</a:t>
            </a:r>
            <a:endParaRPr lang="en-US" sz="1300" dirty="0"/>
          </a:p>
        </p:txBody>
      </p:sp>
      <p:sp>
        <p:nvSpPr>
          <p:cNvPr id="8" name="Text 6"/>
          <p:cNvSpPr/>
          <p:nvPr/>
        </p:nvSpPr>
        <p:spPr>
          <a:xfrm>
            <a:off x="1316736" y="1700784"/>
            <a:ext cx="10058400" cy="37719"/>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CodeContests, APPS, TACO, MBPP-train. You need executable verification, so instruction datasets without tests do not work here.</a:t>
            </a:r>
            <a:endParaRPr lang="en-US" sz="1150" dirty="0"/>
          </a:p>
        </p:txBody>
      </p:sp>
      <p:sp>
        <p:nvSpPr>
          <p:cNvPr id="9" name="Shape 7"/>
          <p:cNvSpPr/>
          <p:nvPr/>
        </p:nvSpPr>
        <p:spPr>
          <a:xfrm>
            <a:off x="502920" y="1939671"/>
            <a:ext cx="11155680" cy="549783"/>
          </a:xfrm>
          <a:prstGeom prst="roundRect">
            <a:avLst>
              <a:gd name="adj" fmla="val 116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013394"/>
            <a:ext cx="402336" cy="402336"/>
          </a:xfrm>
          <a:prstGeom prst="ellipse">
            <a:avLst/>
          </a:prstGeom>
          <a:solidFill>
            <a:srgbClr val="8FB573"/>
          </a:solidFill>
          <a:ln/>
        </p:spPr>
      </p:sp>
      <p:sp>
        <p:nvSpPr>
          <p:cNvPr id="11" name="Text 9"/>
          <p:cNvSpPr/>
          <p:nvPr/>
        </p:nvSpPr>
        <p:spPr>
          <a:xfrm>
            <a:off x="749808" y="2013394"/>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067687"/>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Generate N samples per problem at temperature &gt; 0</a:t>
            </a:r>
            <a:endParaRPr lang="en-US" sz="1300" dirty="0"/>
          </a:p>
        </p:txBody>
      </p:sp>
      <p:sp>
        <p:nvSpPr>
          <p:cNvPr id="13" name="Text 11"/>
          <p:cNvSpPr/>
          <p:nvPr/>
        </p:nvSpPr>
        <p:spPr>
          <a:xfrm>
            <a:off x="1316736" y="2360295"/>
            <a:ext cx="10058400" cy="37719"/>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N = 10–50. Temperature 0.8–1.0. You NEED diversity — at temperature 0 you get the same wrong answer N times and learn nothing.</a:t>
            </a:r>
            <a:endParaRPr lang="en-US" sz="1150" dirty="0"/>
          </a:p>
        </p:txBody>
      </p:sp>
      <p:sp>
        <p:nvSpPr>
          <p:cNvPr id="14" name="Shape 12"/>
          <p:cNvSpPr/>
          <p:nvPr/>
        </p:nvSpPr>
        <p:spPr>
          <a:xfrm>
            <a:off x="502920" y="2599182"/>
            <a:ext cx="11155680" cy="549783"/>
          </a:xfrm>
          <a:prstGeom prst="roundRect">
            <a:avLst>
              <a:gd name="adj" fmla="val 116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2672906"/>
            <a:ext cx="402336" cy="402336"/>
          </a:xfrm>
          <a:prstGeom prst="ellipse">
            <a:avLst/>
          </a:prstGeom>
          <a:solidFill>
            <a:srgbClr val="8FB573"/>
          </a:solidFill>
          <a:ln/>
        </p:spPr>
      </p:sp>
      <p:sp>
        <p:nvSpPr>
          <p:cNvPr id="16" name="Text 14"/>
          <p:cNvSpPr/>
          <p:nvPr/>
        </p:nvSpPr>
        <p:spPr>
          <a:xfrm>
            <a:off x="749808" y="2672906"/>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2727198"/>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Execute every sample through your Phase 3 sandbox</a:t>
            </a:r>
            <a:endParaRPr lang="en-US" sz="1300" dirty="0"/>
          </a:p>
        </p:txBody>
      </p:sp>
      <p:sp>
        <p:nvSpPr>
          <p:cNvPr id="18" name="Text 16"/>
          <p:cNvSpPr/>
          <p:nvPr/>
        </p:nvSpPr>
        <p:spPr>
          <a:xfrm>
            <a:off x="1316736" y="3019806"/>
            <a:ext cx="10058400" cy="37719"/>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This is why you built it. Millions of executions; Level 1 speed matters enormously here.</a:t>
            </a:r>
            <a:endParaRPr lang="en-US" sz="1150" dirty="0"/>
          </a:p>
        </p:txBody>
      </p:sp>
      <p:sp>
        <p:nvSpPr>
          <p:cNvPr id="19" name="Shape 17"/>
          <p:cNvSpPr/>
          <p:nvPr/>
        </p:nvSpPr>
        <p:spPr>
          <a:xfrm>
            <a:off x="502920" y="3258693"/>
            <a:ext cx="11155680" cy="549783"/>
          </a:xfrm>
          <a:prstGeom prst="roundRect">
            <a:avLst>
              <a:gd name="adj" fmla="val 116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3332417"/>
            <a:ext cx="402336" cy="402336"/>
          </a:xfrm>
          <a:prstGeom prst="ellipse">
            <a:avLst/>
          </a:prstGeom>
          <a:solidFill>
            <a:srgbClr val="8FB573"/>
          </a:solidFill>
          <a:ln/>
        </p:spPr>
      </p:sp>
      <p:sp>
        <p:nvSpPr>
          <p:cNvPr id="21" name="Text 19"/>
          <p:cNvSpPr/>
          <p:nvPr/>
        </p:nvSpPr>
        <p:spPr>
          <a:xfrm>
            <a:off x="749808" y="3332417"/>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3386709"/>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Keep the passers, discard the rest</a:t>
            </a:r>
            <a:endParaRPr lang="en-US" sz="1300" dirty="0"/>
          </a:p>
        </p:txBody>
      </p:sp>
      <p:sp>
        <p:nvSpPr>
          <p:cNvPr id="23" name="Text 21"/>
          <p:cNvSpPr/>
          <p:nvPr/>
        </p:nvSpPr>
        <p:spPr>
          <a:xfrm>
            <a:off x="1316736" y="3679317"/>
            <a:ext cx="10058400" cy="37719"/>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Typically 5–30% survive depending on model and difficulty. That is normal — you are mining, not harvesting.</a:t>
            </a:r>
            <a:endParaRPr lang="en-US" sz="1150" dirty="0"/>
          </a:p>
        </p:txBody>
      </p:sp>
      <p:sp>
        <p:nvSpPr>
          <p:cNvPr id="24" name="Shape 22"/>
          <p:cNvSpPr/>
          <p:nvPr/>
        </p:nvSpPr>
        <p:spPr>
          <a:xfrm>
            <a:off x="502920" y="3918204"/>
            <a:ext cx="11155680" cy="549783"/>
          </a:xfrm>
          <a:prstGeom prst="roundRect">
            <a:avLst>
              <a:gd name="adj" fmla="val 116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3991928"/>
            <a:ext cx="402336" cy="402336"/>
          </a:xfrm>
          <a:prstGeom prst="ellipse">
            <a:avLst/>
          </a:prstGeom>
          <a:solidFill>
            <a:srgbClr val="8FB573"/>
          </a:solidFill>
          <a:ln/>
        </p:spPr>
      </p:sp>
      <p:sp>
        <p:nvSpPr>
          <p:cNvPr id="26" name="Text 24"/>
          <p:cNvSpPr/>
          <p:nvPr/>
        </p:nvSpPr>
        <p:spPr>
          <a:xfrm>
            <a:off x="749808" y="399192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404622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Deduplicate the survivors</a:t>
            </a:r>
            <a:endParaRPr lang="en-US" sz="1300" dirty="0"/>
          </a:p>
        </p:txBody>
      </p:sp>
      <p:sp>
        <p:nvSpPr>
          <p:cNvPr id="28" name="Text 26"/>
          <p:cNvSpPr/>
          <p:nvPr/>
        </p:nvSpPr>
        <p:spPr>
          <a:xfrm>
            <a:off x="1316736" y="4338828"/>
            <a:ext cx="10058400" cy="37719"/>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Low-temperature sampling produces near-identical solutions. Without dedup, easy problems dominate purely by volume of duplicates.</a:t>
            </a:r>
            <a:endParaRPr lang="en-US" sz="1150" dirty="0"/>
          </a:p>
        </p:txBody>
      </p:sp>
      <p:sp>
        <p:nvSpPr>
          <p:cNvPr id="29" name="Shape 27"/>
          <p:cNvSpPr/>
          <p:nvPr/>
        </p:nvSpPr>
        <p:spPr>
          <a:xfrm>
            <a:off x="502920" y="4577715"/>
            <a:ext cx="11155680" cy="549783"/>
          </a:xfrm>
          <a:prstGeom prst="roundRect">
            <a:avLst>
              <a:gd name="adj" fmla="val 116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749808" y="4651439"/>
            <a:ext cx="402336" cy="402336"/>
          </a:xfrm>
          <a:prstGeom prst="ellipse">
            <a:avLst/>
          </a:prstGeom>
          <a:solidFill>
            <a:srgbClr val="8FB573"/>
          </a:solidFill>
          <a:ln/>
        </p:spPr>
      </p:sp>
      <p:sp>
        <p:nvSpPr>
          <p:cNvPr id="31" name="Text 29"/>
          <p:cNvSpPr/>
          <p:nvPr/>
        </p:nvSpPr>
        <p:spPr>
          <a:xfrm>
            <a:off x="749808" y="4651439"/>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1316736" y="4705731"/>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Stratify by difficulty when keeping</a:t>
            </a:r>
            <a:endParaRPr lang="en-US" sz="1300" dirty="0"/>
          </a:p>
        </p:txBody>
      </p:sp>
      <p:sp>
        <p:nvSpPr>
          <p:cNvPr id="33" name="Text 31"/>
          <p:cNvSpPr/>
          <p:nvPr/>
        </p:nvSpPr>
        <p:spPr>
          <a:xfrm>
            <a:off x="1316736" y="4998339"/>
            <a:ext cx="10058400" cy="37719"/>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Cap the number kept per problem AND per difficulty band. This is the step that prevents difficulty collapse.</a:t>
            </a:r>
            <a:endParaRPr lang="en-US" sz="1150" dirty="0"/>
          </a:p>
        </p:txBody>
      </p:sp>
      <p:sp>
        <p:nvSpPr>
          <p:cNvPr id="34" name="Shape 32"/>
          <p:cNvSpPr/>
          <p:nvPr/>
        </p:nvSpPr>
        <p:spPr>
          <a:xfrm>
            <a:off x="502920" y="5237226"/>
            <a:ext cx="11155680" cy="549783"/>
          </a:xfrm>
          <a:prstGeom prst="roundRect">
            <a:avLst>
              <a:gd name="adj" fmla="val 116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5" name="Shape 33"/>
          <p:cNvSpPr/>
          <p:nvPr/>
        </p:nvSpPr>
        <p:spPr>
          <a:xfrm>
            <a:off x="749808" y="5310950"/>
            <a:ext cx="402336" cy="402336"/>
          </a:xfrm>
          <a:prstGeom prst="ellipse">
            <a:avLst/>
          </a:prstGeom>
          <a:solidFill>
            <a:srgbClr val="8FB573"/>
          </a:solidFill>
          <a:ln/>
        </p:spPr>
      </p:sp>
      <p:sp>
        <p:nvSpPr>
          <p:cNvPr id="36" name="Text 34"/>
          <p:cNvSpPr/>
          <p:nvPr/>
        </p:nvSpPr>
        <p:spPr>
          <a:xfrm>
            <a:off x="749808" y="531095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7</a:t>
            </a:r>
            <a:endParaRPr lang="en-US" sz="1500" dirty="0"/>
          </a:p>
        </p:txBody>
      </p:sp>
      <p:sp>
        <p:nvSpPr>
          <p:cNvPr id="37" name="Text 35"/>
          <p:cNvSpPr/>
          <p:nvPr/>
        </p:nvSpPr>
        <p:spPr>
          <a:xfrm>
            <a:off x="1316736" y="5365242"/>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SFT on the resulting dataset</a:t>
            </a:r>
            <a:endParaRPr lang="en-US" sz="1300" dirty="0"/>
          </a:p>
        </p:txBody>
      </p:sp>
      <p:sp>
        <p:nvSpPr>
          <p:cNvPr id="38" name="Text 36"/>
          <p:cNvSpPr/>
          <p:nvPr/>
        </p:nvSpPr>
        <p:spPr>
          <a:xfrm>
            <a:off x="1316736" y="5657850"/>
            <a:ext cx="10058400" cy="37719"/>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Exactly the Phase 6 recipe. Same trainer, same config shape, new data version.</a:t>
            </a:r>
            <a:endParaRPr lang="en-US" sz="1150" dirty="0"/>
          </a:p>
        </p:txBody>
      </p:sp>
      <p:sp>
        <p:nvSpPr>
          <p:cNvPr id="39" name="Shape 37"/>
          <p:cNvSpPr/>
          <p:nvPr/>
        </p:nvSpPr>
        <p:spPr>
          <a:xfrm>
            <a:off x="502920" y="5896737"/>
            <a:ext cx="11155680" cy="549783"/>
          </a:xfrm>
          <a:prstGeom prst="roundRect">
            <a:avLst>
              <a:gd name="adj" fmla="val 116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40" name="Shape 38"/>
          <p:cNvSpPr/>
          <p:nvPr/>
        </p:nvSpPr>
        <p:spPr>
          <a:xfrm>
            <a:off x="749808" y="5970461"/>
            <a:ext cx="402336" cy="402336"/>
          </a:xfrm>
          <a:prstGeom prst="ellipse">
            <a:avLst/>
          </a:prstGeom>
          <a:solidFill>
            <a:srgbClr val="8FB573"/>
          </a:solidFill>
          <a:ln/>
        </p:spPr>
      </p:sp>
      <p:sp>
        <p:nvSpPr>
          <p:cNvPr id="41" name="Text 39"/>
          <p:cNvSpPr/>
          <p:nvPr/>
        </p:nvSpPr>
        <p:spPr>
          <a:xfrm>
            <a:off x="749808" y="5970461"/>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8</a:t>
            </a:r>
            <a:endParaRPr lang="en-US" sz="1500" dirty="0"/>
          </a:p>
        </p:txBody>
      </p:sp>
      <p:sp>
        <p:nvSpPr>
          <p:cNvPr id="42" name="Text 40"/>
          <p:cNvSpPr/>
          <p:nvPr/>
        </p:nvSpPr>
        <p:spPr>
          <a:xfrm>
            <a:off x="1316736" y="6024753"/>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Evaluate, then consider iterating</a:t>
            </a:r>
            <a:endParaRPr lang="en-US" sz="1300" dirty="0"/>
          </a:p>
        </p:txBody>
      </p:sp>
      <p:sp>
        <p:nvSpPr>
          <p:cNvPr id="43" name="Text 41"/>
          <p:cNvSpPr/>
          <p:nvPr/>
        </p:nvSpPr>
        <p:spPr>
          <a:xfrm>
            <a:off x="1316736" y="6317361"/>
            <a:ext cx="10058400" cy="37719"/>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The improved model is a better generator. Round 2 mines problems round 1 could not solve.</a:t>
            </a:r>
            <a:endParaRPr lang="en-US" sz="1150" dirty="0"/>
          </a:p>
        </p:txBody>
      </p:sp>
      <p:sp>
        <p:nvSpPr>
          <p:cNvPr id="44" name="Text 4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108</a:t>
            </a:r>
            <a:endParaRPr lang="en-US" sz="9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Choosing N and temperature — the two knobs that matter</a:t>
            </a:r>
            <a:endParaRPr lang="en-US" sz="2900" dirty="0"/>
          </a:p>
        </p:txBody>
      </p:sp>
      <p:graphicFrame>
        <p:nvGraphicFramePr>
          <p:cNvPr id="11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194560"/>
                <a:gridCol w="3749040"/>
                <a:gridCol w="1645920"/>
                <a:gridCol w="356616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Setting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Effect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Cost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Recommendation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 = 4</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Few passers; only easy problems yield anything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Too few. Difficulty collapse guaranteed.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 = 10</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Reasonable yield on easy and medium problems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Good starting point for round 1</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 = 20–50</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Mines genuinely hard problems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Use on the hard slice only, not uniformly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temp = 0.0</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Identical output N times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Useless. You get one sample, N times.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temp = 0.6</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Mild diversity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Too conservative; wastes the sampling budget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temp = 0.8–1.0</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Genuine diversity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working range. Start at 0.8.</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temp = 1.2+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High diversity, more garbage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Occasionally useful for very hard problems only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114800"/>
            <a:ext cx="11155680" cy="640080"/>
          </a:xfrm>
          <a:prstGeom prst="roundRect">
            <a:avLst>
              <a:gd name="adj" fmla="val 10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Shape 3"/>
          <p:cNvSpPr/>
          <p:nvPr/>
        </p:nvSpPr>
        <p:spPr>
          <a:xfrm>
            <a:off x="502920" y="4114800"/>
            <a:ext cx="91440" cy="640080"/>
          </a:xfrm>
          <a:prstGeom prst="rect">
            <a:avLst/>
          </a:prstGeom>
          <a:solidFill>
            <a:srgbClr val="8FB573"/>
          </a:solidFill>
          <a:ln/>
        </p:spPr>
      </p:sp>
      <p:sp>
        <p:nvSpPr>
          <p:cNvPr id="7" name="Text 4"/>
          <p:cNvSpPr/>
          <p:nvPr/>
        </p:nvSpPr>
        <p:spPr>
          <a:xfrm>
            <a:off x="822960" y="4224528"/>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Spend N where it pays</a:t>
            </a:r>
            <a:endParaRPr lang="en-US" sz="1250" dirty="0"/>
          </a:p>
        </p:txBody>
      </p:sp>
      <p:sp>
        <p:nvSpPr>
          <p:cNvPr id="8" name="Text 5"/>
          <p:cNvSpPr/>
          <p:nvPr/>
        </p:nvSpPr>
        <p:spPr>
          <a:xfrm>
            <a:off x="822960" y="4517136"/>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adaptive sampling</a:t>
            </a:r>
            <a:endParaRPr lang="en-US" sz="950" dirty="0"/>
          </a:p>
        </p:txBody>
      </p:sp>
      <p:sp>
        <p:nvSpPr>
          <p:cNvPr id="9" name="Text 6"/>
          <p:cNvSpPr/>
          <p:nvPr/>
        </p:nvSpPr>
        <p:spPr>
          <a:xfrm>
            <a:off x="3794760" y="4206240"/>
            <a:ext cx="7863840" cy="45720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Give easy problems N=5 and hard problems N=50. Uniform N wastes most of your compute re-solving trivial problems.</a:t>
            </a:r>
            <a:endParaRPr lang="en-US" sz="1180" dirty="0"/>
          </a:p>
        </p:txBody>
      </p:sp>
      <p:sp>
        <p:nvSpPr>
          <p:cNvPr id="10" name="Shape 7"/>
          <p:cNvSpPr/>
          <p:nvPr/>
        </p:nvSpPr>
        <p:spPr>
          <a:xfrm>
            <a:off x="502920" y="4846320"/>
            <a:ext cx="11155680" cy="640080"/>
          </a:xfrm>
          <a:prstGeom prst="roundRect">
            <a:avLst>
              <a:gd name="adj" fmla="val 10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8"/>
          <p:cNvSpPr/>
          <p:nvPr/>
        </p:nvSpPr>
        <p:spPr>
          <a:xfrm>
            <a:off x="502920" y="4846320"/>
            <a:ext cx="91440" cy="640080"/>
          </a:xfrm>
          <a:prstGeom prst="rect">
            <a:avLst/>
          </a:prstGeom>
          <a:solidFill>
            <a:srgbClr val="8FB573"/>
          </a:solidFill>
          <a:ln/>
        </p:spPr>
      </p:sp>
      <p:sp>
        <p:nvSpPr>
          <p:cNvPr id="12" name="Text 9"/>
          <p:cNvSpPr/>
          <p:nvPr/>
        </p:nvSpPr>
        <p:spPr>
          <a:xfrm>
            <a:off x="822960" y="4956048"/>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Temperature is a diversity dial</a:t>
            </a:r>
            <a:endParaRPr lang="en-US" sz="1250" dirty="0"/>
          </a:p>
        </p:txBody>
      </p:sp>
      <p:sp>
        <p:nvSpPr>
          <p:cNvPr id="13" name="Text 10"/>
          <p:cNvSpPr/>
          <p:nvPr/>
        </p:nvSpPr>
        <p:spPr>
          <a:xfrm>
            <a:off x="822960" y="5248656"/>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not a quality dial</a:t>
            </a:r>
            <a:endParaRPr lang="en-US" sz="950" dirty="0"/>
          </a:p>
        </p:txBody>
      </p:sp>
      <p:sp>
        <p:nvSpPr>
          <p:cNvPr id="14" name="Text 11"/>
          <p:cNvSpPr/>
          <p:nvPr/>
        </p:nvSpPr>
        <p:spPr>
          <a:xfrm>
            <a:off x="3794760" y="4937760"/>
            <a:ext cx="7863840" cy="45720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You are not trying to generate good code; you are trying to generate VARIED code so the filter has something to choose from.</a:t>
            </a:r>
            <a:endParaRPr lang="en-US" sz="1180" dirty="0"/>
          </a:p>
        </p:txBody>
      </p:sp>
      <p:sp>
        <p:nvSpPr>
          <p:cNvPr id="15" name="Shape 12"/>
          <p:cNvSpPr/>
          <p:nvPr/>
        </p:nvSpPr>
        <p:spPr>
          <a:xfrm>
            <a:off x="502920" y="5577840"/>
            <a:ext cx="11155680" cy="640080"/>
          </a:xfrm>
          <a:prstGeom prst="roundRect">
            <a:avLst>
              <a:gd name="adj" fmla="val 10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3"/>
          <p:cNvSpPr/>
          <p:nvPr/>
        </p:nvSpPr>
        <p:spPr>
          <a:xfrm>
            <a:off x="502920" y="5577840"/>
            <a:ext cx="91440" cy="640080"/>
          </a:xfrm>
          <a:prstGeom prst="rect">
            <a:avLst/>
          </a:prstGeom>
          <a:solidFill>
            <a:srgbClr val="8FB573"/>
          </a:solidFill>
          <a:ln/>
        </p:spPr>
      </p:sp>
      <p:sp>
        <p:nvSpPr>
          <p:cNvPr id="17" name="Text 14"/>
          <p:cNvSpPr/>
          <p:nvPr/>
        </p:nvSpPr>
        <p:spPr>
          <a:xfrm>
            <a:off x="822960" y="5687568"/>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Yield rate is a difficulty signal</a:t>
            </a:r>
            <a:endParaRPr lang="en-US" sz="1250" dirty="0"/>
          </a:p>
        </p:txBody>
      </p:sp>
      <p:sp>
        <p:nvSpPr>
          <p:cNvPr id="18" name="Text 15"/>
          <p:cNvSpPr/>
          <p:nvPr/>
        </p:nvSpPr>
        <p:spPr>
          <a:xfrm>
            <a:off x="822960" y="5980176"/>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log it per problem</a:t>
            </a:r>
            <a:endParaRPr lang="en-US" sz="950" dirty="0"/>
          </a:p>
        </p:txBody>
      </p:sp>
      <p:sp>
        <p:nvSpPr>
          <p:cNvPr id="19" name="Text 16"/>
          <p:cNvSpPr/>
          <p:nvPr/>
        </p:nvSpPr>
        <p:spPr>
          <a:xfrm>
            <a:off x="3794760" y="5669280"/>
            <a:ext cx="7863840" cy="45720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Pass rate at fixed N and temperature IS your difficulty label. Compute it once, reuse it everywhere.</a:t>
            </a:r>
            <a:endParaRPr lang="en-US" sz="1180" dirty="0"/>
          </a:p>
        </p:txBody>
      </p:sp>
      <p:sp>
        <p:nvSpPr>
          <p:cNvPr id="20" name="Text 1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109</a:t>
            </a:r>
            <a:endParaRPr lang="en-US" sz="9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Difficulty collapse — the failure that gets everyone</a:t>
            </a:r>
            <a:endParaRPr lang="en-US" sz="2900" dirty="0"/>
          </a:p>
        </p:txBody>
      </p:sp>
      <p:graphicFrame>
        <p:nvGraphicFramePr>
          <p:cNvPr id="4" name="Chart 0" descr=""/>
          <p:cNvGraphicFramePr/>
          <p:nvPr/>
        </p:nvGraphicFramePr>
        <p:xfrm>
          <a:off x="502920" y="1280160"/>
          <a:ext cx="6400800" cy="3108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086600" y="1280160"/>
            <a:ext cx="4572000" cy="822960"/>
          </a:xfrm>
          <a:prstGeom prst="roundRect">
            <a:avLst>
              <a:gd name="adj" fmla="val 777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7306056" y="1426464"/>
            <a:ext cx="413308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The mechanism</a:t>
            </a:r>
            <a:endParaRPr lang="en-US" sz="1250" dirty="0"/>
          </a:p>
        </p:txBody>
      </p:sp>
      <p:sp>
        <p:nvSpPr>
          <p:cNvPr id="7" name="Text 4"/>
          <p:cNvSpPr/>
          <p:nvPr/>
        </p:nvSpPr>
        <p:spPr>
          <a:xfrm>
            <a:off x="7306056" y="1737360"/>
            <a:ext cx="4133088" cy="2194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Hard problems produce few or no passing samples. Easy problems produce many. So your filtered dataset is overwhelmingly easy — you train on what the model could already do.</a:t>
            </a:r>
            <a:endParaRPr lang="en-US" sz="1100" dirty="0"/>
          </a:p>
        </p:txBody>
      </p:sp>
      <p:sp>
        <p:nvSpPr>
          <p:cNvPr id="8" name="Shape 5"/>
          <p:cNvSpPr/>
          <p:nvPr/>
        </p:nvSpPr>
        <p:spPr>
          <a:xfrm>
            <a:off x="7086600" y="2194560"/>
            <a:ext cx="4572000" cy="822960"/>
          </a:xfrm>
          <a:prstGeom prst="roundRect">
            <a:avLst>
              <a:gd name="adj" fmla="val 777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7306056" y="2340864"/>
            <a:ext cx="413308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The symptom</a:t>
            </a:r>
            <a:endParaRPr lang="en-US" sz="1250" dirty="0"/>
          </a:p>
        </p:txBody>
      </p:sp>
      <p:sp>
        <p:nvSpPr>
          <p:cNvPr id="10" name="Text 7"/>
          <p:cNvSpPr/>
          <p:nvPr/>
        </p:nvSpPr>
        <p:spPr>
          <a:xfrm>
            <a:off x="7306056" y="2651760"/>
            <a:ext cx="4133088" cy="2194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Round 2 shows almost no improvement. The model got better at problems it was already solving and learned nothing new.</a:t>
            </a:r>
            <a:endParaRPr lang="en-US" sz="1100" dirty="0"/>
          </a:p>
        </p:txBody>
      </p:sp>
      <p:sp>
        <p:nvSpPr>
          <p:cNvPr id="11" name="Shape 8"/>
          <p:cNvSpPr/>
          <p:nvPr/>
        </p:nvSpPr>
        <p:spPr>
          <a:xfrm>
            <a:off x="7086600" y="3108960"/>
            <a:ext cx="4572000" cy="822960"/>
          </a:xfrm>
          <a:prstGeom prst="roundRect">
            <a:avLst>
              <a:gd name="adj" fmla="val 777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7306056" y="3255264"/>
            <a:ext cx="41330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Fix 1 — cap per problem</a:t>
            </a:r>
            <a:endParaRPr lang="en-US" sz="1250" dirty="0"/>
          </a:p>
        </p:txBody>
      </p:sp>
      <p:sp>
        <p:nvSpPr>
          <p:cNvPr id="13" name="Text 10"/>
          <p:cNvSpPr/>
          <p:nvPr/>
        </p:nvSpPr>
        <p:spPr>
          <a:xfrm>
            <a:off x="7306056" y="3566160"/>
            <a:ext cx="4133088" cy="2194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Keep at most k passing samples per problem (k=1–4). Stops one easy problem contributing fifty examples.</a:t>
            </a:r>
            <a:endParaRPr lang="en-US" sz="1100" dirty="0"/>
          </a:p>
        </p:txBody>
      </p:sp>
      <p:sp>
        <p:nvSpPr>
          <p:cNvPr id="14" name="Shape 11"/>
          <p:cNvSpPr/>
          <p:nvPr/>
        </p:nvSpPr>
        <p:spPr>
          <a:xfrm>
            <a:off x="7086600" y="4023360"/>
            <a:ext cx="4572000" cy="822960"/>
          </a:xfrm>
          <a:prstGeom prst="roundRect">
            <a:avLst>
              <a:gd name="adj" fmla="val 777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2"/>
          <p:cNvSpPr/>
          <p:nvPr/>
        </p:nvSpPr>
        <p:spPr>
          <a:xfrm>
            <a:off x="7306056" y="4169664"/>
            <a:ext cx="41330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Fix 2 — stratified quotas</a:t>
            </a:r>
            <a:endParaRPr lang="en-US" sz="1250" dirty="0"/>
          </a:p>
        </p:txBody>
      </p:sp>
      <p:sp>
        <p:nvSpPr>
          <p:cNvPr id="16" name="Text 13"/>
          <p:cNvSpPr/>
          <p:nvPr/>
        </p:nvSpPr>
        <p:spPr>
          <a:xfrm>
            <a:off x="7306056" y="4480560"/>
            <a:ext cx="4133088" cy="2194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Keep a fixed proportion from each difficulty band, even if that means keeping every single hard-problem success.</a:t>
            </a:r>
            <a:endParaRPr lang="en-US" sz="1100" dirty="0"/>
          </a:p>
        </p:txBody>
      </p:sp>
      <p:sp>
        <p:nvSpPr>
          <p:cNvPr id="17" name="Shape 14"/>
          <p:cNvSpPr/>
          <p:nvPr/>
        </p:nvSpPr>
        <p:spPr>
          <a:xfrm>
            <a:off x="7086600" y="4937760"/>
            <a:ext cx="4572000" cy="822960"/>
          </a:xfrm>
          <a:prstGeom prst="roundRect">
            <a:avLst>
              <a:gd name="adj" fmla="val 777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Text 15"/>
          <p:cNvSpPr/>
          <p:nvPr/>
        </p:nvSpPr>
        <p:spPr>
          <a:xfrm>
            <a:off x="7306056" y="5084064"/>
            <a:ext cx="41330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Fix 3 — adaptive N</a:t>
            </a:r>
            <a:endParaRPr lang="en-US" sz="1250" dirty="0"/>
          </a:p>
        </p:txBody>
      </p:sp>
      <p:sp>
        <p:nvSpPr>
          <p:cNvPr id="19" name="Text 16"/>
          <p:cNvSpPr/>
          <p:nvPr/>
        </p:nvSpPr>
        <p:spPr>
          <a:xfrm>
            <a:off x="7306056" y="5394960"/>
            <a:ext cx="4133088" cy="2194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Spend far more samples on hard problems. N=50 on hard, N=5 on easy, same total budget.</a:t>
            </a:r>
            <a:endParaRPr lang="en-US" sz="1100" dirty="0"/>
          </a:p>
        </p:txBody>
      </p:sp>
      <p:sp>
        <p:nvSpPr>
          <p:cNvPr id="20" name="Shape 17"/>
          <p:cNvSpPr/>
          <p:nvPr/>
        </p:nvSpPr>
        <p:spPr>
          <a:xfrm>
            <a:off x="502920" y="4617720"/>
            <a:ext cx="11155680" cy="1051560"/>
          </a:xfrm>
          <a:prstGeom prst="roundRect">
            <a:avLst>
              <a:gd name="adj" fmla="val 6087"/>
            </a:avLst>
          </a:prstGeom>
          <a:solidFill>
            <a:srgbClr val="1F3D2E"/>
          </a:solidFill>
          <a:ln/>
        </p:spPr>
      </p:sp>
      <p:sp>
        <p:nvSpPr>
          <p:cNvPr id="21" name="Shape 18"/>
          <p:cNvSpPr/>
          <p:nvPr/>
        </p:nvSpPr>
        <p:spPr>
          <a:xfrm>
            <a:off x="740664" y="4800600"/>
            <a:ext cx="292608" cy="292608"/>
          </a:xfrm>
          <a:prstGeom prst="ellipse">
            <a:avLst/>
          </a:prstGeom>
          <a:solidFill>
            <a:srgbClr val="1F3D2E"/>
          </a:solidFill>
          <a:ln/>
        </p:spPr>
      </p:sp>
      <p:sp>
        <p:nvSpPr>
          <p:cNvPr id="22" name="Text 19"/>
          <p:cNvSpPr/>
          <p:nvPr/>
        </p:nvSpPr>
        <p:spPr>
          <a:xfrm>
            <a:off x="740664" y="480060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3" name="Text 20"/>
          <p:cNvSpPr/>
          <p:nvPr/>
        </p:nvSpPr>
        <p:spPr>
          <a:xfrm>
            <a:off x="1133856" y="481888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4" name="Text 21"/>
          <p:cNvSpPr/>
          <p:nvPr/>
        </p:nvSpPr>
        <p:spPr>
          <a:xfrm>
            <a:off x="740664" y="5193792"/>
            <a:ext cx="10680192" cy="3017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After two naive RFT rounds my model was excellent at problems it had always been fine at, and had made zero progress on anything hard. The dataset was 71% easy problems. Stratify your keep-set — it is one line of code and it is the difference between RFT working and RFT plateauing.</a:t>
            </a:r>
            <a:endParaRPr lang="en-US" sz="1150" dirty="0"/>
          </a:p>
        </p:txBody>
      </p:sp>
      <p:sp>
        <p:nvSpPr>
          <p:cNvPr id="25" name="Text 2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110</a:t>
            </a:r>
            <a:endParaRPr lang="en-US" sz="9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Filtering strategy — what exactly do you keep?</a:t>
            </a:r>
            <a:endParaRPr lang="en-US" sz="2900" dirty="0"/>
          </a:p>
        </p:txBody>
      </p:sp>
      <p:graphicFrame>
        <p:nvGraphicFramePr>
          <p:cNvPr id="11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560320"/>
                <a:gridCol w="2743200"/>
                <a:gridCol w="3291840"/>
                <a:gridCol w="256032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Strategy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keeps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Effect on the model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When to use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All passers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Every sample that passes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Maximum volume; easy problems dominate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Never, without a per-problem cap</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Best-1 per problem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Shortest or highest-scoring passer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Clean, low-volume, low-diversity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Small datasets; when quality &gt; quantity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Top-k per problem (k=2–4)</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k distinct passers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Balanced. The default.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Most of the time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Diverse-k</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k passers, maximally different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Preserves solution variety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When you want to keep pass@10 alive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Shortest passer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Minimum-token correct solution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Biases toward terse code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If you want concision; watch for golf</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Include near-misses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Solutions passing &gt;80% of tests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Adds signal on hard problems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Risky — teaches subtly wrong code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114800"/>
            <a:ext cx="11155680" cy="640080"/>
          </a:xfrm>
          <a:prstGeom prst="roundRect">
            <a:avLst>
              <a:gd name="adj" fmla="val 10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Shape 3"/>
          <p:cNvSpPr/>
          <p:nvPr/>
        </p:nvSpPr>
        <p:spPr>
          <a:xfrm>
            <a:off x="502920" y="4114800"/>
            <a:ext cx="91440" cy="640080"/>
          </a:xfrm>
          <a:prstGeom prst="rect">
            <a:avLst/>
          </a:prstGeom>
          <a:solidFill>
            <a:srgbClr val="A8482A"/>
          </a:solidFill>
          <a:ln/>
        </p:spPr>
      </p:sp>
      <p:sp>
        <p:nvSpPr>
          <p:cNvPr id="7" name="Text 4"/>
          <p:cNvSpPr/>
          <p:nvPr/>
        </p:nvSpPr>
        <p:spPr>
          <a:xfrm>
            <a:off x="822960" y="4224528"/>
            <a:ext cx="29260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Do not keep near-misses in RFT</a:t>
            </a:r>
            <a:endParaRPr lang="en-US" sz="1250" dirty="0"/>
          </a:p>
        </p:txBody>
      </p:sp>
      <p:sp>
        <p:nvSpPr>
          <p:cNvPr id="8" name="Text 5"/>
          <p:cNvSpPr/>
          <p:nvPr/>
        </p:nvSpPr>
        <p:spPr>
          <a:xfrm>
            <a:off x="822960" y="4517136"/>
            <a:ext cx="29260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save it for DPO</a:t>
            </a:r>
            <a:endParaRPr lang="en-US" sz="950" dirty="0"/>
          </a:p>
        </p:txBody>
      </p:sp>
      <p:sp>
        <p:nvSpPr>
          <p:cNvPr id="9" name="Text 6"/>
          <p:cNvSpPr/>
          <p:nvPr/>
        </p:nvSpPr>
        <p:spPr>
          <a:xfrm>
            <a:off x="3977640" y="4206240"/>
            <a:ext cx="7680960" cy="45720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A solution passing 80% of tests is WRONG. Training on it teaches wrong code. It is excellent DPO 'rejected' data though.</a:t>
            </a:r>
            <a:endParaRPr lang="en-US" sz="1180" dirty="0"/>
          </a:p>
        </p:txBody>
      </p:sp>
      <p:sp>
        <p:nvSpPr>
          <p:cNvPr id="10" name="Shape 7"/>
          <p:cNvSpPr/>
          <p:nvPr/>
        </p:nvSpPr>
        <p:spPr>
          <a:xfrm>
            <a:off x="502920" y="4846320"/>
            <a:ext cx="11155680" cy="640080"/>
          </a:xfrm>
          <a:prstGeom prst="roundRect">
            <a:avLst>
              <a:gd name="adj" fmla="val 10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8"/>
          <p:cNvSpPr/>
          <p:nvPr/>
        </p:nvSpPr>
        <p:spPr>
          <a:xfrm>
            <a:off x="502920" y="4846320"/>
            <a:ext cx="91440" cy="640080"/>
          </a:xfrm>
          <a:prstGeom prst="rect">
            <a:avLst/>
          </a:prstGeom>
          <a:solidFill>
            <a:srgbClr val="D98E32"/>
          </a:solidFill>
          <a:ln/>
        </p:spPr>
      </p:sp>
      <p:sp>
        <p:nvSpPr>
          <p:cNvPr id="12" name="Text 9"/>
          <p:cNvSpPr/>
          <p:nvPr/>
        </p:nvSpPr>
        <p:spPr>
          <a:xfrm>
            <a:off x="822960" y="4956048"/>
            <a:ext cx="29260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Beware the shortest-solution bias</a:t>
            </a:r>
            <a:endParaRPr lang="en-US" sz="1250" dirty="0"/>
          </a:p>
        </p:txBody>
      </p:sp>
      <p:sp>
        <p:nvSpPr>
          <p:cNvPr id="13" name="Text 10"/>
          <p:cNvSpPr/>
          <p:nvPr/>
        </p:nvSpPr>
        <p:spPr>
          <a:xfrm>
            <a:off x="822960" y="5248656"/>
            <a:ext cx="29260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code golf</a:t>
            </a:r>
            <a:endParaRPr lang="en-US" sz="950" dirty="0"/>
          </a:p>
        </p:txBody>
      </p:sp>
      <p:sp>
        <p:nvSpPr>
          <p:cNvPr id="14" name="Text 11"/>
          <p:cNvSpPr/>
          <p:nvPr/>
        </p:nvSpPr>
        <p:spPr>
          <a:xfrm>
            <a:off x="3977640" y="4937760"/>
            <a:ext cx="7680960" cy="45720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Optimizing for brevity produces unreadable one-liners. If you filter by length, cap it rather than minimizing it.</a:t>
            </a:r>
            <a:endParaRPr lang="en-US" sz="1180" dirty="0"/>
          </a:p>
        </p:txBody>
      </p:sp>
      <p:sp>
        <p:nvSpPr>
          <p:cNvPr id="15" name="Shape 12"/>
          <p:cNvSpPr/>
          <p:nvPr/>
        </p:nvSpPr>
        <p:spPr>
          <a:xfrm>
            <a:off x="502920" y="5577840"/>
            <a:ext cx="11155680" cy="640080"/>
          </a:xfrm>
          <a:prstGeom prst="roundRect">
            <a:avLst>
              <a:gd name="adj" fmla="val 100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3"/>
          <p:cNvSpPr/>
          <p:nvPr/>
        </p:nvSpPr>
        <p:spPr>
          <a:xfrm>
            <a:off x="502920" y="5577840"/>
            <a:ext cx="91440" cy="640080"/>
          </a:xfrm>
          <a:prstGeom prst="rect">
            <a:avLst/>
          </a:prstGeom>
          <a:solidFill>
            <a:srgbClr val="8FB573"/>
          </a:solidFill>
          <a:ln/>
        </p:spPr>
      </p:sp>
      <p:sp>
        <p:nvSpPr>
          <p:cNvPr id="17" name="Text 14"/>
          <p:cNvSpPr/>
          <p:nvPr/>
        </p:nvSpPr>
        <p:spPr>
          <a:xfrm>
            <a:off x="822960" y="5687568"/>
            <a:ext cx="29260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Dedup after filtering</a:t>
            </a:r>
            <a:endParaRPr lang="en-US" sz="1250" dirty="0"/>
          </a:p>
        </p:txBody>
      </p:sp>
      <p:sp>
        <p:nvSpPr>
          <p:cNvPr id="18" name="Text 15"/>
          <p:cNvSpPr/>
          <p:nvPr/>
        </p:nvSpPr>
        <p:spPr>
          <a:xfrm>
            <a:off x="822960" y="5980176"/>
            <a:ext cx="29260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not before</a:t>
            </a:r>
            <a:endParaRPr lang="en-US" sz="950" dirty="0"/>
          </a:p>
        </p:txBody>
      </p:sp>
      <p:sp>
        <p:nvSpPr>
          <p:cNvPr id="19" name="Text 16"/>
          <p:cNvSpPr/>
          <p:nvPr/>
        </p:nvSpPr>
        <p:spPr>
          <a:xfrm>
            <a:off x="3977640" y="5669280"/>
            <a:ext cx="7680960" cy="45720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Near-identical passers are extremely common at temperature 0.8. Dedup the survivors or volume lies to you.</a:t>
            </a:r>
            <a:endParaRPr lang="en-US" sz="1180" dirty="0"/>
          </a:p>
        </p:txBody>
      </p:sp>
      <p:sp>
        <p:nvSpPr>
          <p:cNvPr id="20" name="Text 1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111</a:t>
            </a:r>
            <a:endParaRPr lang="en-US" sz="9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Where your two machines finally earn their keep</a:t>
            </a:r>
            <a:endParaRPr lang="en-US" sz="2900" dirty="0"/>
          </a:p>
        </p:txBody>
      </p:sp>
      <p:sp>
        <p:nvSpPr>
          <p:cNvPr id="4" name="Shape 2"/>
          <p:cNvSpPr/>
          <p:nvPr/>
        </p:nvSpPr>
        <p:spPr>
          <a:xfrm>
            <a:off x="502920" y="1280160"/>
            <a:ext cx="1953158" cy="1691640"/>
          </a:xfrm>
          <a:prstGeom prst="roundRect">
            <a:avLst>
              <a:gd name="adj" fmla="val 378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667512" y="1417320"/>
            <a:ext cx="1623974"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MAC — GENERATE</a:t>
            </a:r>
            <a:endParaRPr lang="en-US" sz="1100" dirty="0"/>
          </a:p>
        </p:txBody>
      </p:sp>
      <p:sp>
        <p:nvSpPr>
          <p:cNvPr id="6" name="Text 4"/>
          <p:cNvSpPr/>
          <p:nvPr/>
        </p:nvSpPr>
        <p:spPr>
          <a:xfrm>
            <a:off x="667512" y="1700784"/>
            <a:ext cx="1623974"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14B teacher, 4-bit, produces N candidates per problem. Runs overnight.</a:t>
            </a:r>
            <a:endParaRPr lang="en-US" sz="1050" dirty="0"/>
          </a:p>
        </p:txBody>
      </p:sp>
      <p:sp>
        <p:nvSpPr>
          <p:cNvPr id="7" name="Text 5"/>
          <p:cNvSpPr/>
          <p:nvPr/>
        </p:nvSpPr>
        <p:spPr>
          <a:xfrm>
            <a:off x="2456078" y="1280160"/>
            <a:ext cx="347472" cy="16916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8" name="Shape 6"/>
          <p:cNvSpPr/>
          <p:nvPr/>
        </p:nvSpPr>
        <p:spPr>
          <a:xfrm>
            <a:off x="2803550" y="1280160"/>
            <a:ext cx="1953158" cy="1691640"/>
          </a:xfrm>
          <a:prstGeom prst="roundRect">
            <a:avLst>
              <a:gd name="adj" fmla="val 378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2968142" y="1417320"/>
            <a:ext cx="1623974" cy="256032"/>
          </a:xfrm>
          <a:prstGeom prst="rect">
            <a:avLst/>
          </a:prstGeom>
          <a:noFill/>
          <a:ln/>
        </p:spPr>
        <p:txBody>
          <a:bodyPr wrap="square" lIns="0" tIns="0" rIns="0" bIns="0" rtlCol="0" anchor="ctr"/>
          <a:lstStyle/>
          <a:p>
            <a:pPr indent="0" marL="0">
              <a:buNone/>
            </a:pPr>
            <a:r>
              <a:rPr lang="en-US" sz="1100" b="1" spc="120" kern="0" dirty="0">
                <a:solidFill>
                  <a:srgbClr val="D98E32"/>
                </a:solidFill>
                <a:latin typeface="Calibri" pitchFamily="34" charset="0"/>
                <a:ea typeface="Calibri" pitchFamily="34" charset="-122"/>
                <a:cs typeface="Calibri" pitchFamily="34" charset="-120"/>
              </a:rPr>
              <a:t>MAC — VERIFY</a:t>
            </a:r>
            <a:endParaRPr lang="en-US" sz="1100" dirty="0"/>
          </a:p>
        </p:txBody>
      </p:sp>
      <p:sp>
        <p:nvSpPr>
          <p:cNvPr id="10" name="Text 8"/>
          <p:cNvSpPr/>
          <p:nvPr/>
        </p:nvSpPr>
        <p:spPr>
          <a:xfrm>
            <a:off x="2968142" y="1700784"/>
            <a:ext cx="1623974"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Sandbox executes all candidates. Keeps only verified passers.</a:t>
            </a:r>
            <a:endParaRPr lang="en-US" sz="1050" dirty="0"/>
          </a:p>
        </p:txBody>
      </p:sp>
      <p:sp>
        <p:nvSpPr>
          <p:cNvPr id="11" name="Text 9"/>
          <p:cNvSpPr/>
          <p:nvPr/>
        </p:nvSpPr>
        <p:spPr>
          <a:xfrm>
            <a:off x="4756709" y="1280160"/>
            <a:ext cx="347472" cy="16916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2" name="Shape 10"/>
          <p:cNvSpPr/>
          <p:nvPr/>
        </p:nvSpPr>
        <p:spPr>
          <a:xfrm>
            <a:off x="5104181" y="1280160"/>
            <a:ext cx="1953158" cy="1691640"/>
          </a:xfrm>
          <a:prstGeom prst="roundRect">
            <a:avLst>
              <a:gd name="adj" fmla="val 378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Text 11"/>
          <p:cNvSpPr/>
          <p:nvPr/>
        </p:nvSpPr>
        <p:spPr>
          <a:xfrm>
            <a:off x="5268773" y="1417320"/>
            <a:ext cx="1623974"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MAC — CURATE</a:t>
            </a:r>
            <a:endParaRPr lang="en-US" sz="1100" dirty="0"/>
          </a:p>
        </p:txBody>
      </p:sp>
      <p:sp>
        <p:nvSpPr>
          <p:cNvPr id="14" name="Text 12"/>
          <p:cNvSpPr/>
          <p:nvPr/>
        </p:nvSpPr>
        <p:spPr>
          <a:xfrm>
            <a:off x="5268773" y="1700784"/>
            <a:ext cx="1623974"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Dedup, stratify, cap per problem, write a new data version.</a:t>
            </a:r>
            <a:endParaRPr lang="en-US" sz="1050" dirty="0"/>
          </a:p>
        </p:txBody>
      </p:sp>
      <p:sp>
        <p:nvSpPr>
          <p:cNvPr id="15" name="Text 13"/>
          <p:cNvSpPr/>
          <p:nvPr/>
        </p:nvSpPr>
        <p:spPr>
          <a:xfrm>
            <a:off x="7057339" y="1280160"/>
            <a:ext cx="347472" cy="16916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6" name="Shape 14"/>
          <p:cNvSpPr/>
          <p:nvPr/>
        </p:nvSpPr>
        <p:spPr>
          <a:xfrm>
            <a:off x="7404811" y="1280160"/>
            <a:ext cx="1953158" cy="1691640"/>
          </a:xfrm>
          <a:prstGeom prst="roundRect">
            <a:avLst>
              <a:gd name="adj" fmla="val 378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7569403" y="1417320"/>
            <a:ext cx="1623974"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ASUS — TRAIN</a:t>
            </a:r>
            <a:endParaRPr lang="en-US" sz="1100" dirty="0"/>
          </a:p>
        </p:txBody>
      </p:sp>
      <p:sp>
        <p:nvSpPr>
          <p:cNvPr id="18" name="Text 16"/>
          <p:cNvSpPr/>
          <p:nvPr/>
        </p:nvSpPr>
        <p:spPr>
          <a:xfrm>
            <a:off x="7569403" y="1700784"/>
            <a:ext cx="1623974"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0.5B student, QLoRA, on the verified set. Twenty minutes.</a:t>
            </a:r>
            <a:endParaRPr lang="en-US" sz="1050" dirty="0"/>
          </a:p>
        </p:txBody>
      </p:sp>
      <p:sp>
        <p:nvSpPr>
          <p:cNvPr id="19" name="Text 17"/>
          <p:cNvSpPr/>
          <p:nvPr/>
        </p:nvSpPr>
        <p:spPr>
          <a:xfrm>
            <a:off x="9357970" y="1280160"/>
            <a:ext cx="347472" cy="16916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20" name="Shape 18"/>
          <p:cNvSpPr/>
          <p:nvPr/>
        </p:nvSpPr>
        <p:spPr>
          <a:xfrm>
            <a:off x="9705442" y="1280160"/>
            <a:ext cx="1953158" cy="1691640"/>
          </a:xfrm>
          <a:prstGeom prst="roundRect">
            <a:avLst>
              <a:gd name="adj" fmla="val 378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Text 19"/>
          <p:cNvSpPr/>
          <p:nvPr/>
        </p:nvSpPr>
        <p:spPr>
          <a:xfrm>
            <a:off x="9870034" y="1417320"/>
            <a:ext cx="1623974" cy="256032"/>
          </a:xfrm>
          <a:prstGeom prst="rect">
            <a:avLst/>
          </a:prstGeom>
          <a:noFill/>
          <a:ln/>
        </p:spPr>
        <p:txBody>
          <a:bodyPr wrap="square" lIns="0" tIns="0" rIns="0" bIns="0" rtlCol="0" anchor="ctr"/>
          <a:lstStyle/>
          <a:p>
            <a:pPr indent="0" marL="0">
              <a:buNone/>
            </a:pPr>
            <a:r>
              <a:rPr lang="en-US" sz="1100" b="1" spc="120" kern="0" dirty="0">
                <a:solidFill>
                  <a:srgbClr val="2A5240"/>
                </a:solidFill>
                <a:latin typeface="Calibri" pitchFamily="34" charset="0"/>
                <a:ea typeface="Calibri" pitchFamily="34" charset="-122"/>
                <a:cs typeface="Calibri" pitchFamily="34" charset="-120"/>
              </a:rPr>
              <a:t>MAC — EVAL</a:t>
            </a:r>
            <a:endParaRPr lang="en-US" sz="1100" dirty="0"/>
          </a:p>
        </p:txBody>
      </p:sp>
      <p:sp>
        <p:nvSpPr>
          <p:cNvPr id="22" name="Text 20"/>
          <p:cNvSpPr/>
          <p:nvPr/>
        </p:nvSpPr>
        <p:spPr>
          <a:xfrm>
            <a:off x="9870034" y="1700784"/>
            <a:ext cx="1623974" cy="11430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Harness scores the student on held-out problems.</a:t>
            </a:r>
            <a:endParaRPr lang="en-US" sz="1050" dirty="0"/>
          </a:p>
        </p:txBody>
      </p:sp>
      <p:sp>
        <p:nvSpPr>
          <p:cNvPr id="23" name="Shape 21"/>
          <p:cNvSpPr/>
          <p:nvPr/>
        </p:nvSpPr>
        <p:spPr>
          <a:xfrm>
            <a:off x="502920" y="3200400"/>
            <a:ext cx="5504688"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4" name="Text 22"/>
          <p:cNvSpPr/>
          <p:nvPr/>
        </p:nvSpPr>
        <p:spPr>
          <a:xfrm>
            <a:off x="722376" y="3346704"/>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This is verified distillation</a:t>
            </a:r>
            <a:endParaRPr lang="en-US" sz="1250" dirty="0"/>
          </a:p>
        </p:txBody>
      </p:sp>
      <p:sp>
        <p:nvSpPr>
          <p:cNvPr id="25" name="Text 23"/>
          <p:cNvSpPr/>
          <p:nvPr/>
        </p:nvSpPr>
        <p:spPr>
          <a:xfrm>
            <a:off x="722376" y="3657600"/>
            <a:ext cx="5065776"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student learns the teacher's SUCCESSES and never sees its failures. That filter is what lets a weak teacher train a good student.</a:t>
            </a:r>
            <a:endParaRPr lang="en-US" sz="1100" dirty="0"/>
          </a:p>
        </p:txBody>
      </p:sp>
      <p:sp>
        <p:nvSpPr>
          <p:cNvPr id="26" name="Shape 24"/>
          <p:cNvSpPr/>
          <p:nvPr/>
        </p:nvSpPr>
        <p:spPr>
          <a:xfrm>
            <a:off x="6153912" y="3200400"/>
            <a:ext cx="5504688"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7" name="Text 25"/>
          <p:cNvSpPr/>
          <p:nvPr/>
        </p:nvSpPr>
        <p:spPr>
          <a:xfrm>
            <a:off x="6373368" y="3346704"/>
            <a:ext cx="5065776"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Same tokenizer family matters</a:t>
            </a:r>
            <a:endParaRPr lang="en-US" sz="1250" dirty="0"/>
          </a:p>
        </p:txBody>
      </p:sp>
      <p:sp>
        <p:nvSpPr>
          <p:cNvPr id="28" name="Text 26"/>
          <p:cNvSpPr/>
          <p:nvPr/>
        </p:nvSpPr>
        <p:spPr>
          <a:xfrm>
            <a:off x="6373368" y="3657600"/>
            <a:ext cx="5065776"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Qwen teacher, Qwen student. Different families still work, but shared tokenization makes the distribution transfer cleaner.</a:t>
            </a:r>
            <a:endParaRPr lang="en-US" sz="1100" dirty="0"/>
          </a:p>
        </p:txBody>
      </p:sp>
      <p:sp>
        <p:nvSpPr>
          <p:cNvPr id="29" name="Shape 27"/>
          <p:cNvSpPr/>
          <p:nvPr/>
        </p:nvSpPr>
        <p:spPr>
          <a:xfrm>
            <a:off x="502920" y="4535424"/>
            <a:ext cx="5504688"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Text 28"/>
          <p:cNvSpPr/>
          <p:nvPr/>
        </p:nvSpPr>
        <p:spPr>
          <a:xfrm>
            <a:off x="722376" y="4681728"/>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teacher never trains</a:t>
            </a:r>
            <a:endParaRPr lang="en-US" sz="1250" dirty="0"/>
          </a:p>
        </p:txBody>
      </p:sp>
      <p:sp>
        <p:nvSpPr>
          <p:cNvPr id="31" name="Text 29"/>
          <p:cNvSpPr/>
          <p:nvPr/>
        </p:nvSpPr>
        <p:spPr>
          <a:xfrm>
            <a:off x="722376" y="4992624"/>
            <a:ext cx="5065776"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It only needs to be occasionally right. All the quality comes from the verifier, not the teacher.</a:t>
            </a:r>
            <a:endParaRPr lang="en-US" sz="1100" dirty="0"/>
          </a:p>
        </p:txBody>
      </p:sp>
      <p:sp>
        <p:nvSpPr>
          <p:cNvPr id="32" name="Shape 30"/>
          <p:cNvSpPr/>
          <p:nvPr/>
        </p:nvSpPr>
        <p:spPr>
          <a:xfrm>
            <a:off x="6153912" y="4535424"/>
            <a:ext cx="5504688"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3" name="Text 31"/>
          <p:cNvSpPr/>
          <p:nvPr/>
        </p:nvSpPr>
        <p:spPr>
          <a:xfrm>
            <a:off x="6373368" y="4681728"/>
            <a:ext cx="5065776"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Generation is the bottleneck</a:t>
            </a:r>
            <a:endParaRPr lang="en-US" sz="1250" dirty="0"/>
          </a:p>
        </p:txBody>
      </p:sp>
      <p:sp>
        <p:nvSpPr>
          <p:cNvPr id="34" name="Text 32"/>
          <p:cNvSpPr/>
          <p:nvPr/>
        </p:nvSpPr>
        <p:spPr>
          <a:xfrm>
            <a:off x="6373368" y="4992624"/>
            <a:ext cx="5065776"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Not training. A 20-minute training run consumes data that took eight hours to generate. Plan around that asymmetry.</a:t>
            </a:r>
            <a:endParaRPr lang="en-US" sz="1100" dirty="0"/>
          </a:p>
        </p:txBody>
      </p:sp>
      <p:sp>
        <p:nvSpPr>
          <p:cNvPr id="35" name="Shape 33"/>
          <p:cNvSpPr/>
          <p:nvPr/>
        </p:nvSpPr>
        <p:spPr>
          <a:xfrm>
            <a:off x="502920" y="5715000"/>
            <a:ext cx="11155680" cy="822960"/>
          </a:xfrm>
          <a:prstGeom prst="roundRect">
            <a:avLst>
              <a:gd name="adj" fmla="val 7778"/>
            </a:avLst>
          </a:prstGeom>
          <a:solidFill>
            <a:srgbClr val="1F3D2E"/>
          </a:solidFill>
          <a:ln/>
        </p:spPr>
      </p:sp>
      <p:sp>
        <p:nvSpPr>
          <p:cNvPr id="36" name="Shape 34"/>
          <p:cNvSpPr/>
          <p:nvPr/>
        </p:nvSpPr>
        <p:spPr>
          <a:xfrm>
            <a:off x="740664" y="5897880"/>
            <a:ext cx="292608" cy="292608"/>
          </a:xfrm>
          <a:prstGeom prst="ellipse">
            <a:avLst/>
          </a:prstGeom>
          <a:solidFill>
            <a:srgbClr val="1F3D2E"/>
          </a:solidFill>
          <a:ln/>
        </p:spPr>
      </p:sp>
      <p:sp>
        <p:nvSpPr>
          <p:cNvPr id="37" name="Text 35"/>
          <p:cNvSpPr/>
          <p:nvPr/>
        </p:nvSpPr>
        <p:spPr>
          <a:xfrm>
            <a:off x="740664" y="589788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38" name="Text 36"/>
          <p:cNvSpPr/>
          <p:nvPr/>
        </p:nvSpPr>
        <p:spPr>
          <a:xfrm>
            <a:off x="1133856" y="591616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39" name="Text 37"/>
          <p:cNvSpPr/>
          <p:nvPr/>
        </p:nvSpPr>
        <p:spPr>
          <a:xfrm>
            <a:off x="740664" y="6291072"/>
            <a:ext cx="10680192" cy="731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Kick off generation before bed, curate over coffee, train before lunch, evaluate after. That rhythm is the actual daily loop of this phase.</a:t>
            </a:r>
            <a:endParaRPr lang="en-US" sz="1150" dirty="0"/>
          </a:p>
        </p:txBody>
      </p:sp>
      <p:sp>
        <p:nvSpPr>
          <p:cNvPr id="40" name="Text 3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112</a:t>
            </a:r>
            <a:endParaRPr lang="en-US" sz="9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Iterating — STaR-style bootstrapping</a:t>
            </a:r>
            <a:endParaRPr lang="en-US" sz="2900" dirty="0"/>
          </a:p>
        </p:txBody>
      </p:sp>
      <p:sp>
        <p:nvSpPr>
          <p:cNvPr id="4" name="Shape 2"/>
          <p:cNvSpPr/>
          <p:nvPr/>
        </p:nvSpPr>
        <p:spPr>
          <a:xfrm>
            <a:off x="502920" y="1280160"/>
            <a:ext cx="11155680" cy="882396"/>
          </a:xfrm>
          <a:prstGeom prst="roundRect">
            <a:avLst>
              <a:gd name="adj" fmla="val 725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520190"/>
            <a:ext cx="402336" cy="402336"/>
          </a:xfrm>
          <a:prstGeom prst="ellipse">
            <a:avLst/>
          </a:prstGeom>
          <a:solidFill>
            <a:srgbClr val="8FB573"/>
          </a:solidFill>
          <a:ln/>
        </p:spPr>
      </p:sp>
      <p:sp>
        <p:nvSpPr>
          <p:cNvPr id="6" name="Text 4"/>
          <p:cNvSpPr/>
          <p:nvPr/>
        </p:nvSpPr>
        <p:spPr>
          <a:xfrm>
            <a:off x="749808" y="152019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Round 1 — generate with the SFT model</a:t>
            </a:r>
            <a:endParaRPr lang="en-US" sz="1300" dirty="0"/>
          </a:p>
        </p:txBody>
      </p:sp>
      <p:sp>
        <p:nvSpPr>
          <p:cNvPr id="8" name="Text 6"/>
          <p:cNvSpPr/>
          <p:nvPr/>
        </p:nvSpPr>
        <p:spPr>
          <a:xfrm>
            <a:off x="1316736" y="1700784"/>
            <a:ext cx="10058400" cy="370332"/>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Mines the problems the Phase 6 model can already occasionally solve. Yields your first RFT dataset.</a:t>
            </a:r>
            <a:endParaRPr lang="en-US" sz="1150" dirty="0"/>
          </a:p>
        </p:txBody>
      </p:sp>
      <p:sp>
        <p:nvSpPr>
          <p:cNvPr id="9" name="Shape 7"/>
          <p:cNvSpPr/>
          <p:nvPr/>
        </p:nvSpPr>
        <p:spPr>
          <a:xfrm>
            <a:off x="502920" y="2272284"/>
            <a:ext cx="11155680" cy="882396"/>
          </a:xfrm>
          <a:prstGeom prst="roundRect">
            <a:avLst>
              <a:gd name="adj" fmla="val 725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512314"/>
            <a:ext cx="402336" cy="402336"/>
          </a:xfrm>
          <a:prstGeom prst="ellipse">
            <a:avLst/>
          </a:prstGeom>
          <a:solidFill>
            <a:srgbClr val="8FB573"/>
          </a:solidFill>
          <a:ln/>
        </p:spPr>
      </p:sp>
      <p:sp>
        <p:nvSpPr>
          <p:cNvPr id="11" name="Text 9"/>
          <p:cNvSpPr/>
          <p:nvPr/>
        </p:nvSpPr>
        <p:spPr>
          <a:xfrm>
            <a:off x="749808" y="2512314"/>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40030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Round 2 — generate with the RFT-1 model</a:t>
            </a:r>
            <a:endParaRPr lang="en-US" sz="1300" dirty="0"/>
          </a:p>
        </p:txBody>
      </p:sp>
      <p:sp>
        <p:nvSpPr>
          <p:cNvPr id="13" name="Text 11"/>
          <p:cNvSpPr/>
          <p:nvPr/>
        </p:nvSpPr>
        <p:spPr>
          <a:xfrm>
            <a:off x="1316736" y="2692908"/>
            <a:ext cx="10058400" cy="370332"/>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The improved model is a better generator. It now solves problems round 1 could not, so you mine genuinely new material.</a:t>
            </a:r>
            <a:endParaRPr lang="en-US" sz="1150" dirty="0"/>
          </a:p>
        </p:txBody>
      </p:sp>
      <p:sp>
        <p:nvSpPr>
          <p:cNvPr id="14" name="Shape 12"/>
          <p:cNvSpPr/>
          <p:nvPr/>
        </p:nvSpPr>
        <p:spPr>
          <a:xfrm>
            <a:off x="502920" y="3264408"/>
            <a:ext cx="11155680" cy="882396"/>
          </a:xfrm>
          <a:prstGeom prst="roundRect">
            <a:avLst>
              <a:gd name="adj" fmla="val 725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3504438"/>
            <a:ext cx="402336" cy="402336"/>
          </a:xfrm>
          <a:prstGeom prst="ellipse">
            <a:avLst/>
          </a:prstGeom>
          <a:solidFill>
            <a:srgbClr val="8FB573"/>
          </a:solidFill>
          <a:ln/>
        </p:spPr>
      </p:sp>
      <p:sp>
        <p:nvSpPr>
          <p:cNvPr id="16" name="Text 14"/>
          <p:cNvSpPr/>
          <p:nvPr/>
        </p:nvSpPr>
        <p:spPr>
          <a:xfrm>
            <a:off x="749808" y="350443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339242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Round 3 — diminishing returns arrive</a:t>
            </a:r>
            <a:endParaRPr lang="en-US" sz="1300" dirty="0"/>
          </a:p>
        </p:txBody>
      </p:sp>
      <p:sp>
        <p:nvSpPr>
          <p:cNvPr id="18" name="Text 16"/>
          <p:cNvSpPr/>
          <p:nvPr/>
        </p:nvSpPr>
        <p:spPr>
          <a:xfrm>
            <a:off x="1316736" y="3685032"/>
            <a:ext cx="10058400" cy="370332"/>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Gains typically shrink sharply by round 3. When the new-problems-solved count approaches zero, stop.</a:t>
            </a:r>
            <a:endParaRPr lang="en-US" sz="1150" dirty="0"/>
          </a:p>
        </p:txBody>
      </p:sp>
      <p:sp>
        <p:nvSpPr>
          <p:cNvPr id="19" name="Shape 17"/>
          <p:cNvSpPr/>
          <p:nvPr/>
        </p:nvSpPr>
        <p:spPr>
          <a:xfrm>
            <a:off x="502920" y="4256532"/>
            <a:ext cx="11155680" cy="882396"/>
          </a:xfrm>
          <a:prstGeom prst="roundRect">
            <a:avLst>
              <a:gd name="adj" fmla="val 725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4496562"/>
            <a:ext cx="402336" cy="402336"/>
          </a:xfrm>
          <a:prstGeom prst="ellipse">
            <a:avLst/>
          </a:prstGeom>
          <a:solidFill>
            <a:srgbClr val="8FB573"/>
          </a:solidFill>
          <a:ln/>
        </p:spPr>
      </p:sp>
      <p:sp>
        <p:nvSpPr>
          <p:cNvPr id="21" name="Text 19"/>
          <p:cNvSpPr/>
          <p:nvPr/>
        </p:nvSpPr>
        <p:spPr>
          <a:xfrm>
            <a:off x="749808" y="449656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4384548"/>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The stopping signal</a:t>
            </a:r>
            <a:endParaRPr lang="en-US" sz="1300" dirty="0"/>
          </a:p>
        </p:txBody>
      </p:sp>
      <p:sp>
        <p:nvSpPr>
          <p:cNvPr id="23" name="Text 21"/>
          <p:cNvSpPr/>
          <p:nvPr/>
        </p:nvSpPr>
        <p:spPr>
          <a:xfrm>
            <a:off x="1316736" y="4677156"/>
            <a:ext cx="10058400" cy="370332"/>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Track how many problems yield their FIRST passing sample this round. When that number collapses, iteration is finished — not when eval plateaus.</a:t>
            </a:r>
            <a:endParaRPr lang="en-US" sz="1150" dirty="0"/>
          </a:p>
        </p:txBody>
      </p:sp>
      <p:sp>
        <p:nvSpPr>
          <p:cNvPr id="24" name="Shape 22"/>
          <p:cNvSpPr/>
          <p:nvPr/>
        </p:nvSpPr>
        <p:spPr>
          <a:xfrm>
            <a:off x="502920" y="5257800"/>
            <a:ext cx="11155680" cy="548640"/>
          </a:xfrm>
          <a:prstGeom prst="roundRect">
            <a:avLst>
              <a:gd name="adj" fmla="val 11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502920" y="5257800"/>
            <a:ext cx="91440" cy="548640"/>
          </a:xfrm>
          <a:prstGeom prst="rect">
            <a:avLst/>
          </a:prstGeom>
          <a:solidFill>
            <a:srgbClr val="D98E32"/>
          </a:solidFill>
          <a:ln/>
        </p:spPr>
      </p:sp>
      <p:sp>
        <p:nvSpPr>
          <p:cNvPr id="26" name="Text 24"/>
          <p:cNvSpPr/>
          <p:nvPr/>
        </p:nvSpPr>
        <p:spPr>
          <a:xfrm>
            <a:off x="822960" y="5367528"/>
            <a:ext cx="237744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The compounding risk</a:t>
            </a:r>
            <a:endParaRPr lang="en-US" sz="1250" dirty="0"/>
          </a:p>
        </p:txBody>
      </p:sp>
      <p:sp>
        <p:nvSpPr>
          <p:cNvPr id="27" name="Text 25"/>
          <p:cNvSpPr/>
          <p:nvPr/>
        </p:nvSpPr>
        <p:spPr>
          <a:xfrm>
            <a:off x="822960" y="5660136"/>
            <a:ext cx="237744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self-training drift</a:t>
            </a:r>
            <a:endParaRPr lang="en-US" sz="950" dirty="0"/>
          </a:p>
        </p:txBody>
      </p:sp>
      <p:sp>
        <p:nvSpPr>
          <p:cNvPr id="28" name="Text 26"/>
          <p:cNvSpPr/>
          <p:nvPr/>
        </p:nvSpPr>
        <p:spPr>
          <a:xfrm>
            <a:off x="3429000" y="5349240"/>
            <a:ext cx="8229600" cy="36576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Each round trains on the previous round's output. Errors and stylistic quirks compound. The verifier bounds this — but only for correctness, not for style.</a:t>
            </a:r>
            <a:endParaRPr lang="en-US" sz="1180" dirty="0"/>
          </a:p>
        </p:txBody>
      </p:sp>
      <p:sp>
        <p:nvSpPr>
          <p:cNvPr id="29" name="Shape 27"/>
          <p:cNvSpPr/>
          <p:nvPr/>
        </p:nvSpPr>
        <p:spPr>
          <a:xfrm>
            <a:off x="502920" y="5897880"/>
            <a:ext cx="11155680" cy="548640"/>
          </a:xfrm>
          <a:prstGeom prst="roundRect">
            <a:avLst>
              <a:gd name="adj" fmla="val 1166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502920" y="5897880"/>
            <a:ext cx="91440" cy="548640"/>
          </a:xfrm>
          <a:prstGeom prst="rect">
            <a:avLst/>
          </a:prstGeom>
          <a:solidFill>
            <a:srgbClr val="8FB573"/>
          </a:solidFill>
          <a:ln/>
        </p:spPr>
      </p:sp>
      <p:sp>
        <p:nvSpPr>
          <p:cNvPr id="31" name="Text 29"/>
          <p:cNvSpPr/>
          <p:nvPr/>
        </p:nvSpPr>
        <p:spPr>
          <a:xfrm>
            <a:off x="822960" y="6007608"/>
            <a:ext cx="237744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Keep the original data</a:t>
            </a:r>
            <a:endParaRPr lang="en-US" sz="1250" dirty="0"/>
          </a:p>
        </p:txBody>
      </p:sp>
      <p:sp>
        <p:nvSpPr>
          <p:cNvPr id="32" name="Text 30"/>
          <p:cNvSpPr/>
          <p:nvPr/>
        </p:nvSpPr>
        <p:spPr>
          <a:xfrm>
            <a:off x="822960" y="6300216"/>
            <a:ext cx="237744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mix, don't replace</a:t>
            </a:r>
            <a:endParaRPr lang="en-US" sz="950" dirty="0"/>
          </a:p>
        </p:txBody>
      </p:sp>
      <p:sp>
        <p:nvSpPr>
          <p:cNvPr id="33" name="Text 31"/>
          <p:cNvSpPr/>
          <p:nvPr/>
        </p:nvSpPr>
        <p:spPr>
          <a:xfrm>
            <a:off x="3429000" y="5989320"/>
            <a:ext cx="8229600" cy="36576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Always mix RFT data with your Phase 5 curated set. Pure self-generated training drifts toward the model's own idiosyncrasies.</a:t>
            </a:r>
            <a:endParaRPr lang="en-US" sz="1180" dirty="0"/>
          </a:p>
        </p:txBody>
      </p:sp>
      <p:sp>
        <p:nvSpPr>
          <p:cNvPr id="34" name="Text 3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113</a:t>
            </a:r>
            <a:endParaRPr lang="en-US" sz="9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Rejection sampling — path and traps</a:t>
            </a:r>
            <a:endParaRPr lang="en-US" sz="2900" dirty="0"/>
          </a:p>
        </p:txBody>
      </p:sp>
      <p:sp>
        <p:nvSpPr>
          <p:cNvPr id="4" name="Shape 2"/>
          <p:cNvSpPr/>
          <p:nvPr/>
        </p:nvSpPr>
        <p:spPr>
          <a:xfrm>
            <a:off x="502920" y="1335024"/>
            <a:ext cx="292608" cy="292608"/>
          </a:xfrm>
          <a:prstGeom prst="ellipse">
            <a:avLst/>
          </a:prstGeom>
          <a:solidFill>
            <a:srgbClr val="8FB573"/>
          </a:solidFill>
          <a:ln/>
        </p:spPr>
      </p:sp>
      <p:sp>
        <p:nvSpPr>
          <p:cNvPr id="5" name="Text 3"/>
          <p:cNvSpPr/>
          <p:nvPr/>
        </p:nvSpPr>
        <p:spPr>
          <a:xfrm>
            <a:off x="50292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89611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PATH</a:t>
            </a:r>
            <a:endParaRPr lang="en-US" sz="1100" dirty="0"/>
          </a:p>
        </p:txBody>
      </p:sp>
      <p:sp>
        <p:nvSpPr>
          <p:cNvPr id="7" name="Text 5"/>
          <p:cNvSpPr/>
          <p:nvPr/>
        </p:nvSpPr>
        <p:spPr>
          <a:xfrm>
            <a:off x="502920" y="1755648"/>
            <a:ext cx="539496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Only use problems that ship with executable tests</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Temperature 0.8–1.0. Diversity is the entire point</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Adaptive N: few samples on easy, many on hard</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Cap kept samples per problem (k=2–4)</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Stratify the keep-set by difficulty band</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Dedup survivors AFTER filtering</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Mix RFT data with your Phase 5 curated set</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Track first-time-solved count as the stopping signal</a:t>
            </a:r>
            <a:endParaRPr lang="en-US" sz="1250" dirty="0"/>
          </a:p>
        </p:txBody>
      </p:sp>
      <p:sp>
        <p:nvSpPr>
          <p:cNvPr id="8" name="Shape 6"/>
          <p:cNvSpPr/>
          <p:nvPr/>
        </p:nvSpPr>
        <p:spPr>
          <a:xfrm>
            <a:off x="6309360" y="1335024"/>
            <a:ext cx="292608" cy="292608"/>
          </a:xfrm>
          <a:prstGeom prst="ellipse">
            <a:avLst/>
          </a:prstGeom>
          <a:solidFill>
            <a:srgbClr val="D98E32"/>
          </a:solidFill>
          <a:ln/>
        </p:spPr>
      </p:sp>
      <p:sp>
        <p:nvSpPr>
          <p:cNvPr id="9" name="Text 7"/>
          <p:cNvSpPr/>
          <p:nvPr/>
        </p:nvSpPr>
        <p:spPr>
          <a:xfrm>
            <a:off x="630936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670255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TRAPS</a:t>
            </a:r>
            <a:endParaRPr lang="en-US" sz="1100" dirty="0"/>
          </a:p>
        </p:txBody>
      </p:sp>
      <p:sp>
        <p:nvSpPr>
          <p:cNvPr id="11" name="Text 9"/>
          <p:cNvSpPr/>
          <p:nvPr/>
        </p:nvSpPr>
        <p:spPr>
          <a:xfrm>
            <a:off x="6309360" y="1755648"/>
            <a:ext cx="534924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Temperature 0: N identical samples, zero information</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Uniform N: wastes budget re-solving easy problems</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Keeping all passers: easy problems drown everything else</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No per-problem cap: one problem contributes fifty examples</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Skipping dedup: near-identical solutions inflate volume</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Keeping near-misses: teaches confidently wrong code</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Training purely on self-generated data: style drifts</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Iterating past round 3 with no first-time-solved growth</a:t>
            </a:r>
            <a:endParaRPr lang="en-US" sz="1250" dirty="0"/>
          </a:p>
        </p:txBody>
      </p:sp>
      <p:sp>
        <p:nvSpPr>
          <p:cNvPr id="12" name="Shape 10"/>
          <p:cNvSpPr/>
          <p:nvPr/>
        </p:nvSpPr>
        <p:spPr>
          <a:xfrm>
            <a:off x="502920" y="5148072"/>
            <a:ext cx="11155680" cy="1051560"/>
          </a:xfrm>
          <a:prstGeom prst="roundRect">
            <a:avLst>
              <a:gd name="adj" fmla="val 6087"/>
            </a:avLst>
          </a:prstGeom>
          <a:solidFill>
            <a:srgbClr val="1F3D2E"/>
          </a:solidFill>
          <a:ln/>
        </p:spPr>
      </p:sp>
      <p:sp>
        <p:nvSpPr>
          <p:cNvPr id="13" name="Shape 11"/>
          <p:cNvSpPr/>
          <p:nvPr/>
        </p:nvSpPr>
        <p:spPr>
          <a:xfrm>
            <a:off x="740664" y="5330952"/>
            <a:ext cx="292608" cy="292608"/>
          </a:xfrm>
          <a:prstGeom prst="ellipse">
            <a:avLst/>
          </a:prstGeom>
          <a:solidFill>
            <a:srgbClr val="1F3D2E"/>
          </a:solidFill>
          <a:ln/>
        </p:spPr>
      </p:sp>
      <p:sp>
        <p:nvSpPr>
          <p:cNvPr id="14" name="Text 12"/>
          <p:cNvSpPr/>
          <p:nvPr/>
        </p:nvSpPr>
        <p:spPr>
          <a:xfrm>
            <a:off x="740664" y="5330952"/>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349240"/>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724144"/>
            <a:ext cx="10680192" cy="3017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RFT is the phase that convinces you the self-improvement loop is real. It is also the cheapest place to learn difficulty collapse — a failure mode that reappears, harder to see, in Phase 9.</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114</a:t>
            </a:r>
            <a:endParaRPr lang="en-US" sz="9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RFT</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RFT false positives</a:t>
            </a:r>
            <a:endParaRPr lang="en-US" sz="2900" dirty="0"/>
          </a:p>
        </p:txBody>
      </p:sp>
      <p:graphicFrame>
        <p:nvGraphicFramePr>
          <p:cNvPr id="11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560320"/>
                <a:gridCol w="2743200"/>
                <a:gridCol w="3108960"/>
                <a:gridCol w="2743200"/>
              </a:tblGrid>
              <a:tr h="42062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False positive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you see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is actually happening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The check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206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Difficulty collapse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Round 2 barely improves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Dataset became almost entirely easy problems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Plot the difficulty histogram of the keep-set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Duplicate inflation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'50k examples' from 3k problems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Near-identical passers counted as distinct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Dedup and recount before training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Weak-test survivors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High pass rate, poor real quality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Problems with shallow tests let wrong code through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Spot-check passers on hard problems by hand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Teacher-style memorization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Student matches teacher's quirks exactly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Pure distillation with no original data mixed in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Mix in curated data; compare style diversity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pass@10 rises, pass@1 flat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'The model improved'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You increased diversity, not skill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Always report both k values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Contaminated generation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Suspiciously strong on eval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Teacher reproduced eval problems it memorized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Decontaminate generated data too</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754880"/>
            <a:ext cx="11155680" cy="1554480"/>
          </a:xfrm>
          <a:prstGeom prst="roundRect">
            <a:avLst>
              <a:gd name="adj" fmla="val 4118"/>
            </a:avLst>
          </a:prstGeom>
          <a:solidFill>
            <a:srgbClr val="1F3D2E"/>
          </a:solidFill>
          <a:ln/>
        </p:spPr>
      </p:sp>
      <p:sp>
        <p:nvSpPr>
          <p:cNvPr id="6" name="Shape 3"/>
          <p:cNvSpPr/>
          <p:nvPr/>
        </p:nvSpPr>
        <p:spPr>
          <a:xfrm>
            <a:off x="740664" y="4937760"/>
            <a:ext cx="292608" cy="292608"/>
          </a:xfrm>
          <a:prstGeom prst="ellipse">
            <a:avLst/>
          </a:prstGeom>
          <a:solidFill>
            <a:srgbClr val="1F3D2E"/>
          </a:solidFill>
          <a:ln/>
        </p:spPr>
      </p:sp>
      <p:sp>
        <p:nvSpPr>
          <p:cNvPr id="7" name="Text 4"/>
          <p:cNvSpPr/>
          <p:nvPr/>
        </p:nvSpPr>
        <p:spPr>
          <a:xfrm>
            <a:off x="740664" y="493776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8" name="Text 5"/>
          <p:cNvSpPr/>
          <p:nvPr/>
        </p:nvSpPr>
        <p:spPr>
          <a:xfrm>
            <a:off x="1133856" y="495604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9" name="Text 6"/>
          <p:cNvSpPr/>
          <p:nvPr/>
        </p:nvSpPr>
        <p:spPr>
          <a:xfrm>
            <a:off x="740664" y="5330952"/>
            <a:ext cx="10680192" cy="8046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The duplicate one is embarrassing in hindsight. I proudly reported a 50,000-example RFT dataset. After dedup it was 11,000 — the rest was the same handful of easy solutions sampled repeatedly. The model trained on it was worse than the one trained on the deduplicated set, because the effective distribution was dominated by a few trivial problems.</a:t>
            </a:r>
            <a:endParaRPr lang="en-US" sz="1150" dirty="0"/>
          </a:p>
        </p:txBody>
      </p:sp>
      <p:sp>
        <p:nvSpPr>
          <p:cNvPr id="10" name="Text 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115</a:t>
            </a:r>
            <a:endParaRPr lang="en-US" sz="9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PHASE 8</a:t>
            </a:r>
            <a:endParaRPr lang="en-US" sz="1250" dirty="0"/>
          </a:p>
        </p:txBody>
      </p:sp>
      <p:sp>
        <p:nvSpPr>
          <p:cNvPr id="3" name="Text 1"/>
          <p:cNvSpPr/>
          <p:nvPr/>
        </p:nvSpPr>
        <p:spPr>
          <a:xfrm>
            <a:off x="777240" y="23317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Learning From Comparisons</a:t>
            </a:r>
            <a:endParaRPr lang="en-US" sz="4000" dirty="0"/>
          </a:p>
        </p:txBody>
      </p:sp>
      <p:sp>
        <p:nvSpPr>
          <p:cNvPr id="4" name="Text 2"/>
          <p:cNvSpPr/>
          <p:nvPr/>
        </p:nvSpPr>
        <p:spPr>
          <a:xfrm>
            <a:off x="777240" y="32004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One week. SFT teaches what a good answer looks like. Preference optimization</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teaches which of two plausible answers is better — a signal SFT cannot express.</a:t>
            </a:r>
            <a:endParaRPr lang="en-US" sz="1550" dirty="0"/>
          </a:p>
        </p:txBody>
      </p:sp>
      <p:sp>
        <p:nvSpPr>
          <p:cNvPr id="5" name="Text 3"/>
          <p:cNvSpPr/>
          <p:nvPr/>
        </p:nvSpPr>
        <p:spPr>
          <a:xfrm>
            <a:off x="777240" y="4892040"/>
            <a:ext cx="10607040" cy="237744"/>
          </a:xfrm>
          <a:prstGeom prst="rect">
            <a:avLst/>
          </a:prstGeom>
          <a:noFill/>
          <a:ln/>
        </p:spPr>
        <p:txBody>
          <a:bodyPr wrap="square" lIns="0" tIns="0" rIns="0" bIns="0" rtlCol="0" anchor="ctr"/>
          <a:lstStyle/>
          <a:p>
            <a:pPr indent="0" marL="0">
              <a:buNone/>
            </a:pPr>
            <a:r>
              <a:rPr lang="en-US" sz="900" b="1" spc="250" kern="0" dirty="0">
                <a:solidFill>
                  <a:srgbClr val="2A5240"/>
                </a:solidFill>
                <a:latin typeface="Calibri" pitchFamily="34" charset="0"/>
                <a:ea typeface="Calibri" pitchFamily="34" charset="-122"/>
                <a:cs typeface="Calibri" pitchFamily="34" charset="-120"/>
              </a:rPr>
              <a:t>WHERE YOU ARE</a:t>
            </a:r>
            <a:endParaRPr lang="en-US" sz="900" dirty="0"/>
          </a:p>
        </p:txBody>
      </p:sp>
      <p:sp>
        <p:nvSpPr>
          <p:cNvPr id="6" name="Shape 4"/>
          <p:cNvSpPr/>
          <p:nvPr/>
        </p:nvSpPr>
        <p:spPr>
          <a:xfrm>
            <a:off x="777240" y="5212080"/>
            <a:ext cx="829056" cy="73152"/>
          </a:xfrm>
          <a:prstGeom prst="rect">
            <a:avLst/>
          </a:prstGeom>
          <a:solidFill>
            <a:srgbClr val="2A5240"/>
          </a:solidFill>
          <a:ln/>
        </p:spPr>
      </p:sp>
      <p:sp>
        <p:nvSpPr>
          <p:cNvPr id="7" name="Text 5"/>
          <p:cNvSpPr/>
          <p:nvPr/>
        </p:nvSpPr>
        <p:spPr>
          <a:xfrm>
            <a:off x="6858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SETUP</a:t>
            </a:r>
            <a:endParaRPr lang="en-US" sz="750" dirty="0"/>
          </a:p>
        </p:txBody>
      </p:sp>
      <p:sp>
        <p:nvSpPr>
          <p:cNvPr id="8" name="Shape 6"/>
          <p:cNvSpPr/>
          <p:nvPr/>
        </p:nvSpPr>
        <p:spPr>
          <a:xfrm>
            <a:off x="1661160" y="5212080"/>
            <a:ext cx="829056" cy="73152"/>
          </a:xfrm>
          <a:prstGeom prst="rect">
            <a:avLst/>
          </a:prstGeom>
          <a:solidFill>
            <a:srgbClr val="2A5240"/>
          </a:solidFill>
          <a:ln/>
        </p:spPr>
      </p:sp>
      <p:sp>
        <p:nvSpPr>
          <p:cNvPr id="9" name="Text 7"/>
          <p:cNvSpPr/>
          <p:nvPr/>
        </p:nvSpPr>
        <p:spPr>
          <a:xfrm>
            <a:off x="15697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MODEL</a:t>
            </a:r>
            <a:endParaRPr lang="en-US" sz="750" dirty="0"/>
          </a:p>
        </p:txBody>
      </p:sp>
      <p:sp>
        <p:nvSpPr>
          <p:cNvPr id="10" name="Shape 8"/>
          <p:cNvSpPr/>
          <p:nvPr/>
        </p:nvSpPr>
        <p:spPr>
          <a:xfrm>
            <a:off x="2545080" y="5212080"/>
            <a:ext cx="829056" cy="73152"/>
          </a:xfrm>
          <a:prstGeom prst="rect">
            <a:avLst/>
          </a:prstGeom>
          <a:solidFill>
            <a:srgbClr val="2A5240"/>
          </a:solidFill>
          <a:ln/>
        </p:spPr>
      </p:sp>
      <p:sp>
        <p:nvSpPr>
          <p:cNvPr id="11" name="Text 9"/>
          <p:cNvSpPr/>
          <p:nvPr/>
        </p:nvSpPr>
        <p:spPr>
          <a:xfrm>
            <a:off x="24536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SANDBOX</a:t>
            </a:r>
            <a:endParaRPr lang="en-US" sz="750" dirty="0"/>
          </a:p>
        </p:txBody>
      </p:sp>
      <p:sp>
        <p:nvSpPr>
          <p:cNvPr id="12" name="Shape 10"/>
          <p:cNvSpPr/>
          <p:nvPr/>
        </p:nvSpPr>
        <p:spPr>
          <a:xfrm>
            <a:off x="3429000" y="5212080"/>
            <a:ext cx="829056" cy="73152"/>
          </a:xfrm>
          <a:prstGeom prst="rect">
            <a:avLst/>
          </a:prstGeom>
          <a:solidFill>
            <a:srgbClr val="2A5240"/>
          </a:solidFill>
          <a:ln/>
        </p:spPr>
      </p:sp>
      <p:sp>
        <p:nvSpPr>
          <p:cNvPr id="13" name="Text 11"/>
          <p:cNvSpPr/>
          <p:nvPr/>
        </p:nvSpPr>
        <p:spPr>
          <a:xfrm>
            <a:off x="333756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EVAL</a:t>
            </a:r>
            <a:endParaRPr lang="en-US" sz="750" dirty="0"/>
          </a:p>
        </p:txBody>
      </p:sp>
      <p:sp>
        <p:nvSpPr>
          <p:cNvPr id="14" name="Shape 12"/>
          <p:cNvSpPr/>
          <p:nvPr/>
        </p:nvSpPr>
        <p:spPr>
          <a:xfrm>
            <a:off x="4312920" y="5212080"/>
            <a:ext cx="829056" cy="73152"/>
          </a:xfrm>
          <a:prstGeom prst="rect">
            <a:avLst/>
          </a:prstGeom>
          <a:solidFill>
            <a:srgbClr val="2A5240"/>
          </a:solidFill>
          <a:ln/>
        </p:spPr>
      </p:sp>
      <p:sp>
        <p:nvSpPr>
          <p:cNvPr id="15" name="Text 13"/>
          <p:cNvSpPr/>
          <p:nvPr/>
        </p:nvSpPr>
        <p:spPr>
          <a:xfrm>
            <a:off x="422148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DATA</a:t>
            </a:r>
            <a:endParaRPr lang="en-US" sz="750" dirty="0"/>
          </a:p>
        </p:txBody>
      </p:sp>
      <p:sp>
        <p:nvSpPr>
          <p:cNvPr id="16" name="Shape 14"/>
          <p:cNvSpPr/>
          <p:nvPr/>
        </p:nvSpPr>
        <p:spPr>
          <a:xfrm>
            <a:off x="5196840" y="5212080"/>
            <a:ext cx="829056" cy="73152"/>
          </a:xfrm>
          <a:prstGeom prst="rect">
            <a:avLst/>
          </a:prstGeom>
          <a:solidFill>
            <a:srgbClr val="2A5240"/>
          </a:solidFill>
          <a:ln/>
        </p:spPr>
      </p:sp>
      <p:sp>
        <p:nvSpPr>
          <p:cNvPr id="17" name="Text 15"/>
          <p:cNvSpPr/>
          <p:nvPr/>
        </p:nvSpPr>
        <p:spPr>
          <a:xfrm>
            <a:off x="51054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SFT</a:t>
            </a:r>
            <a:endParaRPr lang="en-US" sz="750" dirty="0"/>
          </a:p>
        </p:txBody>
      </p:sp>
      <p:sp>
        <p:nvSpPr>
          <p:cNvPr id="18" name="Shape 16"/>
          <p:cNvSpPr/>
          <p:nvPr/>
        </p:nvSpPr>
        <p:spPr>
          <a:xfrm>
            <a:off x="6080760" y="5212080"/>
            <a:ext cx="829056" cy="73152"/>
          </a:xfrm>
          <a:prstGeom prst="rect">
            <a:avLst/>
          </a:prstGeom>
          <a:solidFill>
            <a:srgbClr val="2A5240"/>
          </a:solidFill>
          <a:ln/>
        </p:spPr>
      </p:sp>
      <p:sp>
        <p:nvSpPr>
          <p:cNvPr id="19" name="Text 17"/>
          <p:cNvSpPr/>
          <p:nvPr/>
        </p:nvSpPr>
        <p:spPr>
          <a:xfrm>
            <a:off x="59893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RFT</a:t>
            </a:r>
            <a:endParaRPr lang="en-US" sz="750" dirty="0"/>
          </a:p>
        </p:txBody>
      </p:sp>
      <p:sp>
        <p:nvSpPr>
          <p:cNvPr id="20" name="Shape 18"/>
          <p:cNvSpPr/>
          <p:nvPr/>
        </p:nvSpPr>
        <p:spPr>
          <a:xfrm>
            <a:off x="6964680" y="5212080"/>
            <a:ext cx="829056" cy="182880"/>
          </a:xfrm>
          <a:prstGeom prst="rect">
            <a:avLst/>
          </a:prstGeom>
          <a:solidFill>
            <a:srgbClr val="8FB573"/>
          </a:solidFill>
          <a:ln/>
        </p:spPr>
      </p:sp>
      <p:sp>
        <p:nvSpPr>
          <p:cNvPr id="21" name="Text 19"/>
          <p:cNvSpPr/>
          <p:nvPr/>
        </p:nvSpPr>
        <p:spPr>
          <a:xfrm>
            <a:off x="6873240" y="5468112"/>
            <a:ext cx="1011936" cy="219456"/>
          </a:xfrm>
          <a:prstGeom prst="rect">
            <a:avLst/>
          </a:prstGeom>
          <a:noFill/>
          <a:ln/>
        </p:spPr>
        <p:txBody>
          <a:bodyPr wrap="square" lIns="0" tIns="0" rIns="0" bIns="0" rtlCol="0" anchor="ctr"/>
          <a:lstStyle/>
          <a:p>
            <a:pPr algn="ctr" indent="0" marL="0">
              <a:buNone/>
            </a:pPr>
            <a:r>
              <a:rPr lang="en-US" sz="750" b="1" dirty="0">
                <a:solidFill>
                  <a:srgbClr val="8FB573"/>
                </a:solidFill>
                <a:latin typeface="Calibri" pitchFamily="34" charset="0"/>
                <a:ea typeface="Calibri" pitchFamily="34" charset="-122"/>
                <a:cs typeface="Calibri" pitchFamily="34" charset="-120"/>
              </a:rPr>
              <a:t>DPO</a:t>
            </a:r>
            <a:endParaRPr lang="en-US" sz="750" dirty="0"/>
          </a:p>
        </p:txBody>
      </p:sp>
      <p:sp>
        <p:nvSpPr>
          <p:cNvPr id="22" name="Shape 20"/>
          <p:cNvSpPr/>
          <p:nvPr/>
        </p:nvSpPr>
        <p:spPr>
          <a:xfrm>
            <a:off x="7848600" y="5212080"/>
            <a:ext cx="829056" cy="73152"/>
          </a:xfrm>
          <a:prstGeom prst="rect">
            <a:avLst/>
          </a:prstGeom>
          <a:solidFill>
            <a:srgbClr val="27452F"/>
          </a:solidFill>
          <a:ln/>
        </p:spPr>
      </p:sp>
      <p:sp>
        <p:nvSpPr>
          <p:cNvPr id="23" name="Text 21"/>
          <p:cNvSpPr/>
          <p:nvPr/>
        </p:nvSpPr>
        <p:spPr>
          <a:xfrm>
            <a:off x="775716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GRPO</a:t>
            </a:r>
            <a:endParaRPr lang="en-US" sz="750" dirty="0"/>
          </a:p>
        </p:txBody>
      </p:sp>
      <p:sp>
        <p:nvSpPr>
          <p:cNvPr id="24" name="Shape 22"/>
          <p:cNvSpPr/>
          <p:nvPr/>
        </p:nvSpPr>
        <p:spPr>
          <a:xfrm>
            <a:off x="8732520" y="5212080"/>
            <a:ext cx="829056" cy="73152"/>
          </a:xfrm>
          <a:prstGeom prst="rect">
            <a:avLst/>
          </a:prstGeom>
          <a:solidFill>
            <a:srgbClr val="27452F"/>
          </a:solidFill>
          <a:ln/>
        </p:spPr>
      </p:sp>
      <p:sp>
        <p:nvSpPr>
          <p:cNvPr id="25" name="Text 23"/>
          <p:cNvSpPr/>
          <p:nvPr/>
        </p:nvSpPr>
        <p:spPr>
          <a:xfrm>
            <a:off x="864108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REPAIR</a:t>
            </a:r>
            <a:endParaRPr lang="en-US" sz="750" dirty="0"/>
          </a:p>
        </p:txBody>
      </p:sp>
      <p:sp>
        <p:nvSpPr>
          <p:cNvPr id="26" name="Shape 24"/>
          <p:cNvSpPr/>
          <p:nvPr/>
        </p:nvSpPr>
        <p:spPr>
          <a:xfrm>
            <a:off x="9616440" y="5212080"/>
            <a:ext cx="829056" cy="73152"/>
          </a:xfrm>
          <a:prstGeom prst="rect">
            <a:avLst/>
          </a:prstGeom>
          <a:solidFill>
            <a:srgbClr val="27452F"/>
          </a:solidFill>
          <a:ln/>
        </p:spPr>
      </p:sp>
      <p:sp>
        <p:nvSpPr>
          <p:cNvPr id="27" name="Text 25"/>
          <p:cNvSpPr/>
          <p:nvPr/>
        </p:nvSpPr>
        <p:spPr>
          <a:xfrm>
            <a:off x="95250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MERGE</a:t>
            </a:r>
            <a:endParaRPr lang="en-US" sz="750" dirty="0"/>
          </a:p>
        </p:txBody>
      </p:sp>
      <p:sp>
        <p:nvSpPr>
          <p:cNvPr id="28" name="Shape 26"/>
          <p:cNvSpPr/>
          <p:nvPr/>
        </p:nvSpPr>
        <p:spPr>
          <a:xfrm>
            <a:off x="10500360" y="5212080"/>
            <a:ext cx="829056" cy="73152"/>
          </a:xfrm>
          <a:prstGeom prst="rect">
            <a:avLst/>
          </a:prstGeom>
          <a:solidFill>
            <a:srgbClr val="27452F"/>
          </a:solidFill>
          <a:ln/>
        </p:spPr>
      </p:sp>
      <p:sp>
        <p:nvSpPr>
          <p:cNvPr id="29" name="Text 27"/>
          <p:cNvSpPr/>
          <p:nvPr/>
        </p:nvSpPr>
        <p:spPr>
          <a:xfrm>
            <a:off x="104089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SERVE</a:t>
            </a:r>
            <a:endParaRPr lang="en-US" sz="7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116</a:t>
            </a:r>
            <a:endParaRPr lang="en-US" sz="9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Why preference learning exists at all</a:t>
            </a:r>
            <a:endParaRPr lang="en-US" sz="2900" dirty="0"/>
          </a:p>
        </p:txBody>
      </p:sp>
      <p:sp>
        <p:nvSpPr>
          <p:cNvPr id="4" name="Text 2"/>
          <p:cNvSpPr/>
          <p:nvPr/>
        </p:nvSpPr>
        <p:spPr>
          <a:xfrm>
            <a:off x="502920" y="1280160"/>
            <a:ext cx="11155680" cy="64008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SFT has a structural blind spot: it only ever sees positive examples. It can tell the model 'produce output like this', but it has no way to say 'this is better than that', and no way at all to say 'never do this'.</a:t>
            </a:r>
            <a:endParaRPr lang="en-US" sz="1350" dirty="0"/>
          </a:p>
        </p:txBody>
      </p:sp>
      <p:sp>
        <p:nvSpPr>
          <p:cNvPr id="5" name="Shape 3"/>
          <p:cNvSpPr/>
          <p:nvPr/>
        </p:nvSpPr>
        <p:spPr>
          <a:xfrm>
            <a:off x="502920" y="2057400"/>
            <a:ext cx="5486400" cy="2377440"/>
          </a:xfrm>
          <a:prstGeom prst="roundRect">
            <a:avLst>
              <a:gd name="adj" fmla="val 269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4"/>
          <p:cNvSpPr/>
          <p:nvPr/>
        </p:nvSpPr>
        <p:spPr>
          <a:xfrm>
            <a:off x="758952" y="222199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SFT CAN EXPRESS</a:t>
            </a:r>
            <a:endParaRPr lang="en-US" sz="1250" dirty="0"/>
          </a:p>
        </p:txBody>
      </p:sp>
      <p:sp>
        <p:nvSpPr>
          <p:cNvPr id="7" name="Text 5"/>
          <p:cNvSpPr/>
          <p:nvPr/>
        </p:nvSpPr>
        <p:spPr>
          <a:xfrm>
            <a:off x="758952" y="2587752"/>
            <a:ext cx="4974336" cy="168249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This is a correct solution</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This is the format I want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This is the style I want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(one target per prompt, nothing else)</a:t>
            </a:r>
            <a:endParaRPr lang="en-US" sz="1150" dirty="0"/>
          </a:p>
        </p:txBody>
      </p:sp>
      <p:sp>
        <p:nvSpPr>
          <p:cNvPr id="8" name="Shape 6"/>
          <p:cNvSpPr/>
          <p:nvPr/>
        </p:nvSpPr>
        <p:spPr>
          <a:xfrm>
            <a:off x="6172200" y="2057400"/>
            <a:ext cx="5486400" cy="2377440"/>
          </a:xfrm>
          <a:prstGeom prst="roundRect">
            <a:avLst>
              <a:gd name="adj" fmla="val 269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6428232" y="222199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SFT CANNOT EXPRESS</a:t>
            </a:r>
            <a:endParaRPr lang="en-US" sz="1250" dirty="0"/>
          </a:p>
        </p:txBody>
      </p:sp>
      <p:sp>
        <p:nvSpPr>
          <p:cNvPr id="10" name="Text 8"/>
          <p:cNvSpPr/>
          <p:nvPr/>
        </p:nvSpPr>
        <p:spPr>
          <a:xfrm>
            <a:off x="6428232" y="2587752"/>
            <a:ext cx="4974336" cy="168249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This is better than that — both are valid</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Never do this, even though it is plausible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Prefer terse when both are correct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Degrees of wrongness</a:t>
            </a:r>
            <a:endParaRPr lang="en-US" sz="1150" dirty="0"/>
          </a:p>
        </p:txBody>
      </p:sp>
      <p:sp>
        <p:nvSpPr>
          <p:cNvPr id="11" name="Shape 9"/>
          <p:cNvSpPr/>
          <p:nvPr/>
        </p:nvSpPr>
        <p:spPr>
          <a:xfrm>
            <a:off x="502920" y="4709160"/>
            <a:ext cx="3621024"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10"/>
          <p:cNvSpPr/>
          <p:nvPr/>
        </p:nvSpPr>
        <p:spPr>
          <a:xfrm>
            <a:off x="722376" y="4855464"/>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For code, this matters less than you think</a:t>
            </a:r>
            <a:endParaRPr lang="en-US" sz="1250" dirty="0"/>
          </a:p>
        </p:txBody>
      </p:sp>
      <p:sp>
        <p:nvSpPr>
          <p:cNvPr id="13" name="Text 11"/>
          <p:cNvSpPr/>
          <p:nvPr/>
        </p:nvSpPr>
        <p:spPr>
          <a:xfrm>
            <a:off x="722376" y="5166360"/>
            <a:ext cx="3182112"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You have a verifier. Correctness is already handled by execution. Preference optimization is for everything that is NOT correctness.</a:t>
            </a:r>
            <a:endParaRPr lang="en-US" sz="1100" dirty="0"/>
          </a:p>
        </p:txBody>
      </p:sp>
      <p:sp>
        <p:nvSpPr>
          <p:cNvPr id="14" name="Shape 12"/>
          <p:cNvSpPr/>
          <p:nvPr/>
        </p:nvSpPr>
        <p:spPr>
          <a:xfrm>
            <a:off x="4270248" y="4709160"/>
            <a:ext cx="3621024"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3"/>
          <p:cNvSpPr/>
          <p:nvPr/>
        </p:nvSpPr>
        <p:spPr>
          <a:xfrm>
            <a:off x="4489704" y="48554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Where it earns its place</a:t>
            </a:r>
            <a:endParaRPr lang="en-US" sz="1250" dirty="0"/>
          </a:p>
        </p:txBody>
      </p:sp>
      <p:sp>
        <p:nvSpPr>
          <p:cNvPr id="16" name="Text 14"/>
          <p:cNvSpPr/>
          <p:nvPr/>
        </p:nvSpPr>
        <p:spPr>
          <a:xfrm>
            <a:off x="4489704" y="5166360"/>
            <a:ext cx="3182112"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Choosing between two correct solutions. Suppressing verbose padding. Teaching failure avoidance from your RFT rejects.</a:t>
            </a:r>
            <a:endParaRPr lang="en-US" sz="1100" dirty="0"/>
          </a:p>
        </p:txBody>
      </p:sp>
      <p:sp>
        <p:nvSpPr>
          <p:cNvPr id="17" name="Shape 15"/>
          <p:cNvSpPr/>
          <p:nvPr/>
        </p:nvSpPr>
        <p:spPr>
          <a:xfrm>
            <a:off x="8037576" y="4709160"/>
            <a:ext cx="3621024"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Text 16"/>
          <p:cNvSpPr/>
          <p:nvPr/>
        </p:nvSpPr>
        <p:spPr>
          <a:xfrm>
            <a:off x="8257032" y="48554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Where the free data is</a:t>
            </a:r>
            <a:endParaRPr lang="en-US" sz="1250" dirty="0"/>
          </a:p>
        </p:txBody>
      </p:sp>
      <p:sp>
        <p:nvSpPr>
          <p:cNvPr id="19" name="Text 17"/>
          <p:cNvSpPr/>
          <p:nvPr/>
        </p:nvSpPr>
        <p:spPr>
          <a:xfrm>
            <a:off x="8257032" y="5166360"/>
            <a:ext cx="3182112"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Phase 7 threw away every failing sample. Those are your 'rejected' side. The pairs cost you nothing.</a:t>
            </a:r>
            <a:endParaRPr lang="en-US" sz="1100" dirty="0"/>
          </a:p>
        </p:txBody>
      </p:sp>
      <p:sp>
        <p:nvSpPr>
          <p:cNvPr id="20" name="Shape 18"/>
          <p:cNvSpPr/>
          <p:nvPr/>
        </p:nvSpPr>
        <p:spPr>
          <a:xfrm>
            <a:off x="502920" y="6080760"/>
            <a:ext cx="11155680" cy="548640"/>
          </a:xfrm>
          <a:prstGeom prst="roundRect">
            <a:avLst>
              <a:gd name="adj" fmla="val 11667"/>
            </a:avLst>
          </a:prstGeom>
          <a:solidFill>
            <a:srgbClr val="1F3D2E"/>
          </a:solidFill>
          <a:ln/>
        </p:spPr>
      </p:sp>
      <p:sp>
        <p:nvSpPr>
          <p:cNvPr id="21" name="Shape 19"/>
          <p:cNvSpPr/>
          <p:nvPr/>
        </p:nvSpPr>
        <p:spPr>
          <a:xfrm>
            <a:off x="740664" y="6263640"/>
            <a:ext cx="292608" cy="292608"/>
          </a:xfrm>
          <a:prstGeom prst="ellipse">
            <a:avLst/>
          </a:prstGeom>
          <a:solidFill>
            <a:srgbClr val="1F3D2E"/>
          </a:solidFill>
          <a:ln/>
        </p:spPr>
      </p:sp>
      <p:sp>
        <p:nvSpPr>
          <p:cNvPr id="22" name="Text 20"/>
          <p:cNvSpPr/>
          <p:nvPr/>
        </p:nvSpPr>
        <p:spPr>
          <a:xfrm>
            <a:off x="740664" y="626364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3" name="Text 21"/>
          <p:cNvSpPr/>
          <p:nvPr/>
        </p:nvSpPr>
        <p:spPr>
          <a:xfrm>
            <a:off x="1133856" y="628192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4" name="Text 22"/>
          <p:cNvSpPr/>
          <p:nvPr/>
        </p:nvSpPr>
        <p:spPr>
          <a:xfrm>
            <a:off x="740664" y="6656832"/>
            <a:ext cx="10680192" cy="-201168"/>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Set expectations: in a verifiable domain, DPO usually gives a smaller gain than RFT did. Its value is control, not raw capability.</a:t>
            </a:r>
            <a:endParaRPr lang="en-US" sz="1150" dirty="0"/>
          </a:p>
        </p:txBody>
      </p:sp>
      <p:sp>
        <p:nvSpPr>
          <p:cNvPr id="25" name="Text 2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117</a:t>
            </a:r>
            <a:endParaRPr lang="en-US" sz="9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classical path — reward models and PPO</a:t>
            </a:r>
            <a:endParaRPr lang="en-US" sz="2900" dirty="0"/>
          </a:p>
        </p:txBody>
      </p:sp>
      <p:sp>
        <p:nvSpPr>
          <p:cNvPr id="4" name="Shape 2"/>
          <p:cNvSpPr/>
          <p:nvPr/>
        </p:nvSpPr>
        <p:spPr>
          <a:xfrm>
            <a:off x="502920" y="1280160"/>
            <a:ext cx="2528316"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667512" y="1417320"/>
            <a:ext cx="2199132" cy="256032"/>
          </a:xfrm>
          <a:prstGeom prst="rect">
            <a:avLst/>
          </a:prstGeom>
          <a:noFill/>
          <a:ln/>
        </p:spPr>
        <p:txBody>
          <a:bodyPr wrap="square" lIns="0" tIns="0" rIns="0" bIns="0" rtlCol="0" anchor="ctr"/>
          <a:lstStyle/>
          <a:p>
            <a:pPr indent="0" marL="0">
              <a:buNone/>
            </a:pPr>
            <a:r>
              <a:rPr lang="en-US" sz="1100" b="1" spc="120" kern="0" dirty="0">
                <a:solidFill>
                  <a:srgbClr val="6B7A70"/>
                </a:solidFill>
                <a:latin typeface="Calibri" pitchFamily="34" charset="0"/>
                <a:ea typeface="Calibri" pitchFamily="34" charset="-122"/>
                <a:cs typeface="Calibri" pitchFamily="34" charset="-120"/>
              </a:rPr>
              <a:t>COLLECT</a:t>
            </a:r>
            <a:endParaRPr lang="en-US" sz="1100" dirty="0"/>
          </a:p>
        </p:txBody>
      </p:sp>
      <p:sp>
        <p:nvSpPr>
          <p:cNvPr id="6" name="Text 4"/>
          <p:cNvSpPr/>
          <p:nvPr/>
        </p:nvSpPr>
        <p:spPr>
          <a:xfrm>
            <a:off x="667512" y="1700784"/>
            <a:ext cx="2199132" cy="9144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Humans compare pairs of outputs. Expensive, slow, noisy.</a:t>
            </a:r>
            <a:endParaRPr lang="en-US" sz="1050" dirty="0"/>
          </a:p>
        </p:txBody>
      </p:sp>
      <p:sp>
        <p:nvSpPr>
          <p:cNvPr id="7" name="Text 5"/>
          <p:cNvSpPr/>
          <p:nvPr/>
        </p:nvSpPr>
        <p:spPr>
          <a:xfrm>
            <a:off x="3031236" y="1280160"/>
            <a:ext cx="347472" cy="14630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8" name="Shape 6"/>
          <p:cNvSpPr/>
          <p:nvPr/>
        </p:nvSpPr>
        <p:spPr>
          <a:xfrm>
            <a:off x="3378708" y="1280160"/>
            <a:ext cx="2528316"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3543300" y="1417320"/>
            <a:ext cx="2199132" cy="256032"/>
          </a:xfrm>
          <a:prstGeom prst="rect">
            <a:avLst/>
          </a:prstGeom>
          <a:noFill/>
          <a:ln/>
        </p:spPr>
        <p:txBody>
          <a:bodyPr wrap="square" lIns="0" tIns="0" rIns="0" bIns="0" rtlCol="0" anchor="ctr"/>
          <a:lstStyle/>
          <a:p>
            <a:pPr indent="0" marL="0">
              <a:buNone/>
            </a:pPr>
            <a:r>
              <a:rPr lang="en-US" sz="1100" b="1" spc="120" kern="0" dirty="0">
                <a:solidFill>
                  <a:srgbClr val="6B7A70"/>
                </a:solidFill>
                <a:latin typeface="Calibri" pitchFamily="34" charset="0"/>
                <a:ea typeface="Calibri" pitchFamily="34" charset="-122"/>
                <a:cs typeface="Calibri" pitchFamily="34" charset="-120"/>
              </a:rPr>
              <a:t>TRAIN RM</a:t>
            </a:r>
            <a:endParaRPr lang="en-US" sz="1100" dirty="0"/>
          </a:p>
        </p:txBody>
      </p:sp>
      <p:sp>
        <p:nvSpPr>
          <p:cNvPr id="10" name="Text 8"/>
          <p:cNvSpPr/>
          <p:nvPr/>
        </p:nvSpPr>
        <p:spPr>
          <a:xfrm>
            <a:off x="3543300" y="1700784"/>
            <a:ext cx="2199132" cy="9144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Fit a reward model on those comparisons via Bradley-Terry.</a:t>
            </a:r>
            <a:endParaRPr lang="en-US" sz="1050" dirty="0"/>
          </a:p>
        </p:txBody>
      </p:sp>
      <p:sp>
        <p:nvSpPr>
          <p:cNvPr id="11" name="Text 9"/>
          <p:cNvSpPr/>
          <p:nvPr/>
        </p:nvSpPr>
        <p:spPr>
          <a:xfrm>
            <a:off x="5907024" y="1280160"/>
            <a:ext cx="347472" cy="14630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2" name="Shape 10"/>
          <p:cNvSpPr/>
          <p:nvPr/>
        </p:nvSpPr>
        <p:spPr>
          <a:xfrm>
            <a:off x="6254496" y="1280160"/>
            <a:ext cx="2528316"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Text 11"/>
          <p:cNvSpPr/>
          <p:nvPr/>
        </p:nvSpPr>
        <p:spPr>
          <a:xfrm>
            <a:off x="6419088" y="1417320"/>
            <a:ext cx="2199132" cy="256032"/>
          </a:xfrm>
          <a:prstGeom prst="rect">
            <a:avLst/>
          </a:prstGeom>
          <a:noFill/>
          <a:ln/>
        </p:spPr>
        <p:txBody>
          <a:bodyPr wrap="square" lIns="0" tIns="0" rIns="0" bIns="0" rtlCol="0" anchor="ctr"/>
          <a:lstStyle/>
          <a:p>
            <a:pPr indent="0" marL="0">
              <a:buNone/>
            </a:pPr>
            <a:r>
              <a:rPr lang="en-US" sz="1100" b="1" spc="120" kern="0" dirty="0">
                <a:solidFill>
                  <a:srgbClr val="6B7A70"/>
                </a:solidFill>
                <a:latin typeface="Calibri" pitchFamily="34" charset="0"/>
                <a:ea typeface="Calibri" pitchFamily="34" charset="-122"/>
                <a:cs typeface="Calibri" pitchFamily="34" charset="-120"/>
              </a:rPr>
              <a:t>PPO</a:t>
            </a:r>
            <a:endParaRPr lang="en-US" sz="1100" dirty="0"/>
          </a:p>
        </p:txBody>
      </p:sp>
      <p:sp>
        <p:nvSpPr>
          <p:cNvPr id="14" name="Text 12"/>
          <p:cNvSpPr/>
          <p:nvPr/>
        </p:nvSpPr>
        <p:spPr>
          <a:xfrm>
            <a:off x="6419088" y="1700784"/>
            <a:ext cx="2199132" cy="9144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RL against the reward model, with a KL leash to the reference.</a:t>
            </a:r>
            <a:endParaRPr lang="en-US" sz="1050" dirty="0"/>
          </a:p>
        </p:txBody>
      </p:sp>
      <p:sp>
        <p:nvSpPr>
          <p:cNvPr id="15" name="Text 13"/>
          <p:cNvSpPr/>
          <p:nvPr/>
        </p:nvSpPr>
        <p:spPr>
          <a:xfrm>
            <a:off x="8782812" y="1280160"/>
            <a:ext cx="347472" cy="146304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6" name="Shape 14"/>
          <p:cNvSpPr/>
          <p:nvPr/>
        </p:nvSpPr>
        <p:spPr>
          <a:xfrm>
            <a:off x="9130284" y="1280160"/>
            <a:ext cx="2528316" cy="1463040"/>
          </a:xfrm>
          <a:prstGeom prst="roundRect">
            <a:avLst>
              <a:gd name="adj" fmla="val 437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9294876" y="1417320"/>
            <a:ext cx="2199132" cy="256032"/>
          </a:xfrm>
          <a:prstGeom prst="rect">
            <a:avLst/>
          </a:prstGeom>
          <a:noFill/>
          <a:ln/>
        </p:spPr>
        <p:txBody>
          <a:bodyPr wrap="square" lIns="0" tIns="0" rIns="0" bIns="0" rtlCol="0" anchor="ctr"/>
          <a:lstStyle/>
          <a:p>
            <a:pPr indent="0" marL="0">
              <a:buNone/>
            </a:pPr>
            <a:r>
              <a:rPr lang="en-US" sz="1100" b="1" spc="120" kern="0" dirty="0">
                <a:solidFill>
                  <a:srgbClr val="A8482A"/>
                </a:solidFill>
                <a:latin typeface="Calibri" pitchFamily="34" charset="0"/>
                <a:ea typeface="Calibri" pitchFamily="34" charset="-122"/>
                <a:cs typeface="Calibri" pitchFamily="34" charset="-120"/>
              </a:rPr>
              <a:t>PRAY</a:t>
            </a:r>
            <a:endParaRPr lang="en-US" sz="1100" dirty="0"/>
          </a:p>
        </p:txBody>
      </p:sp>
      <p:sp>
        <p:nvSpPr>
          <p:cNvPr id="18" name="Text 16"/>
          <p:cNvSpPr/>
          <p:nvPr/>
        </p:nvSpPr>
        <p:spPr>
          <a:xfrm>
            <a:off x="9294876" y="1700784"/>
            <a:ext cx="2199132" cy="91440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Four models in memory, unstable, reward hacking against the RM.</a:t>
            </a:r>
            <a:endParaRPr lang="en-US" sz="1050" dirty="0"/>
          </a:p>
        </p:txBody>
      </p:sp>
      <p:sp>
        <p:nvSpPr>
          <p:cNvPr id="19" name="Shape 17"/>
          <p:cNvSpPr/>
          <p:nvPr/>
        </p:nvSpPr>
        <p:spPr>
          <a:xfrm>
            <a:off x="502920" y="2971800"/>
            <a:ext cx="5943600" cy="1417320"/>
          </a:xfrm>
          <a:prstGeom prst="roundRect">
            <a:avLst>
              <a:gd name="adj" fmla="val 3871"/>
            </a:avLst>
          </a:prstGeom>
          <a:solidFill>
            <a:srgbClr val="0F1F17"/>
          </a:solidFill>
          <a:ln/>
        </p:spPr>
      </p:sp>
      <p:sp>
        <p:nvSpPr>
          <p:cNvPr id="20" name="Text 18"/>
          <p:cNvSpPr/>
          <p:nvPr/>
        </p:nvSpPr>
        <p:spPr>
          <a:xfrm>
            <a:off x="722376" y="3118104"/>
            <a:ext cx="5504688" cy="112471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Bradley-Terry: the probability A beats B</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P(A &gt; B) = sigmoid( r(A) - r(B) )</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Reward model loss over human comparisons: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L_RM = -log sigmoid( r(chosen) - r(rejected) )</a:t>
            </a:r>
            <a:endParaRPr lang="en-US" sz="1000" dirty="0"/>
          </a:p>
        </p:txBody>
      </p:sp>
      <p:sp>
        <p:nvSpPr>
          <p:cNvPr id="21" name="Shape 19"/>
          <p:cNvSpPr/>
          <p:nvPr/>
        </p:nvSpPr>
        <p:spPr>
          <a:xfrm>
            <a:off x="6629400" y="2971800"/>
            <a:ext cx="5029200" cy="868680"/>
          </a:xfrm>
          <a:prstGeom prst="roundRect">
            <a:avLst>
              <a:gd name="adj" fmla="val 736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2" name="Text 20"/>
          <p:cNvSpPr/>
          <p:nvPr/>
        </p:nvSpPr>
        <p:spPr>
          <a:xfrm>
            <a:off x="6848856" y="3118104"/>
            <a:ext cx="459028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Four models in memory</a:t>
            </a:r>
            <a:endParaRPr lang="en-US" sz="1250" dirty="0"/>
          </a:p>
        </p:txBody>
      </p:sp>
      <p:sp>
        <p:nvSpPr>
          <p:cNvPr id="23" name="Text 21"/>
          <p:cNvSpPr/>
          <p:nvPr/>
        </p:nvSpPr>
        <p:spPr>
          <a:xfrm>
            <a:off x="6848856" y="3429000"/>
            <a:ext cx="4590288" cy="2651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Policy, reference, reward model, value model. On a 4GB card this is not merely impractical — it is impossible.</a:t>
            </a:r>
            <a:endParaRPr lang="en-US" sz="1100" dirty="0"/>
          </a:p>
        </p:txBody>
      </p:sp>
      <p:sp>
        <p:nvSpPr>
          <p:cNvPr id="24" name="Shape 22"/>
          <p:cNvSpPr/>
          <p:nvPr/>
        </p:nvSpPr>
        <p:spPr>
          <a:xfrm>
            <a:off x="6629400" y="3931920"/>
            <a:ext cx="5029200" cy="868680"/>
          </a:xfrm>
          <a:prstGeom prst="roundRect">
            <a:avLst>
              <a:gd name="adj" fmla="val 736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Text 23"/>
          <p:cNvSpPr/>
          <p:nvPr/>
        </p:nvSpPr>
        <p:spPr>
          <a:xfrm>
            <a:off x="6848856" y="4078224"/>
            <a:ext cx="459028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The reward model is hackable</a:t>
            </a:r>
            <a:endParaRPr lang="en-US" sz="1250" dirty="0"/>
          </a:p>
        </p:txBody>
      </p:sp>
      <p:sp>
        <p:nvSpPr>
          <p:cNvPr id="26" name="Text 24"/>
          <p:cNvSpPr/>
          <p:nvPr/>
        </p:nvSpPr>
        <p:spPr>
          <a:xfrm>
            <a:off x="6848856" y="4389120"/>
            <a:ext cx="4590288" cy="2651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policy learns to exploit the RM's blind spots rather than to satisfy the underlying preference. A whole research literature exists on this.</a:t>
            </a:r>
            <a:endParaRPr lang="en-US" sz="1100" dirty="0"/>
          </a:p>
        </p:txBody>
      </p:sp>
      <p:sp>
        <p:nvSpPr>
          <p:cNvPr id="27" name="Shape 25"/>
          <p:cNvSpPr/>
          <p:nvPr/>
        </p:nvSpPr>
        <p:spPr>
          <a:xfrm>
            <a:off x="6629400" y="4892040"/>
            <a:ext cx="5029200" cy="868680"/>
          </a:xfrm>
          <a:prstGeom prst="roundRect">
            <a:avLst>
              <a:gd name="adj" fmla="val 736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8" name="Text 26"/>
          <p:cNvSpPr/>
          <p:nvPr/>
        </p:nvSpPr>
        <p:spPr>
          <a:xfrm>
            <a:off x="6848856" y="5038344"/>
            <a:ext cx="459028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Read it, do not build it</a:t>
            </a:r>
            <a:endParaRPr lang="en-US" sz="1250" dirty="0"/>
          </a:p>
        </p:txBody>
      </p:sp>
      <p:sp>
        <p:nvSpPr>
          <p:cNvPr id="29" name="Text 27"/>
          <p:cNvSpPr/>
          <p:nvPr/>
        </p:nvSpPr>
        <p:spPr>
          <a:xfrm>
            <a:off x="6848856" y="5349240"/>
            <a:ext cx="4590288" cy="2651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Understand PPO conceptually. Implementing it is a month you should spend on data and reward design instead.</a:t>
            </a:r>
            <a:endParaRPr lang="en-US" sz="1100" dirty="0"/>
          </a:p>
        </p:txBody>
      </p:sp>
      <p:sp>
        <p:nvSpPr>
          <p:cNvPr id="30" name="Shape 28"/>
          <p:cNvSpPr/>
          <p:nvPr/>
        </p:nvSpPr>
        <p:spPr>
          <a:xfrm>
            <a:off x="502920" y="5852160"/>
            <a:ext cx="11155680" cy="566928"/>
          </a:xfrm>
          <a:prstGeom prst="roundRect">
            <a:avLst>
              <a:gd name="adj" fmla="val 9677"/>
            </a:avLst>
          </a:prstGeom>
          <a:solidFill>
            <a:srgbClr val="8FB573"/>
          </a:solidFill>
          <a:ln/>
        </p:spPr>
      </p:sp>
      <p:sp>
        <p:nvSpPr>
          <p:cNvPr id="31" name="Text 29"/>
          <p:cNvSpPr/>
          <p:nvPr/>
        </p:nvSpPr>
        <p:spPr>
          <a:xfrm>
            <a:off x="777240" y="585216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DPO's contribution: it proves you can skip the reward model AND the rollouts entirely.</a:t>
            </a:r>
            <a:endParaRPr lang="en-US" sz="1450" dirty="0"/>
          </a:p>
        </p:txBody>
      </p:sp>
      <p:sp>
        <p:nvSpPr>
          <p:cNvPr id="32" name="Text 30"/>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118</a:t>
            </a:r>
            <a:endParaRPr lang="en-US" sz="9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DPO — the key insight</a:t>
            </a:r>
            <a:endParaRPr lang="en-US" sz="2900" dirty="0"/>
          </a:p>
        </p:txBody>
      </p:sp>
      <p:sp>
        <p:nvSpPr>
          <p:cNvPr id="4" name="Text 2"/>
          <p:cNvSpPr/>
          <p:nvPr/>
        </p:nvSpPr>
        <p:spPr>
          <a:xfrm>
            <a:off x="502920" y="1280160"/>
            <a:ext cx="11155680" cy="68580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The optimal policy under a KL-constrained reward objective has a closed form. Invert it, and the reward is expressible in terms of the policy itself. So you can optimize the policy directly on preference pairs — no reward model, no sampling loop.</a:t>
            </a:r>
            <a:endParaRPr lang="en-US" sz="1350" dirty="0"/>
          </a:p>
        </p:txBody>
      </p:sp>
      <p:sp>
        <p:nvSpPr>
          <p:cNvPr id="5" name="Shape 3"/>
          <p:cNvSpPr/>
          <p:nvPr/>
        </p:nvSpPr>
        <p:spPr>
          <a:xfrm>
            <a:off x="502920" y="2057400"/>
            <a:ext cx="6583680" cy="2651760"/>
          </a:xfrm>
          <a:prstGeom prst="roundRect">
            <a:avLst>
              <a:gd name="adj" fmla="val 2069"/>
            </a:avLst>
          </a:prstGeom>
          <a:solidFill>
            <a:srgbClr val="0F1F17"/>
          </a:solidFill>
          <a:ln/>
        </p:spPr>
      </p:sp>
      <p:sp>
        <p:nvSpPr>
          <p:cNvPr id="6" name="Text 4"/>
          <p:cNvSpPr/>
          <p:nvPr/>
        </p:nvSpPr>
        <p:spPr>
          <a:xfrm>
            <a:off x="722376" y="2203704"/>
            <a:ext cx="614476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THE SUBSTITUTION</a:t>
            </a:r>
            <a:endParaRPr lang="en-US" sz="950" dirty="0"/>
          </a:p>
        </p:txBody>
      </p:sp>
      <p:sp>
        <p:nvSpPr>
          <p:cNvPr id="7" name="Text 5"/>
          <p:cNvSpPr/>
          <p:nvPr/>
        </p:nvSpPr>
        <p:spPr>
          <a:xfrm>
            <a:off x="722376" y="2478024"/>
            <a:ext cx="6144768" cy="208483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The implicit reward — the policy IS the reward model</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r(x, y)  =  beta * log( pi(y|x) / pi_ref(y|x) )</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The DPO loss on a preference pair (chosen yw, rejected yl):</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L = -log sigmoid( beta *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log(pi(yw|x) / pi_ref(yw|x))</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log(pi(yl|x) / pi_ref(yl|x))</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a:t>
            </a:r>
            <a:endParaRPr lang="en-US" sz="1000" dirty="0"/>
          </a:p>
          <a:p>
            <a:pPr indent="0" marL="0">
              <a:lnSpc>
                <a:spcPct val="112000"/>
              </a:lnSpc>
              <a:buNone/>
            </a:pPr>
            <a:endParaRPr lang="en-US" sz="1000" dirty="0"/>
          </a:p>
          <a:p>
            <a:pPr indent="0" marL="0">
              <a:lnSpc>
                <a:spcPct val="112000"/>
              </a:lnSpc>
              <a:buNone/>
            </a:pPr>
            <a:r>
              <a:rPr lang="en-US" sz="1000" b="1" dirty="0">
                <a:solidFill>
                  <a:srgbClr val="8FB573"/>
                </a:solidFill>
                <a:latin typeface="Courier New" pitchFamily="34" charset="0"/>
                <a:ea typeface="Courier New" pitchFamily="34" charset="-122"/>
                <a:cs typeface="Courier New" pitchFamily="34" charset="-120"/>
              </a:rPr>
              <a:t># Two models in memory, not four. No rollouts.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pi_ref is FROZEN — it is your Phase 7 checkpoint.</a:t>
            </a:r>
            <a:endParaRPr lang="en-US" sz="1000" dirty="0"/>
          </a:p>
        </p:txBody>
      </p:sp>
      <p:sp>
        <p:nvSpPr>
          <p:cNvPr id="8" name="Shape 6"/>
          <p:cNvSpPr/>
          <p:nvPr/>
        </p:nvSpPr>
        <p:spPr>
          <a:xfrm>
            <a:off x="7269480" y="2057400"/>
            <a:ext cx="438912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7488936" y="2203704"/>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Two models, not four</a:t>
            </a:r>
            <a:endParaRPr lang="en-US" sz="1250" dirty="0"/>
          </a:p>
        </p:txBody>
      </p:sp>
      <p:sp>
        <p:nvSpPr>
          <p:cNvPr id="10" name="Text 8"/>
          <p:cNvSpPr/>
          <p:nvPr/>
        </p:nvSpPr>
        <p:spPr>
          <a:xfrm>
            <a:off x="7488936" y="2514600"/>
            <a:ext cx="395020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Policy and frozen reference. With LoRA you do not even need two copies — disable the adapter to get the reference. Fits on 4GB comfortably.</a:t>
            </a:r>
            <a:endParaRPr lang="en-US" sz="1100" dirty="0"/>
          </a:p>
        </p:txBody>
      </p:sp>
      <p:sp>
        <p:nvSpPr>
          <p:cNvPr id="11" name="Shape 9"/>
          <p:cNvSpPr/>
          <p:nvPr/>
        </p:nvSpPr>
        <p:spPr>
          <a:xfrm>
            <a:off x="7269480" y="2935224"/>
            <a:ext cx="438912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10"/>
          <p:cNvSpPr/>
          <p:nvPr/>
        </p:nvSpPr>
        <p:spPr>
          <a:xfrm>
            <a:off x="7488936" y="3081528"/>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No sampling during training</a:t>
            </a:r>
            <a:endParaRPr lang="en-US" sz="1250" dirty="0"/>
          </a:p>
        </p:txBody>
      </p:sp>
      <p:sp>
        <p:nvSpPr>
          <p:cNvPr id="13" name="Text 11"/>
          <p:cNvSpPr/>
          <p:nvPr/>
        </p:nvSpPr>
        <p:spPr>
          <a:xfrm>
            <a:off x="7488936" y="3392424"/>
            <a:ext cx="395020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pairs are precomputed. Training is as fast and as stable as SFT.</a:t>
            </a:r>
            <a:endParaRPr lang="en-US" sz="1100" dirty="0"/>
          </a:p>
        </p:txBody>
      </p:sp>
      <p:sp>
        <p:nvSpPr>
          <p:cNvPr id="14" name="Shape 12"/>
          <p:cNvSpPr/>
          <p:nvPr/>
        </p:nvSpPr>
        <p:spPr>
          <a:xfrm>
            <a:off x="7269480" y="3813048"/>
            <a:ext cx="438912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3"/>
          <p:cNvSpPr/>
          <p:nvPr/>
        </p:nvSpPr>
        <p:spPr>
          <a:xfrm>
            <a:off x="7488936" y="3959352"/>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Stable relative to PPO</a:t>
            </a:r>
            <a:endParaRPr lang="en-US" sz="1250" dirty="0"/>
          </a:p>
        </p:txBody>
      </p:sp>
      <p:sp>
        <p:nvSpPr>
          <p:cNvPr id="16" name="Text 14"/>
          <p:cNvSpPr/>
          <p:nvPr/>
        </p:nvSpPr>
        <p:spPr>
          <a:xfrm>
            <a:off x="7488936" y="4270248"/>
            <a:ext cx="395020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No rollout variance, no value function to diverge. It is a supervised loss on a clever objective.</a:t>
            </a:r>
            <a:endParaRPr lang="en-US" sz="1100" dirty="0"/>
          </a:p>
        </p:txBody>
      </p:sp>
      <p:sp>
        <p:nvSpPr>
          <p:cNvPr id="17" name="Shape 15"/>
          <p:cNvSpPr/>
          <p:nvPr/>
        </p:nvSpPr>
        <p:spPr>
          <a:xfrm>
            <a:off x="7269480" y="4690872"/>
            <a:ext cx="438912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Text 16"/>
          <p:cNvSpPr/>
          <p:nvPr/>
        </p:nvSpPr>
        <p:spPr>
          <a:xfrm>
            <a:off x="7488936" y="4837176"/>
            <a:ext cx="395020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The catch: it is off-policy</a:t>
            </a:r>
            <a:endParaRPr lang="en-US" sz="1250" dirty="0"/>
          </a:p>
        </p:txBody>
      </p:sp>
      <p:sp>
        <p:nvSpPr>
          <p:cNvPr id="19" name="Text 17"/>
          <p:cNvSpPr/>
          <p:nvPr/>
        </p:nvSpPr>
        <p:spPr>
          <a:xfrm>
            <a:off x="7488936" y="5148072"/>
            <a:ext cx="395020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Pairs come from an older model. As the policy moves away from the data, the signal degrades — the core limitation.</a:t>
            </a:r>
            <a:endParaRPr lang="en-US" sz="1100" dirty="0"/>
          </a:p>
        </p:txBody>
      </p:sp>
      <p:sp>
        <p:nvSpPr>
          <p:cNvPr id="20" name="Text 1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119</a:t>
            </a:r>
            <a:endParaRPr lang="en-US" sz="9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Beta and the reference model</a:t>
            </a:r>
            <a:endParaRPr lang="en-US" sz="2900" dirty="0"/>
          </a:p>
        </p:txBody>
      </p:sp>
      <p:graphicFrame>
        <p:nvGraphicFramePr>
          <p:cNvPr id="12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1097280"/>
                <a:gridCol w="3108960"/>
                <a:gridCol w="3566160"/>
                <a:gridCol w="3383280"/>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beta</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Behavior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Symptom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 when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0.01</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Very weak leash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Drifts far from reference; can lose syntax validity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Almost never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0.05</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Loose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Strong preference learning, some drift risk</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Large, high-quality pair sets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Balanced — the default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Healthy margin growth, controlled drift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Start here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0.3</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Tight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Slow, conservative learning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Small or noisy pair sets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Very tight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Barely moves from reference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When DPO is destabilizing everything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703320"/>
            <a:ext cx="11155680" cy="617220"/>
          </a:xfrm>
          <a:prstGeom prst="roundRect">
            <a:avLst>
              <a:gd name="adj" fmla="val 1037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Shape 3"/>
          <p:cNvSpPr/>
          <p:nvPr/>
        </p:nvSpPr>
        <p:spPr>
          <a:xfrm>
            <a:off x="502920" y="3703320"/>
            <a:ext cx="91440" cy="617220"/>
          </a:xfrm>
          <a:prstGeom prst="rect">
            <a:avLst/>
          </a:prstGeom>
          <a:solidFill>
            <a:srgbClr val="A8482A"/>
          </a:solidFill>
          <a:ln/>
        </p:spPr>
      </p:sp>
      <p:sp>
        <p:nvSpPr>
          <p:cNvPr id="7" name="Text 4"/>
          <p:cNvSpPr/>
          <p:nvPr/>
        </p:nvSpPr>
        <p:spPr>
          <a:xfrm>
            <a:off x="822960" y="3813048"/>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The reference is your Phase 7 model</a:t>
            </a:r>
            <a:endParaRPr lang="en-US" sz="1250" dirty="0"/>
          </a:p>
        </p:txBody>
      </p:sp>
      <p:sp>
        <p:nvSpPr>
          <p:cNvPr id="8" name="Text 5"/>
          <p:cNvSpPr/>
          <p:nvPr/>
        </p:nvSpPr>
        <p:spPr>
          <a:xfrm>
            <a:off x="822960" y="4105656"/>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not the base model</a:t>
            </a:r>
            <a:endParaRPr lang="en-US" sz="950" dirty="0"/>
          </a:p>
        </p:txBody>
      </p:sp>
      <p:sp>
        <p:nvSpPr>
          <p:cNvPr id="9" name="Text 6"/>
          <p:cNvSpPr/>
          <p:nvPr/>
        </p:nvSpPr>
        <p:spPr>
          <a:xfrm>
            <a:off x="4069080" y="3794760"/>
            <a:ext cx="7589520" cy="43434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Always the immediately preceding checkpoint. Using the original base as reference means fighting all of your prior training.</a:t>
            </a:r>
            <a:endParaRPr lang="en-US" sz="1180" dirty="0"/>
          </a:p>
        </p:txBody>
      </p:sp>
      <p:sp>
        <p:nvSpPr>
          <p:cNvPr id="10" name="Shape 7"/>
          <p:cNvSpPr/>
          <p:nvPr/>
        </p:nvSpPr>
        <p:spPr>
          <a:xfrm>
            <a:off x="502920" y="4411980"/>
            <a:ext cx="11155680" cy="617220"/>
          </a:xfrm>
          <a:prstGeom prst="roundRect">
            <a:avLst>
              <a:gd name="adj" fmla="val 1037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8"/>
          <p:cNvSpPr/>
          <p:nvPr/>
        </p:nvSpPr>
        <p:spPr>
          <a:xfrm>
            <a:off x="502920" y="4411980"/>
            <a:ext cx="91440" cy="617220"/>
          </a:xfrm>
          <a:prstGeom prst="rect">
            <a:avLst/>
          </a:prstGeom>
          <a:solidFill>
            <a:srgbClr val="8FB573"/>
          </a:solidFill>
          <a:ln/>
        </p:spPr>
      </p:sp>
      <p:sp>
        <p:nvSpPr>
          <p:cNvPr id="12" name="Text 9"/>
          <p:cNvSpPr/>
          <p:nvPr/>
        </p:nvSpPr>
        <p:spPr>
          <a:xfrm>
            <a:off x="822960" y="4521708"/>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With LoRA, reference is free</a:t>
            </a:r>
            <a:endParaRPr lang="en-US" sz="1250" dirty="0"/>
          </a:p>
        </p:txBody>
      </p:sp>
      <p:sp>
        <p:nvSpPr>
          <p:cNvPr id="13" name="Text 10"/>
          <p:cNvSpPr/>
          <p:nvPr/>
        </p:nvSpPr>
        <p:spPr>
          <a:xfrm>
            <a:off x="822960" y="4814316"/>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disable the adapter</a:t>
            </a:r>
            <a:endParaRPr lang="en-US" sz="950" dirty="0"/>
          </a:p>
        </p:txBody>
      </p:sp>
      <p:sp>
        <p:nvSpPr>
          <p:cNvPr id="14" name="Text 11"/>
          <p:cNvSpPr/>
          <p:nvPr/>
        </p:nvSpPr>
        <p:spPr>
          <a:xfrm>
            <a:off x="4069080" y="4503420"/>
            <a:ext cx="7589520" cy="43434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TRL computes reference logprobs by turning the adapter off. No second model in memory. This is why DPO fits on 4GB.</a:t>
            </a:r>
            <a:endParaRPr lang="en-US" sz="1180" dirty="0"/>
          </a:p>
        </p:txBody>
      </p:sp>
      <p:sp>
        <p:nvSpPr>
          <p:cNvPr id="15" name="Shape 12"/>
          <p:cNvSpPr/>
          <p:nvPr/>
        </p:nvSpPr>
        <p:spPr>
          <a:xfrm>
            <a:off x="502920" y="5120640"/>
            <a:ext cx="11155680" cy="617220"/>
          </a:xfrm>
          <a:prstGeom prst="roundRect">
            <a:avLst>
              <a:gd name="adj" fmla="val 1037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3"/>
          <p:cNvSpPr/>
          <p:nvPr/>
        </p:nvSpPr>
        <p:spPr>
          <a:xfrm>
            <a:off x="502920" y="5120640"/>
            <a:ext cx="91440" cy="617220"/>
          </a:xfrm>
          <a:prstGeom prst="rect">
            <a:avLst/>
          </a:prstGeom>
          <a:solidFill>
            <a:srgbClr val="8FB573"/>
          </a:solidFill>
          <a:ln/>
        </p:spPr>
      </p:sp>
      <p:sp>
        <p:nvSpPr>
          <p:cNvPr id="17" name="Text 14"/>
          <p:cNvSpPr/>
          <p:nvPr/>
        </p:nvSpPr>
        <p:spPr>
          <a:xfrm>
            <a:off x="822960" y="5230368"/>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Watch the implicit reward margin</a:t>
            </a:r>
            <a:endParaRPr lang="en-US" sz="1250" dirty="0"/>
          </a:p>
        </p:txBody>
      </p:sp>
      <p:sp>
        <p:nvSpPr>
          <p:cNvPr id="18" name="Text 15"/>
          <p:cNvSpPr/>
          <p:nvPr/>
        </p:nvSpPr>
        <p:spPr>
          <a:xfrm>
            <a:off x="822960" y="5522976"/>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log it every step</a:t>
            </a:r>
            <a:endParaRPr lang="en-US" sz="950" dirty="0"/>
          </a:p>
        </p:txBody>
      </p:sp>
      <p:sp>
        <p:nvSpPr>
          <p:cNvPr id="19" name="Text 16"/>
          <p:cNvSpPr/>
          <p:nvPr/>
        </p:nvSpPr>
        <p:spPr>
          <a:xfrm>
            <a:off x="4069080" y="5212080"/>
            <a:ext cx="7589520" cy="43434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chosen_rewards minus rejected_rewards. It should rise and then plateau. If it explodes, beta is too low.</a:t>
            </a:r>
            <a:endParaRPr lang="en-US" sz="1180" dirty="0"/>
          </a:p>
        </p:txBody>
      </p:sp>
      <p:sp>
        <p:nvSpPr>
          <p:cNvPr id="20" name="Shape 17"/>
          <p:cNvSpPr/>
          <p:nvPr/>
        </p:nvSpPr>
        <p:spPr>
          <a:xfrm>
            <a:off x="502920" y="5829300"/>
            <a:ext cx="11155680" cy="617220"/>
          </a:xfrm>
          <a:prstGeom prst="roundRect">
            <a:avLst>
              <a:gd name="adj" fmla="val 1037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Shape 18"/>
          <p:cNvSpPr/>
          <p:nvPr/>
        </p:nvSpPr>
        <p:spPr>
          <a:xfrm>
            <a:off x="502920" y="5829300"/>
            <a:ext cx="91440" cy="617220"/>
          </a:xfrm>
          <a:prstGeom prst="rect">
            <a:avLst/>
          </a:prstGeom>
          <a:solidFill>
            <a:srgbClr val="8FB573"/>
          </a:solidFill>
          <a:ln/>
        </p:spPr>
      </p:sp>
      <p:sp>
        <p:nvSpPr>
          <p:cNvPr id="22" name="Text 19"/>
          <p:cNvSpPr/>
          <p:nvPr/>
        </p:nvSpPr>
        <p:spPr>
          <a:xfrm>
            <a:off x="822960" y="5939028"/>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Watch reference KL</a:t>
            </a:r>
            <a:endParaRPr lang="en-US" sz="1250" dirty="0"/>
          </a:p>
        </p:txBody>
      </p:sp>
      <p:sp>
        <p:nvSpPr>
          <p:cNvPr id="23" name="Text 20"/>
          <p:cNvSpPr/>
          <p:nvPr/>
        </p:nvSpPr>
        <p:spPr>
          <a:xfrm>
            <a:off x="822960" y="6231636"/>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log it every step</a:t>
            </a:r>
            <a:endParaRPr lang="en-US" sz="950" dirty="0"/>
          </a:p>
        </p:txBody>
      </p:sp>
      <p:sp>
        <p:nvSpPr>
          <p:cNvPr id="24" name="Text 21"/>
          <p:cNvSpPr/>
          <p:nvPr/>
        </p:nvSpPr>
        <p:spPr>
          <a:xfrm>
            <a:off x="4069080" y="5920740"/>
            <a:ext cx="7589520" cy="434340"/>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If KL from reference grows without bound, you are drifting. Raise beta or stop earlier.</a:t>
            </a:r>
            <a:endParaRPr lang="en-US" sz="1180" dirty="0"/>
          </a:p>
        </p:txBody>
      </p:sp>
      <p:sp>
        <p:nvSpPr>
          <p:cNvPr id="25" name="Text 2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120</a:t>
            </a:r>
            <a:endParaRPr lang="en-US" sz="9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Constructing preference pairs for code — where you have an unfair advantage</a:t>
            </a:r>
            <a:endParaRPr lang="en-US" sz="2900" dirty="0"/>
          </a:p>
        </p:txBody>
      </p:sp>
      <p:graphicFrame>
        <p:nvGraphicFramePr>
          <p:cNvPr id="12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926080"/>
                <a:gridCol w="2560320"/>
                <a:gridCol w="2743200"/>
                <a:gridCol w="292608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Pair source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Chosen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Rejected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Quality of signal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Execution outcome (free!)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Passes all tests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Fails tests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Excellent — objective, zero labeling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Partial credit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Passes 100%</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Passes 60–90%</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Very good — 'nearly right' is a strong negative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Efficiency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Passes, fewer ops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Passes, brute force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Good — needs a benchmark harness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Length (both correct)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Concise correct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Verbose correct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Good — directly counters verbosity bias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Style / idiom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Idiomatic</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Non-idiomatic</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Needs a judge; subjective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Teacher vs student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Teacher output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Student output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Risky — teaches imitation, not correctness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Human annotation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Human-preferred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Human-rejected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Best signal, worst throughput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114800"/>
            <a:ext cx="11155680" cy="566928"/>
          </a:xfrm>
          <a:prstGeom prst="roundRect">
            <a:avLst>
              <a:gd name="adj" fmla="val 9677"/>
            </a:avLst>
          </a:prstGeom>
          <a:solidFill>
            <a:srgbClr val="8FB573"/>
          </a:solidFill>
          <a:ln/>
        </p:spPr>
      </p:sp>
      <p:sp>
        <p:nvSpPr>
          <p:cNvPr id="6" name="Text 3"/>
          <p:cNvSpPr/>
          <p:nvPr/>
        </p:nvSpPr>
        <p:spPr>
          <a:xfrm>
            <a:off x="777240" y="411480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Phase 7 threw away every FAILING sample. Those are your rejected side. Your preference dataset already exists.</a:t>
            </a:r>
            <a:endParaRPr lang="en-US" sz="1450" dirty="0"/>
          </a:p>
        </p:txBody>
      </p:sp>
      <p:sp>
        <p:nvSpPr>
          <p:cNvPr id="7" name="Shape 4"/>
          <p:cNvSpPr/>
          <p:nvPr/>
        </p:nvSpPr>
        <p:spPr>
          <a:xfrm>
            <a:off x="502920" y="4846320"/>
            <a:ext cx="11155680" cy="585216"/>
          </a:xfrm>
          <a:prstGeom prst="roundRect">
            <a:avLst>
              <a:gd name="adj" fmla="val 1093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Shape 5"/>
          <p:cNvSpPr/>
          <p:nvPr/>
        </p:nvSpPr>
        <p:spPr>
          <a:xfrm>
            <a:off x="502920" y="4846320"/>
            <a:ext cx="91440" cy="585216"/>
          </a:xfrm>
          <a:prstGeom prst="rect">
            <a:avLst/>
          </a:prstGeom>
          <a:solidFill>
            <a:srgbClr val="A8482A"/>
          </a:solidFill>
          <a:ln/>
        </p:spPr>
      </p:sp>
      <p:sp>
        <p:nvSpPr>
          <p:cNvPr id="9" name="Text 6"/>
          <p:cNvSpPr/>
          <p:nvPr/>
        </p:nvSpPr>
        <p:spPr>
          <a:xfrm>
            <a:off x="822960" y="4956048"/>
            <a:ext cx="24688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Pair within a problem</a:t>
            </a:r>
            <a:endParaRPr lang="en-US" sz="1250" dirty="0"/>
          </a:p>
        </p:txBody>
      </p:sp>
      <p:sp>
        <p:nvSpPr>
          <p:cNvPr id="10" name="Text 7"/>
          <p:cNvSpPr/>
          <p:nvPr/>
        </p:nvSpPr>
        <p:spPr>
          <a:xfrm>
            <a:off x="822960" y="5248656"/>
            <a:ext cx="24688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same prompt, both sides</a:t>
            </a:r>
            <a:endParaRPr lang="en-US" sz="950" dirty="0"/>
          </a:p>
        </p:txBody>
      </p:sp>
      <p:sp>
        <p:nvSpPr>
          <p:cNvPr id="11" name="Text 8"/>
          <p:cNvSpPr/>
          <p:nvPr/>
        </p:nvSpPr>
        <p:spPr>
          <a:xfrm>
            <a:off x="3520440" y="4937760"/>
            <a:ext cx="8138160" cy="402336"/>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Chosen and rejected must answer the SAME prompt. Cross-problem pairs teach ranking of problems, not quality of solutions.</a:t>
            </a:r>
            <a:endParaRPr lang="en-US" sz="1180" dirty="0"/>
          </a:p>
        </p:txBody>
      </p:sp>
      <p:sp>
        <p:nvSpPr>
          <p:cNvPr id="12" name="Shape 9"/>
          <p:cNvSpPr/>
          <p:nvPr/>
        </p:nvSpPr>
        <p:spPr>
          <a:xfrm>
            <a:off x="502920" y="5522976"/>
            <a:ext cx="11155680" cy="585216"/>
          </a:xfrm>
          <a:prstGeom prst="roundRect">
            <a:avLst>
              <a:gd name="adj" fmla="val 1093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Shape 10"/>
          <p:cNvSpPr/>
          <p:nvPr/>
        </p:nvSpPr>
        <p:spPr>
          <a:xfrm>
            <a:off x="502920" y="5522976"/>
            <a:ext cx="91440" cy="585216"/>
          </a:xfrm>
          <a:prstGeom prst="rect">
            <a:avLst/>
          </a:prstGeom>
          <a:solidFill>
            <a:srgbClr val="D98E32"/>
          </a:solidFill>
          <a:ln/>
        </p:spPr>
      </p:sp>
      <p:sp>
        <p:nvSpPr>
          <p:cNvPr id="14" name="Text 11"/>
          <p:cNvSpPr/>
          <p:nvPr/>
        </p:nvSpPr>
        <p:spPr>
          <a:xfrm>
            <a:off x="822960" y="5632704"/>
            <a:ext cx="246888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Balance the difficulty</a:t>
            </a:r>
            <a:endParaRPr lang="en-US" sz="1250" dirty="0"/>
          </a:p>
        </p:txBody>
      </p:sp>
      <p:sp>
        <p:nvSpPr>
          <p:cNvPr id="15" name="Text 12"/>
          <p:cNvSpPr/>
          <p:nvPr/>
        </p:nvSpPr>
        <p:spPr>
          <a:xfrm>
            <a:off x="822960" y="5925312"/>
            <a:ext cx="246888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or easy dominates again</a:t>
            </a:r>
            <a:endParaRPr lang="en-US" sz="950" dirty="0"/>
          </a:p>
        </p:txBody>
      </p:sp>
      <p:sp>
        <p:nvSpPr>
          <p:cNvPr id="16" name="Text 13"/>
          <p:cNvSpPr/>
          <p:nvPr/>
        </p:nvSpPr>
        <p:spPr>
          <a:xfrm>
            <a:off x="3520440" y="5614416"/>
            <a:ext cx="8138160" cy="402336"/>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Same collapse as Phase 7: easy problems generate the most pairs. Stratify.</a:t>
            </a:r>
            <a:endParaRPr lang="en-US" sz="1180" dirty="0"/>
          </a:p>
        </p:txBody>
      </p:sp>
      <p:sp>
        <p:nvSpPr>
          <p:cNvPr id="17" name="Text 1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121</a:t>
            </a:r>
            <a:endParaRPr lang="en-US" sz="9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DPO family — what each variant fixes</a:t>
            </a:r>
            <a:endParaRPr lang="en-US" sz="2900" dirty="0"/>
          </a:p>
        </p:txBody>
      </p:sp>
      <p:graphicFrame>
        <p:nvGraphicFramePr>
          <p:cNvPr id="123"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1737360"/>
                <a:gridCol w="3108960"/>
                <a:gridCol w="2103120"/>
                <a:gridCol w="4206240"/>
              </a:tblGrid>
              <a:tr h="42062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Data needed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Reference model?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fixes / adds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DPO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Pairs (chosen, rejected)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baseline. Simple, well understood, well supported.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IPO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Pairs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DPO overfits when preferences are deterministic; IPO regularizes against that.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KTO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BINARY labels (good/bad)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 pairs needed. Matches how real production feedback actually arrives.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ORPO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Pairs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Folds SFT and preference into one stage. One model, one run, no reference.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SimPO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Pairs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Reference-free, length-normalized. Directly attacks verbosity bias.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20624">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CPO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Pairs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Contrastive variant; memory-efficient, close to ORPO in spirit.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977640"/>
            <a:ext cx="5504688" cy="1143000"/>
          </a:xfrm>
          <a:prstGeom prst="roundRect">
            <a:avLst>
              <a:gd name="adj" fmla="val 56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722376" y="4123944"/>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Learn DPO first</a:t>
            </a:r>
            <a:endParaRPr lang="en-US" sz="1250" dirty="0"/>
          </a:p>
        </p:txBody>
      </p:sp>
      <p:sp>
        <p:nvSpPr>
          <p:cNvPr id="7" name="Text 4"/>
          <p:cNvSpPr/>
          <p:nvPr/>
        </p:nvSpPr>
        <p:spPr>
          <a:xfrm>
            <a:off x="722376" y="4434840"/>
            <a:ext cx="5065776" cy="5394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It is the reference point every other method is described against. Understand beta and the implicit reward before you touch a variant.</a:t>
            </a:r>
            <a:endParaRPr lang="en-US" sz="1100" dirty="0"/>
          </a:p>
        </p:txBody>
      </p:sp>
      <p:sp>
        <p:nvSpPr>
          <p:cNvPr id="8" name="Shape 5"/>
          <p:cNvSpPr/>
          <p:nvPr/>
        </p:nvSpPr>
        <p:spPr>
          <a:xfrm>
            <a:off x="6153912" y="3977640"/>
            <a:ext cx="5504688" cy="1143000"/>
          </a:xfrm>
          <a:prstGeom prst="roundRect">
            <a:avLst>
              <a:gd name="adj" fmla="val 56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6373368" y="4123944"/>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KTO is the practical one</a:t>
            </a:r>
            <a:endParaRPr lang="en-US" sz="1250" dirty="0"/>
          </a:p>
        </p:txBody>
      </p:sp>
      <p:sp>
        <p:nvSpPr>
          <p:cNvPr id="10" name="Text 7"/>
          <p:cNvSpPr/>
          <p:nvPr/>
        </p:nvSpPr>
        <p:spPr>
          <a:xfrm>
            <a:off x="6373368" y="4434840"/>
            <a:ext cx="5065776" cy="5394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Real feedback is thumbs-up/thumbs-down, not ranked pairs. KTO consumes that directly. If you ever ship a product, this is the one you will use.</a:t>
            </a:r>
            <a:endParaRPr lang="en-US" sz="1100" dirty="0"/>
          </a:p>
        </p:txBody>
      </p:sp>
      <p:sp>
        <p:nvSpPr>
          <p:cNvPr id="11" name="Shape 8"/>
          <p:cNvSpPr/>
          <p:nvPr/>
        </p:nvSpPr>
        <p:spPr>
          <a:xfrm>
            <a:off x="502920" y="5266944"/>
            <a:ext cx="5504688" cy="1143000"/>
          </a:xfrm>
          <a:prstGeom prst="roundRect">
            <a:avLst>
              <a:gd name="adj" fmla="val 56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722376" y="5413248"/>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ORPO saves a stage</a:t>
            </a:r>
            <a:endParaRPr lang="en-US" sz="1250" dirty="0"/>
          </a:p>
        </p:txBody>
      </p:sp>
      <p:sp>
        <p:nvSpPr>
          <p:cNvPr id="13" name="Text 10"/>
          <p:cNvSpPr/>
          <p:nvPr/>
        </p:nvSpPr>
        <p:spPr>
          <a:xfrm>
            <a:off x="722376" y="5724144"/>
            <a:ext cx="5065776" cy="5394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SFT and preference in one pass, no reference model. Attractive when compute is tight — which it is.</a:t>
            </a:r>
            <a:endParaRPr lang="en-US" sz="1100" dirty="0"/>
          </a:p>
        </p:txBody>
      </p:sp>
      <p:sp>
        <p:nvSpPr>
          <p:cNvPr id="14" name="Shape 11"/>
          <p:cNvSpPr/>
          <p:nvPr/>
        </p:nvSpPr>
        <p:spPr>
          <a:xfrm>
            <a:off x="6153912" y="5266944"/>
            <a:ext cx="5504688" cy="1143000"/>
          </a:xfrm>
          <a:prstGeom prst="roundRect">
            <a:avLst>
              <a:gd name="adj" fmla="val 560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2"/>
          <p:cNvSpPr/>
          <p:nvPr/>
        </p:nvSpPr>
        <p:spPr>
          <a:xfrm>
            <a:off x="6373368" y="5413248"/>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SimPO for verbosity</a:t>
            </a:r>
            <a:endParaRPr lang="en-US" sz="1250" dirty="0"/>
          </a:p>
        </p:txBody>
      </p:sp>
      <p:sp>
        <p:nvSpPr>
          <p:cNvPr id="16" name="Text 13"/>
          <p:cNvSpPr/>
          <p:nvPr/>
        </p:nvSpPr>
        <p:spPr>
          <a:xfrm>
            <a:off x="6373368" y="5724144"/>
            <a:ext cx="5065776" cy="53949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If DPO inflates your output length badly, SimPO's length normalization addresses it at the loss level rather than by prompting.</a:t>
            </a:r>
            <a:endParaRPr lang="en-US" sz="1100" dirty="0"/>
          </a:p>
        </p:txBody>
      </p:sp>
      <p:sp>
        <p:nvSpPr>
          <p:cNvPr id="17" name="Shape 14"/>
          <p:cNvSpPr/>
          <p:nvPr/>
        </p:nvSpPr>
        <p:spPr>
          <a:xfrm>
            <a:off x="502920" y="5532120"/>
            <a:ext cx="11155680" cy="822960"/>
          </a:xfrm>
          <a:prstGeom prst="roundRect">
            <a:avLst>
              <a:gd name="adj" fmla="val 7778"/>
            </a:avLst>
          </a:prstGeom>
          <a:solidFill>
            <a:srgbClr val="1F3D2E"/>
          </a:solidFill>
          <a:ln/>
        </p:spPr>
      </p:sp>
      <p:sp>
        <p:nvSpPr>
          <p:cNvPr id="18" name="Shape 15"/>
          <p:cNvSpPr/>
          <p:nvPr/>
        </p:nvSpPr>
        <p:spPr>
          <a:xfrm>
            <a:off x="740664" y="5715000"/>
            <a:ext cx="292608" cy="292608"/>
          </a:xfrm>
          <a:prstGeom prst="ellipse">
            <a:avLst/>
          </a:prstGeom>
          <a:solidFill>
            <a:srgbClr val="1F3D2E"/>
          </a:solidFill>
          <a:ln/>
        </p:spPr>
      </p:sp>
      <p:sp>
        <p:nvSpPr>
          <p:cNvPr id="19" name="Text 16"/>
          <p:cNvSpPr/>
          <p:nvPr/>
        </p:nvSpPr>
        <p:spPr>
          <a:xfrm>
            <a:off x="740664" y="571500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0" name="Text 17"/>
          <p:cNvSpPr/>
          <p:nvPr/>
        </p:nvSpPr>
        <p:spPr>
          <a:xfrm>
            <a:off x="1133856" y="573328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1" name="Text 18"/>
          <p:cNvSpPr/>
          <p:nvPr/>
        </p:nvSpPr>
        <p:spPr>
          <a:xfrm>
            <a:off x="740664" y="6108192"/>
            <a:ext cx="10680192" cy="731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Run DPO, then KTO on the same data converted to binary, then ORPO from the Phase 6 checkpoint. Three runs, one afternoon, and you will genuinely understand the family.</a:t>
            </a:r>
            <a:endParaRPr lang="en-US" sz="1150" dirty="0"/>
          </a:p>
        </p:txBody>
      </p:sp>
      <p:sp>
        <p:nvSpPr>
          <p:cNvPr id="22" name="Text 1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122</a:t>
            </a:r>
            <a:endParaRPr lang="en-US" sz="9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Verbosity bias — the defect you WILL hit</a:t>
            </a:r>
            <a:endParaRPr lang="en-US" sz="2900" dirty="0"/>
          </a:p>
        </p:txBody>
      </p:sp>
      <p:graphicFrame>
        <p:nvGraphicFramePr>
          <p:cNvPr id="4" name="Chart 0" descr=""/>
          <p:cNvGraphicFramePr/>
          <p:nvPr/>
        </p:nvGraphicFramePr>
        <p:xfrm>
          <a:off x="502920" y="1280160"/>
          <a:ext cx="6309360" cy="30175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086600" y="1280160"/>
            <a:ext cx="4572000" cy="804672"/>
          </a:xfrm>
          <a:prstGeom prst="roundRect">
            <a:avLst>
              <a:gd name="adj" fmla="val 795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7306056" y="1426464"/>
            <a:ext cx="413308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Why it happens</a:t>
            </a:r>
            <a:endParaRPr lang="en-US" sz="1250" dirty="0"/>
          </a:p>
        </p:txBody>
      </p:sp>
      <p:sp>
        <p:nvSpPr>
          <p:cNvPr id="7" name="Text 4"/>
          <p:cNvSpPr/>
          <p:nvPr/>
        </p:nvSpPr>
        <p:spPr>
          <a:xfrm>
            <a:off x="7306056" y="1737360"/>
            <a:ext cx="4133088" cy="20116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Longer sequences accumulate more log-probability terms. The DPO objective has a structural preference for length that has nothing to do with quality.</a:t>
            </a:r>
            <a:endParaRPr lang="en-US" sz="1100" dirty="0"/>
          </a:p>
        </p:txBody>
      </p:sp>
      <p:sp>
        <p:nvSpPr>
          <p:cNvPr id="8" name="Shape 5"/>
          <p:cNvSpPr/>
          <p:nvPr/>
        </p:nvSpPr>
        <p:spPr>
          <a:xfrm>
            <a:off x="7086600" y="2176272"/>
            <a:ext cx="4572000" cy="804672"/>
          </a:xfrm>
          <a:prstGeom prst="roundRect">
            <a:avLst>
              <a:gd name="adj" fmla="val 795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7306056" y="2322576"/>
            <a:ext cx="413308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What it looks like in code</a:t>
            </a:r>
            <a:endParaRPr lang="en-US" sz="1250" dirty="0"/>
          </a:p>
        </p:txBody>
      </p:sp>
      <p:sp>
        <p:nvSpPr>
          <p:cNvPr id="10" name="Text 7"/>
          <p:cNvSpPr/>
          <p:nvPr/>
        </p:nvSpPr>
        <p:spPr>
          <a:xfrm>
            <a:off x="7306056" y="2633472"/>
            <a:ext cx="4133088" cy="20116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Defensive try/except around everything, redundant comments, unnecessary helper functions, docstrings restating the signature.</a:t>
            </a:r>
            <a:endParaRPr lang="en-US" sz="1100" dirty="0"/>
          </a:p>
        </p:txBody>
      </p:sp>
      <p:sp>
        <p:nvSpPr>
          <p:cNvPr id="11" name="Shape 8"/>
          <p:cNvSpPr/>
          <p:nvPr/>
        </p:nvSpPr>
        <p:spPr>
          <a:xfrm>
            <a:off x="7086600" y="3072384"/>
            <a:ext cx="4572000" cy="804672"/>
          </a:xfrm>
          <a:prstGeom prst="roundRect">
            <a:avLst>
              <a:gd name="adj" fmla="val 795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7306056" y="3218688"/>
            <a:ext cx="41330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Fix 1 — length-matched pairs</a:t>
            </a:r>
            <a:endParaRPr lang="en-US" sz="1250" dirty="0"/>
          </a:p>
        </p:txBody>
      </p:sp>
      <p:sp>
        <p:nvSpPr>
          <p:cNvPr id="13" name="Text 10"/>
          <p:cNvSpPr/>
          <p:nvPr/>
        </p:nvSpPr>
        <p:spPr>
          <a:xfrm>
            <a:off x="7306056" y="3529584"/>
            <a:ext cx="4133088" cy="20116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Ensure chosen and rejected have similar length. Removes the confound at the data level.</a:t>
            </a:r>
            <a:endParaRPr lang="en-US" sz="1100" dirty="0"/>
          </a:p>
        </p:txBody>
      </p:sp>
      <p:sp>
        <p:nvSpPr>
          <p:cNvPr id="14" name="Shape 11"/>
          <p:cNvSpPr/>
          <p:nvPr/>
        </p:nvSpPr>
        <p:spPr>
          <a:xfrm>
            <a:off x="7086600" y="3968496"/>
            <a:ext cx="4572000" cy="804672"/>
          </a:xfrm>
          <a:prstGeom prst="roundRect">
            <a:avLst>
              <a:gd name="adj" fmla="val 795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2"/>
          <p:cNvSpPr/>
          <p:nvPr/>
        </p:nvSpPr>
        <p:spPr>
          <a:xfrm>
            <a:off x="7306056" y="4114800"/>
            <a:ext cx="41330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Fix 2 — SimPO</a:t>
            </a:r>
            <a:endParaRPr lang="en-US" sz="1250" dirty="0"/>
          </a:p>
        </p:txBody>
      </p:sp>
      <p:sp>
        <p:nvSpPr>
          <p:cNvPr id="16" name="Text 13"/>
          <p:cNvSpPr/>
          <p:nvPr/>
        </p:nvSpPr>
        <p:spPr>
          <a:xfrm>
            <a:off x="7306056" y="4425696"/>
            <a:ext cx="4133088" cy="20116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Length-normalized loss. Attacks it directly rather than through data curation.</a:t>
            </a:r>
            <a:endParaRPr lang="en-US" sz="1100" dirty="0"/>
          </a:p>
        </p:txBody>
      </p:sp>
      <p:sp>
        <p:nvSpPr>
          <p:cNvPr id="17" name="Shape 14"/>
          <p:cNvSpPr/>
          <p:nvPr/>
        </p:nvSpPr>
        <p:spPr>
          <a:xfrm>
            <a:off x="7086600" y="4864608"/>
            <a:ext cx="4572000" cy="804672"/>
          </a:xfrm>
          <a:prstGeom prst="roundRect">
            <a:avLst>
              <a:gd name="adj" fmla="val 795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Text 15"/>
          <p:cNvSpPr/>
          <p:nvPr/>
        </p:nvSpPr>
        <p:spPr>
          <a:xfrm>
            <a:off x="7306056" y="5010912"/>
            <a:ext cx="41330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Fix 3 — length in the pairs</a:t>
            </a:r>
            <a:endParaRPr lang="en-US" sz="1250" dirty="0"/>
          </a:p>
        </p:txBody>
      </p:sp>
      <p:sp>
        <p:nvSpPr>
          <p:cNvPr id="19" name="Text 16"/>
          <p:cNvSpPr/>
          <p:nvPr/>
        </p:nvSpPr>
        <p:spPr>
          <a:xfrm>
            <a:off x="7306056" y="5321808"/>
            <a:ext cx="4133088" cy="20116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Deliberately include (concise correct, verbose correct) pairs to teach the preference explicitly.</a:t>
            </a:r>
            <a:endParaRPr lang="en-US" sz="1100" dirty="0"/>
          </a:p>
        </p:txBody>
      </p:sp>
      <p:sp>
        <p:nvSpPr>
          <p:cNvPr id="20" name="Shape 17"/>
          <p:cNvSpPr/>
          <p:nvPr/>
        </p:nvSpPr>
        <p:spPr>
          <a:xfrm>
            <a:off x="502920" y="4526280"/>
            <a:ext cx="11155680" cy="1143000"/>
          </a:xfrm>
          <a:prstGeom prst="roundRect">
            <a:avLst>
              <a:gd name="adj" fmla="val 5600"/>
            </a:avLst>
          </a:prstGeom>
          <a:solidFill>
            <a:srgbClr val="1F3D2E"/>
          </a:solidFill>
          <a:ln/>
        </p:spPr>
      </p:sp>
      <p:sp>
        <p:nvSpPr>
          <p:cNvPr id="21" name="Shape 18"/>
          <p:cNvSpPr/>
          <p:nvPr/>
        </p:nvSpPr>
        <p:spPr>
          <a:xfrm>
            <a:off x="740664" y="4709160"/>
            <a:ext cx="292608" cy="292608"/>
          </a:xfrm>
          <a:prstGeom prst="ellipse">
            <a:avLst/>
          </a:prstGeom>
          <a:solidFill>
            <a:srgbClr val="1F3D2E"/>
          </a:solidFill>
          <a:ln/>
        </p:spPr>
      </p:sp>
      <p:sp>
        <p:nvSpPr>
          <p:cNvPr id="22" name="Text 19"/>
          <p:cNvSpPr/>
          <p:nvPr/>
        </p:nvSpPr>
        <p:spPr>
          <a:xfrm>
            <a:off x="740664" y="470916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3" name="Text 20"/>
          <p:cNvSpPr/>
          <p:nvPr/>
        </p:nvSpPr>
        <p:spPr>
          <a:xfrm>
            <a:off x="1133856" y="472744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4" name="Text 21"/>
          <p:cNvSpPr/>
          <p:nvPr/>
        </p:nvSpPr>
        <p:spPr>
          <a:xfrm>
            <a:off x="740664" y="5102352"/>
            <a:ext cx="10680192" cy="3931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41 lines to 96 after DPO, almost entirely comments and defensive error handling. pass@1 rose 0.4 points. I had trained a model to LOOK thorough. Log mean output length on every single run — it is one number and it catches this instantly.</a:t>
            </a:r>
            <a:endParaRPr lang="en-US" sz="1150" dirty="0"/>
          </a:p>
        </p:txBody>
      </p:sp>
      <p:sp>
        <p:nvSpPr>
          <p:cNvPr id="25" name="Text 2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123</a:t>
            </a:r>
            <a:endParaRPr lang="en-US" sz="9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On-policy vs off-policy — the core limitation</a:t>
            </a:r>
            <a:endParaRPr lang="en-US" sz="2900" dirty="0"/>
          </a:p>
        </p:txBody>
      </p:sp>
      <p:sp>
        <p:nvSpPr>
          <p:cNvPr id="4" name="Shape 2"/>
          <p:cNvSpPr/>
          <p:nvPr/>
        </p:nvSpPr>
        <p:spPr>
          <a:xfrm>
            <a:off x="502920" y="1280160"/>
            <a:ext cx="5486400" cy="2743200"/>
          </a:xfrm>
          <a:prstGeom prst="roundRect">
            <a:avLst>
              <a:gd name="adj" fmla="val 233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OFF-POLICY (standard DPO)</a:t>
            </a:r>
            <a:endParaRPr lang="en-US" sz="1250" dirty="0"/>
          </a:p>
        </p:txBody>
      </p:sp>
      <p:sp>
        <p:nvSpPr>
          <p:cNvPr id="6" name="Text 4"/>
          <p:cNvSpPr/>
          <p:nvPr/>
        </p:nvSpPr>
        <p:spPr>
          <a:xfrm>
            <a:off x="758952" y="1810512"/>
            <a:ext cx="4974336" cy="204825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Pairs generated once, before training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As the policy moves, the data becomes stale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Cheap: one generation pass, then pure supervised training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Gains plateau quickly — usually within one epoch</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This is what TRL's DPOTrainer does by default</a:t>
            </a:r>
            <a:endParaRPr lang="en-US" sz="1150" dirty="0"/>
          </a:p>
        </p:txBody>
      </p:sp>
      <p:sp>
        <p:nvSpPr>
          <p:cNvPr id="7" name="Shape 5"/>
          <p:cNvSpPr/>
          <p:nvPr/>
        </p:nvSpPr>
        <p:spPr>
          <a:xfrm>
            <a:off x="6172200" y="1280160"/>
            <a:ext cx="5486400" cy="2743200"/>
          </a:xfrm>
          <a:prstGeom prst="roundRect">
            <a:avLst>
              <a:gd name="adj" fmla="val 233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ON-POLICY (iterative DPO)</a:t>
            </a:r>
            <a:endParaRPr lang="en-US" sz="1250" dirty="0"/>
          </a:p>
        </p:txBody>
      </p:sp>
      <p:sp>
        <p:nvSpPr>
          <p:cNvPr id="9" name="Text 7"/>
          <p:cNvSpPr/>
          <p:nvPr/>
        </p:nvSpPr>
        <p:spPr>
          <a:xfrm>
            <a:off x="6428232" y="1810512"/>
            <a:ext cx="4974336" cy="204825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Regenerate pairs from the CURRENT policy periodically</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Data always reflects what the model actually produces now</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Expensive: generation + verification every N steps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Larger total gains; approaches what RL achieves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Conceptually a bridge toward GRPO in Phase 9</a:t>
            </a:r>
            <a:endParaRPr lang="en-US" sz="1150" dirty="0"/>
          </a:p>
        </p:txBody>
      </p:sp>
      <p:sp>
        <p:nvSpPr>
          <p:cNvPr id="10" name="Shape 8"/>
          <p:cNvSpPr/>
          <p:nvPr/>
        </p:nvSpPr>
        <p:spPr>
          <a:xfrm>
            <a:off x="502920" y="4251960"/>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9"/>
          <p:cNvSpPr/>
          <p:nvPr/>
        </p:nvSpPr>
        <p:spPr>
          <a:xfrm>
            <a:off x="502920" y="4251960"/>
            <a:ext cx="91440" cy="621792"/>
          </a:xfrm>
          <a:prstGeom prst="rect">
            <a:avLst/>
          </a:prstGeom>
          <a:solidFill>
            <a:srgbClr val="8FB573"/>
          </a:solidFill>
          <a:ln/>
        </p:spPr>
      </p:sp>
      <p:sp>
        <p:nvSpPr>
          <p:cNvPr id="12" name="Text 10"/>
          <p:cNvSpPr/>
          <p:nvPr/>
        </p:nvSpPr>
        <p:spPr>
          <a:xfrm>
            <a:off x="822960" y="4361688"/>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Do 2–3 rounds of iterative DPO</a:t>
            </a:r>
            <a:endParaRPr lang="en-US" sz="1250" dirty="0"/>
          </a:p>
        </p:txBody>
      </p:sp>
      <p:sp>
        <p:nvSpPr>
          <p:cNvPr id="13" name="Text 11"/>
          <p:cNvSpPr/>
          <p:nvPr/>
        </p:nvSpPr>
        <p:spPr>
          <a:xfrm>
            <a:off x="822960" y="4654296"/>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generate, train, regenerate</a:t>
            </a:r>
            <a:endParaRPr lang="en-US" sz="950" dirty="0"/>
          </a:p>
        </p:txBody>
      </p:sp>
      <p:sp>
        <p:nvSpPr>
          <p:cNvPr id="14" name="Text 12"/>
          <p:cNvSpPr/>
          <p:nvPr/>
        </p:nvSpPr>
        <p:spPr>
          <a:xfrm>
            <a:off x="4069080" y="4343400"/>
            <a:ext cx="758952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Each round: sample from the current policy, verify, build fresh pairs, train. The gain over single-shot DPO is substantial.</a:t>
            </a:r>
            <a:endParaRPr lang="en-US" sz="1180" dirty="0"/>
          </a:p>
        </p:txBody>
      </p:sp>
      <p:sp>
        <p:nvSpPr>
          <p:cNvPr id="15" name="Shape 13"/>
          <p:cNvSpPr/>
          <p:nvPr/>
        </p:nvSpPr>
        <p:spPr>
          <a:xfrm>
            <a:off x="502920" y="4965192"/>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4"/>
          <p:cNvSpPr/>
          <p:nvPr/>
        </p:nvSpPr>
        <p:spPr>
          <a:xfrm>
            <a:off x="502920" y="4965192"/>
            <a:ext cx="91440" cy="621792"/>
          </a:xfrm>
          <a:prstGeom prst="rect">
            <a:avLst/>
          </a:prstGeom>
          <a:solidFill>
            <a:srgbClr val="8FB573"/>
          </a:solidFill>
          <a:ln/>
        </p:spPr>
      </p:sp>
      <p:sp>
        <p:nvSpPr>
          <p:cNvPr id="17" name="Text 15"/>
          <p:cNvSpPr/>
          <p:nvPr/>
        </p:nvSpPr>
        <p:spPr>
          <a:xfrm>
            <a:off x="822960" y="5074920"/>
            <a:ext cx="30175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This is why GRPO exists</a:t>
            </a:r>
            <a:endParaRPr lang="en-US" sz="1250" dirty="0"/>
          </a:p>
        </p:txBody>
      </p:sp>
      <p:sp>
        <p:nvSpPr>
          <p:cNvPr id="18" name="Text 16"/>
          <p:cNvSpPr/>
          <p:nvPr/>
        </p:nvSpPr>
        <p:spPr>
          <a:xfrm>
            <a:off x="822960" y="5367528"/>
            <a:ext cx="30175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fully on-policy</a:t>
            </a:r>
            <a:endParaRPr lang="en-US" sz="950" dirty="0"/>
          </a:p>
        </p:txBody>
      </p:sp>
      <p:sp>
        <p:nvSpPr>
          <p:cNvPr id="19" name="Text 17"/>
          <p:cNvSpPr/>
          <p:nvPr/>
        </p:nvSpPr>
        <p:spPr>
          <a:xfrm>
            <a:off x="4069080" y="5056632"/>
            <a:ext cx="758952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GRPO takes iterative DPO to its limit — regenerate every step. Understanding that continuum makes Phase 9 far less mysterious.</a:t>
            </a:r>
            <a:endParaRPr lang="en-US" sz="1180" dirty="0"/>
          </a:p>
        </p:txBody>
      </p:sp>
      <p:sp>
        <p:nvSpPr>
          <p:cNvPr id="20" name="Text 1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124</a:t>
            </a:r>
            <a:endParaRPr lang="en-US" sz="9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DPO config, annotated</a:t>
            </a:r>
            <a:endParaRPr lang="en-US" sz="2900" dirty="0"/>
          </a:p>
        </p:txBody>
      </p:sp>
      <p:sp>
        <p:nvSpPr>
          <p:cNvPr id="4" name="Shape 2"/>
          <p:cNvSpPr/>
          <p:nvPr/>
        </p:nvSpPr>
        <p:spPr>
          <a:xfrm>
            <a:off x="502920" y="1280160"/>
            <a:ext cx="11155680" cy="3657600"/>
          </a:xfrm>
          <a:prstGeom prst="roundRect">
            <a:avLst>
              <a:gd name="adj" fmla="val 1500"/>
            </a:avLst>
          </a:prstGeom>
          <a:solidFill>
            <a:srgbClr val="0F1F17"/>
          </a:solidFill>
          <a:ln/>
        </p:spPr>
      </p:sp>
      <p:sp>
        <p:nvSpPr>
          <p:cNvPr id="5" name="Text 3"/>
          <p:cNvSpPr/>
          <p:nvPr/>
        </p:nvSpPr>
        <p:spPr>
          <a:xfrm>
            <a:off x="722376" y="1426464"/>
            <a:ext cx="1071676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dpo.py</a:t>
            </a:r>
            <a:endParaRPr lang="en-US" sz="950" dirty="0"/>
          </a:p>
        </p:txBody>
      </p:sp>
      <p:sp>
        <p:nvSpPr>
          <p:cNvPr id="6" name="Text 4"/>
          <p:cNvSpPr/>
          <p:nvPr/>
        </p:nvSpPr>
        <p:spPr>
          <a:xfrm>
            <a:off x="722376" y="1700784"/>
            <a:ext cx="10716768" cy="3090672"/>
          </a:xfrm>
          <a:prstGeom prst="rect">
            <a:avLst/>
          </a:prstGeom>
          <a:noFill/>
          <a:ln/>
        </p:spPr>
        <p:txBody>
          <a:bodyPr wrap="square" lIns="0" tIns="0" rIns="0" bIns="0" rtlCol="0" anchor="t"/>
          <a:lstStyle/>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from trl import DPOTrainer, DPOConfig</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cfg = DPOConfig(</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output_dir='ckpt/08-dpo-b0.1',</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beta=0.1,                        # the leash. Start here.</a:t>
            </a:r>
            <a:endParaRPr lang="en-US" sz="1000" dirty="0"/>
          </a:p>
          <a:p>
            <a:pPr indent="0" marL="0">
              <a:lnSpc>
                <a:spcPct val="112000"/>
              </a:lnSpc>
              <a:buNone/>
            </a:pPr>
            <a:r>
              <a:rPr lang="en-US" sz="1000" b="1" dirty="0">
                <a:solidFill>
                  <a:srgbClr val="A8482A"/>
                </a:solidFill>
                <a:latin typeface="Courier New" pitchFamily="34" charset="0"/>
                <a:ea typeface="Courier New" pitchFamily="34" charset="-122"/>
                <a:cs typeface="Courier New" pitchFamily="34" charset="-120"/>
              </a:rPr>
              <a:t>    learning_rate=5e-6,              # 40x LOWER than SFT. Not a typo.</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lr_scheduler_type='cosine', warmup_ratio=0.1,</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per_device_train_batch_size=1,</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gradient_accumulation_steps=16,</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num_train_epochs=1,              # DPO overfits fast. One epoch.</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max_length=1024, max_prompt_length=512,</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bf16=True, gradient_checkpointing=True,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optim='paged_adamw_8bit',</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loss_type='sigmoid',             # 'ipo' | 'kto_pair' | 'simpo' here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eval_strategy='steps', eval_steps=50,</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seed=0, report_to='wandb',</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ref_model=None -&gt; TRL disables the LoRA adapter to get reference logprobs.</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One model in memory. This is what makes DPO viable on 4GB.</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trainer = DPOTrainer(model=model, ref_model=None, args=cfg,</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train_dataset=pairs, peft_config=peft_config)</a:t>
            </a:r>
            <a:endParaRPr lang="en-US" sz="1000" dirty="0"/>
          </a:p>
        </p:txBody>
      </p:sp>
      <p:sp>
        <p:nvSpPr>
          <p:cNvPr id="7" name="Shape 5"/>
          <p:cNvSpPr/>
          <p:nvPr/>
        </p:nvSpPr>
        <p:spPr>
          <a:xfrm>
            <a:off x="502920" y="5120640"/>
            <a:ext cx="11155680" cy="566928"/>
          </a:xfrm>
          <a:prstGeom prst="roundRect">
            <a:avLst>
              <a:gd name="adj" fmla="val 9677"/>
            </a:avLst>
          </a:prstGeom>
          <a:solidFill>
            <a:srgbClr val="A8482A"/>
          </a:solidFill>
          <a:ln/>
        </p:spPr>
      </p:sp>
      <p:sp>
        <p:nvSpPr>
          <p:cNvPr id="8" name="Text 6"/>
          <p:cNvSpPr/>
          <p:nvPr/>
        </p:nvSpPr>
        <p:spPr>
          <a:xfrm>
            <a:off x="777240" y="512064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The learning rate is the thing people get wrong. SFT uses 2e-4; DPO uses 5e-6. Copying the SFT LR destroys the model in fifty steps.</a:t>
            </a:r>
            <a:endParaRPr lang="en-US" sz="1450" dirty="0"/>
          </a:p>
        </p:txBody>
      </p:sp>
      <p:sp>
        <p:nvSpPr>
          <p:cNvPr id="9" name="Text 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125</a:t>
            </a:r>
            <a:endParaRPr lang="en-US" sz="9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Preference optimization — path and traps</a:t>
            </a:r>
            <a:endParaRPr lang="en-US" sz="2900" dirty="0"/>
          </a:p>
        </p:txBody>
      </p:sp>
      <p:sp>
        <p:nvSpPr>
          <p:cNvPr id="4" name="Shape 2"/>
          <p:cNvSpPr/>
          <p:nvPr/>
        </p:nvSpPr>
        <p:spPr>
          <a:xfrm>
            <a:off x="502920" y="1335024"/>
            <a:ext cx="292608" cy="292608"/>
          </a:xfrm>
          <a:prstGeom prst="ellipse">
            <a:avLst/>
          </a:prstGeom>
          <a:solidFill>
            <a:srgbClr val="8FB573"/>
          </a:solidFill>
          <a:ln/>
        </p:spPr>
      </p:sp>
      <p:sp>
        <p:nvSpPr>
          <p:cNvPr id="5" name="Text 3"/>
          <p:cNvSpPr/>
          <p:nvPr/>
        </p:nvSpPr>
        <p:spPr>
          <a:xfrm>
            <a:off x="50292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89611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PATH</a:t>
            </a:r>
            <a:endParaRPr lang="en-US" sz="1100" dirty="0"/>
          </a:p>
        </p:txBody>
      </p:sp>
      <p:sp>
        <p:nvSpPr>
          <p:cNvPr id="7" name="Text 5"/>
          <p:cNvSpPr/>
          <p:nvPr/>
        </p:nvSpPr>
        <p:spPr>
          <a:xfrm>
            <a:off x="502920" y="1755648"/>
            <a:ext cx="5394960" cy="2743200"/>
          </a:xfrm>
          <a:prstGeom prst="rect">
            <a:avLst/>
          </a:prstGeom>
          <a:noFill/>
          <a:ln/>
        </p:spPr>
        <p:txBody>
          <a:bodyPr wrap="square" lIns="0" tIns="0" rIns="0" bIns="0" rtlCol="0" anchor="t"/>
          <a:lstStyle/>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Build pairs from Phase 7 execution outcomes — they are free</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Chosen and rejected must answer the SAME prompt</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beta = 0.1, LR = 5e-6, ONE epoch</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Reference model is your Phase 7 checkpoint, not the base</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With LoRA, ref_model=None — TRL disables the adapter</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Log implicit reward margin, reference KL, and output length</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Do 2–3 iterative rounds, regenerating pairs each time</a:t>
            </a:r>
            <a:endParaRPr lang="en-US" sz="1180" dirty="0"/>
          </a:p>
          <a:p>
            <a:pPr marL="342900" indent="-342900">
              <a:spcAft>
                <a:spcPts val="600"/>
              </a:spcAft>
              <a:buSzPct val="100000"/>
              <a:buChar char="•"/>
            </a:pPr>
            <a:r>
              <a:rPr lang="en-US" sz="1180" dirty="0">
                <a:solidFill>
                  <a:srgbClr val="16211B"/>
                </a:solidFill>
                <a:latin typeface="Calibri" pitchFamily="34" charset="0"/>
                <a:ea typeface="Calibri" pitchFamily="34" charset="-122"/>
                <a:cs typeface="Calibri" pitchFamily="34" charset="-120"/>
              </a:rPr>
              <a:t>Try KTO and ORPO on the same data to understand the family</a:t>
            </a:r>
            <a:endParaRPr lang="en-US" sz="1180" dirty="0"/>
          </a:p>
        </p:txBody>
      </p:sp>
      <p:sp>
        <p:nvSpPr>
          <p:cNvPr id="8" name="Shape 6"/>
          <p:cNvSpPr/>
          <p:nvPr/>
        </p:nvSpPr>
        <p:spPr>
          <a:xfrm>
            <a:off x="6309360" y="1335024"/>
            <a:ext cx="292608" cy="292608"/>
          </a:xfrm>
          <a:prstGeom prst="ellipse">
            <a:avLst/>
          </a:prstGeom>
          <a:solidFill>
            <a:srgbClr val="D98E32"/>
          </a:solidFill>
          <a:ln/>
        </p:spPr>
      </p:sp>
      <p:sp>
        <p:nvSpPr>
          <p:cNvPr id="9" name="Text 7"/>
          <p:cNvSpPr/>
          <p:nvPr/>
        </p:nvSpPr>
        <p:spPr>
          <a:xfrm>
            <a:off x="630936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670255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TRAPS</a:t>
            </a:r>
            <a:endParaRPr lang="en-US" sz="1100" dirty="0"/>
          </a:p>
        </p:txBody>
      </p:sp>
      <p:sp>
        <p:nvSpPr>
          <p:cNvPr id="11" name="Text 9"/>
          <p:cNvSpPr/>
          <p:nvPr/>
        </p:nvSpPr>
        <p:spPr>
          <a:xfrm>
            <a:off x="6309360" y="1755648"/>
            <a:ext cx="5349240" cy="2743200"/>
          </a:xfrm>
          <a:prstGeom prst="rect">
            <a:avLst/>
          </a:prstGeom>
          <a:noFill/>
          <a:ln/>
        </p:spPr>
        <p:txBody>
          <a:bodyPr wrap="square" lIns="0" tIns="0" rIns="0" bIns="0" rtlCol="0" anchor="t"/>
          <a:lstStyle/>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SFT learning rate (2e-4): destroys the model within ~50 steps</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Multiple epochs: DPO overfits preference data very fast</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Cross-problem pairs: teaches problem ranking, not solution quality</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Base model as reference: fights all your prior training</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Not logging output length: verbosity bias goes unnoticed for weeks</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beta too low: policy drifts and loses basic syntax validity</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Judging with an LLM when you have a verifier available</a:t>
            </a:r>
            <a:endParaRPr lang="en-US" sz="1180" dirty="0"/>
          </a:p>
          <a:p>
            <a:pPr marL="342900" indent="-342900">
              <a:spcAft>
                <a:spcPts val="600"/>
              </a:spcAft>
              <a:buSzPct val="100000"/>
              <a:buChar char="•"/>
            </a:pPr>
            <a:r>
              <a:rPr lang="en-US" sz="1180" dirty="0">
                <a:solidFill>
                  <a:srgbClr val="A8482A"/>
                </a:solidFill>
                <a:latin typeface="Calibri" pitchFamily="34" charset="0"/>
                <a:ea typeface="Calibri" pitchFamily="34" charset="-122"/>
                <a:cs typeface="Calibri" pitchFamily="34" charset="-120"/>
              </a:rPr>
              <a:t>Expecting RFT-sized gains: in verifiable domains DPO gives less</a:t>
            </a:r>
            <a:endParaRPr lang="en-US" sz="1180" dirty="0"/>
          </a:p>
        </p:txBody>
      </p:sp>
      <p:sp>
        <p:nvSpPr>
          <p:cNvPr id="12" name="Shape 10"/>
          <p:cNvSpPr/>
          <p:nvPr/>
        </p:nvSpPr>
        <p:spPr>
          <a:xfrm>
            <a:off x="502920" y="5056632"/>
            <a:ext cx="11155680" cy="1143000"/>
          </a:xfrm>
          <a:prstGeom prst="roundRect">
            <a:avLst>
              <a:gd name="adj" fmla="val 5600"/>
            </a:avLst>
          </a:prstGeom>
          <a:solidFill>
            <a:srgbClr val="1F3D2E"/>
          </a:solidFill>
          <a:ln/>
        </p:spPr>
      </p:sp>
      <p:sp>
        <p:nvSpPr>
          <p:cNvPr id="13" name="Shape 11"/>
          <p:cNvSpPr/>
          <p:nvPr/>
        </p:nvSpPr>
        <p:spPr>
          <a:xfrm>
            <a:off x="740664" y="5239512"/>
            <a:ext cx="292608" cy="292608"/>
          </a:xfrm>
          <a:prstGeom prst="ellipse">
            <a:avLst/>
          </a:prstGeom>
          <a:solidFill>
            <a:srgbClr val="1F3D2E"/>
          </a:solidFill>
          <a:ln/>
        </p:spPr>
      </p:sp>
      <p:sp>
        <p:nvSpPr>
          <p:cNvPr id="14" name="Text 12"/>
          <p:cNvSpPr/>
          <p:nvPr/>
        </p:nvSpPr>
        <p:spPr>
          <a:xfrm>
            <a:off x="740664" y="5239512"/>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257800"/>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632704"/>
            <a:ext cx="10680192" cy="3931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DPO is where the numbers start moving less and the failure modes start getting subtler. Its real value here is control over things your verifier cannot express — and understanding the on-policy/off-policy continuum that leads directly into GRPO.</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126</a:t>
            </a:r>
            <a:endParaRPr lang="en-US" sz="9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DPO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preference-optimization false positives</a:t>
            </a:r>
            <a:endParaRPr lang="en-US" sz="2900" dirty="0"/>
          </a:p>
        </p:txBody>
      </p:sp>
      <p:graphicFrame>
        <p:nvGraphicFramePr>
          <p:cNvPr id="12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468880"/>
                <a:gridCol w="2743200"/>
                <a:gridCol w="3108960"/>
                <a:gridCol w="2834640"/>
              </a:tblGrid>
              <a:tr h="4114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False positive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you see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is actually happening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The check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Verbosity bias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Judge scores up, pass@1 flat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Model learned that longer looks better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Log mean output length every run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Judge-verifier divergence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LLM-judge loves it, tests disagree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You optimized for the judge's preferences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Verifier is truth; judge is advisory only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Margin without capability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margin climbs beautifully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Model separates the pairs it trained on, nothing more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Held-out pass@1, not training margin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Reference drift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Early gains, then degradation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beta too low; policy wandered off</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Log KL from reference; raise beta</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Overfit in one epoch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Best checkpoint is at step 80 of 400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DPO saturates fast on small pair sets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Evaluate every 50 steps, not per epoch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Easy-problem dominance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Great on easy, unchanged on hard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Pair set inherited Phase 7's difficulty collapse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Difficulty histogram of the pair set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Style over substance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Output looks more professional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Learned formatting cues, not correctness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pass@1 is the arbiter, not appearance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617720"/>
            <a:ext cx="11155680" cy="566928"/>
          </a:xfrm>
          <a:prstGeom prst="roundRect">
            <a:avLst>
              <a:gd name="adj" fmla="val 9677"/>
            </a:avLst>
          </a:prstGeom>
          <a:solidFill>
            <a:srgbClr val="A8482A"/>
          </a:solidFill>
          <a:ln/>
        </p:spPr>
      </p:sp>
      <p:sp>
        <p:nvSpPr>
          <p:cNvPr id="6" name="Text 3"/>
          <p:cNvSpPr/>
          <p:nvPr/>
        </p:nvSpPr>
        <p:spPr>
          <a:xfrm>
            <a:off x="777240" y="461772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The pattern repeats: every one of these makes some number go up. Only held-out pass@1 is not fooled.</a:t>
            </a:r>
            <a:endParaRPr lang="en-US" sz="1450" dirty="0"/>
          </a:p>
        </p:txBody>
      </p:sp>
      <p:sp>
        <p:nvSpPr>
          <p:cNvPr id="7" name="Text 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127</a:t>
            </a:r>
            <a:endParaRPr lang="en-US" sz="9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PHASE 9</a:t>
            </a:r>
            <a:endParaRPr lang="en-US" sz="1250" dirty="0"/>
          </a:p>
        </p:txBody>
      </p:sp>
      <p:sp>
        <p:nvSpPr>
          <p:cNvPr id="3" name="Text 1"/>
          <p:cNvSpPr/>
          <p:nvPr/>
        </p:nvSpPr>
        <p:spPr>
          <a:xfrm>
            <a:off x="777240" y="23317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RL With Verifiable Rewards</a:t>
            </a:r>
            <a:endParaRPr lang="en-US" sz="4000" dirty="0"/>
          </a:p>
        </p:txBody>
      </p:sp>
      <p:sp>
        <p:nvSpPr>
          <p:cNvPr id="4" name="Text 2"/>
          <p:cNvSpPr/>
          <p:nvPr/>
        </p:nvSpPr>
        <p:spPr>
          <a:xfrm>
            <a:off x="777240" y="32004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Two to three weeks. The centerpiece. Your reward function becomes the product,</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and your model becomes an adversary searching it for holes.</a:t>
            </a:r>
            <a:endParaRPr lang="en-US" sz="1550" dirty="0"/>
          </a:p>
        </p:txBody>
      </p:sp>
      <p:sp>
        <p:nvSpPr>
          <p:cNvPr id="5" name="Text 3"/>
          <p:cNvSpPr/>
          <p:nvPr/>
        </p:nvSpPr>
        <p:spPr>
          <a:xfrm>
            <a:off x="777240" y="4892040"/>
            <a:ext cx="10607040" cy="237744"/>
          </a:xfrm>
          <a:prstGeom prst="rect">
            <a:avLst/>
          </a:prstGeom>
          <a:noFill/>
          <a:ln/>
        </p:spPr>
        <p:txBody>
          <a:bodyPr wrap="square" lIns="0" tIns="0" rIns="0" bIns="0" rtlCol="0" anchor="ctr"/>
          <a:lstStyle/>
          <a:p>
            <a:pPr indent="0" marL="0">
              <a:buNone/>
            </a:pPr>
            <a:r>
              <a:rPr lang="en-US" sz="900" b="1" spc="250" kern="0" dirty="0">
                <a:solidFill>
                  <a:srgbClr val="2A5240"/>
                </a:solidFill>
                <a:latin typeface="Calibri" pitchFamily="34" charset="0"/>
                <a:ea typeface="Calibri" pitchFamily="34" charset="-122"/>
                <a:cs typeface="Calibri" pitchFamily="34" charset="-120"/>
              </a:rPr>
              <a:t>WHERE YOU ARE</a:t>
            </a:r>
            <a:endParaRPr lang="en-US" sz="900" dirty="0"/>
          </a:p>
        </p:txBody>
      </p:sp>
      <p:sp>
        <p:nvSpPr>
          <p:cNvPr id="6" name="Shape 4"/>
          <p:cNvSpPr/>
          <p:nvPr/>
        </p:nvSpPr>
        <p:spPr>
          <a:xfrm>
            <a:off x="777240" y="5212080"/>
            <a:ext cx="829056" cy="73152"/>
          </a:xfrm>
          <a:prstGeom prst="rect">
            <a:avLst/>
          </a:prstGeom>
          <a:solidFill>
            <a:srgbClr val="2A5240"/>
          </a:solidFill>
          <a:ln/>
        </p:spPr>
      </p:sp>
      <p:sp>
        <p:nvSpPr>
          <p:cNvPr id="7" name="Text 5"/>
          <p:cNvSpPr/>
          <p:nvPr/>
        </p:nvSpPr>
        <p:spPr>
          <a:xfrm>
            <a:off x="6858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SETUP</a:t>
            </a:r>
            <a:endParaRPr lang="en-US" sz="750" dirty="0"/>
          </a:p>
        </p:txBody>
      </p:sp>
      <p:sp>
        <p:nvSpPr>
          <p:cNvPr id="8" name="Shape 6"/>
          <p:cNvSpPr/>
          <p:nvPr/>
        </p:nvSpPr>
        <p:spPr>
          <a:xfrm>
            <a:off x="1661160" y="5212080"/>
            <a:ext cx="829056" cy="73152"/>
          </a:xfrm>
          <a:prstGeom prst="rect">
            <a:avLst/>
          </a:prstGeom>
          <a:solidFill>
            <a:srgbClr val="2A5240"/>
          </a:solidFill>
          <a:ln/>
        </p:spPr>
      </p:sp>
      <p:sp>
        <p:nvSpPr>
          <p:cNvPr id="9" name="Text 7"/>
          <p:cNvSpPr/>
          <p:nvPr/>
        </p:nvSpPr>
        <p:spPr>
          <a:xfrm>
            <a:off x="15697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MODEL</a:t>
            </a:r>
            <a:endParaRPr lang="en-US" sz="750" dirty="0"/>
          </a:p>
        </p:txBody>
      </p:sp>
      <p:sp>
        <p:nvSpPr>
          <p:cNvPr id="10" name="Shape 8"/>
          <p:cNvSpPr/>
          <p:nvPr/>
        </p:nvSpPr>
        <p:spPr>
          <a:xfrm>
            <a:off x="2545080" y="5212080"/>
            <a:ext cx="829056" cy="73152"/>
          </a:xfrm>
          <a:prstGeom prst="rect">
            <a:avLst/>
          </a:prstGeom>
          <a:solidFill>
            <a:srgbClr val="2A5240"/>
          </a:solidFill>
          <a:ln/>
        </p:spPr>
      </p:sp>
      <p:sp>
        <p:nvSpPr>
          <p:cNvPr id="11" name="Text 9"/>
          <p:cNvSpPr/>
          <p:nvPr/>
        </p:nvSpPr>
        <p:spPr>
          <a:xfrm>
            <a:off x="24536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SANDBOX</a:t>
            </a:r>
            <a:endParaRPr lang="en-US" sz="750" dirty="0"/>
          </a:p>
        </p:txBody>
      </p:sp>
      <p:sp>
        <p:nvSpPr>
          <p:cNvPr id="12" name="Shape 10"/>
          <p:cNvSpPr/>
          <p:nvPr/>
        </p:nvSpPr>
        <p:spPr>
          <a:xfrm>
            <a:off x="3429000" y="5212080"/>
            <a:ext cx="829056" cy="73152"/>
          </a:xfrm>
          <a:prstGeom prst="rect">
            <a:avLst/>
          </a:prstGeom>
          <a:solidFill>
            <a:srgbClr val="2A5240"/>
          </a:solidFill>
          <a:ln/>
        </p:spPr>
      </p:sp>
      <p:sp>
        <p:nvSpPr>
          <p:cNvPr id="13" name="Text 11"/>
          <p:cNvSpPr/>
          <p:nvPr/>
        </p:nvSpPr>
        <p:spPr>
          <a:xfrm>
            <a:off x="333756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EVAL</a:t>
            </a:r>
            <a:endParaRPr lang="en-US" sz="750" dirty="0"/>
          </a:p>
        </p:txBody>
      </p:sp>
      <p:sp>
        <p:nvSpPr>
          <p:cNvPr id="14" name="Shape 12"/>
          <p:cNvSpPr/>
          <p:nvPr/>
        </p:nvSpPr>
        <p:spPr>
          <a:xfrm>
            <a:off x="4312920" y="5212080"/>
            <a:ext cx="829056" cy="73152"/>
          </a:xfrm>
          <a:prstGeom prst="rect">
            <a:avLst/>
          </a:prstGeom>
          <a:solidFill>
            <a:srgbClr val="2A5240"/>
          </a:solidFill>
          <a:ln/>
        </p:spPr>
      </p:sp>
      <p:sp>
        <p:nvSpPr>
          <p:cNvPr id="15" name="Text 13"/>
          <p:cNvSpPr/>
          <p:nvPr/>
        </p:nvSpPr>
        <p:spPr>
          <a:xfrm>
            <a:off x="422148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DATA</a:t>
            </a:r>
            <a:endParaRPr lang="en-US" sz="750" dirty="0"/>
          </a:p>
        </p:txBody>
      </p:sp>
      <p:sp>
        <p:nvSpPr>
          <p:cNvPr id="16" name="Shape 14"/>
          <p:cNvSpPr/>
          <p:nvPr/>
        </p:nvSpPr>
        <p:spPr>
          <a:xfrm>
            <a:off x="5196840" y="5212080"/>
            <a:ext cx="829056" cy="73152"/>
          </a:xfrm>
          <a:prstGeom prst="rect">
            <a:avLst/>
          </a:prstGeom>
          <a:solidFill>
            <a:srgbClr val="2A5240"/>
          </a:solidFill>
          <a:ln/>
        </p:spPr>
      </p:sp>
      <p:sp>
        <p:nvSpPr>
          <p:cNvPr id="17" name="Text 15"/>
          <p:cNvSpPr/>
          <p:nvPr/>
        </p:nvSpPr>
        <p:spPr>
          <a:xfrm>
            <a:off x="51054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SFT</a:t>
            </a:r>
            <a:endParaRPr lang="en-US" sz="750" dirty="0"/>
          </a:p>
        </p:txBody>
      </p:sp>
      <p:sp>
        <p:nvSpPr>
          <p:cNvPr id="18" name="Shape 16"/>
          <p:cNvSpPr/>
          <p:nvPr/>
        </p:nvSpPr>
        <p:spPr>
          <a:xfrm>
            <a:off x="6080760" y="5212080"/>
            <a:ext cx="829056" cy="73152"/>
          </a:xfrm>
          <a:prstGeom prst="rect">
            <a:avLst/>
          </a:prstGeom>
          <a:solidFill>
            <a:srgbClr val="2A5240"/>
          </a:solidFill>
          <a:ln/>
        </p:spPr>
      </p:sp>
      <p:sp>
        <p:nvSpPr>
          <p:cNvPr id="19" name="Text 17"/>
          <p:cNvSpPr/>
          <p:nvPr/>
        </p:nvSpPr>
        <p:spPr>
          <a:xfrm>
            <a:off x="59893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RFT</a:t>
            </a:r>
            <a:endParaRPr lang="en-US" sz="750" dirty="0"/>
          </a:p>
        </p:txBody>
      </p:sp>
      <p:sp>
        <p:nvSpPr>
          <p:cNvPr id="20" name="Shape 18"/>
          <p:cNvSpPr/>
          <p:nvPr/>
        </p:nvSpPr>
        <p:spPr>
          <a:xfrm>
            <a:off x="6964680" y="5212080"/>
            <a:ext cx="829056" cy="73152"/>
          </a:xfrm>
          <a:prstGeom prst="rect">
            <a:avLst/>
          </a:prstGeom>
          <a:solidFill>
            <a:srgbClr val="2A5240"/>
          </a:solidFill>
          <a:ln/>
        </p:spPr>
      </p:sp>
      <p:sp>
        <p:nvSpPr>
          <p:cNvPr id="21" name="Text 19"/>
          <p:cNvSpPr/>
          <p:nvPr/>
        </p:nvSpPr>
        <p:spPr>
          <a:xfrm>
            <a:off x="68732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DPO</a:t>
            </a:r>
            <a:endParaRPr lang="en-US" sz="750" dirty="0"/>
          </a:p>
        </p:txBody>
      </p:sp>
      <p:sp>
        <p:nvSpPr>
          <p:cNvPr id="22" name="Shape 20"/>
          <p:cNvSpPr/>
          <p:nvPr/>
        </p:nvSpPr>
        <p:spPr>
          <a:xfrm>
            <a:off x="7848600" y="5212080"/>
            <a:ext cx="829056" cy="182880"/>
          </a:xfrm>
          <a:prstGeom prst="rect">
            <a:avLst/>
          </a:prstGeom>
          <a:solidFill>
            <a:srgbClr val="8FB573"/>
          </a:solidFill>
          <a:ln/>
        </p:spPr>
      </p:sp>
      <p:sp>
        <p:nvSpPr>
          <p:cNvPr id="23" name="Text 21"/>
          <p:cNvSpPr/>
          <p:nvPr/>
        </p:nvSpPr>
        <p:spPr>
          <a:xfrm>
            <a:off x="7757160" y="5468112"/>
            <a:ext cx="1011936" cy="219456"/>
          </a:xfrm>
          <a:prstGeom prst="rect">
            <a:avLst/>
          </a:prstGeom>
          <a:noFill/>
          <a:ln/>
        </p:spPr>
        <p:txBody>
          <a:bodyPr wrap="square" lIns="0" tIns="0" rIns="0" bIns="0" rtlCol="0" anchor="ctr"/>
          <a:lstStyle/>
          <a:p>
            <a:pPr algn="ctr" indent="0" marL="0">
              <a:buNone/>
            </a:pPr>
            <a:r>
              <a:rPr lang="en-US" sz="750" b="1" dirty="0">
                <a:solidFill>
                  <a:srgbClr val="8FB573"/>
                </a:solidFill>
                <a:latin typeface="Calibri" pitchFamily="34" charset="0"/>
                <a:ea typeface="Calibri" pitchFamily="34" charset="-122"/>
                <a:cs typeface="Calibri" pitchFamily="34" charset="-120"/>
              </a:rPr>
              <a:t>GRPO</a:t>
            </a:r>
            <a:endParaRPr lang="en-US" sz="750" dirty="0"/>
          </a:p>
        </p:txBody>
      </p:sp>
      <p:sp>
        <p:nvSpPr>
          <p:cNvPr id="24" name="Shape 22"/>
          <p:cNvSpPr/>
          <p:nvPr/>
        </p:nvSpPr>
        <p:spPr>
          <a:xfrm>
            <a:off x="8732520" y="5212080"/>
            <a:ext cx="829056" cy="73152"/>
          </a:xfrm>
          <a:prstGeom prst="rect">
            <a:avLst/>
          </a:prstGeom>
          <a:solidFill>
            <a:srgbClr val="27452F"/>
          </a:solidFill>
          <a:ln/>
        </p:spPr>
      </p:sp>
      <p:sp>
        <p:nvSpPr>
          <p:cNvPr id="25" name="Text 23"/>
          <p:cNvSpPr/>
          <p:nvPr/>
        </p:nvSpPr>
        <p:spPr>
          <a:xfrm>
            <a:off x="864108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REPAIR</a:t>
            </a:r>
            <a:endParaRPr lang="en-US" sz="750" dirty="0"/>
          </a:p>
        </p:txBody>
      </p:sp>
      <p:sp>
        <p:nvSpPr>
          <p:cNvPr id="26" name="Shape 24"/>
          <p:cNvSpPr/>
          <p:nvPr/>
        </p:nvSpPr>
        <p:spPr>
          <a:xfrm>
            <a:off x="9616440" y="5212080"/>
            <a:ext cx="829056" cy="73152"/>
          </a:xfrm>
          <a:prstGeom prst="rect">
            <a:avLst/>
          </a:prstGeom>
          <a:solidFill>
            <a:srgbClr val="27452F"/>
          </a:solidFill>
          <a:ln/>
        </p:spPr>
      </p:sp>
      <p:sp>
        <p:nvSpPr>
          <p:cNvPr id="27" name="Text 25"/>
          <p:cNvSpPr/>
          <p:nvPr/>
        </p:nvSpPr>
        <p:spPr>
          <a:xfrm>
            <a:off x="95250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MERGE</a:t>
            </a:r>
            <a:endParaRPr lang="en-US" sz="750" dirty="0"/>
          </a:p>
        </p:txBody>
      </p:sp>
      <p:sp>
        <p:nvSpPr>
          <p:cNvPr id="28" name="Shape 26"/>
          <p:cNvSpPr/>
          <p:nvPr/>
        </p:nvSpPr>
        <p:spPr>
          <a:xfrm>
            <a:off x="10500360" y="5212080"/>
            <a:ext cx="829056" cy="73152"/>
          </a:xfrm>
          <a:prstGeom prst="rect">
            <a:avLst/>
          </a:prstGeom>
          <a:solidFill>
            <a:srgbClr val="27452F"/>
          </a:solidFill>
          <a:ln/>
        </p:spPr>
      </p:sp>
      <p:sp>
        <p:nvSpPr>
          <p:cNvPr id="29" name="Text 27"/>
          <p:cNvSpPr/>
          <p:nvPr/>
        </p:nvSpPr>
        <p:spPr>
          <a:xfrm>
            <a:off x="104089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SERVE</a:t>
            </a:r>
            <a:endParaRPr lang="en-US" sz="7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128</a:t>
            </a:r>
            <a:endParaRPr lang="en-US" sz="9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Why verifiable rewards changed the field</a:t>
            </a:r>
            <a:endParaRPr lang="en-US" sz="2900" dirty="0"/>
          </a:p>
        </p:txBody>
      </p:sp>
      <p:sp>
        <p:nvSpPr>
          <p:cNvPr id="4" name="Shape 2"/>
          <p:cNvSpPr/>
          <p:nvPr/>
        </p:nvSpPr>
        <p:spPr>
          <a:xfrm>
            <a:off x="502920" y="1280160"/>
            <a:ext cx="5486400" cy="2651760"/>
          </a:xfrm>
          <a:prstGeom prst="roundRect">
            <a:avLst>
              <a:gd name="adj" fmla="val 241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RLHF — reward from a MODEL</a:t>
            </a:r>
            <a:endParaRPr lang="en-US" sz="1250" dirty="0"/>
          </a:p>
        </p:txBody>
      </p:sp>
      <p:sp>
        <p:nvSpPr>
          <p:cNvPr id="6" name="Text 4"/>
          <p:cNvSpPr/>
          <p:nvPr/>
        </p:nvSpPr>
        <p:spPr>
          <a:xfrm>
            <a:off x="758952" y="1810512"/>
            <a:ext cx="4974336" cy="19568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Reward model trained on human comparisons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Expensive to collect, noisy, subjective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The RM is itself hackable — a known research problem</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Quality ceiling is the reward model's quality</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Needs 4 models in memory</a:t>
            </a:r>
            <a:endParaRPr lang="en-US" sz="1150" dirty="0"/>
          </a:p>
        </p:txBody>
      </p:sp>
      <p:sp>
        <p:nvSpPr>
          <p:cNvPr id="7" name="Shape 5"/>
          <p:cNvSpPr/>
          <p:nvPr/>
        </p:nvSpPr>
        <p:spPr>
          <a:xfrm>
            <a:off x="6172200" y="1280160"/>
            <a:ext cx="5486400" cy="2651760"/>
          </a:xfrm>
          <a:prstGeom prst="roundRect">
            <a:avLst>
              <a:gd name="adj" fmla="val 241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RLVR — reward from a PROGRAM</a:t>
            </a:r>
            <a:endParaRPr lang="en-US" sz="1250" dirty="0"/>
          </a:p>
        </p:txBody>
      </p:sp>
      <p:sp>
        <p:nvSpPr>
          <p:cNvPr id="9" name="Text 7"/>
          <p:cNvSpPr/>
          <p:nvPr/>
        </p:nvSpPr>
        <p:spPr>
          <a:xfrm>
            <a:off x="6428232" y="1810512"/>
            <a:ext cx="4974336" cy="19568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Reward from tests, a checker, a compiler</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Free, objective, unlimited, unambiguous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The verifier cannot be persuaded — only circumvented</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Quality ceiling is your verifier's rigor</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GRPO needs 2 models, and fits on your card</a:t>
            </a:r>
            <a:endParaRPr lang="en-US" sz="1150" dirty="0"/>
          </a:p>
        </p:txBody>
      </p:sp>
      <p:sp>
        <p:nvSpPr>
          <p:cNvPr id="10" name="Shape 8"/>
          <p:cNvSpPr/>
          <p:nvPr/>
        </p:nvSpPr>
        <p:spPr>
          <a:xfrm>
            <a:off x="502920" y="4160520"/>
            <a:ext cx="11155680" cy="566928"/>
          </a:xfrm>
          <a:prstGeom prst="roundRect">
            <a:avLst>
              <a:gd name="adj" fmla="val 9677"/>
            </a:avLst>
          </a:prstGeom>
          <a:solidFill>
            <a:srgbClr val="8FB573"/>
          </a:solidFill>
          <a:ln/>
        </p:spPr>
      </p:sp>
      <p:sp>
        <p:nvSpPr>
          <p:cNvPr id="11" name="Text 9"/>
          <p:cNvSpPr/>
          <p:nvPr/>
        </p:nvSpPr>
        <p:spPr>
          <a:xfrm>
            <a:off x="777240" y="416052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Wherever an answer can be checked mechanically, you can train on it. Finding that verifier is the real design work in any new domain.</a:t>
            </a:r>
            <a:endParaRPr lang="en-US" sz="1450" dirty="0"/>
          </a:p>
        </p:txBody>
      </p:sp>
      <p:sp>
        <p:nvSpPr>
          <p:cNvPr id="12" name="Shape 10"/>
          <p:cNvSpPr/>
          <p:nvPr/>
        </p:nvSpPr>
        <p:spPr>
          <a:xfrm>
            <a:off x="502920" y="4892040"/>
            <a:ext cx="3621024"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Text 11"/>
          <p:cNvSpPr/>
          <p:nvPr/>
        </p:nvSpPr>
        <p:spPr>
          <a:xfrm>
            <a:off x="722376" y="503834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Code is the ideal domain</a:t>
            </a:r>
            <a:endParaRPr lang="en-US" sz="1250" dirty="0"/>
          </a:p>
        </p:txBody>
      </p:sp>
      <p:sp>
        <p:nvSpPr>
          <p:cNvPr id="14" name="Text 12"/>
          <p:cNvSpPr/>
          <p:nvPr/>
        </p:nvSpPr>
        <p:spPr>
          <a:xfrm>
            <a:off x="722376" y="5349240"/>
            <a:ext cx="3182112"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Tests give unambiguous, gradable, partial-credit signal. This is why coding models improved so fast.</a:t>
            </a:r>
            <a:endParaRPr lang="en-US" sz="1100" dirty="0"/>
          </a:p>
        </p:txBody>
      </p:sp>
      <p:sp>
        <p:nvSpPr>
          <p:cNvPr id="15" name="Shape 13"/>
          <p:cNvSpPr/>
          <p:nvPr/>
        </p:nvSpPr>
        <p:spPr>
          <a:xfrm>
            <a:off x="4270248" y="4892040"/>
            <a:ext cx="3621024"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Text 14"/>
          <p:cNvSpPr/>
          <p:nvPr/>
        </p:nvSpPr>
        <p:spPr>
          <a:xfrm>
            <a:off x="4489704" y="503834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Math was the other one</a:t>
            </a:r>
            <a:endParaRPr lang="en-US" sz="1250" dirty="0"/>
          </a:p>
        </p:txBody>
      </p:sp>
      <p:sp>
        <p:nvSpPr>
          <p:cNvPr id="17" name="Text 15"/>
          <p:cNvSpPr/>
          <p:nvPr/>
        </p:nvSpPr>
        <p:spPr>
          <a:xfrm>
            <a:off x="4489704" y="5349240"/>
            <a:ext cx="3182112"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Exact answer match. Same property, same rapid progress, same methods.</a:t>
            </a:r>
            <a:endParaRPr lang="en-US" sz="1100" dirty="0"/>
          </a:p>
        </p:txBody>
      </p:sp>
      <p:sp>
        <p:nvSpPr>
          <p:cNvPr id="18" name="Shape 16"/>
          <p:cNvSpPr/>
          <p:nvPr/>
        </p:nvSpPr>
        <p:spPr>
          <a:xfrm>
            <a:off x="8037576" y="4892040"/>
            <a:ext cx="3621024"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9" name="Text 17"/>
          <p:cNvSpPr/>
          <p:nvPr/>
        </p:nvSpPr>
        <p:spPr>
          <a:xfrm>
            <a:off x="8257032" y="503834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You already built the verifier</a:t>
            </a:r>
            <a:endParaRPr lang="en-US" sz="1250" dirty="0"/>
          </a:p>
        </p:txBody>
      </p:sp>
      <p:sp>
        <p:nvSpPr>
          <p:cNvPr id="20" name="Text 18"/>
          <p:cNvSpPr/>
          <p:nvPr/>
        </p:nvSpPr>
        <p:spPr>
          <a:xfrm>
            <a:off x="8257032" y="5349240"/>
            <a:ext cx="3182112"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Phase 3's sandbox IS your reward function. Everything since has been preparation for this.</a:t>
            </a:r>
            <a:endParaRPr lang="en-US" sz="1100" dirty="0"/>
          </a:p>
        </p:txBody>
      </p:sp>
      <p:sp>
        <p:nvSpPr>
          <p:cNvPr id="21" name="Text 1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129</a:t>
            </a:r>
            <a:endParaRPr lang="en-US" sz="9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Policy gradient, without the derivation</a:t>
            </a:r>
            <a:endParaRPr lang="en-US" sz="2900" dirty="0"/>
          </a:p>
        </p:txBody>
      </p:sp>
      <p:sp>
        <p:nvSpPr>
          <p:cNvPr id="4" name="Shape 2"/>
          <p:cNvSpPr/>
          <p:nvPr/>
        </p:nvSpPr>
        <p:spPr>
          <a:xfrm>
            <a:off x="502920" y="1280160"/>
            <a:ext cx="11155680" cy="813816"/>
          </a:xfrm>
          <a:prstGeom prst="roundRect">
            <a:avLst>
              <a:gd name="adj" fmla="val 786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485900"/>
            <a:ext cx="402336" cy="402336"/>
          </a:xfrm>
          <a:prstGeom prst="ellipse">
            <a:avLst/>
          </a:prstGeom>
          <a:solidFill>
            <a:srgbClr val="8FB573"/>
          </a:solidFill>
          <a:ln/>
        </p:spPr>
      </p:sp>
      <p:sp>
        <p:nvSpPr>
          <p:cNvPr id="6" name="Text 4"/>
          <p:cNvSpPr/>
          <p:nvPr/>
        </p:nvSpPr>
        <p:spPr>
          <a:xfrm>
            <a:off x="749808" y="148590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Sample outputs from the current model</a:t>
            </a:r>
            <a:endParaRPr lang="en-US" sz="1300" dirty="0"/>
          </a:p>
        </p:txBody>
      </p:sp>
      <p:sp>
        <p:nvSpPr>
          <p:cNvPr id="8" name="Text 6"/>
          <p:cNvSpPr/>
          <p:nvPr/>
        </p:nvSpPr>
        <p:spPr>
          <a:xfrm>
            <a:off x="1316736" y="1700784"/>
            <a:ext cx="10058400" cy="301752"/>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Not from a dataset — from the model itself, right now. This is what makes it on-policy, and what makes it different from everything in Phases 6–8.</a:t>
            </a:r>
            <a:endParaRPr lang="en-US" sz="1150" dirty="0"/>
          </a:p>
        </p:txBody>
      </p:sp>
      <p:sp>
        <p:nvSpPr>
          <p:cNvPr id="9" name="Shape 7"/>
          <p:cNvSpPr/>
          <p:nvPr/>
        </p:nvSpPr>
        <p:spPr>
          <a:xfrm>
            <a:off x="502920" y="2203704"/>
            <a:ext cx="11155680" cy="813816"/>
          </a:xfrm>
          <a:prstGeom prst="roundRect">
            <a:avLst>
              <a:gd name="adj" fmla="val 786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409444"/>
            <a:ext cx="402336" cy="402336"/>
          </a:xfrm>
          <a:prstGeom prst="ellipse">
            <a:avLst/>
          </a:prstGeom>
          <a:solidFill>
            <a:srgbClr val="8FB573"/>
          </a:solidFill>
          <a:ln/>
        </p:spPr>
      </p:sp>
      <p:sp>
        <p:nvSpPr>
          <p:cNvPr id="11" name="Text 9"/>
          <p:cNvSpPr/>
          <p:nvPr/>
        </p:nvSpPr>
        <p:spPr>
          <a:xfrm>
            <a:off x="749808" y="2409444"/>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33172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Score each output with the reward function</a:t>
            </a:r>
            <a:endParaRPr lang="en-US" sz="1300" dirty="0"/>
          </a:p>
        </p:txBody>
      </p:sp>
      <p:sp>
        <p:nvSpPr>
          <p:cNvPr id="13" name="Text 11"/>
          <p:cNvSpPr/>
          <p:nvPr/>
        </p:nvSpPr>
        <p:spPr>
          <a:xfrm>
            <a:off x="1316736" y="2624328"/>
            <a:ext cx="10058400" cy="301752"/>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Your sandbox runs the tests and returns a number. No human, no reward model, no ambiguity.</a:t>
            </a:r>
            <a:endParaRPr lang="en-US" sz="1150" dirty="0"/>
          </a:p>
        </p:txBody>
      </p:sp>
      <p:sp>
        <p:nvSpPr>
          <p:cNvPr id="14" name="Shape 12"/>
          <p:cNvSpPr/>
          <p:nvPr/>
        </p:nvSpPr>
        <p:spPr>
          <a:xfrm>
            <a:off x="502920" y="3127248"/>
            <a:ext cx="11155680" cy="813816"/>
          </a:xfrm>
          <a:prstGeom prst="roundRect">
            <a:avLst>
              <a:gd name="adj" fmla="val 786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3332988"/>
            <a:ext cx="402336" cy="402336"/>
          </a:xfrm>
          <a:prstGeom prst="ellipse">
            <a:avLst/>
          </a:prstGeom>
          <a:solidFill>
            <a:srgbClr val="8FB573"/>
          </a:solidFill>
          <a:ln/>
        </p:spPr>
      </p:sp>
      <p:sp>
        <p:nvSpPr>
          <p:cNvPr id="16" name="Text 14"/>
          <p:cNvSpPr/>
          <p:nvPr/>
        </p:nvSpPr>
        <p:spPr>
          <a:xfrm>
            <a:off x="749808" y="333298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325526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Increase the probability of high-reward outputs</a:t>
            </a:r>
            <a:endParaRPr lang="en-US" sz="1300" dirty="0"/>
          </a:p>
        </p:txBody>
      </p:sp>
      <p:sp>
        <p:nvSpPr>
          <p:cNvPr id="18" name="Text 16"/>
          <p:cNvSpPr/>
          <p:nvPr/>
        </p:nvSpPr>
        <p:spPr>
          <a:xfrm>
            <a:off x="1316736" y="3547872"/>
            <a:ext cx="10058400" cy="301752"/>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Push up the log-probability of tokens in good samples; push down the log-probability of tokens in bad ones. That is the whole gradient.</a:t>
            </a:r>
            <a:endParaRPr lang="en-US" sz="1150" dirty="0"/>
          </a:p>
        </p:txBody>
      </p:sp>
      <p:sp>
        <p:nvSpPr>
          <p:cNvPr id="19" name="Shape 17"/>
          <p:cNvSpPr/>
          <p:nvPr/>
        </p:nvSpPr>
        <p:spPr>
          <a:xfrm>
            <a:off x="502920" y="4050792"/>
            <a:ext cx="11155680" cy="813816"/>
          </a:xfrm>
          <a:prstGeom prst="roundRect">
            <a:avLst>
              <a:gd name="adj" fmla="val 786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4256532"/>
            <a:ext cx="402336" cy="402336"/>
          </a:xfrm>
          <a:prstGeom prst="ellipse">
            <a:avLst/>
          </a:prstGeom>
          <a:solidFill>
            <a:srgbClr val="8FB573"/>
          </a:solidFill>
          <a:ln/>
        </p:spPr>
      </p:sp>
      <p:sp>
        <p:nvSpPr>
          <p:cNvPr id="21" name="Text 19"/>
          <p:cNvSpPr/>
          <p:nvPr/>
        </p:nvSpPr>
        <p:spPr>
          <a:xfrm>
            <a:off x="749808" y="425653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4178808"/>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Constrain how far you move</a:t>
            </a:r>
            <a:endParaRPr lang="en-US" sz="1300" dirty="0"/>
          </a:p>
        </p:txBody>
      </p:sp>
      <p:sp>
        <p:nvSpPr>
          <p:cNvPr id="23" name="Text 21"/>
          <p:cNvSpPr/>
          <p:nvPr/>
        </p:nvSpPr>
        <p:spPr>
          <a:xfrm>
            <a:off x="1316736" y="4471416"/>
            <a:ext cx="10058400" cy="301752"/>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A KL penalty against a frozen reference stops the policy from wandering into high-reward gibberish. This leash is not optional.</a:t>
            </a:r>
            <a:endParaRPr lang="en-US" sz="1150" dirty="0"/>
          </a:p>
        </p:txBody>
      </p:sp>
      <p:sp>
        <p:nvSpPr>
          <p:cNvPr id="24" name="Shape 22"/>
          <p:cNvSpPr/>
          <p:nvPr/>
        </p:nvSpPr>
        <p:spPr>
          <a:xfrm>
            <a:off x="502920" y="4974336"/>
            <a:ext cx="11155680" cy="813816"/>
          </a:xfrm>
          <a:prstGeom prst="roundRect">
            <a:avLst>
              <a:gd name="adj" fmla="val 786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5180076"/>
            <a:ext cx="402336" cy="402336"/>
          </a:xfrm>
          <a:prstGeom prst="ellipse">
            <a:avLst/>
          </a:prstGeom>
          <a:solidFill>
            <a:srgbClr val="8FB573"/>
          </a:solidFill>
          <a:ln/>
        </p:spPr>
      </p:sp>
      <p:sp>
        <p:nvSpPr>
          <p:cNvPr id="26" name="Text 24"/>
          <p:cNvSpPr/>
          <p:nvPr/>
        </p:nvSpPr>
        <p:spPr>
          <a:xfrm>
            <a:off x="749808" y="5180076"/>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5102352"/>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Repeat, with the model that just changed</a:t>
            </a:r>
            <a:endParaRPr lang="en-US" sz="1300" dirty="0"/>
          </a:p>
        </p:txBody>
      </p:sp>
      <p:sp>
        <p:nvSpPr>
          <p:cNvPr id="28" name="Text 26"/>
          <p:cNvSpPr/>
          <p:nvPr/>
        </p:nvSpPr>
        <p:spPr>
          <a:xfrm>
            <a:off x="1316736" y="5394960"/>
            <a:ext cx="10058400" cy="301752"/>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Next step samples from the UPDATED model. The data distribution moves with the policy — the defining property of on-policy RL.</a:t>
            </a:r>
            <a:endParaRPr lang="en-US" sz="1150" dirty="0"/>
          </a:p>
        </p:txBody>
      </p:sp>
      <p:sp>
        <p:nvSpPr>
          <p:cNvPr id="29" name="Shape 27"/>
          <p:cNvSpPr/>
          <p:nvPr/>
        </p:nvSpPr>
        <p:spPr>
          <a:xfrm>
            <a:off x="502920" y="5897880"/>
            <a:ext cx="11155680" cy="566928"/>
          </a:xfrm>
          <a:prstGeom prst="roundRect">
            <a:avLst>
              <a:gd name="adj" fmla="val 9677"/>
            </a:avLst>
          </a:prstGeom>
          <a:solidFill>
            <a:srgbClr val="8FB573"/>
          </a:solidFill>
          <a:ln/>
        </p:spPr>
      </p:sp>
      <p:sp>
        <p:nvSpPr>
          <p:cNvPr id="30" name="Text 28"/>
          <p:cNvSpPr/>
          <p:nvPr/>
        </p:nvSpPr>
        <p:spPr>
          <a:xfrm>
            <a:off x="777240" y="589788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The crucial difference from SFT: there is no fixed dataset. The model generates its own training data, every single step.</a:t>
            </a:r>
            <a:endParaRPr lang="en-US" sz="1450" dirty="0"/>
          </a:p>
        </p:txBody>
      </p:sp>
      <p:sp>
        <p:nvSpPr>
          <p:cNvPr id="31" name="Text 2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130</a:t>
            </a:r>
            <a:endParaRPr lang="en-US" sz="9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PPO vs GRPO — what GRPO drops, and why it matters to you</a:t>
            </a:r>
            <a:endParaRPr lang="en-US" sz="2900" dirty="0"/>
          </a:p>
        </p:txBody>
      </p:sp>
      <p:graphicFrame>
        <p:nvGraphicFramePr>
          <p:cNvPr id="13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291840"/>
                <a:gridCol w="4206240"/>
                <a:gridCol w="3657600"/>
              </a:tblGrid>
              <a:tr h="384048">
                <a:tc>
                  <a:txBody>
                    <a:bodyPr/>
                    <a:lstStyle/>
                    <a:p>
                      <a:pPr indent="0" marL="0">
                        <a:buNone/>
                      </a:pP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PPO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GRPO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Models in memory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Policy + reference + reward + VALUE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Policy + reference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Baseline for advantage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Learned value function (a whole extra network)</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Mean reward of the sampled GROUP</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Extra training needed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Value model trains alongside the policy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Memory on your 4GB card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Impossible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Feasible at 0.5B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Stability failure mode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Value function diverges, drags policy with it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Group collapse — all samples score identically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Implementation complexity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Moderate — TRL provides it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Where it came from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OpenAI, RLHF-era</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DeepSeekMath; popularized by DeepSeek-R1</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160520"/>
            <a:ext cx="11155680" cy="1600200"/>
          </a:xfrm>
          <a:prstGeom prst="roundRect">
            <a:avLst>
              <a:gd name="adj" fmla="val 3429"/>
            </a:avLst>
          </a:prstGeom>
          <a:solidFill>
            <a:srgbClr val="0F1F17"/>
          </a:solidFill>
          <a:ln/>
        </p:spPr>
      </p:sp>
      <p:sp>
        <p:nvSpPr>
          <p:cNvPr id="6" name="Text 3"/>
          <p:cNvSpPr/>
          <p:nvPr/>
        </p:nvSpPr>
        <p:spPr>
          <a:xfrm>
            <a:off x="722376" y="4306824"/>
            <a:ext cx="10716768" cy="130759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GRPO's central trick: the group IS the baseline.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for each prompt: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outputs = [policy.sample(prompt) for _ in range(G)]      # G = group size, e.g. 8</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rewards = [reward_fn(o) for o in outputs]</a:t>
            </a:r>
            <a:endParaRPr lang="en-US" sz="1000" dirty="0"/>
          </a:p>
          <a:p>
            <a:pPr indent="0" marL="0">
              <a:lnSpc>
                <a:spcPct val="112000"/>
              </a:lnSpc>
              <a:buNone/>
            </a:pPr>
            <a:r>
              <a:rPr lang="en-US" sz="1000" b="1" dirty="0">
                <a:solidFill>
                  <a:srgbClr val="8FB573"/>
                </a:solidFill>
                <a:latin typeface="Courier New" pitchFamily="34" charset="0"/>
                <a:ea typeface="Courier New" pitchFamily="34" charset="-122"/>
                <a:cs typeface="Courier New" pitchFamily="34" charset="-120"/>
              </a:rPr>
              <a:t>    advantages = (rewards - mean(rewards)) / (std(rewards) + eps)   # &lt;- no value model</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then a PPO-style clipped policy-gradient update, plus a KL term</a:t>
            </a:r>
            <a:endParaRPr lang="en-US" sz="1000" dirty="0"/>
          </a:p>
        </p:txBody>
      </p:sp>
      <p:sp>
        <p:nvSpPr>
          <p:cNvPr id="7" name="Shape 4"/>
          <p:cNvSpPr/>
          <p:nvPr/>
        </p:nvSpPr>
        <p:spPr>
          <a:xfrm>
            <a:off x="502920" y="5897880"/>
            <a:ext cx="11155680" cy="566928"/>
          </a:xfrm>
          <a:prstGeom prst="roundRect">
            <a:avLst>
              <a:gd name="adj" fmla="val 9677"/>
            </a:avLst>
          </a:prstGeom>
          <a:solidFill>
            <a:srgbClr val="8FB573"/>
          </a:solidFill>
          <a:ln/>
        </p:spPr>
      </p:sp>
      <p:sp>
        <p:nvSpPr>
          <p:cNvPr id="8" name="Text 5"/>
          <p:cNvSpPr/>
          <p:nvPr/>
        </p:nvSpPr>
        <p:spPr>
          <a:xfrm>
            <a:off x="777240" y="589788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'Better than my siblings on this prompt' replaces 'better than a learned value estimate'. That one substitution removes an entire network.</a:t>
            </a:r>
            <a:endParaRPr lang="en-US" sz="1450" dirty="0"/>
          </a:p>
        </p:txBody>
      </p:sp>
      <p:sp>
        <p:nvSpPr>
          <p:cNvPr id="9" name="Text 6"/>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131</a:t>
            </a:r>
            <a:endParaRPr lang="en-US" sz="9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Group size — the parameter unique to GRPO</a:t>
            </a:r>
            <a:endParaRPr lang="en-US" sz="2900" dirty="0"/>
          </a:p>
        </p:txBody>
      </p:sp>
      <p:graphicFrame>
        <p:nvGraphicFramePr>
          <p:cNvPr id="133"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194560"/>
                <a:gridCol w="3474720"/>
                <a:gridCol w="2194560"/>
                <a:gridCol w="3291840"/>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Group size 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Advantage estimate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Cost per step</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Extremely noisy; std is meaningless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Lowest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Too small. Training will not move.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Noisy but functional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Viable on very constrained hardware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Reasonable signal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practical default on your card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Good signal, stable advantages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High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Better if you can afford the generation time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32–64</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Excellent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Very high</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Standard in published work; impractical on 4GB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703320"/>
            <a:ext cx="11155680" cy="658368"/>
          </a:xfrm>
          <a:prstGeom prst="roundRect">
            <a:avLst>
              <a:gd name="adj" fmla="val 972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Shape 3"/>
          <p:cNvSpPr/>
          <p:nvPr/>
        </p:nvSpPr>
        <p:spPr>
          <a:xfrm>
            <a:off x="502920" y="3703320"/>
            <a:ext cx="91440" cy="658368"/>
          </a:xfrm>
          <a:prstGeom prst="rect">
            <a:avLst/>
          </a:prstGeom>
          <a:solidFill>
            <a:srgbClr val="A8482A"/>
          </a:solidFill>
          <a:ln/>
        </p:spPr>
      </p:sp>
      <p:sp>
        <p:nvSpPr>
          <p:cNvPr id="7" name="Text 4"/>
          <p:cNvSpPr/>
          <p:nvPr/>
        </p:nvSpPr>
        <p:spPr>
          <a:xfrm>
            <a:off x="822960" y="3813048"/>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Group collapse</a:t>
            </a:r>
            <a:endParaRPr lang="en-US" sz="1250" dirty="0"/>
          </a:p>
        </p:txBody>
      </p:sp>
      <p:sp>
        <p:nvSpPr>
          <p:cNvPr id="8" name="Text 5"/>
          <p:cNvSpPr/>
          <p:nvPr/>
        </p:nvSpPr>
        <p:spPr>
          <a:xfrm>
            <a:off x="822960" y="4105656"/>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all rewards identical</a:t>
            </a:r>
            <a:endParaRPr lang="en-US" sz="950" dirty="0"/>
          </a:p>
        </p:txBody>
      </p:sp>
      <p:sp>
        <p:nvSpPr>
          <p:cNvPr id="9" name="Text 6"/>
          <p:cNvSpPr/>
          <p:nvPr/>
        </p:nvSpPr>
        <p:spPr>
          <a:xfrm>
            <a:off x="3794760" y="3794760"/>
            <a:ext cx="7863840" cy="47548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If every sample in a group scores the same, std is zero and the advantage is zero — no gradient at all. Happens when problems are far too easy or far too hard.</a:t>
            </a:r>
            <a:endParaRPr lang="en-US" sz="1180" dirty="0"/>
          </a:p>
        </p:txBody>
      </p:sp>
      <p:sp>
        <p:nvSpPr>
          <p:cNvPr id="10" name="Shape 7"/>
          <p:cNvSpPr/>
          <p:nvPr/>
        </p:nvSpPr>
        <p:spPr>
          <a:xfrm>
            <a:off x="502920" y="4453128"/>
            <a:ext cx="11155680" cy="658368"/>
          </a:xfrm>
          <a:prstGeom prst="roundRect">
            <a:avLst>
              <a:gd name="adj" fmla="val 972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8"/>
          <p:cNvSpPr/>
          <p:nvPr/>
        </p:nvSpPr>
        <p:spPr>
          <a:xfrm>
            <a:off x="502920" y="4453128"/>
            <a:ext cx="91440" cy="658368"/>
          </a:xfrm>
          <a:prstGeom prst="rect">
            <a:avLst/>
          </a:prstGeom>
          <a:solidFill>
            <a:srgbClr val="8FB573"/>
          </a:solidFill>
          <a:ln/>
        </p:spPr>
      </p:sp>
      <p:sp>
        <p:nvSpPr>
          <p:cNvPr id="12" name="Text 9"/>
          <p:cNvSpPr/>
          <p:nvPr/>
        </p:nvSpPr>
        <p:spPr>
          <a:xfrm>
            <a:off x="822960" y="4562856"/>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Curate for the middle</a:t>
            </a:r>
            <a:endParaRPr lang="en-US" sz="1250" dirty="0"/>
          </a:p>
        </p:txBody>
      </p:sp>
      <p:sp>
        <p:nvSpPr>
          <p:cNvPr id="13" name="Text 10"/>
          <p:cNvSpPr/>
          <p:nvPr/>
        </p:nvSpPr>
        <p:spPr>
          <a:xfrm>
            <a:off x="822960" y="4855464"/>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pass rate 0.2 – 0.8</a:t>
            </a:r>
            <a:endParaRPr lang="en-US" sz="950" dirty="0"/>
          </a:p>
        </p:txBody>
      </p:sp>
      <p:sp>
        <p:nvSpPr>
          <p:cNvPr id="14" name="Text 11"/>
          <p:cNvSpPr/>
          <p:nvPr/>
        </p:nvSpPr>
        <p:spPr>
          <a:xfrm>
            <a:off x="3794760" y="4544568"/>
            <a:ext cx="7863840" cy="47548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Feed GRPO problems your model solves SOMETIMES. Problems it always solves and problems it never solves both produce zero signal.</a:t>
            </a:r>
            <a:endParaRPr lang="en-US" sz="1180" dirty="0"/>
          </a:p>
        </p:txBody>
      </p:sp>
      <p:sp>
        <p:nvSpPr>
          <p:cNvPr id="15" name="Shape 12"/>
          <p:cNvSpPr/>
          <p:nvPr/>
        </p:nvSpPr>
        <p:spPr>
          <a:xfrm>
            <a:off x="502920" y="5202936"/>
            <a:ext cx="11155680" cy="658368"/>
          </a:xfrm>
          <a:prstGeom prst="roundRect">
            <a:avLst>
              <a:gd name="adj" fmla="val 972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3"/>
          <p:cNvSpPr/>
          <p:nvPr/>
        </p:nvSpPr>
        <p:spPr>
          <a:xfrm>
            <a:off x="502920" y="5202936"/>
            <a:ext cx="91440" cy="658368"/>
          </a:xfrm>
          <a:prstGeom prst="rect">
            <a:avLst/>
          </a:prstGeom>
          <a:solidFill>
            <a:srgbClr val="8FB573"/>
          </a:solidFill>
          <a:ln/>
        </p:spPr>
      </p:sp>
      <p:sp>
        <p:nvSpPr>
          <p:cNvPr id="17" name="Text 14"/>
          <p:cNvSpPr/>
          <p:nvPr/>
        </p:nvSpPr>
        <p:spPr>
          <a:xfrm>
            <a:off x="822960" y="5312664"/>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Log the fraction of dead groups</a:t>
            </a:r>
            <a:endParaRPr lang="en-US" sz="1250" dirty="0"/>
          </a:p>
        </p:txBody>
      </p:sp>
      <p:sp>
        <p:nvSpPr>
          <p:cNvPr id="18" name="Text 15"/>
          <p:cNvSpPr/>
          <p:nvPr/>
        </p:nvSpPr>
        <p:spPr>
          <a:xfrm>
            <a:off x="822960" y="5605272"/>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std == 0</a:t>
            </a:r>
            <a:endParaRPr lang="en-US" sz="950" dirty="0"/>
          </a:p>
        </p:txBody>
      </p:sp>
      <p:sp>
        <p:nvSpPr>
          <p:cNvPr id="19" name="Text 16"/>
          <p:cNvSpPr/>
          <p:nvPr/>
        </p:nvSpPr>
        <p:spPr>
          <a:xfrm>
            <a:off x="3794760" y="5294376"/>
            <a:ext cx="7863840" cy="47548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If 60% of your groups have zero variance, you are wasting 60% of your compute. This is the most useful GRPO diagnostic.</a:t>
            </a:r>
            <a:endParaRPr lang="en-US" sz="1180" dirty="0"/>
          </a:p>
        </p:txBody>
      </p:sp>
      <p:sp>
        <p:nvSpPr>
          <p:cNvPr id="20" name="Shape 17"/>
          <p:cNvSpPr/>
          <p:nvPr/>
        </p:nvSpPr>
        <p:spPr>
          <a:xfrm>
            <a:off x="502920" y="5806440"/>
            <a:ext cx="11155680" cy="777240"/>
          </a:xfrm>
          <a:prstGeom prst="roundRect">
            <a:avLst>
              <a:gd name="adj" fmla="val 8235"/>
            </a:avLst>
          </a:prstGeom>
          <a:solidFill>
            <a:srgbClr val="1F3D2E"/>
          </a:solidFill>
          <a:ln/>
        </p:spPr>
      </p:sp>
      <p:sp>
        <p:nvSpPr>
          <p:cNvPr id="21" name="Shape 18"/>
          <p:cNvSpPr/>
          <p:nvPr/>
        </p:nvSpPr>
        <p:spPr>
          <a:xfrm>
            <a:off x="740664" y="5989320"/>
            <a:ext cx="292608" cy="292608"/>
          </a:xfrm>
          <a:prstGeom prst="ellipse">
            <a:avLst/>
          </a:prstGeom>
          <a:solidFill>
            <a:srgbClr val="1F3D2E"/>
          </a:solidFill>
          <a:ln/>
        </p:spPr>
      </p:sp>
      <p:sp>
        <p:nvSpPr>
          <p:cNvPr id="22" name="Text 19"/>
          <p:cNvSpPr/>
          <p:nvPr/>
        </p:nvSpPr>
        <p:spPr>
          <a:xfrm>
            <a:off x="740664" y="59893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3" name="Text 20"/>
          <p:cNvSpPr/>
          <p:nvPr/>
        </p:nvSpPr>
        <p:spPr>
          <a:xfrm>
            <a:off x="1133856" y="60076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4" name="Text 21"/>
          <p:cNvSpPr/>
          <p:nvPr/>
        </p:nvSpPr>
        <p:spPr>
          <a:xfrm>
            <a:off x="740664" y="6382512"/>
            <a:ext cx="10680192" cy="274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My first GRPO run had 71% dead groups because I fed it the whole problem set. Filtering to pass-rate 0.2–0.8 tripled the useful gradient per hour.</a:t>
            </a:r>
            <a:endParaRPr lang="en-US" sz="1150" dirty="0"/>
          </a:p>
        </p:txBody>
      </p:sp>
      <p:sp>
        <p:nvSpPr>
          <p:cNvPr id="25" name="Text 2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132</a:t>
            </a:r>
            <a:endParaRPr lang="en-US" sz="9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Reward design — first principles</a:t>
            </a:r>
            <a:endParaRPr lang="en-US" sz="2900" dirty="0"/>
          </a:p>
        </p:txBody>
      </p:sp>
      <p:sp>
        <p:nvSpPr>
          <p:cNvPr id="4" name="Shape 2"/>
          <p:cNvSpPr/>
          <p:nvPr/>
        </p:nvSpPr>
        <p:spPr>
          <a:xfrm>
            <a:off x="502920" y="1280160"/>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463802"/>
            <a:ext cx="402336" cy="402336"/>
          </a:xfrm>
          <a:prstGeom prst="ellipse">
            <a:avLst/>
          </a:prstGeom>
          <a:solidFill>
            <a:srgbClr val="8FB573"/>
          </a:solidFill>
          <a:ln/>
        </p:spPr>
      </p:sp>
      <p:sp>
        <p:nvSpPr>
          <p:cNvPr id="6" name="Text 4"/>
          <p:cNvSpPr/>
          <p:nvPr/>
        </p:nvSpPr>
        <p:spPr>
          <a:xfrm>
            <a:off x="749808" y="146380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Your reward function IS the task specification</a:t>
            </a:r>
            <a:endParaRPr lang="en-US" sz="1300" dirty="0"/>
          </a:p>
        </p:txBody>
      </p:sp>
      <p:sp>
        <p:nvSpPr>
          <p:cNvPr id="8" name="Text 6"/>
          <p:cNvSpPr/>
          <p:nvPr/>
        </p:nvSpPr>
        <p:spPr>
          <a:xfrm>
            <a:off x="1316736" y="1700784"/>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Not your intent, not your prompt, not your documentation. Whatever the reward measures is what the model will learn to maximize. Write it as if an adversary will read it, because one will.</a:t>
            </a:r>
            <a:endParaRPr lang="en-US" sz="1150" dirty="0"/>
          </a:p>
        </p:txBody>
      </p:sp>
      <p:sp>
        <p:nvSpPr>
          <p:cNvPr id="9" name="Shape 7"/>
          <p:cNvSpPr/>
          <p:nvPr/>
        </p:nvSpPr>
        <p:spPr>
          <a:xfrm>
            <a:off x="502920" y="2159508"/>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343150"/>
            <a:ext cx="402336" cy="402336"/>
          </a:xfrm>
          <a:prstGeom prst="ellipse">
            <a:avLst/>
          </a:prstGeom>
          <a:solidFill>
            <a:srgbClr val="8FB573"/>
          </a:solidFill>
          <a:ln/>
        </p:spPr>
      </p:sp>
      <p:sp>
        <p:nvSpPr>
          <p:cNvPr id="11" name="Text 9"/>
          <p:cNvSpPr/>
          <p:nvPr/>
        </p:nvSpPr>
        <p:spPr>
          <a:xfrm>
            <a:off x="749808" y="234315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28752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Prefer dense over sparse</a:t>
            </a:r>
            <a:endParaRPr lang="en-US" sz="1300" dirty="0"/>
          </a:p>
        </p:txBody>
      </p:sp>
      <p:sp>
        <p:nvSpPr>
          <p:cNvPr id="13" name="Text 11"/>
          <p:cNvSpPr/>
          <p:nvPr/>
        </p:nvSpPr>
        <p:spPr>
          <a:xfrm>
            <a:off x="1316736" y="2580132"/>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Binary pass/fail gives almost no gradient — most samples score 0 and the group has no variance. Fraction-of-tests-passed gives the model a slope to climb.</a:t>
            </a:r>
            <a:endParaRPr lang="en-US" sz="1150" dirty="0"/>
          </a:p>
        </p:txBody>
      </p:sp>
      <p:sp>
        <p:nvSpPr>
          <p:cNvPr id="14" name="Shape 12"/>
          <p:cNvSpPr/>
          <p:nvPr/>
        </p:nvSpPr>
        <p:spPr>
          <a:xfrm>
            <a:off x="502920" y="3038856"/>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3222498"/>
            <a:ext cx="402336" cy="402336"/>
          </a:xfrm>
          <a:prstGeom prst="ellipse">
            <a:avLst/>
          </a:prstGeom>
          <a:solidFill>
            <a:srgbClr val="8FB573"/>
          </a:solidFill>
          <a:ln/>
        </p:spPr>
      </p:sp>
      <p:sp>
        <p:nvSpPr>
          <p:cNvPr id="16" name="Text 14"/>
          <p:cNvSpPr/>
          <p:nvPr/>
        </p:nvSpPr>
        <p:spPr>
          <a:xfrm>
            <a:off x="749808" y="322249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3166872"/>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Every term you add is a new attack surface</a:t>
            </a:r>
            <a:endParaRPr lang="en-US" sz="1300" dirty="0"/>
          </a:p>
        </p:txBody>
      </p:sp>
      <p:sp>
        <p:nvSpPr>
          <p:cNvPr id="18" name="Text 16"/>
          <p:cNvSpPr/>
          <p:nvPr/>
        </p:nvSpPr>
        <p:spPr>
          <a:xfrm>
            <a:off x="1316736" y="3459480"/>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A format reward invites format-only outputs. A length penalty invites truncation. Add terms deliberately and watch what each one produces.</a:t>
            </a:r>
            <a:endParaRPr lang="en-US" sz="1150" dirty="0"/>
          </a:p>
        </p:txBody>
      </p:sp>
      <p:sp>
        <p:nvSpPr>
          <p:cNvPr id="19" name="Shape 17"/>
          <p:cNvSpPr/>
          <p:nvPr/>
        </p:nvSpPr>
        <p:spPr>
          <a:xfrm>
            <a:off x="502920" y="3918204"/>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4101846"/>
            <a:ext cx="402336" cy="402336"/>
          </a:xfrm>
          <a:prstGeom prst="ellipse">
            <a:avLst/>
          </a:prstGeom>
          <a:solidFill>
            <a:srgbClr val="8FB573"/>
          </a:solidFill>
          <a:ln/>
        </p:spPr>
      </p:sp>
      <p:sp>
        <p:nvSpPr>
          <p:cNvPr id="21" name="Text 19"/>
          <p:cNvSpPr/>
          <p:nvPr/>
        </p:nvSpPr>
        <p:spPr>
          <a:xfrm>
            <a:off x="749808" y="4101846"/>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404622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Penalties need enforcement, not just scoring</a:t>
            </a:r>
            <a:endParaRPr lang="en-US" sz="1300" dirty="0"/>
          </a:p>
        </p:txBody>
      </p:sp>
      <p:sp>
        <p:nvSpPr>
          <p:cNvPr id="23" name="Text 21"/>
          <p:cNvSpPr/>
          <p:nvPr/>
        </p:nvSpPr>
        <p:spPr>
          <a:xfrm>
            <a:off x="1316736" y="4338828"/>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Penalizing a banned import in the reward while the sandbox still allows it teaches evasion. The sandbox must actually block it.</a:t>
            </a:r>
            <a:endParaRPr lang="en-US" sz="1150" dirty="0"/>
          </a:p>
        </p:txBody>
      </p:sp>
      <p:sp>
        <p:nvSpPr>
          <p:cNvPr id="24" name="Shape 22"/>
          <p:cNvSpPr/>
          <p:nvPr/>
        </p:nvSpPr>
        <p:spPr>
          <a:xfrm>
            <a:off x="502920" y="4797552"/>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4981194"/>
            <a:ext cx="402336" cy="402336"/>
          </a:xfrm>
          <a:prstGeom prst="ellipse">
            <a:avLst/>
          </a:prstGeom>
          <a:solidFill>
            <a:srgbClr val="8FB573"/>
          </a:solidFill>
          <a:ln/>
        </p:spPr>
      </p:sp>
      <p:sp>
        <p:nvSpPr>
          <p:cNvPr id="26" name="Text 24"/>
          <p:cNvSpPr/>
          <p:nvPr/>
        </p:nvSpPr>
        <p:spPr>
          <a:xfrm>
            <a:off x="749808" y="4981194"/>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4925568"/>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Reward the outcome you want, not the behavior you imagine</a:t>
            </a:r>
            <a:endParaRPr lang="en-US" sz="1300" dirty="0"/>
          </a:p>
        </p:txBody>
      </p:sp>
      <p:sp>
        <p:nvSpPr>
          <p:cNvPr id="28" name="Text 26"/>
          <p:cNvSpPr/>
          <p:nvPr/>
        </p:nvSpPr>
        <p:spPr>
          <a:xfrm>
            <a:off x="1316736" y="5218176"/>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Rewarding 'has a docstring' gets you docstrings, not better code. Reward passing tests; let the model find the route.</a:t>
            </a:r>
            <a:endParaRPr lang="en-US" sz="1150" dirty="0"/>
          </a:p>
        </p:txBody>
      </p:sp>
      <p:sp>
        <p:nvSpPr>
          <p:cNvPr id="29" name="Shape 27"/>
          <p:cNvSpPr/>
          <p:nvPr/>
        </p:nvSpPr>
        <p:spPr>
          <a:xfrm>
            <a:off x="502920" y="5676900"/>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749808" y="5860542"/>
            <a:ext cx="402336" cy="402336"/>
          </a:xfrm>
          <a:prstGeom prst="ellipse">
            <a:avLst/>
          </a:prstGeom>
          <a:solidFill>
            <a:srgbClr val="8FB573"/>
          </a:solidFill>
          <a:ln/>
        </p:spPr>
      </p:sp>
      <p:sp>
        <p:nvSpPr>
          <p:cNvPr id="31" name="Text 29"/>
          <p:cNvSpPr/>
          <p:nvPr/>
        </p:nvSpPr>
        <p:spPr>
          <a:xfrm>
            <a:off x="749808" y="586054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1316736" y="580491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Assume it will be gamed, and instrument accordingly</a:t>
            </a:r>
            <a:endParaRPr lang="en-US" sz="1300" dirty="0"/>
          </a:p>
        </p:txBody>
      </p:sp>
      <p:sp>
        <p:nvSpPr>
          <p:cNvPr id="33" name="Text 31"/>
          <p:cNvSpPr/>
          <p:nvPr/>
        </p:nvSpPr>
        <p:spPr>
          <a:xfrm>
            <a:off x="1316736" y="6097524"/>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Do not ask whether it will be hacked. Ask how you will notice. Build the detection before you start the run.</a:t>
            </a:r>
            <a:endParaRPr lang="en-US" sz="1150" dirty="0"/>
          </a:p>
        </p:txBody>
      </p:sp>
      <p:sp>
        <p:nvSpPr>
          <p:cNvPr id="34" name="Text 3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133</a:t>
            </a:r>
            <a:endParaRPr lang="en-US" sz="9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A composite reward for code, annotated</a:t>
            </a:r>
            <a:endParaRPr lang="en-US" sz="2900" dirty="0"/>
          </a:p>
        </p:txBody>
      </p:sp>
      <p:sp>
        <p:nvSpPr>
          <p:cNvPr id="4" name="Shape 2"/>
          <p:cNvSpPr/>
          <p:nvPr/>
        </p:nvSpPr>
        <p:spPr>
          <a:xfrm>
            <a:off x="502920" y="1280160"/>
            <a:ext cx="11155680" cy="565622"/>
          </a:xfrm>
          <a:prstGeom prst="roundRect">
            <a:avLst>
              <a:gd name="adj" fmla="val 1131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502920" y="1280160"/>
            <a:ext cx="91440" cy="565622"/>
          </a:xfrm>
          <a:prstGeom prst="rect">
            <a:avLst/>
          </a:prstGeom>
          <a:solidFill>
            <a:srgbClr val="8FB573"/>
          </a:solidFill>
          <a:ln/>
        </p:spPr>
      </p:sp>
      <p:sp>
        <p:nvSpPr>
          <p:cNvPr id="6" name="Text 4"/>
          <p:cNvSpPr/>
          <p:nvPr/>
        </p:nvSpPr>
        <p:spPr>
          <a:xfrm>
            <a:off x="822960" y="1389888"/>
            <a:ext cx="237744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Correctness</a:t>
            </a:r>
            <a:endParaRPr lang="en-US" sz="1250" dirty="0"/>
          </a:p>
        </p:txBody>
      </p:sp>
      <p:sp>
        <p:nvSpPr>
          <p:cNvPr id="7" name="Text 5"/>
          <p:cNvSpPr/>
          <p:nvPr/>
        </p:nvSpPr>
        <p:spPr>
          <a:xfrm>
            <a:off x="822960" y="1682496"/>
            <a:ext cx="237744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fraction of tests passed</a:t>
            </a:r>
            <a:endParaRPr lang="en-US" sz="950" dirty="0"/>
          </a:p>
        </p:txBody>
      </p:sp>
      <p:sp>
        <p:nvSpPr>
          <p:cNvPr id="8" name="Text 6"/>
          <p:cNvSpPr/>
          <p:nvPr/>
        </p:nvSpPr>
        <p:spPr>
          <a:xfrm>
            <a:off x="3429000" y="1371600"/>
            <a:ext cx="8229600" cy="38274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0.0 – 1.0. The primary term. Dense, not binary — this single choice is the difference between training that moves and training that stalls.</a:t>
            </a:r>
            <a:endParaRPr lang="en-US" sz="1180" dirty="0"/>
          </a:p>
        </p:txBody>
      </p:sp>
      <p:sp>
        <p:nvSpPr>
          <p:cNvPr id="9" name="Shape 7"/>
          <p:cNvSpPr/>
          <p:nvPr/>
        </p:nvSpPr>
        <p:spPr>
          <a:xfrm>
            <a:off x="502920" y="1937222"/>
            <a:ext cx="11155680" cy="565622"/>
          </a:xfrm>
          <a:prstGeom prst="roundRect">
            <a:avLst>
              <a:gd name="adj" fmla="val 1131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502920" y="1937222"/>
            <a:ext cx="91440" cy="565622"/>
          </a:xfrm>
          <a:prstGeom prst="rect">
            <a:avLst/>
          </a:prstGeom>
          <a:solidFill>
            <a:srgbClr val="C9DDB4"/>
          </a:solidFill>
          <a:ln/>
        </p:spPr>
      </p:sp>
      <p:sp>
        <p:nvSpPr>
          <p:cNvPr id="11" name="Text 9"/>
          <p:cNvSpPr/>
          <p:nvPr/>
        </p:nvSpPr>
        <p:spPr>
          <a:xfrm>
            <a:off x="822960" y="2046950"/>
            <a:ext cx="237744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Format</a:t>
            </a:r>
            <a:endParaRPr lang="en-US" sz="1250" dirty="0"/>
          </a:p>
        </p:txBody>
      </p:sp>
      <p:sp>
        <p:nvSpPr>
          <p:cNvPr id="12" name="Text 10"/>
          <p:cNvSpPr/>
          <p:nvPr/>
        </p:nvSpPr>
        <p:spPr>
          <a:xfrm>
            <a:off x="822960" y="2339558"/>
            <a:ext cx="237744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parseable fenced code block</a:t>
            </a:r>
            <a:endParaRPr lang="en-US" sz="950" dirty="0"/>
          </a:p>
        </p:txBody>
      </p:sp>
      <p:sp>
        <p:nvSpPr>
          <p:cNvPr id="13" name="Text 11"/>
          <p:cNvSpPr/>
          <p:nvPr/>
        </p:nvSpPr>
        <p:spPr>
          <a:xfrm>
            <a:off x="3429000" y="2028662"/>
            <a:ext cx="8229600" cy="38274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+0.1. Cheap to satisfy, prevents degenerate non-code output early. Drop it once the model reliably formats.</a:t>
            </a:r>
            <a:endParaRPr lang="en-US" sz="1180" dirty="0"/>
          </a:p>
        </p:txBody>
      </p:sp>
      <p:sp>
        <p:nvSpPr>
          <p:cNvPr id="14" name="Shape 12"/>
          <p:cNvSpPr/>
          <p:nvPr/>
        </p:nvSpPr>
        <p:spPr>
          <a:xfrm>
            <a:off x="502920" y="2594283"/>
            <a:ext cx="11155680" cy="565622"/>
          </a:xfrm>
          <a:prstGeom prst="roundRect">
            <a:avLst>
              <a:gd name="adj" fmla="val 1131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502920" y="2594283"/>
            <a:ext cx="91440" cy="565622"/>
          </a:xfrm>
          <a:prstGeom prst="rect">
            <a:avLst/>
          </a:prstGeom>
          <a:solidFill>
            <a:srgbClr val="C9DDB4"/>
          </a:solidFill>
          <a:ln/>
        </p:spPr>
      </p:sp>
      <p:sp>
        <p:nvSpPr>
          <p:cNvPr id="16" name="Text 14"/>
          <p:cNvSpPr/>
          <p:nvPr/>
        </p:nvSpPr>
        <p:spPr>
          <a:xfrm>
            <a:off x="822960" y="2704011"/>
            <a:ext cx="237744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Compiles</a:t>
            </a:r>
            <a:endParaRPr lang="en-US" sz="1250" dirty="0"/>
          </a:p>
        </p:txBody>
      </p:sp>
      <p:sp>
        <p:nvSpPr>
          <p:cNvPr id="17" name="Text 15"/>
          <p:cNvSpPr/>
          <p:nvPr/>
        </p:nvSpPr>
        <p:spPr>
          <a:xfrm>
            <a:off x="822960" y="2996619"/>
            <a:ext cx="237744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ast.parse succeeds</a:t>
            </a:r>
            <a:endParaRPr lang="en-US" sz="950" dirty="0"/>
          </a:p>
        </p:txBody>
      </p:sp>
      <p:sp>
        <p:nvSpPr>
          <p:cNvPr id="18" name="Text 16"/>
          <p:cNvSpPr/>
          <p:nvPr/>
        </p:nvSpPr>
        <p:spPr>
          <a:xfrm>
            <a:off x="3429000" y="2685723"/>
            <a:ext cx="8229600" cy="38274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+0.1. Partial credit for syntactically valid but wrong code. Gives a gradient on problems where nothing passes yet.</a:t>
            </a:r>
            <a:endParaRPr lang="en-US" sz="1180" dirty="0"/>
          </a:p>
        </p:txBody>
      </p:sp>
      <p:sp>
        <p:nvSpPr>
          <p:cNvPr id="19" name="Shape 17"/>
          <p:cNvSpPr/>
          <p:nvPr/>
        </p:nvSpPr>
        <p:spPr>
          <a:xfrm>
            <a:off x="502920" y="3251345"/>
            <a:ext cx="11155680" cy="565622"/>
          </a:xfrm>
          <a:prstGeom prst="roundRect">
            <a:avLst>
              <a:gd name="adj" fmla="val 1131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502920" y="3251345"/>
            <a:ext cx="91440" cy="565622"/>
          </a:xfrm>
          <a:prstGeom prst="rect">
            <a:avLst/>
          </a:prstGeom>
          <a:solidFill>
            <a:srgbClr val="D98E32"/>
          </a:solidFill>
          <a:ln/>
        </p:spPr>
      </p:sp>
      <p:sp>
        <p:nvSpPr>
          <p:cNvPr id="21" name="Text 19"/>
          <p:cNvSpPr/>
          <p:nvPr/>
        </p:nvSpPr>
        <p:spPr>
          <a:xfrm>
            <a:off x="822960" y="3361073"/>
            <a:ext cx="237744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Timeout</a:t>
            </a:r>
            <a:endParaRPr lang="en-US" sz="1250" dirty="0"/>
          </a:p>
        </p:txBody>
      </p:sp>
      <p:sp>
        <p:nvSpPr>
          <p:cNvPr id="22" name="Text 20"/>
          <p:cNvSpPr/>
          <p:nvPr/>
        </p:nvSpPr>
        <p:spPr>
          <a:xfrm>
            <a:off x="822960" y="3653681"/>
            <a:ext cx="237744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execution exceeded limit</a:t>
            </a:r>
            <a:endParaRPr lang="en-US" sz="950" dirty="0"/>
          </a:p>
        </p:txBody>
      </p:sp>
      <p:sp>
        <p:nvSpPr>
          <p:cNvPr id="23" name="Text 21"/>
          <p:cNvSpPr/>
          <p:nvPr/>
        </p:nvSpPr>
        <p:spPr>
          <a:xfrm>
            <a:off x="3429000" y="3342785"/>
            <a:ext cx="8229600" cy="38274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−0.2. Without this, infinite loops are free and the model has no reason to avoid them.</a:t>
            </a:r>
            <a:endParaRPr lang="en-US" sz="1180" dirty="0"/>
          </a:p>
        </p:txBody>
      </p:sp>
      <p:sp>
        <p:nvSpPr>
          <p:cNvPr id="24" name="Shape 22"/>
          <p:cNvSpPr/>
          <p:nvPr/>
        </p:nvSpPr>
        <p:spPr>
          <a:xfrm>
            <a:off x="502920" y="3908407"/>
            <a:ext cx="11155680" cy="565622"/>
          </a:xfrm>
          <a:prstGeom prst="roundRect">
            <a:avLst>
              <a:gd name="adj" fmla="val 1131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502920" y="3908407"/>
            <a:ext cx="91440" cy="565622"/>
          </a:xfrm>
          <a:prstGeom prst="rect">
            <a:avLst/>
          </a:prstGeom>
          <a:solidFill>
            <a:srgbClr val="A8482A"/>
          </a:solidFill>
          <a:ln/>
        </p:spPr>
      </p:sp>
      <p:sp>
        <p:nvSpPr>
          <p:cNvPr id="26" name="Text 24"/>
          <p:cNvSpPr/>
          <p:nvPr/>
        </p:nvSpPr>
        <p:spPr>
          <a:xfrm>
            <a:off x="822960" y="4018135"/>
            <a:ext cx="237744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Banned imports</a:t>
            </a:r>
            <a:endParaRPr lang="en-US" sz="1250" dirty="0"/>
          </a:p>
        </p:txBody>
      </p:sp>
      <p:sp>
        <p:nvSpPr>
          <p:cNvPr id="27" name="Text 25"/>
          <p:cNvSpPr/>
          <p:nvPr/>
        </p:nvSpPr>
        <p:spPr>
          <a:xfrm>
            <a:off x="822960" y="4310743"/>
            <a:ext cx="237744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os, sys, subprocess, socket</a:t>
            </a:r>
            <a:endParaRPr lang="en-US" sz="950" dirty="0"/>
          </a:p>
        </p:txBody>
      </p:sp>
      <p:sp>
        <p:nvSpPr>
          <p:cNvPr id="28" name="Text 26"/>
          <p:cNvSpPr/>
          <p:nvPr/>
        </p:nvSpPr>
        <p:spPr>
          <a:xfrm>
            <a:off x="3429000" y="3999847"/>
            <a:ext cx="8229600" cy="38274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−1.0. This is your anti-cheat. It must be paired with actual sandbox enforcement, not just scored.</a:t>
            </a:r>
            <a:endParaRPr lang="en-US" sz="1180" dirty="0"/>
          </a:p>
        </p:txBody>
      </p:sp>
      <p:sp>
        <p:nvSpPr>
          <p:cNvPr id="29" name="Shape 27"/>
          <p:cNvSpPr/>
          <p:nvPr/>
        </p:nvSpPr>
        <p:spPr>
          <a:xfrm>
            <a:off x="502920" y="4565469"/>
            <a:ext cx="11155680" cy="565622"/>
          </a:xfrm>
          <a:prstGeom prst="roundRect">
            <a:avLst>
              <a:gd name="adj" fmla="val 1131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502920" y="4565469"/>
            <a:ext cx="91440" cy="565622"/>
          </a:xfrm>
          <a:prstGeom prst="rect">
            <a:avLst/>
          </a:prstGeom>
          <a:solidFill>
            <a:srgbClr val="A8482A"/>
          </a:solidFill>
          <a:ln/>
        </p:spPr>
      </p:sp>
      <p:sp>
        <p:nvSpPr>
          <p:cNvPr id="31" name="Text 29"/>
          <p:cNvSpPr/>
          <p:nvPr/>
        </p:nvSpPr>
        <p:spPr>
          <a:xfrm>
            <a:off x="822960" y="4675197"/>
            <a:ext cx="237744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Test-file access</a:t>
            </a:r>
            <a:endParaRPr lang="en-US" sz="1250" dirty="0"/>
          </a:p>
        </p:txBody>
      </p:sp>
      <p:sp>
        <p:nvSpPr>
          <p:cNvPr id="32" name="Text 30"/>
          <p:cNvSpPr/>
          <p:nvPr/>
        </p:nvSpPr>
        <p:spPr>
          <a:xfrm>
            <a:off x="822960" y="4967805"/>
            <a:ext cx="237744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flagged by sandbox</a:t>
            </a:r>
            <a:endParaRPr lang="en-US" sz="950" dirty="0"/>
          </a:p>
        </p:txBody>
      </p:sp>
      <p:sp>
        <p:nvSpPr>
          <p:cNvPr id="33" name="Text 31"/>
          <p:cNvSpPr/>
          <p:nvPr/>
        </p:nvSpPr>
        <p:spPr>
          <a:xfrm>
            <a:off x="3429000" y="4656909"/>
            <a:ext cx="8229600" cy="38274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−1.0. The single most important penalty. See the gallery on the following slides.</a:t>
            </a:r>
            <a:endParaRPr lang="en-US" sz="1180" dirty="0"/>
          </a:p>
        </p:txBody>
      </p:sp>
      <p:sp>
        <p:nvSpPr>
          <p:cNvPr id="34" name="Shape 32"/>
          <p:cNvSpPr/>
          <p:nvPr/>
        </p:nvSpPr>
        <p:spPr>
          <a:xfrm>
            <a:off x="502920" y="5222530"/>
            <a:ext cx="11155680" cy="565622"/>
          </a:xfrm>
          <a:prstGeom prst="roundRect">
            <a:avLst>
              <a:gd name="adj" fmla="val 1131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5" name="Shape 33"/>
          <p:cNvSpPr/>
          <p:nvPr/>
        </p:nvSpPr>
        <p:spPr>
          <a:xfrm>
            <a:off x="502920" y="5222530"/>
            <a:ext cx="91440" cy="565622"/>
          </a:xfrm>
          <a:prstGeom prst="rect">
            <a:avLst/>
          </a:prstGeom>
          <a:solidFill>
            <a:srgbClr val="D98E32"/>
          </a:solidFill>
          <a:ln/>
        </p:spPr>
      </p:sp>
      <p:sp>
        <p:nvSpPr>
          <p:cNvPr id="36" name="Text 34"/>
          <p:cNvSpPr/>
          <p:nvPr/>
        </p:nvSpPr>
        <p:spPr>
          <a:xfrm>
            <a:off x="822960" y="5332258"/>
            <a:ext cx="237744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Length</a:t>
            </a:r>
            <a:endParaRPr lang="en-US" sz="1250" dirty="0"/>
          </a:p>
        </p:txBody>
      </p:sp>
      <p:sp>
        <p:nvSpPr>
          <p:cNvPr id="37" name="Text 35"/>
          <p:cNvSpPr/>
          <p:nvPr/>
        </p:nvSpPr>
        <p:spPr>
          <a:xfrm>
            <a:off x="822960" y="5624866"/>
            <a:ext cx="237744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tokens beyond a cap</a:t>
            </a:r>
            <a:endParaRPr lang="en-US" sz="950" dirty="0"/>
          </a:p>
        </p:txBody>
      </p:sp>
      <p:sp>
        <p:nvSpPr>
          <p:cNvPr id="38" name="Text 36"/>
          <p:cNvSpPr/>
          <p:nvPr/>
        </p:nvSpPr>
        <p:spPr>
          <a:xfrm>
            <a:off x="3429000" y="5313970"/>
            <a:ext cx="8229600" cy="38274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−0.001/token beyond 512. Optional. Counters the verbosity that DPO introduced. Watch for truncation gaming.</a:t>
            </a:r>
            <a:endParaRPr lang="en-US" sz="1180" dirty="0"/>
          </a:p>
        </p:txBody>
      </p:sp>
      <p:sp>
        <p:nvSpPr>
          <p:cNvPr id="39" name="Shape 37"/>
          <p:cNvSpPr/>
          <p:nvPr/>
        </p:nvSpPr>
        <p:spPr>
          <a:xfrm>
            <a:off x="502920" y="5897880"/>
            <a:ext cx="11155680" cy="566928"/>
          </a:xfrm>
          <a:prstGeom prst="roundRect">
            <a:avLst>
              <a:gd name="adj" fmla="val 9677"/>
            </a:avLst>
          </a:prstGeom>
          <a:solidFill>
            <a:srgbClr val="8FB573"/>
          </a:solidFill>
          <a:ln/>
        </p:spPr>
      </p:sp>
      <p:sp>
        <p:nvSpPr>
          <p:cNvPr id="40" name="Text 38"/>
          <p:cNvSpPr/>
          <p:nvPr/>
        </p:nvSpPr>
        <p:spPr>
          <a:xfrm>
            <a:off x="777240" y="589788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Start with correctness + format only. Add each penalty in response to a hack you actually observed — not preemptively.</a:t>
            </a:r>
            <a:endParaRPr lang="en-US" sz="1450" dirty="0"/>
          </a:p>
        </p:txBody>
      </p:sp>
      <p:sp>
        <p:nvSpPr>
          <p:cNvPr id="41" name="Text 3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134</a:t>
            </a:r>
            <a:endParaRPr lang="en-US" sz="9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Dense vs sparse reward — why partial credit matters so much</a:t>
            </a:r>
            <a:endParaRPr lang="en-US" sz="2900" dirty="0"/>
          </a:p>
        </p:txBody>
      </p:sp>
      <p:graphicFrame>
        <p:nvGraphicFramePr>
          <p:cNvPr id="4" name="Chart 0" descr=""/>
          <p:cNvGraphicFramePr/>
          <p:nvPr/>
        </p:nvGraphicFramePr>
        <p:xfrm>
          <a:off x="502920" y="1280160"/>
          <a:ext cx="667512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269480" y="1280160"/>
            <a:ext cx="4389120" cy="1024128"/>
          </a:xfrm>
          <a:prstGeom prst="roundRect">
            <a:avLst>
              <a:gd name="adj" fmla="val 62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7488936" y="1426464"/>
            <a:ext cx="395020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Binary reward starves the group</a:t>
            </a:r>
            <a:endParaRPr lang="en-US" sz="1250" dirty="0"/>
          </a:p>
        </p:txBody>
      </p:sp>
      <p:sp>
        <p:nvSpPr>
          <p:cNvPr id="7" name="Text 4"/>
          <p:cNvSpPr/>
          <p:nvPr/>
        </p:nvSpPr>
        <p:spPr>
          <a:xfrm>
            <a:off x="7488936" y="1737360"/>
            <a:ext cx="3950208" cy="42062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On a hard problem, all 8 samples fail. Reward is 0 for every one. Standard deviation is zero. Advantage is zero. No gradient.</a:t>
            </a:r>
            <a:endParaRPr lang="en-US" sz="1100" dirty="0"/>
          </a:p>
        </p:txBody>
      </p:sp>
      <p:sp>
        <p:nvSpPr>
          <p:cNvPr id="8" name="Shape 5"/>
          <p:cNvSpPr/>
          <p:nvPr/>
        </p:nvSpPr>
        <p:spPr>
          <a:xfrm>
            <a:off x="7269480" y="2414016"/>
            <a:ext cx="4389120" cy="1024128"/>
          </a:xfrm>
          <a:prstGeom prst="roundRect">
            <a:avLst>
              <a:gd name="adj" fmla="val 62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7488936" y="2560320"/>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Dense reward creates a slope</a:t>
            </a:r>
            <a:endParaRPr lang="en-US" sz="1250" dirty="0"/>
          </a:p>
        </p:txBody>
      </p:sp>
      <p:sp>
        <p:nvSpPr>
          <p:cNvPr id="10" name="Text 7"/>
          <p:cNvSpPr/>
          <p:nvPr/>
        </p:nvSpPr>
        <p:spPr>
          <a:xfrm>
            <a:off x="7488936" y="2871216"/>
            <a:ext cx="3950208" cy="42062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One sample passes 3 of 10 tests, another passes 5. Now there is variance, there is an advantage, and there is a direction to move.</a:t>
            </a:r>
            <a:endParaRPr lang="en-US" sz="1100" dirty="0"/>
          </a:p>
        </p:txBody>
      </p:sp>
      <p:sp>
        <p:nvSpPr>
          <p:cNvPr id="11" name="Shape 8"/>
          <p:cNvSpPr/>
          <p:nvPr/>
        </p:nvSpPr>
        <p:spPr>
          <a:xfrm>
            <a:off x="7269480" y="3547872"/>
            <a:ext cx="4389120" cy="1024128"/>
          </a:xfrm>
          <a:prstGeom prst="roundRect">
            <a:avLst>
              <a:gd name="adj" fmla="val 625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7488936" y="3694176"/>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This is the highest-leverage reward decision</a:t>
            </a:r>
            <a:endParaRPr lang="en-US" sz="1250" dirty="0"/>
          </a:p>
        </p:txBody>
      </p:sp>
      <p:sp>
        <p:nvSpPr>
          <p:cNvPr id="13" name="Text 10"/>
          <p:cNvSpPr/>
          <p:nvPr/>
        </p:nvSpPr>
        <p:spPr>
          <a:xfrm>
            <a:off x="7488936" y="4005072"/>
            <a:ext cx="3950208" cy="42062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Bigger than group size, bigger than KL coefficient, bigger than learning rate. Get it right first.</a:t>
            </a:r>
            <a:endParaRPr lang="en-US" sz="1100" dirty="0"/>
          </a:p>
        </p:txBody>
      </p:sp>
      <p:sp>
        <p:nvSpPr>
          <p:cNvPr id="14" name="Shape 11"/>
          <p:cNvSpPr/>
          <p:nvPr/>
        </p:nvSpPr>
        <p:spPr>
          <a:xfrm>
            <a:off x="502920" y="4663440"/>
            <a:ext cx="11155680" cy="960120"/>
          </a:xfrm>
          <a:prstGeom prst="roundRect">
            <a:avLst>
              <a:gd name="adj" fmla="val 6667"/>
            </a:avLst>
          </a:prstGeom>
          <a:solidFill>
            <a:srgbClr val="1F3D2E"/>
          </a:solidFill>
          <a:ln/>
        </p:spPr>
      </p:sp>
      <p:sp>
        <p:nvSpPr>
          <p:cNvPr id="15" name="Shape 12"/>
          <p:cNvSpPr/>
          <p:nvPr/>
        </p:nvSpPr>
        <p:spPr>
          <a:xfrm>
            <a:off x="740664" y="4846320"/>
            <a:ext cx="292608" cy="292608"/>
          </a:xfrm>
          <a:prstGeom prst="ellipse">
            <a:avLst/>
          </a:prstGeom>
          <a:solidFill>
            <a:srgbClr val="1F3D2E"/>
          </a:solidFill>
          <a:ln/>
        </p:spPr>
      </p:sp>
      <p:sp>
        <p:nvSpPr>
          <p:cNvPr id="16" name="Text 13"/>
          <p:cNvSpPr/>
          <p:nvPr/>
        </p:nvSpPr>
        <p:spPr>
          <a:xfrm>
            <a:off x="740664" y="48463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7" name="Text 14"/>
          <p:cNvSpPr/>
          <p:nvPr/>
        </p:nvSpPr>
        <p:spPr>
          <a:xfrm>
            <a:off x="1133856" y="48646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8" name="Text 15"/>
          <p:cNvSpPr/>
          <p:nvPr/>
        </p:nvSpPr>
        <p:spPr>
          <a:xfrm>
            <a:off x="740664" y="5239512"/>
            <a:ext cx="10680192" cy="21031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I ran binary reward for two days and concluded GRPO did not work on small models. It was not GRPO. Ninety percent of my groups had zero variance, so ninety percent of my compute produced literally no gradient.</a:t>
            </a:r>
            <a:endParaRPr lang="en-US" sz="1150" dirty="0"/>
          </a:p>
        </p:txBody>
      </p:sp>
      <p:sp>
        <p:nvSpPr>
          <p:cNvPr id="19" name="Text 16"/>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135</a:t>
            </a:r>
            <a:endParaRPr lang="en-US" sz="9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502920" y="365760"/>
            <a:ext cx="11155680" cy="274320"/>
          </a:xfrm>
          <a:prstGeom prst="rect">
            <a:avLst/>
          </a:prstGeom>
          <a:noFill/>
          <a:ln/>
        </p:spPr>
        <p:txBody>
          <a:bodyPr wrap="square" lIns="0" tIns="0" rIns="0" bIns="0" rtlCol="0" anchor="ctr"/>
          <a:lstStyle/>
          <a:p>
            <a:pPr indent="0" marL="0">
              <a:buNone/>
            </a:pPr>
            <a:r>
              <a:rPr lang="en-US" sz="1150" b="1" spc="300" kern="0" dirty="0">
                <a:solidFill>
                  <a:srgbClr val="D98E32"/>
                </a:solidFill>
                <a:latin typeface="Calibri" pitchFamily="34" charset="0"/>
                <a:ea typeface="Calibri" pitchFamily="34" charset="-122"/>
                <a:cs typeface="Calibri" pitchFamily="34" charset="-120"/>
              </a:rPr>
              <a:t>THE REWARD-HACKING GALLERY  ·  1 of 3</a:t>
            </a:r>
            <a:endParaRPr lang="en-US" sz="1150" dirty="0"/>
          </a:p>
        </p:txBody>
      </p:sp>
      <p:sp>
        <p:nvSpPr>
          <p:cNvPr id="3" name="Text 1"/>
          <p:cNvSpPr/>
          <p:nvPr/>
        </p:nvSpPr>
        <p:spPr>
          <a:xfrm>
            <a:off x="502920" y="685800"/>
            <a:ext cx="11155680" cy="5029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classics — you will meet all of these</a:t>
            </a:r>
            <a:endParaRPr lang="en-US" sz="3000" dirty="0"/>
          </a:p>
        </p:txBody>
      </p:sp>
      <p:sp>
        <p:nvSpPr>
          <p:cNvPr id="4" name="Shape 2"/>
          <p:cNvSpPr/>
          <p:nvPr/>
        </p:nvSpPr>
        <p:spPr>
          <a:xfrm>
            <a:off x="502920" y="1371600"/>
            <a:ext cx="3611880" cy="1572768"/>
          </a:xfrm>
          <a:prstGeom prst="roundRect">
            <a:avLst>
              <a:gd name="adj" fmla="val 4070"/>
            </a:avLst>
          </a:prstGeom>
          <a:solidFill>
            <a:srgbClr val="1F3D2E"/>
          </a:solidFill>
          <a:ln/>
        </p:spPr>
      </p:sp>
      <p:sp>
        <p:nvSpPr>
          <p:cNvPr id="5" name="Text 3"/>
          <p:cNvSpPr/>
          <p:nvPr/>
        </p:nvSpPr>
        <p:spPr>
          <a:xfrm>
            <a:off x="704088" y="1490472"/>
            <a:ext cx="3200400" cy="256032"/>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Reads the test file</a:t>
            </a:r>
            <a:endParaRPr lang="en-US" sz="1250" dirty="0"/>
          </a:p>
        </p:txBody>
      </p:sp>
      <p:sp>
        <p:nvSpPr>
          <p:cNvPr id="6" name="Text 4"/>
          <p:cNvSpPr/>
          <p:nvPr/>
        </p:nvSpPr>
        <p:spPr>
          <a:xfrm>
            <a:off x="704088" y="1773936"/>
            <a:ext cx="3246120" cy="256032"/>
          </a:xfrm>
          <a:prstGeom prst="rect">
            <a:avLst/>
          </a:prstGeom>
          <a:noFill/>
          <a:ln/>
        </p:spPr>
        <p:txBody>
          <a:bodyPr wrap="square" lIns="0" tIns="0" rIns="0" bIns="0" rtlCol="0" anchor="ctr"/>
          <a:lstStyle/>
          <a:p>
            <a:pPr indent="0" marL="0">
              <a:buNone/>
            </a:pPr>
            <a:r>
              <a:rPr lang="en-US" sz="900" dirty="0">
                <a:solidFill>
                  <a:srgbClr val="C9DDB4"/>
                </a:solidFill>
                <a:latin typeface="Courier New" pitchFamily="34" charset="0"/>
                <a:ea typeface="Courier New" pitchFamily="34" charset="-122"/>
                <a:cs typeface="Courier New" pitchFamily="34" charset="-120"/>
              </a:rPr>
              <a:t>open('test_solution.py').read()</a:t>
            </a:r>
            <a:endParaRPr lang="en-US" sz="900" dirty="0"/>
          </a:p>
        </p:txBody>
      </p:sp>
      <p:sp>
        <p:nvSpPr>
          <p:cNvPr id="7" name="Text 5"/>
          <p:cNvSpPr/>
          <p:nvPr/>
        </p:nvSpPr>
        <p:spPr>
          <a:xfrm>
            <a:off x="704088" y="2057400"/>
            <a:ext cx="3246120" cy="548640"/>
          </a:xfrm>
          <a:prstGeom prst="rect">
            <a:avLst/>
          </a:prstGeom>
          <a:noFill/>
          <a:ln/>
        </p:spPr>
        <p:txBody>
          <a:bodyPr wrap="square" lIns="0" tIns="0" rIns="0" bIns="0" rtlCol="0" anchor="t"/>
          <a:lstStyle/>
          <a:p>
            <a:pPr indent="0" marL="0">
              <a:buNone/>
            </a:pPr>
            <a:r>
              <a:rPr lang="en-US" sz="1000" dirty="0">
                <a:solidFill>
                  <a:srgbClr val="AEBFB2"/>
                </a:solidFill>
                <a:latin typeface="Calibri" pitchFamily="34" charset="0"/>
                <a:ea typeface="Calibri" pitchFamily="34" charset="-122"/>
                <a:cs typeface="Calibri" pitchFamily="34" charset="-120"/>
              </a:rPr>
              <a:t>Parses the expected outputs and returns them directly. Passes 100% of tests, learns nothing.</a:t>
            </a:r>
            <a:endParaRPr lang="en-US" sz="1000" dirty="0"/>
          </a:p>
        </p:txBody>
      </p:sp>
      <p:sp>
        <p:nvSpPr>
          <p:cNvPr id="8" name="Text 6"/>
          <p:cNvSpPr/>
          <p:nvPr/>
        </p:nvSpPr>
        <p:spPr>
          <a:xfrm>
            <a:off x="704088" y="2615184"/>
            <a:ext cx="3246120" cy="274320"/>
          </a:xfrm>
          <a:prstGeom prst="rect">
            <a:avLst/>
          </a:prstGeom>
          <a:noFill/>
          <a:ln/>
        </p:spPr>
        <p:txBody>
          <a:bodyPr wrap="square" lIns="0" tIns="0" rIns="0" bIns="0" rtlCol="0" anchor="t"/>
          <a:lstStyle/>
          <a:p>
            <a:pPr indent="0" marL="0">
              <a:buNone/>
            </a:pPr>
            <a:r>
              <a:rPr lang="en-US" sz="900" b="1" dirty="0">
                <a:solidFill>
                  <a:srgbClr val="8FB573"/>
                </a:solidFill>
                <a:latin typeface="Calibri" pitchFamily="34" charset="0"/>
                <a:ea typeface="Calibri" pitchFamily="34" charset="-122"/>
                <a:cs typeface="Calibri" pitchFamily="34" charset="-120"/>
              </a:rPr>
              <a:t>FIX  Tests live outside cwd. Flag any file read.</a:t>
            </a:r>
            <a:endParaRPr lang="en-US" sz="900" dirty="0"/>
          </a:p>
        </p:txBody>
      </p:sp>
      <p:sp>
        <p:nvSpPr>
          <p:cNvPr id="9" name="Shape 7"/>
          <p:cNvSpPr/>
          <p:nvPr/>
        </p:nvSpPr>
        <p:spPr>
          <a:xfrm>
            <a:off x="4297680" y="1371600"/>
            <a:ext cx="3611880" cy="1572768"/>
          </a:xfrm>
          <a:prstGeom prst="roundRect">
            <a:avLst>
              <a:gd name="adj" fmla="val 4070"/>
            </a:avLst>
          </a:prstGeom>
          <a:solidFill>
            <a:srgbClr val="1F3D2E"/>
          </a:solidFill>
          <a:ln/>
        </p:spPr>
      </p:sp>
      <p:sp>
        <p:nvSpPr>
          <p:cNvPr id="10" name="Text 8"/>
          <p:cNvSpPr/>
          <p:nvPr/>
        </p:nvSpPr>
        <p:spPr>
          <a:xfrm>
            <a:off x="4498848" y="1490472"/>
            <a:ext cx="3200400" cy="256032"/>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Exits clean</a:t>
            </a:r>
            <a:endParaRPr lang="en-US" sz="1250" dirty="0"/>
          </a:p>
        </p:txBody>
      </p:sp>
      <p:sp>
        <p:nvSpPr>
          <p:cNvPr id="11" name="Text 9"/>
          <p:cNvSpPr/>
          <p:nvPr/>
        </p:nvSpPr>
        <p:spPr>
          <a:xfrm>
            <a:off x="4498848" y="1773936"/>
            <a:ext cx="3246120" cy="256032"/>
          </a:xfrm>
          <a:prstGeom prst="rect">
            <a:avLst/>
          </a:prstGeom>
          <a:noFill/>
          <a:ln/>
        </p:spPr>
        <p:txBody>
          <a:bodyPr wrap="square" lIns="0" tIns="0" rIns="0" bIns="0" rtlCol="0" anchor="ctr"/>
          <a:lstStyle/>
          <a:p>
            <a:pPr indent="0" marL="0">
              <a:buNone/>
            </a:pPr>
            <a:r>
              <a:rPr lang="en-US" sz="900" dirty="0">
                <a:solidFill>
                  <a:srgbClr val="C9DDB4"/>
                </a:solidFill>
                <a:latin typeface="Courier New" pitchFamily="34" charset="0"/>
                <a:ea typeface="Courier New" pitchFamily="34" charset="-122"/>
                <a:cs typeface="Courier New" pitchFamily="34" charset="-120"/>
              </a:rPr>
              <a:t>import sys; sys.exit(0)</a:t>
            </a:r>
            <a:endParaRPr lang="en-US" sz="900" dirty="0"/>
          </a:p>
        </p:txBody>
      </p:sp>
      <p:sp>
        <p:nvSpPr>
          <p:cNvPr id="12" name="Text 10"/>
          <p:cNvSpPr/>
          <p:nvPr/>
        </p:nvSpPr>
        <p:spPr>
          <a:xfrm>
            <a:off x="4498848" y="2057400"/>
            <a:ext cx="3246120" cy="548640"/>
          </a:xfrm>
          <a:prstGeom prst="rect">
            <a:avLst/>
          </a:prstGeom>
          <a:noFill/>
          <a:ln/>
        </p:spPr>
        <p:txBody>
          <a:bodyPr wrap="square" lIns="0" tIns="0" rIns="0" bIns="0" rtlCol="0" anchor="t"/>
          <a:lstStyle/>
          <a:p>
            <a:pPr indent="0" marL="0">
              <a:buNone/>
            </a:pPr>
            <a:r>
              <a:rPr lang="en-US" sz="1000" dirty="0">
                <a:solidFill>
                  <a:srgbClr val="AEBFB2"/>
                </a:solidFill>
                <a:latin typeface="Calibri" pitchFamily="34" charset="0"/>
                <a:ea typeface="Calibri" pitchFamily="34" charset="-122"/>
                <a:cs typeface="Calibri" pitchFamily="34" charset="-120"/>
              </a:rPr>
              <a:t>Return code 0. A harness that checks the exit code instead of parsing test output records a pass.</a:t>
            </a:r>
            <a:endParaRPr lang="en-US" sz="1000" dirty="0"/>
          </a:p>
        </p:txBody>
      </p:sp>
      <p:sp>
        <p:nvSpPr>
          <p:cNvPr id="13" name="Text 11"/>
          <p:cNvSpPr/>
          <p:nvPr/>
        </p:nvSpPr>
        <p:spPr>
          <a:xfrm>
            <a:off x="4498848" y="2615184"/>
            <a:ext cx="3246120" cy="274320"/>
          </a:xfrm>
          <a:prstGeom prst="rect">
            <a:avLst/>
          </a:prstGeom>
          <a:noFill/>
          <a:ln/>
        </p:spPr>
        <p:txBody>
          <a:bodyPr wrap="square" lIns="0" tIns="0" rIns="0" bIns="0" rtlCol="0" anchor="t"/>
          <a:lstStyle/>
          <a:p>
            <a:pPr indent="0" marL="0">
              <a:buNone/>
            </a:pPr>
            <a:r>
              <a:rPr lang="en-US" sz="900" b="1" dirty="0">
                <a:solidFill>
                  <a:srgbClr val="8FB573"/>
                </a:solidFill>
                <a:latin typeface="Calibri" pitchFamily="34" charset="0"/>
                <a:ea typeface="Calibri" pitchFamily="34" charset="-122"/>
                <a:cs typeface="Calibri" pitchFamily="34" charset="-120"/>
              </a:rPr>
              <a:t>FIX  Parse test OUTPUT, never the exit code.</a:t>
            </a:r>
            <a:endParaRPr lang="en-US" sz="900" dirty="0"/>
          </a:p>
        </p:txBody>
      </p:sp>
      <p:sp>
        <p:nvSpPr>
          <p:cNvPr id="14" name="Shape 12"/>
          <p:cNvSpPr/>
          <p:nvPr/>
        </p:nvSpPr>
        <p:spPr>
          <a:xfrm>
            <a:off x="8092440" y="1371600"/>
            <a:ext cx="3611880" cy="1572768"/>
          </a:xfrm>
          <a:prstGeom prst="roundRect">
            <a:avLst>
              <a:gd name="adj" fmla="val 4070"/>
            </a:avLst>
          </a:prstGeom>
          <a:solidFill>
            <a:srgbClr val="1F3D2E"/>
          </a:solidFill>
          <a:ln/>
        </p:spPr>
      </p:sp>
      <p:sp>
        <p:nvSpPr>
          <p:cNvPr id="15" name="Text 13"/>
          <p:cNvSpPr/>
          <p:nvPr/>
        </p:nvSpPr>
        <p:spPr>
          <a:xfrm>
            <a:off x="8293608" y="1490472"/>
            <a:ext cx="3200400" cy="256032"/>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Swallows everything</a:t>
            </a:r>
            <a:endParaRPr lang="en-US" sz="1250" dirty="0"/>
          </a:p>
        </p:txBody>
      </p:sp>
      <p:sp>
        <p:nvSpPr>
          <p:cNvPr id="16" name="Text 14"/>
          <p:cNvSpPr/>
          <p:nvPr/>
        </p:nvSpPr>
        <p:spPr>
          <a:xfrm>
            <a:off x="8293608" y="1773936"/>
            <a:ext cx="3246120" cy="256032"/>
          </a:xfrm>
          <a:prstGeom prst="rect">
            <a:avLst/>
          </a:prstGeom>
          <a:noFill/>
          <a:ln/>
        </p:spPr>
        <p:txBody>
          <a:bodyPr wrap="square" lIns="0" tIns="0" rIns="0" bIns="0" rtlCol="0" anchor="ctr"/>
          <a:lstStyle/>
          <a:p>
            <a:pPr indent="0" marL="0">
              <a:buNone/>
            </a:pPr>
            <a:r>
              <a:rPr lang="en-US" sz="900" dirty="0">
                <a:solidFill>
                  <a:srgbClr val="C9DDB4"/>
                </a:solidFill>
                <a:latin typeface="Courier New" pitchFamily="34" charset="0"/>
                <a:ea typeface="Courier New" pitchFamily="34" charset="-122"/>
                <a:cs typeface="Courier New" pitchFamily="34" charset="-120"/>
              </a:rPr>
              <a:t>try: solve() \n except: pass</a:t>
            </a:r>
            <a:endParaRPr lang="en-US" sz="900" dirty="0"/>
          </a:p>
        </p:txBody>
      </p:sp>
      <p:sp>
        <p:nvSpPr>
          <p:cNvPr id="17" name="Text 15"/>
          <p:cNvSpPr/>
          <p:nvPr/>
        </p:nvSpPr>
        <p:spPr>
          <a:xfrm>
            <a:off x="8293608" y="2057400"/>
            <a:ext cx="3246120" cy="548640"/>
          </a:xfrm>
          <a:prstGeom prst="rect">
            <a:avLst/>
          </a:prstGeom>
          <a:noFill/>
          <a:ln/>
        </p:spPr>
        <p:txBody>
          <a:bodyPr wrap="square" lIns="0" tIns="0" rIns="0" bIns="0" rtlCol="0" anchor="t"/>
          <a:lstStyle/>
          <a:p>
            <a:pPr indent="0" marL="0">
              <a:buNone/>
            </a:pPr>
            <a:r>
              <a:rPr lang="en-US" sz="1000" dirty="0">
                <a:solidFill>
                  <a:srgbClr val="AEBFB2"/>
                </a:solidFill>
                <a:latin typeface="Calibri" pitchFamily="34" charset="0"/>
                <a:ea typeface="Calibri" pitchFamily="34" charset="-122"/>
                <a:cs typeface="Calibri" pitchFamily="34" charset="-120"/>
              </a:rPr>
              <a:t>Nothing raises, so the test runner reports no failures on some frameworks.</a:t>
            </a:r>
            <a:endParaRPr lang="en-US" sz="1000" dirty="0"/>
          </a:p>
        </p:txBody>
      </p:sp>
      <p:sp>
        <p:nvSpPr>
          <p:cNvPr id="18" name="Text 16"/>
          <p:cNvSpPr/>
          <p:nvPr/>
        </p:nvSpPr>
        <p:spPr>
          <a:xfrm>
            <a:off x="8293608" y="2615184"/>
            <a:ext cx="3246120" cy="274320"/>
          </a:xfrm>
          <a:prstGeom prst="rect">
            <a:avLst/>
          </a:prstGeom>
          <a:noFill/>
          <a:ln/>
        </p:spPr>
        <p:txBody>
          <a:bodyPr wrap="square" lIns="0" tIns="0" rIns="0" bIns="0" rtlCol="0" anchor="t"/>
          <a:lstStyle/>
          <a:p>
            <a:pPr indent="0" marL="0">
              <a:buNone/>
            </a:pPr>
            <a:r>
              <a:rPr lang="en-US" sz="900" b="1" dirty="0">
                <a:solidFill>
                  <a:srgbClr val="8FB573"/>
                </a:solidFill>
                <a:latin typeface="Calibri" pitchFamily="34" charset="0"/>
                <a:ea typeface="Calibri" pitchFamily="34" charset="-122"/>
                <a:cs typeface="Calibri" pitchFamily="34" charset="-120"/>
              </a:rPr>
              <a:t>FIX  Assert on counts of passed tests, not absence of errors.</a:t>
            </a:r>
            <a:endParaRPr lang="en-US" sz="900" dirty="0"/>
          </a:p>
        </p:txBody>
      </p:sp>
      <p:sp>
        <p:nvSpPr>
          <p:cNvPr id="19" name="Shape 17"/>
          <p:cNvSpPr/>
          <p:nvPr/>
        </p:nvSpPr>
        <p:spPr>
          <a:xfrm>
            <a:off x="502920" y="3090672"/>
            <a:ext cx="3611880" cy="1572768"/>
          </a:xfrm>
          <a:prstGeom prst="roundRect">
            <a:avLst>
              <a:gd name="adj" fmla="val 4070"/>
            </a:avLst>
          </a:prstGeom>
          <a:solidFill>
            <a:srgbClr val="1F3D2E"/>
          </a:solidFill>
          <a:ln/>
        </p:spPr>
      </p:sp>
      <p:sp>
        <p:nvSpPr>
          <p:cNvPr id="20" name="Text 18"/>
          <p:cNvSpPr/>
          <p:nvPr/>
        </p:nvSpPr>
        <p:spPr>
          <a:xfrm>
            <a:off x="704088" y="3209544"/>
            <a:ext cx="3200400" cy="256032"/>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Hardcodes the answers</a:t>
            </a:r>
            <a:endParaRPr lang="en-US" sz="1250" dirty="0"/>
          </a:p>
        </p:txBody>
      </p:sp>
      <p:sp>
        <p:nvSpPr>
          <p:cNvPr id="21" name="Text 19"/>
          <p:cNvSpPr/>
          <p:nvPr/>
        </p:nvSpPr>
        <p:spPr>
          <a:xfrm>
            <a:off x="704088" y="3493008"/>
            <a:ext cx="3246120" cy="256032"/>
          </a:xfrm>
          <a:prstGeom prst="rect">
            <a:avLst/>
          </a:prstGeom>
          <a:noFill/>
          <a:ln/>
        </p:spPr>
        <p:txBody>
          <a:bodyPr wrap="square" lIns="0" tIns="0" rIns="0" bIns="0" rtlCol="0" anchor="ctr"/>
          <a:lstStyle/>
          <a:p>
            <a:pPr indent="0" marL="0">
              <a:buNone/>
            </a:pPr>
            <a:r>
              <a:rPr lang="en-US" sz="900" dirty="0">
                <a:solidFill>
                  <a:srgbClr val="C9DDB4"/>
                </a:solidFill>
                <a:latin typeface="Courier New" pitchFamily="34" charset="0"/>
                <a:ea typeface="Courier New" pitchFamily="34" charset="-122"/>
                <a:cs typeface="Courier New" pitchFamily="34" charset="-120"/>
              </a:rPr>
              <a:t>if n == 7: return 13</a:t>
            </a:r>
            <a:endParaRPr lang="en-US" sz="900" dirty="0"/>
          </a:p>
        </p:txBody>
      </p:sp>
      <p:sp>
        <p:nvSpPr>
          <p:cNvPr id="22" name="Text 20"/>
          <p:cNvSpPr/>
          <p:nvPr/>
        </p:nvSpPr>
        <p:spPr>
          <a:xfrm>
            <a:off x="704088" y="3776472"/>
            <a:ext cx="3246120" cy="548640"/>
          </a:xfrm>
          <a:prstGeom prst="rect">
            <a:avLst/>
          </a:prstGeom>
          <a:noFill/>
          <a:ln/>
        </p:spPr>
        <p:txBody>
          <a:bodyPr wrap="square" lIns="0" tIns="0" rIns="0" bIns="0" rtlCol="0" anchor="t"/>
          <a:lstStyle/>
          <a:p>
            <a:pPr indent="0" marL="0">
              <a:buNone/>
            </a:pPr>
            <a:r>
              <a:rPr lang="en-US" sz="1000" dirty="0">
                <a:solidFill>
                  <a:srgbClr val="AEBFB2"/>
                </a:solidFill>
                <a:latin typeface="Calibri" pitchFamily="34" charset="0"/>
                <a:ea typeface="Calibri" pitchFamily="34" charset="-122"/>
                <a:cs typeface="Calibri" pitchFamily="34" charset="-120"/>
              </a:rPr>
              <a:t>Memorizes the visible test inputs. Perfect on shown tests, useless on held-out ones.</a:t>
            </a:r>
            <a:endParaRPr lang="en-US" sz="1000" dirty="0"/>
          </a:p>
        </p:txBody>
      </p:sp>
      <p:sp>
        <p:nvSpPr>
          <p:cNvPr id="23" name="Text 21"/>
          <p:cNvSpPr/>
          <p:nvPr/>
        </p:nvSpPr>
        <p:spPr>
          <a:xfrm>
            <a:off x="704088" y="4334256"/>
            <a:ext cx="3246120" cy="274320"/>
          </a:xfrm>
          <a:prstGeom prst="rect">
            <a:avLst/>
          </a:prstGeom>
          <a:noFill/>
          <a:ln/>
        </p:spPr>
        <p:txBody>
          <a:bodyPr wrap="square" lIns="0" tIns="0" rIns="0" bIns="0" rtlCol="0" anchor="t"/>
          <a:lstStyle/>
          <a:p>
            <a:pPr indent="0" marL="0">
              <a:buNone/>
            </a:pPr>
            <a:r>
              <a:rPr lang="en-US" sz="900" b="1" dirty="0">
                <a:solidFill>
                  <a:srgbClr val="8FB573"/>
                </a:solidFill>
                <a:latin typeface="Calibri" pitchFamily="34" charset="0"/>
                <a:ea typeface="Calibri" pitchFamily="34" charset="-122"/>
                <a:cs typeface="Calibri" pitchFamily="34" charset="-120"/>
              </a:rPr>
              <a:t>FIX  Hold out tests. Score on unseen cases only.</a:t>
            </a:r>
            <a:endParaRPr lang="en-US" sz="900" dirty="0"/>
          </a:p>
        </p:txBody>
      </p:sp>
      <p:sp>
        <p:nvSpPr>
          <p:cNvPr id="24" name="Shape 22"/>
          <p:cNvSpPr/>
          <p:nvPr/>
        </p:nvSpPr>
        <p:spPr>
          <a:xfrm>
            <a:off x="4297680" y="3090672"/>
            <a:ext cx="3611880" cy="1572768"/>
          </a:xfrm>
          <a:prstGeom prst="roundRect">
            <a:avLst>
              <a:gd name="adj" fmla="val 4070"/>
            </a:avLst>
          </a:prstGeom>
          <a:solidFill>
            <a:srgbClr val="1F3D2E"/>
          </a:solidFill>
          <a:ln/>
        </p:spPr>
      </p:sp>
      <p:sp>
        <p:nvSpPr>
          <p:cNvPr id="25" name="Text 23"/>
          <p:cNvSpPr/>
          <p:nvPr/>
        </p:nvSpPr>
        <p:spPr>
          <a:xfrm>
            <a:off x="4498848" y="3209544"/>
            <a:ext cx="3200400" cy="256032"/>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Trivially true tests</a:t>
            </a:r>
            <a:endParaRPr lang="en-US" sz="1250" dirty="0"/>
          </a:p>
        </p:txBody>
      </p:sp>
      <p:sp>
        <p:nvSpPr>
          <p:cNvPr id="26" name="Text 24"/>
          <p:cNvSpPr/>
          <p:nvPr/>
        </p:nvSpPr>
        <p:spPr>
          <a:xfrm>
            <a:off x="4498848" y="3493008"/>
            <a:ext cx="3246120" cy="256032"/>
          </a:xfrm>
          <a:prstGeom prst="rect">
            <a:avLst/>
          </a:prstGeom>
          <a:noFill/>
          <a:ln/>
        </p:spPr>
        <p:txBody>
          <a:bodyPr wrap="square" lIns="0" tIns="0" rIns="0" bIns="0" rtlCol="0" anchor="ctr"/>
          <a:lstStyle/>
          <a:p>
            <a:pPr indent="0" marL="0">
              <a:buNone/>
            </a:pPr>
            <a:r>
              <a:rPr lang="en-US" sz="900" dirty="0">
                <a:solidFill>
                  <a:srgbClr val="C9DDB4"/>
                </a:solidFill>
                <a:latin typeface="Courier New" pitchFamily="34" charset="0"/>
                <a:ea typeface="Courier New" pitchFamily="34" charset="-122"/>
                <a:cs typeface="Courier New" pitchFamily="34" charset="-120"/>
              </a:rPr>
              <a:t>def test_x(): assert True</a:t>
            </a:r>
            <a:endParaRPr lang="en-US" sz="900" dirty="0"/>
          </a:p>
        </p:txBody>
      </p:sp>
      <p:sp>
        <p:nvSpPr>
          <p:cNvPr id="27" name="Text 25"/>
          <p:cNvSpPr/>
          <p:nvPr/>
        </p:nvSpPr>
        <p:spPr>
          <a:xfrm>
            <a:off x="4498848" y="3776472"/>
            <a:ext cx="3246120" cy="548640"/>
          </a:xfrm>
          <a:prstGeom prst="rect">
            <a:avLst/>
          </a:prstGeom>
          <a:noFill/>
          <a:ln/>
        </p:spPr>
        <p:txBody>
          <a:bodyPr wrap="square" lIns="0" tIns="0" rIns="0" bIns="0" rtlCol="0" anchor="t"/>
          <a:lstStyle/>
          <a:p>
            <a:pPr indent="0" marL="0">
              <a:buNone/>
            </a:pPr>
            <a:r>
              <a:rPr lang="en-US" sz="1000" dirty="0">
                <a:solidFill>
                  <a:srgbClr val="AEBFB2"/>
                </a:solidFill>
                <a:latin typeface="Calibri" pitchFamily="34" charset="0"/>
                <a:ea typeface="Calibri" pitchFamily="34" charset="-122"/>
                <a:cs typeface="Calibri" pitchFamily="34" charset="-120"/>
              </a:rPr>
              <a:t>When the task is 'write tests', this satisfies any 'tests pass' reward.</a:t>
            </a:r>
            <a:endParaRPr lang="en-US" sz="1000" dirty="0"/>
          </a:p>
        </p:txBody>
      </p:sp>
      <p:sp>
        <p:nvSpPr>
          <p:cNvPr id="28" name="Text 26"/>
          <p:cNvSpPr/>
          <p:nvPr/>
        </p:nvSpPr>
        <p:spPr>
          <a:xfrm>
            <a:off x="4498848" y="4334256"/>
            <a:ext cx="3246120" cy="274320"/>
          </a:xfrm>
          <a:prstGeom prst="rect">
            <a:avLst/>
          </a:prstGeom>
          <a:noFill/>
          <a:ln/>
        </p:spPr>
        <p:txBody>
          <a:bodyPr wrap="square" lIns="0" tIns="0" rIns="0" bIns="0" rtlCol="0" anchor="t"/>
          <a:lstStyle/>
          <a:p>
            <a:pPr indent="0" marL="0">
              <a:buNone/>
            </a:pPr>
            <a:r>
              <a:rPr lang="en-US" sz="900" b="1" dirty="0">
                <a:solidFill>
                  <a:srgbClr val="8FB573"/>
                </a:solidFill>
                <a:latin typeface="Calibri" pitchFamily="34" charset="0"/>
                <a:ea typeface="Calibri" pitchFamily="34" charset="-122"/>
                <a:cs typeface="Calibri" pitchFamily="34" charset="-120"/>
              </a:rPr>
              <a:t>FIX  Mutation testing: do the tests catch a broken impl?</a:t>
            </a:r>
            <a:endParaRPr lang="en-US" sz="900" dirty="0"/>
          </a:p>
        </p:txBody>
      </p:sp>
      <p:sp>
        <p:nvSpPr>
          <p:cNvPr id="29" name="Shape 27"/>
          <p:cNvSpPr/>
          <p:nvPr/>
        </p:nvSpPr>
        <p:spPr>
          <a:xfrm>
            <a:off x="8092440" y="3090672"/>
            <a:ext cx="3611880" cy="1572768"/>
          </a:xfrm>
          <a:prstGeom prst="roundRect">
            <a:avLst>
              <a:gd name="adj" fmla="val 4070"/>
            </a:avLst>
          </a:prstGeom>
          <a:solidFill>
            <a:srgbClr val="1F3D2E"/>
          </a:solidFill>
          <a:ln/>
        </p:spPr>
      </p:sp>
      <p:sp>
        <p:nvSpPr>
          <p:cNvPr id="30" name="Text 28"/>
          <p:cNvSpPr/>
          <p:nvPr/>
        </p:nvSpPr>
        <p:spPr>
          <a:xfrm>
            <a:off x="8293608" y="3209544"/>
            <a:ext cx="3200400" cy="256032"/>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Kills the timeout</a:t>
            </a:r>
            <a:endParaRPr lang="en-US" sz="1250" dirty="0"/>
          </a:p>
        </p:txBody>
      </p:sp>
      <p:sp>
        <p:nvSpPr>
          <p:cNvPr id="31" name="Text 29"/>
          <p:cNvSpPr/>
          <p:nvPr/>
        </p:nvSpPr>
        <p:spPr>
          <a:xfrm>
            <a:off x="8293608" y="3493008"/>
            <a:ext cx="3246120" cy="256032"/>
          </a:xfrm>
          <a:prstGeom prst="rect">
            <a:avLst/>
          </a:prstGeom>
          <a:noFill/>
          <a:ln/>
        </p:spPr>
        <p:txBody>
          <a:bodyPr wrap="square" lIns="0" tIns="0" rIns="0" bIns="0" rtlCol="0" anchor="ctr"/>
          <a:lstStyle/>
          <a:p>
            <a:pPr indent="0" marL="0">
              <a:buNone/>
            </a:pPr>
            <a:r>
              <a:rPr lang="en-US" sz="900" dirty="0">
                <a:solidFill>
                  <a:srgbClr val="C9DDB4"/>
                </a:solidFill>
                <a:latin typeface="Courier New" pitchFamily="34" charset="0"/>
                <a:ea typeface="Courier New" pitchFamily="34" charset="-122"/>
                <a:cs typeface="Courier New" pitchFamily="34" charset="-120"/>
              </a:rPr>
              <a:t>signal.alarm(0)</a:t>
            </a:r>
            <a:endParaRPr lang="en-US" sz="900" dirty="0"/>
          </a:p>
        </p:txBody>
      </p:sp>
      <p:sp>
        <p:nvSpPr>
          <p:cNvPr id="32" name="Text 30"/>
          <p:cNvSpPr/>
          <p:nvPr/>
        </p:nvSpPr>
        <p:spPr>
          <a:xfrm>
            <a:off x="8293608" y="3776472"/>
            <a:ext cx="3246120" cy="548640"/>
          </a:xfrm>
          <a:prstGeom prst="rect">
            <a:avLst/>
          </a:prstGeom>
          <a:noFill/>
          <a:ln/>
        </p:spPr>
        <p:txBody>
          <a:bodyPr wrap="square" lIns="0" tIns="0" rIns="0" bIns="0" rtlCol="0" anchor="t"/>
          <a:lstStyle/>
          <a:p>
            <a:pPr indent="0" marL="0">
              <a:buNone/>
            </a:pPr>
            <a:r>
              <a:rPr lang="en-US" sz="1000" dirty="0">
                <a:solidFill>
                  <a:srgbClr val="AEBFB2"/>
                </a:solidFill>
                <a:latin typeface="Calibri" pitchFamily="34" charset="0"/>
                <a:ea typeface="Calibri" pitchFamily="34" charset="-122"/>
                <a:cs typeface="Calibri" pitchFamily="34" charset="-120"/>
              </a:rPr>
              <a:t>Disables your kill switch from inside, then runs forever or stalls the batch.</a:t>
            </a:r>
            <a:endParaRPr lang="en-US" sz="1000" dirty="0"/>
          </a:p>
        </p:txBody>
      </p:sp>
      <p:sp>
        <p:nvSpPr>
          <p:cNvPr id="33" name="Text 31"/>
          <p:cNvSpPr/>
          <p:nvPr/>
        </p:nvSpPr>
        <p:spPr>
          <a:xfrm>
            <a:off x="8293608" y="4334256"/>
            <a:ext cx="3246120" cy="274320"/>
          </a:xfrm>
          <a:prstGeom prst="rect">
            <a:avLst/>
          </a:prstGeom>
          <a:noFill/>
          <a:ln/>
        </p:spPr>
        <p:txBody>
          <a:bodyPr wrap="square" lIns="0" tIns="0" rIns="0" bIns="0" rtlCol="0" anchor="t"/>
          <a:lstStyle/>
          <a:p>
            <a:pPr indent="0" marL="0">
              <a:buNone/>
            </a:pPr>
            <a:r>
              <a:rPr lang="en-US" sz="900" b="1" dirty="0">
                <a:solidFill>
                  <a:srgbClr val="8FB573"/>
                </a:solidFill>
                <a:latin typeface="Calibri" pitchFamily="34" charset="0"/>
                <a:ea typeface="Calibri" pitchFamily="34" charset="-122"/>
                <a:cs typeface="Calibri" pitchFamily="34" charset="-120"/>
              </a:rPr>
              <a:t>FIX  Enforce timeout in the PARENT, not the child.</a:t>
            </a:r>
            <a:endParaRPr lang="en-US" sz="900" dirty="0"/>
          </a:p>
        </p:txBody>
      </p:sp>
      <p:sp>
        <p:nvSpPr>
          <p:cNvPr id="34" name="Text 32"/>
          <p:cNvSpPr/>
          <p:nvPr/>
        </p:nvSpPr>
        <p:spPr>
          <a:xfrm>
            <a:off x="502920" y="5029200"/>
            <a:ext cx="11155680" cy="365760"/>
          </a:xfrm>
          <a:prstGeom prst="rect">
            <a:avLst/>
          </a:prstGeom>
          <a:noFill/>
          <a:ln/>
        </p:spPr>
        <p:txBody>
          <a:bodyPr wrap="square" lIns="0" tIns="0" rIns="0" bIns="0" rtlCol="0" anchor="ctr"/>
          <a:lstStyle/>
          <a:p>
            <a:pPr indent="0" marL="0">
              <a:buNone/>
            </a:pPr>
            <a:r>
              <a:rPr lang="en-US" sz="1300" i="1" dirty="0">
                <a:solidFill>
                  <a:srgbClr val="C9DDB4"/>
                </a:solidFill>
                <a:latin typeface="Calibri" pitchFamily="34" charset="0"/>
                <a:ea typeface="Calibri" pitchFamily="34" charset="-122"/>
                <a:cs typeface="Calibri" pitchFamily="34" charset="-120"/>
              </a:rPr>
              <a:t>Every one of these appeared at 0.5B on a laptop. You do not need scale to meet them.</a:t>
            </a:r>
            <a:endParaRPr lang="en-US" sz="1300" dirty="0"/>
          </a:p>
        </p:txBody>
      </p:sp>
      <p:sp>
        <p:nvSpPr>
          <p:cNvPr id="35" name="Text 3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136</a:t>
            </a:r>
            <a:endParaRPr lang="en-US" sz="9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502920" y="365760"/>
            <a:ext cx="11155680" cy="274320"/>
          </a:xfrm>
          <a:prstGeom prst="rect">
            <a:avLst/>
          </a:prstGeom>
          <a:noFill/>
          <a:ln/>
        </p:spPr>
        <p:txBody>
          <a:bodyPr wrap="square" lIns="0" tIns="0" rIns="0" bIns="0" rtlCol="0" anchor="ctr"/>
          <a:lstStyle/>
          <a:p>
            <a:pPr indent="0" marL="0">
              <a:buNone/>
            </a:pPr>
            <a:r>
              <a:rPr lang="en-US" sz="1150" b="1" spc="300" kern="0" dirty="0">
                <a:solidFill>
                  <a:srgbClr val="D98E32"/>
                </a:solidFill>
                <a:latin typeface="Calibri" pitchFamily="34" charset="0"/>
                <a:ea typeface="Calibri" pitchFamily="34" charset="-122"/>
                <a:cs typeface="Calibri" pitchFamily="34" charset="-120"/>
              </a:rPr>
              <a:t>THE REWARD-HACKING GALLERY  ·  2 of 3</a:t>
            </a:r>
            <a:endParaRPr lang="en-US" sz="1150" dirty="0"/>
          </a:p>
        </p:txBody>
      </p:sp>
      <p:sp>
        <p:nvSpPr>
          <p:cNvPr id="3" name="Text 1"/>
          <p:cNvSpPr/>
          <p:nvPr/>
        </p:nvSpPr>
        <p:spPr>
          <a:xfrm>
            <a:off x="502920" y="685800"/>
            <a:ext cx="11155680" cy="5029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subtle ones — these take weeks to notice</a:t>
            </a:r>
            <a:endParaRPr lang="en-US" sz="3000" dirty="0"/>
          </a:p>
        </p:txBody>
      </p:sp>
      <p:sp>
        <p:nvSpPr>
          <p:cNvPr id="4" name="Shape 2"/>
          <p:cNvSpPr/>
          <p:nvPr/>
        </p:nvSpPr>
        <p:spPr>
          <a:xfrm>
            <a:off x="502920" y="1371600"/>
            <a:ext cx="3611880" cy="1572768"/>
          </a:xfrm>
          <a:prstGeom prst="roundRect">
            <a:avLst>
              <a:gd name="adj" fmla="val 4070"/>
            </a:avLst>
          </a:prstGeom>
          <a:solidFill>
            <a:srgbClr val="1F3D2E"/>
          </a:solidFill>
          <a:ln/>
        </p:spPr>
      </p:sp>
      <p:sp>
        <p:nvSpPr>
          <p:cNvPr id="5" name="Text 3"/>
          <p:cNvSpPr/>
          <p:nvPr/>
        </p:nvSpPr>
        <p:spPr>
          <a:xfrm>
            <a:off x="704088" y="1490472"/>
            <a:ext cx="3200400" cy="256032"/>
          </a:xfrm>
          <a:prstGeom prst="rect">
            <a:avLst/>
          </a:prstGeom>
          <a:noFill/>
          <a:ln/>
        </p:spPr>
        <p:txBody>
          <a:bodyPr wrap="square" lIns="0" tIns="0" rIns="0" bIns="0" rtlCol="0" anchor="ctr"/>
          <a:lstStyle/>
          <a:p>
            <a:pPr indent="0" marL="0">
              <a:buNone/>
            </a:pPr>
            <a:r>
              <a:rPr lang="en-US" sz="1200" b="1" dirty="0">
                <a:solidFill>
                  <a:srgbClr val="D98E32"/>
                </a:solidFill>
                <a:latin typeface="Calibri" pitchFamily="34" charset="0"/>
                <a:ea typeface="Calibri" pitchFamily="34" charset="-122"/>
                <a:cs typeface="Calibri" pitchFamily="34" charset="-120"/>
              </a:rPr>
              <a:t>Format-only optimization</a:t>
            </a:r>
            <a:endParaRPr lang="en-US" sz="1200" dirty="0"/>
          </a:p>
        </p:txBody>
      </p:sp>
      <p:sp>
        <p:nvSpPr>
          <p:cNvPr id="6" name="Text 4"/>
          <p:cNvSpPr/>
          <p:nvPr/>
        </p:nvSpPr>
        <p:spPr>
          <a:xfrm>
            <a:off x="704088" y="1773936"/>
            <a:ext cx="3246120" cy="256032"/>
          </a:xfrm>
          <a:prstGeom prst="rect">
            <a:avLst/>
          </a:prstGeom>
          <a:noFill/>
          <a:ln/>
        </p:spPr>
        <p:txBody>
          <a:bodyPr wrap="square" lIns="0" tIns="0" rIns="0" bIns="0" rtlCol="0" anchor="ctr"/>
          <a:lstStyle/>
          <a:p>
            <a:pPr indent="0" marL="0">
              <a:buNone/>
            </a:pPr>
            <a:r>
              <a:rPr lang="en-US" sz="850" dirty="0">
                <a:solidFill>
                  <a:srgbClr val="C9DDB4"/>
                </a:solidFill>
                <a:latin typeface="Courier New" pitchFamily="34" charset="0"/>
                <a:ea typeface="Courier New" pitchFamily="34" charset="-122"/>
                <a:cs typeface="Courier New" pitchFamily="34" charset="-120"/>
              </a:rPr>
              <a:t>emits a perfect code fence containing nothing useful</a:t>
            </a:r>
            <a:endParaRPr lang="en-US" sz="850" dirty="0"/>
          </a:p>
        </p:txBody>
      </p:sp>
      <p:sp>
        <p:nvSpPr>
          <p:cNvPr id="7" name="Text 5"/>
          <p:cNvSpPr/>
          <p:nvPr/>
        </p:nvSpPr>
        <p:spPr>
          <a:xfrm>
            <a:off x="704088" y="2057400"/>
            <a:ext cx="3246120" cy="548640"/>
          </a:xfrm>
          <a:prstGeom prst="rect">
            <a:avLst/>
          </a:prstGeom>
          <a:noFill/>
          <a:ln/>
        </p:spPr>
        <p:txBody>
          <a:bodyPr wrap="square" lIns="0" tIns="0" rIns="0" bIns="0" rtlCol="0" anchor="t"/>
          <a:lstStyle/>
          <a:p>
            <a:pPr indent="0" marL="0">
              <a:buNone/>
            </a:pPr>
            <a:r>
              <a:rPr lang="en-US" sz="1000" dirty="0">
                <a:solidFill>
                  <a:srgbClr val="AEBFB2"/>
                </a:solidFill>
                <a:latin typeface="Calibri" pitchFamily="34" charset="0"/>
                <a:ea typeface="Calibri" pitchFamily="34" charset="-122"/>
                <a:cs typeface="Calibri" pitchFamily="34" charset="-120"/>
              </a:rPr>
              <a:t>You added a format reward. The model found it is cheaper to satisfy than correctness.</a:t>
            </a:r>
            <a:endParaRPr lang="en-US" sz="1000" dirty="0"/>
          </a:p>
        </p:txBody>
      </p:sp>
      <p:sp>
        <p:nvSpPr>
          <p:cNvPr id="8" name="Text 6"/>
          <p:cNvSpPr/>
          <p:nvPr/>
        </p:nvSpPr>
        <p:spPr>
          <a:xfrm>
            <a:off x="704088" y="2615184"/>
            <a:ext cx="3246120" cy="274320"/>
          </a:xfrm>
          <a:prstGeom prst="rect">
            <a:avLst/>
          </a:prstGeom>
          <a:noFill/>
          <a:ln/>
        </p:spPr>
        <p:txBody>
          <a:bodyPr wrap="square" lIns="0" tIns="0" rIns="0" bIns="0" rtlCol="0" anchor="t"/>
          <a:lstStyle/>
          <a:p>
            <a:pPr indent="0" marL="0">
              <a:buNone/>
            </a:pPr>
            <a:r>
              <a:rPr lang="en-US" sz="900" b="1" dirty="0">
                <a:solidFill>
                  <a:srgbClr val="8FB573"/>
                </a:solidFill>
                <a:latin typeface="Calibri" pitchFamily="34" charset="0"/>
                <a:ea typeface="Calibri" pitchFamily="34" charset="-122"/>
                <a:cs typeface="Calibri" pitchFamily="34" charset="-120"/>
              </a:rPr>
              <a:t>FIX  Make format reward conditional on compiling.</a:t>
            </a:r>
            <a:endParaRPr lang="en-US" sz="900" dirty="0"/>
          </a:p>
        </p:txBody>
      </p:sp>
      <p:sp>
        <p:nvSpPr>
          <p:cNvPr id="9" name="Shape 7"/>
          <p:cNvSpPr/>
          <p:nvPr/>
        </p:nvSpPr>
        <p:spPr>
          <a:xfrm>
            <a:off x="4297680" y="1371600"/>
            <a:ext cx="3611880" cy="1572768"/>
          </a:xfrm>
          <a:prstGeom prst="roundRect">
            <a:avLst>
              <a:gd name="adj" fmla="val 4070"/>
            </a:avLst>
          </a:prstGeom>
          <a:solidFill>
            <a:srgbClr val="1F3D2E"/>
          </a:solidFill>
          <a:ln/>
        </p:spPr>
      </p:sp>
      <p:sp>
        <p:nvSpPr>
          <p:cNvPr id="10" name="Text 8"/>
          <p:cNvSpPr/>
          <p:nvPr/>
        </p:nvSpPr>
        <p:spPr>
          <a:xfrm>
            <a:off x="4498848" y="1490472"/>
            <a:ext cx="3200400" cy="256032"/>
          </a:xfrm>
          <a:prstGeom prst="rect">
            <a:avLst/>
          </a:prstGeom>
          <a:noFill/>
          <a:ln/>
        </p:spPr>
        <p:txBody>
          <a:bodyPr wrap="square" lIns="0" tIns="0" rIns="0" bIns="0" rtlCol="0" anchor="ctr"/>
          <a:lstStyle/>
          <a:p>
            <a:pPr indent="0" marL="0">
              <a:buNone/>
            </a:pPr>
            <a:r>
              <a:rPr lang="en-US" sz="1200" b="1" dirty="0">
                <a:solidFill>
                  <a:srgbClr val="D98E32"/>
                </a:solidFill>
                <a:latin typeface="Calibri" pitchFamily="34" charset="0"/>
                <a:ea typeface="Calibri" pitchFamily="34" charset="-122"/>
                <a:cs typeface="Calibri" pitchFamily="34" charset="-120"/>
              </a:rPr>
              <a:t>Length gaming</a:t>
            </a:r>
            <a:endParaRPr lang="en-US" sz="1200" dirty="0"/>
          </a:p>
        </p:txBody>
      </p:sp>
      <p:sp>
        <p:nvSpPr>
          <p:cNvPr id="11" name="Text 9"/>
          <p:cNvSpPr/>
          <p:nvPr/>
        </p:nvSpPr>
        <p:spPr>
          <a:xfrm>
            <a:off x="4498848" y="1773936"/>
            <a:ext cx="3246120" cy="256032"/>
          </a:xfrm>
          <a:prstGeom prst="rect">
            <a:avLst/>
          </a:prstGeom>
          <a:noFill/>
          <a:ln/>
        </p:spPr>
        <p:txBody>
          <a:bodyPr wrap="square" lIns="0" tIns="0" rIns="0" bIns="0" rtlCol="0" anchor="ctr"/>
          <a:lstStyle/>
          <a:p>
            <a:pPr indent="0" marL="0">
              <a:buNone/>
            </a:pPr>
            <a:r>
              <a:rPr lang="en-US" sz="850" dirty="0">
                <a:solidFill>
                  <a:srgbClr val="C9DDB4"/>
                </a:solidFill>
                <a:latin typeface="Courier New" pitchFamily="34" charset="0"/>
                <a:ea typeface="Courier New" pitchFamily="34" charset="-122"/>
                <a:cs typeface="Courier New" pitchFamily="34" charset="-120"/>
              </a:rPr>
              <a:t>one-character variable names, no whitespace</a:t>
            </a:r>
            <a:endParaRPr lang="en-US" sz="850" dirty="0"/>
          </a:p>
        </p:txBody>
      </p:sp>
      <p:sp>
        <p:nvSpPr>
          <p:cNvPr id="12" name="Text 10"/>
          <p:cNvSpPr/>
          <p:nvPr/>
        </p:nvSpPr>
        <p:spPr>
          <a:xfrm>
            <a:off x="4498848" y="2057400"/>
            <a:ext cx="3246120" cy="548640"/>
          </a:xfrm>
          <a:prstGeom prst="rect">
            <a:avLst/>
          </a:prstGeom>
          <a:noFill/>
          <a:ln/>
        </p:spPr>
        <p:txBody>
          <a:bodyPr wrap="square" lIns="0" tIns="0" rIns="0" bIns="0" rtlCol="0" anchor="t"/>
          <a:lstStyle/>
          <a:p>
            <a:pPr indent="0" marL="0">
              <a:buNone/>
            </a:pPr>
            <a:r>
              <a:rPr lang="en-US" sz="1000" dirty="0">
                <a:solidFill>
                  <a:srgbClr val="AEBFB2"/>
                </a:solidFill>
                <a:latin typeface="Calibri" pitchFamily="34" charset="0"/>
                <a:ea typeface="Calibri" pitchFamily="34" charset="-122"/>
                <a:cs typeface="Calibri" pitchFamily="34" charset="-120"/>
              </a:rPr>
              <a:t>You added a length penalty. It responded with unreadable code golf.</a:t>
            </a:r>
            <a:endParaRPr lang="en-US" sz="1000" dirty="0"/>
          </a:p>
        </p:txBody>
      </p:sp>
      <p:sp>
        <p:nvSpPr>
          <p:cNvPr id="13" name="Text 11"/>
          <p:cNvSpPr/>
          <p:nvPr/>
        </p:nvSpPr>
        <p:spPr>
          <a:xfrm>
            <a:off x="4498848" y="2615184"/>
            <a:ext cx="3246120" cy="274320"/>
          </a:xfrm>
          <a:prstGeom prst="rect">
            <a:avLst/>
          </a:prstGeom>
          <a:noFill/>
          <a:ln/>
        </p:spPr>
        <p:txBody>
          <a:bodyPr wrap="square" lIns="0" tIns="0" rIns="0" bIns="0" rtlCol="0" anchor="t"/>
          <a:lstStyle/>
          <a:p>
            <a:pPr indent="0" marL="0">
              <a:buNone/>
            </a:pPr>
            <a:r>
              <a:rPr lang="en-US" sz="900" b="1" dirty="0">
                <a:solidFill>
                  <a:srgbClr val="8FB573"/>
                </a:solidFill>
                <a:latin typeface="Calibri" pitchFamily="34" charset="0"/>
                <a:ea typeface="Calibri" pitchFamily="34" charset="-122"/>
                <a:cs typeface="Calibri" pitchFamily="34" charset="-120"/>
              </a:rPr>
              <a:t>FIX  Cap the penalty; do not minimize length.</a:t>
            </a:r>
            <a:endParaRPr lang="en-US" sz="900" dirty="0"/>
          </a:p>
        </p:txBody>
      </p:sp>
      <p:sp>
        <p:nvSpPr>
          <p:cNvPr id="14" name="Shape 12"/>
          <p:cNvSpPr/>
          <p:nvPr/>
        </p:nvSpPr>
        <p:spPr>
          <a:xfrm>
            <a:off x="8092440" y="1371600"/>
            <a:ext cx="3611880" cy="1572768"/>
          </a:xfrm>
          <a:prstGeom prst="roundRect">
            <a:avLst>
              <a:gd name="adj" fmla="val 4070"/>
            </a:avLst>
          </a:prstGeom>
          <a:solidFill>
            <a:srgbClr val="1F3D2E"/>
          </a:solidFill>
          <a:ln/>
        </p:spPr>
      </p:sp>
      <p:sp>
        <p:nvSpPr>
          <p:cNvPr id="15" name="Text 13"/>
          <p:cNvSpPr/>
          <p:nvPr/>
        </p:nvSpPr>
        <p:spPr>
          <a:xfrm>
            <a:off x="8293608" y="1490472"/>
            <a:ext cx="3200400" cy="256032"/>
          </a:xfrm>
          <a:prstGeom prst="rect">
            <a:avLst/>
          </a:prstGeom>
          <a:noFill/>
          <a:ln/>
        </p:spPr>
        <p:txBody>
          <a:bodyPr wrap="square" lIns="0" tIns="0" rIns="0" bIns="0" rtlCol="0" anchor="ctr"/>
          <a:lstStyle/>
          <a:p>
            <a:pPr indent="0" marL="0">
              <a:buNone/>
            </a:pPr>
            <a:r>
              <a:rPr lang="en-US" sz="1200" b="1" dirty="0">
                <a:solidFill>
                  <a:srgbClr val="D98E32"/>
                </a:solidFill>
                <a:latin typeface="Calibri" pitchFamily="34" charset="0"/>
                <a:ea typeface="Calibri" pitchFamily="34" charset="-122"/>
                <a:cs typeface="Calibri" pitchFamily="34" charset="-120"/>
              </a:rPr>
              <a:t>Truncation gaming</a:t>
            </a:r>
            <a:endParaRPr lang="en-US" sz="1200" dirty="0"/>
          </a:p>
        </p:txBody>
      </p:sp>
      <p:sp>
        <p:nvSpPr>
          <p:cNvPr id="16" name="Text 14"/>
          <p:cNvSpPr/>
          <p:nvPr/>
        </p:nvSpPr>
        <p:spPr>
          <a:xfrm>
            <a:off x="8293608" y="1773936"/>
            <a:ext cx="3246120" cy="256032"/>
          </a:xfrm>
          <a:prstGeom prst="rect">
            <a:avLst/>
          </a:prstGeom>
          <a:noFill/>
          <a:ln/>
        </p:spPr>
        <p:txBody>
          <a:bodyPr wrap="square" lIns="0" tIns="0" rIns="0" bIns="0" rtlCol="0" anchor="ctr"/>
          <a:lstStyle/>
          <a:p>
            <a:pPr indent="0" marL="0">
              <a:buNone/>
            </a:pPr>
            <a:r>
              <a:rPr lang="en-US" sz="850" dirty="0">
                <a:solidFill>
                  <a:srgbClr val="C9DDB4"/>
                </a:solidFill>
                <a:latin typeface="Courier New" pitchFamily="34" charset="0"/>
                <a:ea typeface="Courier New" pitchFamily="34" charset="-122"/>
                <a:cs typeface="Courier New" pitchFamily="34" charset="-120"/>
              </a:rPr>
              <a:t>stops mid-function to avoid a length penalty</a:t>
            </a:r>
            <a:endParaRPr lang="en-US" sz="850" dirty="0"/>
          </a:p>
        </p:txBody>
      </p:sp>
      <p:sp>
        <p:nvSpPr>
          <p:cNvPr id="17" name="Text 15"/>
          <p:cNvSpPr/>
          <p:nvPr/>
        </p:nvSpPr>
        <p:spPr>
          <a:xfrm>
            <a:off x="8293608" y="2057400"/>
            <a:ext cx="3246120" cy="548640"/>
          </a:xfrm>
          <a:prstGeom prst="rect">
            <a:avLst/>
          </a:prstGeom>
          <a:noFill/>
          <a:ln/>
        </p:spPr>
        <p:txBody>
          <a:bodyPr wrap="square" lIns="0" tIns="0" rIns="0" bIns="0" rtlCol="0" anchor="t"/>
          <a:lstStyle/>
          <a:p>
            <a:pPr indent="0" marL="0">
              <a:buNone/>
            </a:pPr>
            <a:r>
              <a:rPr lang="en-US" sz="1000" dirty="0">
                <a:solidFill>
                  <a:srgbClr val="AEBFB2"/>
                </a:solidFill>
                <a:latin typeface="Calibri" pitchFamily="34" charset="0"/>
                <a:ea typeface="Calibri" pitchFamily="34" charset="-122"/>
                <a:cs typeface="Calibri" pitchFamily="34" charset="-120"/>
              </a:rPr>
              <a:t>Partial output scores better than complete-but-long output.</a:t>
            </a:r>
            <a:endParaRPr lang="en-US" sz="1000" dirty="0"/>
          </a:p>
        </p:txBody>
      </p:sp>
      <p:sp>
        <p:nvSpPr>
          <p:cNvPr id="18" name="Text 16"/>
          <p:cNvSpPr/>
          <p:nvPr/>
        </p:nvSpPr>
        <p:spPr>
          <a:xfrm>
            <a:off x="8293608" y="2615184"/>
            <a:ext cx="3246120" cy="274320"/>
          </a:xfrm>
          <a:prstGeom prst="rect">
            <a:avLst/>
          </a:prstGeom>
          <a:noFill/>
          <a:ln/>
        </p:spPr>
        <p:txBody>
          <a:bodyPr wrap="square" lIns="0" tIns="0" rIns="0" bIns="0" rtlCol="0" anchor="t"/>
          <a:lstStyle/>
          <a:p>
            <a:pPr indent="0" marL="0">
              <a:buNone/>
            </a:pPr>
            <a:r>
              <a:rPr lang="en-US" sz="900" b="1" dirty="0">
                <a:solidFill>
                  <a:srgbClr val="8FB573"/>
                </a:solidFill>
                <a:latin typeface="Calibri" pitchFamily="34" charset="0"/>
                <a:ea typeface="Calibri" pitchFamily="34" charset="-122"/>
                <a:cs typeface="Calibri" pitchFamily="34" charset="-120"/>
              </a:rPr>
              <a:t>FIX  Penalize non-compiling output more than length.</a:t>
            </a:r>
            <a:endParaRPr lang="en-US" sz="900" dirty="0"/>
          </a:p>
        </p:txBody>
      </p:sp>
      <p:sp>
        <p:nvSpPr>
          <p:cNvPr id="19" name="Shape 17"/>
          <p:cNvSpPr/>
          <p:nvPr/>
        </p:nvSpPr>
        <p:spPr>
          <a:xfrm>
            <a:off x="502920" y="3090672"/>
            <a:ext cx="3611880" cy="1572768"/>
          </a:xfrm>
          <a:prstGeom prst="roundRect">
            <a:avLst>
              <a:gd name="adj" fmla="val 4070"/>
            </a:avLst>
          </a:prstGeom>
          <a:solidFill>
            <a:srgbClr val="1F3D2E"/>
          </a:solidFill>
          <a:ln/>
        </p:spPr>
      </p:sp>
      <p:sp>
        <p:nvSpPr>
          <p:cNvPr id="20" name="Text 18"/>
          <p:cNvSpPr/>
          <p:nvPr/>
        </p:nvSpPr>
        <p:spPr>
          <a:xfrm>
            <a:off x="704088" y="3209544"/>
            <a:ext cx="3200400" cy="256032"/>
          </a:xfrm>
          <a:prstGeom prst="rect">
            <a:avLst/>
          </a:prstGeom>
          <a:noFill/>
          <a:ln/>
        </p:spPr>
        <p:txBody>
          <a:bodyPr wrap="square" lIns="0" tIns="0" rIns="0" bIns="0" rtlCol="0" anchor="ctr"/>
          <a:lstStyle/>
          <a:p>
            <a:pPr indent="0" marL="0">
              <a:buNone/>
            </a:pPr>
            <a:r>
              <a:rPr lang="en-US" sz="1200" b="1" dirty="0">
                <a:solidFill>
                  <a:srgbClr val="D98E32"/>
                </a:solidFill>
                <a:latin typeface="Calibri" pitchFamily="34" charset="0"/>
                <a:ea typeface="Calibri" pitchFamily="34" charset="-122"/>
                <a:cs typeface="Calibri" pitchFamily="34" charset="-120"/>
              </a:rPr>
              <a:t>Exception-as-control-flow</a:t>
            </a:r>
            <a:endParaRPr lang="en-US" sz="1200" dirty="0"/>
          </a:p>
        </p:txBody>
      </p:sp>
      <p:sp>
        <p:nvSpPr>
          <p:cNvPr id="21" name="Text 19"/>
          <p:cNvSpPr/>
          <p:nvPr/>
        </p:nvSpPr>
        <p:spPr>
          <a:xfrm>
            <a:off x="704088" y="3493008"/>
            <a:ext cx="3246120" cy="256032"/>
          </a:xfrm>
          <a:prstGeom prst="rect">
            <a:avLst/>
          </a:prstGeom>
          <a:noFill/>
          <a:ln/>
        </p:spPr>
        <p:txBody>
          <a:bodyPr wrap="square" lIns="0" tIns="0" rIns="0" bIns="0" rtlCol="0" anchor="ctr"/>
          <a:lstStyle/>
          <a:p>
            <a:pPr indent="0" marL="0">
              <a:buNone/>
            </a:pPr>
            <a:r>
              <a:rPr lang="en-US" sz="850" dirty="0">
                <a:solidFill>
                  <a:srgbClr val="C9DDB4"/>
                </a:solidFill>
                <a:latin typeface="Courier New" pitchFamily="34" charset="0"/>
                <a:ea typeface="Courier New" pitchFamily="34" charset="-122"/>
                <a:cs typeface="Courier New" pitchFamily="34" charset="-120"/>
              </a:rPr>
              <a:t>raises a specific exception the test expects</a:t>
            </a:r>
            <a:endParaRPr lang="en-US" sz="850" dirty="0"/>
          </a:p>
        </p:txBody>
      </p:sp>
      <p:sp>
        <p:nvSpPr>
          <p:cNvPr id="22" name="Text 20"/>
          <p:cNvSpPr/>
          <p:nvPr/>
        </p:nvSpPr>
        <p:spPr>
          <a:xfrm>
            <a:off x="704088" y="3776472"/>
            <a:ext cx="3246120" cy="548640"/>
          </a:xfrm>
          <a:prstGeom prst="rect">
            <a:avLst/>
          </a:prstGeom>
          <a:noFill/>
          <a:ln/>
        </p:spPr>
        <p:txBody>
          <a:bodyPr wrap="square" lIns="0" tIns="0" rIns="0" bIns="0" rtlCol="0" anchor="t"/>
          <a:lstStyle/>
          <a:p>
            <a:pPr indent="0" marL="0">
              <a:buNone/>
            </a:pPr>
            <a:r>
              <a:rPr lang="en-US" sz="1000" dirty="0">
                <a:solidFill>
                  <a:srgbClr val="AEBFB2"/>
                </a:solidFill>
                <a:latin typeface="Calibri" pitchFamily="34" charset="0"/>
                <a:ea typeface="Calibri" pitchFamily="34" charset="-122"/>
                <a:cs typeface="Calibri" pitchFamily="34" charset="-120"/>
              </a:rPr>
              <a:t>The test asserted an exception type. The model raises it unconditionally.</a:t>
            </a:r>
            <a:endParaRPr lang="en-US" sz="1000" dirty="0"/>
          </a:p>
        </p:txBody>
      </p:sp>
      <p:sp>
        <p:nvSpPr>
          <p:cNvPr id="23" name="Text 21"/>
          <p:cNvSpPr/>
          <p:nvPr/>
        </p:nvSpPr>
        <p:spPr>
          <a:xfrm>
            <a:off x="704088" y="4334256"/>
            <a:ext cx="3246120" cy="274320"/>
          </a:xfrm>
          <a:prstGeom prst="rect">
            <a:avLst/>
          </a:prstGeom>
          <a:noFill/>
          <a:ln/>
        </p:spPr>
        <p:txBody>
          <a:bodyPr wrap="square" lIns="0" tIns="0" rIns="0" bIns="0" rtlCol="0" anchor="t"/>
          <a:lstStyle/>
          <a:p>
            <a:pPr indent="0" marL="0">
              <a:buNone/>
            </a:pPr>
            <a:r>
              <a:rPr lang="en-US" sz="900" b="1" dirty="0">
                <a:solidFill>
                  <a:srgbClr val="8FB573"/>
                </a:solidFill>
                <a:latin typeface="Calibri" pitchFamily="34" charset="0"/>
                <a:ea typeface="Calibri" pitchFamily="34" charset="-122"/>
                <a:cs typeface="Calibri" pitchFamily="34" charset="-120"/>
              </a:rPr>
              <a:t>FIX  Test both the happy path and the error path.</a:t>
            </a:r>
            <a:endParaRPr lang="en-US" sz="900" dirty="0"/>
          </a:p>
        </p:txBody>
      </p:sp>
      <p:sp>
        <p:nvSpPr>
          <p:cNvPr id="24" name="Shape 22"/>
          <p:cNvSpPr/>
          <p:nvPr/>
        </p:nvSpPr>
        <p:spPr>
          <a:xfrm>
            <a:off x="4297680" y="3090672"/>
            <a:ext cx="3611880" cy="1572768"/>
          </a:xfrm>
          <a:prstGeom prst="roundRect">
            <a:avLst>
              <a:gd name="adj" fmla="val 4070"/>
            </a:avLst>
          </a:prstGeom>
          <a:solidFill>
            <a:srgbClr val="1F3D2E"/>
          </a:solidFill>
          <a:ln/>
        </p:spPr>
      </p:sp>
      <p:sp>
        <p:nvSpPr>
          <p:cNvPr id="25" name="Text 23"/>
          <p:cNvSpPr/>
          <p:nvPr/>
        </p:nvSpPr>
        <p:spPr>
          <a:xfrm>
            <a:off x="4498848" y="3209544"/>
            <a:ext cx="3200400" cy="256032"/>
          </a:xfrm>
          <a:prstGeom prst="rect">
            <a:avLst/>
          </a:prstGeom>
          <a:noFill/>
          <a:ln/>
        </p:spPr>
        <p:txBody>
          <a:bodyPr wrap="square" lIns="0" tIns="0" rIns="0" bIns="0" rtlCol="0" anchor="ctr"/>
          <a:lstStyle/>
          <a:p>
            <a:pPr indent="0" marL="0">
              <a:buNone/>
            </a:pPr>
            <a:r>
              <a:rPr lang="en-US" sz="1200" b="1" dirty="0">
                <a:solidFill>
                  <a:srgbClr val="D98E32"/>
                </a:solidFill>
                <a:latin typeface="Calibri" pitchFamily="34" charset="0"/>
                <a:ea typeface="Calibri" pitchFamily="34" charset="-122"/>
                <a:cs typeface="Calibri" pitchFamily="34" charset="-120"/>
              </a:rPr>
              <a:t>Overfitting to test style</a:t>
            </a:r>
            <a:endParaRPr lang="en-US" sz="1200" dirty="0"/>
          </a:p>
        </p:txBody>
      </p:sp>
      <p:sp>
        <p:nvSpPr>
          <p:cNvPr id="26" name="Text 24"/>
          <p:cNvSpPr/>
          <p:nvPr/>
        </p:nvSpPr>
        <p:spPr>
          <a:xfrm>
            <a:off x="4498848" y="3493008"/>
            <a:ext cx="3246120" cy="256032"/>
          </a:xfrm>
          <a:prstGeom prst="rect">
            <a:avLst/>
          </a:prstGeom>
          <a:noFill/>
          <a:ln/>
        </p:spPr>
        <p:txBody>
          <a:bodyPr wrap="square" lIns="0" tIns="0" rIns="0" bIns="0" rtlCol="0" anchor="ctr"/>
          <a:lstStyle/>
          <a:p>
            <a:pPr indent="0" marL="0">
              <a:buNone/>
            </a:pPr>
            <a:r>
              <a:rPr lang="en-US" sz="850" dirty="0">
                <a:solidFill>
                  <a:srgbClr val="C9DDB4"/>
                </a:solidFill>
                <a:latin typeface="Courier New" pitchFamily="34" charset="0"/>
                <a:ea typeface="Courier New" pitchFamily="34" charset="-122"/>
                <a:cs typeface="Courier New" pitchFamily="34" charset="-120"/>
              </a:rPr>
              <a:t>learns your specific assertion phrasing</a:t>
            </a:r>
            <a:endParaRPr lang="en-US" sz="850" dirty="0"/>
          </a:p>
        </p:txBody>
      </p:sp>
      <p:sp>
        <p:nvSpPr>
          <p:cNvPr id="27" name="Text 25"/>
          <p:cNvSpPr/>
          <p:nvPr/>
        </p:nvSpPr>
        <p:spPr>
          <a:xfrm>
            <a:off x="4498848" y="3776472"/>
            <a:ext cx="3246120" cy="548640"/>
          </a:xfrm>
          <a:prstGeom prst="rect">
            <a:avLst/>
          </a:prstGeom>
          <a:noFill/>
          <a:ln/>
        </p:spPr>
        <p:txBody>
          <a:bodyPr wrap="square" lIns="0" tIns="0" rIns="0" bIns="0" rtlCol="0" anchor="t"/>
          <a:lstStyle/>
          <a:p>
            <a:pPr indent="0" marL="0">
              <a:buNone/>
            </a:pPr>
            <a:r>
              <a:rPr lang="en-US" sz="1000" dirty="0">
                <a:solidFill>
                  <a:srgbClr val="AEBFB2"/>
                </a:solidFill>
                <a:latin typeface="Calibri" pitchFamily="34" charset="0"/>
                <a:ea typeface="Calibri" pitchFamily="34" charset="-122"/>
                <a:cs typeface="Calibri" pitchFamily="34" charset="-120"/>
              </a:rPr>
              <a:t>Your generated tests share a template. The model learns the template, not the task.</a:t>
            </a:r>
            <a:endParaRPr lang="en-US" sz="1000" dirty="0"/>
          </a:p>
        </p:txBody>
      </p:sp>
      <p:sp>
        <p:nvSpPr>
          <p:cNvPr id="28" name="Text 26"/>
          <p:cNvSpPr/>
          <p:nvPr/>
        </p:nvSpPr>
        <p:spPr>
          <a:xfrm>
            <a:off x="4498848" y="4334256"/>
            <a:ext cx="3246120" cy="274320"/>
          </a:xfrm>
          <a:prstGeom prst="rect">
            <a:avLst/>
          </a:prstGeom>
          <a:noFill/>
          <a:ln/>
        </p:spPr>
        <p:txBody>
          <a:bodyPr wrap="square" lIns="0" tIns="0" rIns="0" bIns="0" rtlCol="0" anchor="t"/>
          <a:lstStyle/>
          <a:p>
            <a:pPr indent="0" marL="0">
              <a:buNone/>
            </a:pPr>
            <a:r>
              <a:rPr lang="en-US" sz="900" b="1" dirty="0">
                <a:solidFill>
                  <a:srgbClr val="8FB573"/>
                </a:solidFill>
                <a:latin typeface="Calibri" pitchFamily="34" charset="0"/>
                <a:ea typeface="Calibri" pitchFamily="34" charset="-122"/>
                <a:cs typeface="Calibri" pitchFamily="34" charset="-120"/>
              </a:rPr>
              <a:t>FIX  Vary test generation; hold out test styles.</a:t>
            </a:r>
            <a:endParaRPr lang="en-US" sz="900" dirty="0"/>
          </a:p>
        </p:txBody>
      </p:sp>
      <p:sp>
        <p:nvSpPr>
          <p:cNvPr id="29" name="Shape 27"/>
          <p:cNvSpPr/>
          <p:nvPr/>
        </p:nvSpPr>
        <p:spPr>
          <a:xfrm>
            <a:off x="8092440" y="3090672"/>
            <a:ext cx="3611880" cy="1572768"/>
          </a:xfrm>
          <a:prstGeom prst="roundRect">
            <a:avLst>
              <a:gd name="adj" fmla="val 4070"/>
            </a:avLst>
          </a:prstGeom>
          <a:solidFill>
            <a:srgbClr val="1F3D2E"/>
          </a:solidFill>
          <a:ln/>
        </p:spPr>
      </p:sp>
      <p:sp>
        <p:nvSpPr>
          <p:cNvPr id="30" name="Text 28"/>
          <p:cNvSpPr/>
          <p:nvPr/>
        </p:nvSpPr>
        <p:spPr>
          <a:xfrm>
            <a:off x="8293608" y="3209544"/>
            <a:ext cx="3200400" cy="256032"/>
          </a:xfrm>
          <a:prstGeom prst="rect">
            <a:avLst/>
          </a:prstGeom>
          <a:noFill/>
          <a:ln/>
        </p:spPr>
        <p:txBody>
          <a:bodyPr wrap="square" lIns="0" tIns="0" rIns="0" bIns="0" rtlCol="0" anchor="ctr"/>
          <a:lstStyle/>
          <a:p>
            <a:pPr indent="0" marL="0">
              <a:buNone/>
            </a:pPr>
            <a:r>
              <a:rPr lang="en-US" sz="1200" b="1" dirty="0">
                <a:solidFill>
                  <a:srgbClr val="D98E32"/>
                </a:solidFill>
                <a:latin typeface="Calibri" pitchFamily="34" charset="0"/>
                <a:ea typeface="Calibri" pitchFamily="34" charset="-122"/>
                <a:cs typeface="Calibri" pitchFamily="34" charset="-120"/>
              </a:rPr>
              <a:t>Import-based shortcuts</a:t>
            </a:r>
            <a:endParaRPr lang="en-US" sz="1200" dirty="0"/>
          </a:p>
        </p:txBody>
      </p:sp>
      <p:sp>
        <p:nvSpPr>
          <p:cNvPr id="31" name="Text 29"/>
          <p:cNvSpPr/>
          <p:nvPr/>
        </p:nvSpPr>
        <p:spPr>
          <a:xfrm>
            <a:off x="8293608" y="3493008"/>
            <a:ext cx="3246120" cy="256032"/>
          </a:xfrm>
          <a:prstGeom prst="rect">
            <a:avLst/>
          </a:prstGeom>
          <a:noFill/>
          <a:ln/>
        </p:spPr>
        <p:txBody>
          <a:bodyPr wrap="square" lIns="0" tIns="0" rIns="0" bIns="0" rtlCol="0" anchor="ctr"/>
          <a:lstStyle/>
          <a:p>
            <a:pPr indent="0" marL="0">
              <a:buNone/>
            </a:pPr>
            <a:r>
              <a:rPr lang="en-US" sz="850" dirty="0">
                <a:solidFill>
                  <a:srgbClr val="C9DDB4"/>
                </a:solidFill>
                <a:latin typeface="Courier New" pitchFamily="34" charset="0"/>
                <a:ea typeface="Courier New" pitchFamily="34" charset="-122"/>
                <a:cs typeface="Courier New" pitchFamily="34" charset="-120"/>
              </a:rPr>
              <a:t>from solutions import answer</a:t>
            </a:r>
            <a:endParaRPr lang="en-US" sz="850" dirty="0"/>
          </a:p>
        </p:txBody>
      </p:sp>
      <p:sp>
        <p:nvSpPr>
          <p:cNvPr id="32" name="Text 30"/>
          <p:cNvSpPr/>
          <p:nvPr/>
        </p:nvSpPr>
        <p:spPr>
          <a:xfrm>
            <a:off x="8293608" y="3776472"/>
            <a:ext cx="3246120" cy="548640"/>
          </a:xfrm>
          <a:prstGeom prst="rect">
            <a:avLst/>
          </a:prstGeom>
          <a:noFill/>
          <a:ln/>
        </p:spPr>
        <p:txBody>
          <a:bodyPr wrap="square" lIns="0" tIns="0" rIns="0" bIns="0" rtlCol="0" anchor="t"/>
          <a:lstStyle/>
          <a:p>
            <a:pPr indent="0" marL="0">
              <a:buNone/>
            </a:pPr>
            <a:r>
              <a:rPr lang="en-US" sz="1000" dirty="0">
                <a:solidFill>
                  <a:srgbClr val="AEBFB2"/>
                </a:solidFill>
                <a:latin typeface="Calibri" pitchFamily="34" charset="0"/>
                <a:ea typeface="Calibri" pitchFamily="34" charset="-122"/>
                <a:cs typeface="Calibri" pitchFamily="34" charset="-120"/>
              </a:rPr>
              <a:t>Finds a module in the environment that already has it.</a:t>
            </a:r>
            <a:endParaRPr lang="en-US" sz="1000" dirty="0"/>
          </a:p>
        </p:txBody>
      </p:sp>
      <p:sp>
        <p:nvSpPr>
          <p:cNvPr id="33" name="Text 31"/>
          <p:cNvSpPr/>
          <p:nvPr/>
        </p:nvSpPr>
        <p:spPr>
          <a:xfrm>
            <a:off x="8293608" y="4334256"/>
            <a:ext cx="3246120" cy="274320"/>
          </a:xfrm>
          <a:prstGeom prst="rect">
            <a:avLst/>
          </a:prstGeom>
          <a:noFill/>
          <a:ln/>
        </p:spPr>
        <p:txBody>
          <a:bodyPr wrap="square" lIns="0" tIns="0" rIns="0" bIns="0" rtlCol="0" anchor="t"/>
          <a:lstStyle/>
          <a:p>
            <a:pPr indent="0" marL="0">
              <a:buNone/>
            </a:pPr>
            <a:r>
              <a:rPr lang="en-US" sz="900" b="1" dirty="0">
                <a:solidFill>
                  <a:srgbClr val="8FB573"/>
                </a:solidFill>
                <a:latin typeface="Calibri" pitchFamily="34" charset="0"/>
                <a:ea typeface="Calibri" pitchFamily="34" charset="-122"/>
                <a:cs typeface="Calibri" pitchFamily="34" charset="-120"/>
              </a:rPr>
              <a:t>FIX  Minimal environment. Explicit allowlist of imports.</a:t>
            </a:r>
            <a:endParaRPr lang="en-US" sz="900" dirty="0"/>
          </a:p>
        </p:txBody>
      </p:sp>
      <p:sp>
        <p:nvSpPr>
          <p:cNvPr id="34" name="Text 32"/>
          <p:cNvSpPr/>
          <p:nvPr/>
        </p:nvSpPr>
        <p:spPr>
          <a:xfrm>
            <a:off x="502920" y="5029200"/>
            <a:ext cx="11155680" cy="365760"/>
          </a:xfrm>
          <a:prstGeom prst="rect">
            <a:avLst/>
          </a:prstGeom>
          <a:noFill/>
          <a:ln/>
        </p:spPr>
        <p:txBody>
          <a:bodyPr wrap="square" lIns="0" tIns="0" rIns="0" bIns="0" rtlCol="0" anchor="ctr"/>
          <a:lstStyle/>
          <a:p>
            <a:pPr indent="0" marL="0">
              <a:buNone/>
            </a:pPr>
            <a:r>
              <a:rPr lang="en-US" sz="1300" i="1" dirty="0">
                <a:solidFill>
                  <a:srgbClr val="C9DDB4"/>
                </a:solidFill>
                <a:latin typeface="Calibri" pitchFamily="34" charset="0"/>
                <a:ea typeface="Calibri" pitchFamily="34" charset="-122"/>
                <a:cs typeface="Calibri" pitchFamily="34" charset="-120"/>
              </a:rPr>
              <a:t>These do not spike the reward curve. They creep, which is exactly why reading rollouts beats reading metrics.</a:t>
            </a:r>
            <a:endParaRPr lang="en-US" sz="1300" dirty="0"/>
          </a:p>
        </p:txBody>
      </p:sp>
      <p:sp>
        <p:nvSpPr>
          <p:cNvPr id="35" name="Text 3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137</a:t>
            </a:r>
            <a:endParaRPr lang="en-US" sz="9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502920" y="365760"/>
            <a:ext cx="11155680" cy="274320"/>
          </a:xfrm>
          <a:prstGeom prst="rect">
            <a:avLst/>
          </a:prstGeom>
          <a:noFill/>
          <a:ln/>
        </p:spPr>
        <p:txBody>
          <a:bodyPr wrap="square" lIns="0" tIns="0" rIns="0" bIns="0" rtlCol="0" anchor="ctr"/>
          <a:lstStyle/>
          <a:p>
            <a:pPr indent="0" marL="0">
              <a:buNone/>
            </a:pPr>
            <a:r>
              <a:rPr lang="en-US" sz="1150" b="1" spc="300" kern="0" dirty="0">
                <a:solidFill>
                  <a:srgbClr val="D98E32"/>
                </a:solidFill>
                <a:latin typeface="Calibri" pitchFamily="34" charset="0"/>
                <a:ea typeface="Calibri" pitchFamily="34" charset="-122"/>
                <a:cs typeface="Calibri" pitchFamily="34" charset="-120"/>
              </a:rPr>
              <a:t>THE REWARD-HACKING GALLERY  ·  3 of 3</a:t>
            </a:r>
            <a:endParaRPr lang="en-US" sz="1150" dirty="0"/>
          </a:p>
        </p:txBody>
      </p:sp>
      <p:sp>
        <p:nvSpPr>
          <p:cNvPr id="3" name="Text 1"/>
          <p:cNvSpPr/>
          <p:nvPr/>
        </p:nvSpPr>
        <p:spPr>
          <a:xfrm>
            <a:off x="502920" y="685800"/>
            <a:ext cx="11155680" cy="5029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structural ones — not the model's fault</a:t>
            </a:r>
            <a:endParaRPr lang="en-US" sz="3000" dirty="0"/>
          </a:p>
        </p:txBody>
      </p:sp>
      <p:sp>
        <p:nvSpPr>
          <p:cNvPr id="4" name="Shape 2"/>
          <p:cNvSpPr/>
          <p:nvPr/>
        </p:nvSpPr>
        <p:spPr>
          <a:xfrm>
            <a:off x="502920" y="1371600"/>
            <a:ext cx="11155680" cy="1078992"/>
          </a:xfrm>
          <a:prstGeom prst="roundRect">
            <a:avLst>
              <a:gd name="adj" fmla="val 5932"/>
            </a:avLst>
          </a:prstGeom>
          <a:solidFill>
            <a:srgbClr val="1F3D2E"/>
          </a:solidFill>
          <a:ln/>
        </p:spPr>
      </p:sp>
      <p:sp>
        <p:nvSpPr>
          <p:cNvPr id="5" name="Text 3"/>
          <p:cNvSpPr/>
          <p:nvPr/>
        </p:nvSpPr>
        <p:spPr>
          <a:xfrm>
            <a:off x="777240" y="1481328"/>
            <a:ext cx="10607040" cy="256032"/>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Weak tests in the source dataset</a:t>
            </a:r>
            <a:endParaRPr lang="en-US" sz="1250" dirty="0"/>
          </a:p>
        </p:txBody>
      </p:sp>
      <p:sp>
        <p:nvSpPr>
          <p:cNvPr id="6" name="Text 4"/>
          <p:cNvSpPr/>
          <p:nvPr/>
        </p:nvSpPr>
        <p:spPr>
          <a:xfrm>
            <a:off x="777240" y="1755648"/>
            <a:ext cx="10607040" cy="329184"/>
          </a:xfrm>
          <a:prstGeom prst="rect">
            <a:avLst/>
          </a:prstGeom>
          <a:noFill/>
          <a:ln/>
        </p:spPr>
        <p:txBody>
          <a:bodyPr wrap="square" lIns="0" tIns="0" rIns="0" bIns="0" rtlCol="0" anchor="t"/>
          <a:lstStyle/>
          <a:p>
            <a:pPr indent="0" marL="0">
              <a:buNone/>
            </a:pPr>
            <a:r>
              <a:rPr lang="en-US" sz="1050" dirty="0">
                <a:solidFill>
                  <a:srgbClr val="AEBFB2"/>
                </a:solidFill>
                <a:latin typeface="Calibri" pitchFamily="34" charset="0"/>
                <a:ea typeface="Calibri" pitchFamily="34" charset="-122"/>
                <a:cs typeface="Calibri" pitchFamily="34" charset="-120"/>
              </a:rPr>
              <a:t>Some CodeContests and APPS problems ship shallow tests. Wrong solutions legitimately pass. The model is not cheating — your data is.</a:t>
            </a:r>
            <a:endParaRPr lang="en-US" sz="1050" dirty="0"/>
          </a:p>
        </p:txBody>
      </p:sp>
      <p:sp>
        <p:nvSpPr>
          <p:cNvPr id="7" name="Text 5"/>
          <p:cNvSpPr/>
          <p:nvPr/>
        </p:nvSpPr>
        <p:spPr>
          <a:xfrm>
            <a:off x="777240" y="2103120"/>
            <a:ext cx="10607040" cy="274320"/>
          </a:xfrm>
          <a:prstGeom prst="rect">
            <a:avLst/>
          </a:prstGeom>
          <a:noFill/>
          <a:ln/>
        </p:spPr>
        <p:txBody>
          <a:bodyPr wrap="square" lIns="0" tIns="0" rIns="0" bIns="0" rtlCol="0" anchor="t"/>
          <a:lstStyle/>
          <a:p>
            <a:pPr indent="0" marL="0">
              <a:buNone/>
            </a:pPr>
            <a:r>
              <a:rPr lang="en-US" sz="1000" b="1" dirty="0">
                <a:solidFill>
                  <a:srgbClr val="8FB573"/>
                </a:solidFill>
                <a:latin typeface="Calibri" pitchFamily="34" charset="0"/>
                <a:ea typeface="Calibri" pitchFamily="34" charset="-122"/>
                <a:cs typeface="Calibri" pitchFamily="34" charset="-120"/>
              </a:rPr>
              <a:t>FIX  Cross-validate: run known-good solutions AND known-bad ones. Drop problems where bad code passes.</a:t>
            </a:r>
            <a:endParaRPr lang="en-US" sz="1000" dirty="0"/>
          </a:p>
        </p:txBody>
      </p:sp>
      <p:sp>
        <p:nvSpPr>
          <p:cNvPr id="8" name="Shape 6"/>
          <p:cNvSpPr/>
          <p:nvPr/>
        </p:nvSpPr>
        <p:spPr>
          <a:xfrm>
            <a:off x="502920" y="2560320"/>
            <a:ext cx="11155680" cy="1078992"/>
          </a:xfrm>
          <a:prstGeom prst="roundRect">
            <a:avLst>
              <a:gd name="adj" fmla="val 5932"/>
            </a:avLst>
          </a:prstGeom>
          <a:solidFill>
            <a:srgbClr val="1F3D2E"/>
          </a:solidFill>
          <a:ln/>
        </p:spPr>
      </p:sp>
      <p:sp>
        <p:nvSpPr>
          <p:cNvPr id="9" name="Text 7"/>
          <p:cNvSpPr/>
          <p:nvPr/>
        </p:nvSpPr>
        <p:spPr>
          <a:xfrm>
            <a:off x="777240" y="2670048"/>
            <a:ext cx="10607040" cy="256032"/>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Test generation by the same model</a:t>
            </a:r>
            <a:endParaRPr lang="en-US" sz="1250" dirty="0"/>
          </a:p>
        </p:txBody>
      </p:sp>
      <p:sp>
        <p:nvSpPr>
          <p:cNvPr id="10" name="Text 8"/>
          <p:cNvSpPr/>
          <p:nvPr/>
        </p:nvSpPr>
        <p:spPr>
          <a:xfrm>
            <a:off x="777240" y="2944368"/>
            <a:ext cx="10607040" cy="329184"/>
          </a:xfrm>
          <a:prstGeom prst="rect">
            <a:avLst/>
          </a:prstGeom>
          <a:noFill/>
          <a:ln/>
        </p:spPr>
        <p:txBody>
          <a:bodyPr wrap="square" lIns="0" tIns="0" rIns="0" bIns="0" rtlCol="0" anchor="t"/>
          <a:lstStyle/>
          <a:p>
            <a:pPr indent="0" marL="0">
              <a:buNone/>
            </a:pPr>
            <a:r>
              <a:rPr lang="en-US" sz="1050" dirty="0">
                <a:solidFill>
                  <a:srgbClr val="AEBFB2"/>
                </a:solidFill>
                <a:latin typeface="Calibri" pitchFamily="34" charset="0"/>
                <a:ea typeface="Calibri" pitchFamily="34" charset="-122"/>
                <a:cs typeface="Calibri" pitchFamily="34" charset="-120"/>
              </a:rPr>
              <a:t>If your teacher wrote both the solution and the tests, they share blind spots. The tests validate the solution's assumptions rather than the problem.</a:t>
            </a:r>
            <a:endParaRPr lang="en-US" sz="1050" dirty="0"/>
          </a:p>
        </p:txBody>
      </p:sp>
      <p:sp>
        <p:nvSpPr>
          <p:cNvPr id="11" name="Text 9"/>
          <p:cNvSpPr/>
          <p:nvPr/>
        </p:nvSpPr>
        <p:spPr>
          <a:xfrm>
            <a:off x="777240" y="3291840"/>
            <a:ext cx="10607040" cy="274320"/>
          </a:xfrm>
          <a:prstGeom prst="rect">
            <a:avLst/>
          </a:prstGeom>
          <a:noFill/>
          <a:ln/>
        </p:spPr>
        <p:txBody>
          <a:bodyPr wrap="square" lIns="0" tIns="0" rIns="0" bIns="0" rtlCol="0" anchor="t"/>
          <a:lstStyle/>
          <a:p>
            <a:pPr indent="0" marL="0">
              <a:buNone/>
            </a:pPr>
            <a:r>
              <a:rPr lang="en-US" sz="1000" b="1" dirty="0">
                <a:solidFill>
                  <a:srgbClr val="8FB573"/>
                </a:solidFill>
                <a:latin typeface="Calibri" pitchFamily="34" charset="0"/>
                <a:ea typeface="Calibri" pitchFamily="34" charset="-122"/>
                <a:cs typeface="Calibri" pitchFamily="34" charset="-120"/>
              </a:rPr>
              <a:t>FIX  Generate tests from the PROBLEM STATEMENT only, never from the reference solution.</a:t>
            </a:r>
            <a:endParaRPr lang="en-US" sz="1000" dirty="0"/>
          </a:p>
        </p:txBody>
      </p:sp>
      <p:sp>
        <p:nvSpPr>
          <p:cNvPr id="12" name="Shape 10"/>
          <p:cNvSpPr/>
          <p:nvPr/>
        </p:nvSpPr>
        <p:spPr>
          <a:xfrm>
            <a:off x="502920" y="3749040"/>
            <a:ext cx="11155680" cy="1078992"/>
          </a:xfrm>
          <a:prstGeom prst="roundRect">
            <a:avLst>
              <a:gd name="adj" fmla="val 5932"/>
            </a:avLst>
          </a:prstGeom>
          <a:solidFill>
            <a:srgbClr val="1F3D2E"/>
          </a:solidFill>
          <a:ln/>
        </p:spPr>
      </p:sp>
      <p:sp>
        <p:nvSpPr>
          <p:cNvPr id="13" name="Text 11"/>
          <p:cNvSpPr/>
          <p:nvPr/>
        </p:nvSpPr>
        <p:spPr>
          <a:xfrm>
            <a:off x="777240" y="3858768"/>
            <a:ext cx="10607040" cy="256032"/>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Reward scale imbalance</a:t>
            </a:r>
            <a:endParaRPr lang="en-US" sz="1250" dirty="0"/>
          </a:p>
        </p:txBody>
      </p:sp>
      <p:sp>
        <p:nvSpPr>
          <p:cNvPr id="14" name="Text 12"/>
          <p:cNvSpPr/>
          <p:nvPr/>
        </p:nvSpPr>
        <p:spPr>
          <a:xfrm>
            <a:off x="777240" y="4133088"/>
            <a:ext cx="10607040" cy="329184"/>
          </a:xfrm>
          <a:prstGeom prst="rect">
            <a:avLst/>
          </a:prstGeom>
          <a:noFill/>
          <a:ln/>
        </p:spPr>
        <p:txBody>
          <a:bodyPr wrap="square" lIns="0" tIns="0" rIns="0" bIns="0" rtlCol="0" anchor="t"/>
          <a:lstStyle/>
          <a:p>
            <a:pPr indent="0" marL="0">
              <a:buNone/>
            </a:pPr>
            <a:r>
              <a:rPr lang="en-US" sz="1050" dirty="0">
                <a:solidFill>
                  <a:srgbClr val="AEBFB2"/>
                </a:solidFill>
                <a:latin typeface="Calibri" pitchFamily="34" charset="0"/>
                <a:ea typeface="Calibri" pitchFamily="34" charset="-122"/>
                <a:cs typeface="Calibri" pitchFamily="34" charset="-120"/>
              </a:rPr>
              <a:t>A +0.1 format reward that is trivially obtainable can dominate a correctness signal that is hard to obtain, especially early in training.</a:t>
            </a:r>
            <a:endParaRPr lang="en-US" sz="1050" dirty="0"/>
          </a:p>
        </p:txBody>
      </p:sp>
      <p:sp>
        <p:nvSpPr>
          <p:cNvPr id="15" name="Text 13"/>
          <p:cNvSpPr/>
          <p:nvPr/>
        </p:nvSpPr>
        <p:spPr>
          <a:xfrm>
            <a:off x="777240" y="4480560"/>
            <a:ext cx="10607040" cy="274320"/>
          </a:xfrm>
          <a:prstGeom prst="rect">
            <a:avLst/>
          </a:prstGeom>
          <a:noFill/>
          <a:ln/>
        </p:spPr>
        <p:txBody>
          <a:bodyPr wrap="square" lIns="0" tIns="0" rIns="0" bIns="0" rtlCol="0" anchor="t"/>
          <a:lstStyle/>
          <a:p>
            <a:pPr indent="0" marL="0">
              <a:buNone/>
            </a:pPr>
            <a:r>
              <a:rPr lang="en-US" sz="1000" b="1" dirty="0">
                <a:solidFill>
                  <a:srgbClr val="8FB573"/>
                </a:solidFill>
                <a:latin typeface="Calibri" pitchFamily="34" charset="0"/>
                <a:ea typeface="Calibri" pitchFamily="34" charset="-122"/>
                <a:cs typeface="Calibri" pitchFamily="34" charset="-120"/>
              </a:rPr>
              <a:t>FIX  Plot the distribution of each reward TERM separately. Ensure correctness dominates in practice, not just in your intent.</a:t>
            </a:r>
            <a:endParaRPr lang="en-US" sz="1000" dirty="0"/>
          </a:p>
        </p:txBody>
      </p:sp>
      <p:sp>
        <p:nvSpPr>
          <p:cNvPr id="16" name="Shape 14"/>
          <p:cNvSpPr/>
          <p:nvPr/>
        </p:nvSpPr>
        <p:spPr>
          <a:xfrm>
            <a:off x="502920" y="4937760"/>
            <a:ext cx="11155680" cy="1078992"/>
          </a:xfrm>
          <a:prstGeom prst="roundRect">
            <a:avLst>
              <a:gd name="adj" fmla="val 5932"/>
            </a:avLst>
          </a:prstGeom>
          <a:solidFill>
            <a:srgbClr val="1F3D2E"/>
          </a:solidFill>
          <a:ln/>
        </p:spPr>
      </p:sp>
      <p:sp>
        <p:nvSpPr>
          <p:cNvPr id="17" name="Text 15"/>
          <p:cNvSpPr/>
          <p:nvPr/>
        </p:nvSpPr>
        <p:spPr>
          <a:xfrm>
            <a:off x="777240" y="5047488"/>
            <a:ext cx="10607040" cy="256032"/>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Optimizing the metric you report</a:t>
            </a:r>
            <a:endParaRPr lang="en-US" sz="1250" dirty="0"/>
          </a:p>
        </p:txBody>
      </p:sp>
      <p:sp>
        <p:nvSpPr>
          <p:cNvPr id="18" name="Text 16"/>
          <p:cNvSpPr/>
          <p:nvPr/>
        </p:nvSpPr>
        <p:spPr>
          <a:xfrm>
            <a:off x="777240" y="5321808"/>
            <a:ext cx="10607040" cy="329184"/>
          </a:xfrm>
          <a:prstGeom prst="rect">
            <a:avLst/>
          </a:prstGeom>
          <a:noFill/>
          <a:ln/>
        </p:spPr>
        <p:txBody>
          <a:bodyPr wrap="square" lIns="0" tIns="0" rIns="0" bIns="0" rtlCol="0" anchor="t"/>
          <a:lstStyle/>
          <a:p>
            <a:pPr indent="0" marL="0">
              <a:buNone/>
            </a:pPr>
            <a:r>
              <a:rPr lang="en-US" sz="1050" dirty="0">
                <a:solidFill>
                  <a:srgbClr val="AEBFB2"/>
                </a:solidFill>
                <a:latin typeface="Calibri" pitchFamily="34" charset="0"/>
                <a:ea typeface="Calibri" pitchFamily="34" charset="-122"/>
                <a:cs typeface="Calibri" pitchFamily="34" charset="-120"/>
              </a:rPr>
              <a:t>If you tune the reward until held-out pass@1 goes up, you have used the held-out set as a training signal. It is no longer held out.</a:t>
            </a:r>
            <a:endParaRPr lang="en-US" sz="1050" dirty="0"/>
          </a:p>
        </p:txBody>
      </p:sp>
      <p:sp>
        <p:nvSpPr>
          <p:cNvPr id="19" name="Text 17"/>
          <p:cNvSpPr/>
          <p:nvPr/>
        </p:nvSpPr>
        <p:spPr>
          <a:xfrm>
            <a:off x="777240" y="5669280"/>
            <a:ext cx="10607040" cy="274320"/>
          </a:xfrm>
          <a:prstGeom prst="rect">
            <a:avLst/>
          </a:prstGeom>
          <a:noFill/>
          <a:ln/>
        </p:spPr>
        <p:txBody>
          <a:bodyPr wrap="square" lIns="0" tIns="0" rIns="0" bIns="0" rtlCol="0" anchor="t"/>
          <a:lstStyle/>
          <a:p>
            <a:pPr indent="0" marL="0">
              <a:buNone/>
            </a:pPr>
            <a:r>
              <a:rPr lang="en-US" sz="1000" b="1" dirty="0">
                <a:solidFill>
                  <a:srgbClr val="8FB573"/>
                </a:solidFill>
                <a:latin typeface="Calibri" pitchFamily="34" charset="0"/>
                <a:ea typeface="Calibri" pitchFamily="34" charset="-122"/>
                <a:cs typeface="Calibri" pitchFamily="34" charset="-120"/>
              </a:rPr>
              <a:t>FIX  Tune the reward on a dev split. Keep the real held-out set sealed.</a:t>
            </a:r>
            <a:endParaRPr lang="en-US" sz="1000" dirty="0"/>
          </a:p>
        </p:txBody>
      </p:sp>
      <p:sp>
        <p:nvSpPr>
          <p:cNvPr id="20" name="Text 18"/>
          <p:cNvSpPr/>
          <p:nvPr/>
        </p:nvSpPr>
        <p:spPr>
          <a:xfrm>
            <a:off x="502920" y="6263640"/>
            <a:ext cx="11155680" cy="320040"/>
          </a:xfrm>
          <a:prstGeom prst="rect">
            <a:avLst/>
          </a:prstGeom>
          <a:noFill/>
          <a:ln/>
        </p:spPr>
        <p:txBody>
          <a:bodyPr wrap="square" lIns="0" tIns="0" rIns="0" bIns="0" rtlCol="0" anchor="ctr"/>
          <a:lstStyle/>
          <a:p>
            <a:pPr indent="0" marL="0">
              <a:buNone/>
            </a:pPr>
            <a:r>
              <a:rPr lang="en-US" sz="1250" i="1" dirty="0">
                <a:solidFill>
                  <a:srgbClr val="C9DDB4"/>
                </a:solidFill>
                <a:latin typeface="Calibri" pitchFamily="34" charset="0"/>
                <a:ea typeface="Calibri" pitchFamily="34" charset="-122"/>
                <a:cs typeface="Calibri" pitchFamily="34" charset="-120"/>
              </a:rPr>
              <a:t>These are the expensive ones, because the model is behaving correctly and the flaw is in your setup.</a:t>
            </a:r>
            <a:endParaRPr lang="en-US" sz="1250" dirty="0"/>
          </a:p>
        </p:txBody>
      </p:sp>
      <p:sp>
        <p:nvSpPr>
          <p:cNvPr id="21" name="Text 1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138</a:t>
            </a:r>
            <a:endParaRPr lang="en-US" sz="9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Detecting reward hacking systematically</a:t>
            </a:r>
            <a:endParaRPr lang="en-US" sz="2900" dirty="0"/>
          </a:p>
        </p:txBody>
      </p:sp>
      <p:sp>
        <p:nvSpPr>
          <p:cNvPr id="4" name="Shape 2"/>
          <p:cNvSpPr/>
          <p:nvPr/>
        </p:nvSpPr>
        <p:spPr>
          <a:xfrm>
            <a:off x="502920" y="128016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502920" y="1280160"/>
            <a:ext cx="91440" cy="667512"/>
          </a:xfrm>
          <a:prstGeom prst="rect">
            <a:avLst/>
          </a:prstGeom>
          <a:solidFill>
            <a:srgbClr val="8FB573"/>
          </a:solidFill>
          <a:ln/>
        </p:spPr>
      </p:sp>
      <p:sp>
        <p:nvSpPr>
          <p:cNvPr id="6" name="Text 4"/>
          <p:cNvSpPr/>
          <p:nvPr/>
        </p:nvSpPr>
        <p:spPr>
          <a:xfrm>
            <a:off x="822960" y="1389888"/>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Read rollouts. Actually read them.</a:t>
            </a:r>
            <a:endParaRPr lang="en-US" sz="1250" dirty="0"/>
          </a:p>
        </p:txBody>
      </p:sp>
      <p:sp>
        <p:nvSpPr>
          <p:cNvPr id="7" name="Text 5"/>
          <p:cNvSpPr/>
          <p:nvPr/>
        </p:nvSpPr>
        <p:spPr>
          <a:xfrm>
            <a:off x="822960" y="1682496"/>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20 samples every 50 steps</a:t>
            </a:r>
            <a:endParaRPr lang="en-US" sz="950" dirty="0"/>
          </a:p>
        </p:txBody>
      </p:sp>
      <p:sp>
        <p:nvSpPr>
          <p:cNvPr id="8" name="Text 6"/>
          <p:cNvSpPr/>
          <p:nvPr/>
        </p:nvSpPr>
        <p:spPr>
          <a:xfrm>
            <a:off x="4160520" y="1371600"/>
            <a:ext cx="749808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Log them as a W&amp;B table. Every hack I have ever found, I found by reading generated text — never by looking at a curve.</a:t>
            </a:r>
            <a:endParaRPr lang="en-US" sz="1180" dirty="0"/>
          </a:p>
        </p:txBody>
      </p:sp>
      <p:sp>
        <p:nvSpPr>
          <p:cNvPr id="9" name="Shape 7"/>
          <p:cNvSpPr/>
          <p:nvPr/>
        </p:nvSpPr>
        <p:spPr>
          <a:xfrm>
            <a:off x="502920" y="2039112"/>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502920" y="2039112"/>
            <a:ext cx="91440" cy="667512"/>
          </a:xfrm>
          <a:prstGeom prst="rect">
            <a:avLst/>
          </a:prstGeom>
          <a:solidFill>
            <a:srgbClr val="A8482A"/>
          </a:solidFill>
          <a:ln/>
        </p:spPr>
      </p:sp>
      <p:sp>
        <p:nvSpPr>
          <p:cNvPr id="11" name="Text 9"/>
          <p:cNvSpPr/>
          <p:nvPr/>
        </p:nvSpPr>
        <p:spPr>
          <a:xfrm>
            <a:off x="822960" y="2148840"/>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Watch the reward/eval divergence</a:t>
            </a:r>
            <a:endParaRPr lang="en-US" sz="1250" dirty="0"/>
          </a:p>
        </p:txBody>
      </p:sp>
      <p:sp>
        <p:nvSpPr>
          <p:cNvPr id="12" name="Text 10"/>
          <p:cNvSpPr/>
          <p:nvPr/>
        </p:nvSpPr>
        <p:spPr>
          <a:xfrm>
            <a:off x="822960" y="2441448"/>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reward up, pass@1 down</a:t>
            </a:r>
            <a:endParaRPr lang="en-US" sz="950" dirty="0"/>
          </a:p>
        </p:txBody>
      </p:sp>
      <p:sp>
        <p:nvSpPr>
          <p:cNvPr id="13" name="Text 11"/>
          <p:cNvSpPr/>
          <p:nvPr/>
        </p:nvSpPr>
        <p:spPr>
          <a:xfrm>
            <a:off x="4160520" y="2130552"/>
            <a:ext cx="749808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The definitive signature. If mean reward climbs while held-out pass@1 falls, you are being gamed. This is the single most important chart in the phase.</a:t>
            </a:r>
            <a:endParaRPr lang="en-US" sz="1180" dirty="0"/>
          </a:p>
        </p:txBody>
      </p:sp>
      <p:sp>
        <p:nvSpPr>
          <p:cNvPr id="14" name="Shape 12"/>
          <p:cNvSpPr/>
          <p:nvPr/>
        </p:nvSpPr>
        <p:spPr>
          <a:xfrm>
            <a:off x="502920" y="2798064"/>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502920" y="2798064"/>
            <a:ext cx="91440" cy="667512"/>
          </a:xfrm>
          <a:prstGeom prst="rect">
            <a:avLst/>
          </a:prstGeom>
          <a:solidFill>
            <a:srgbClr val="8FB573"/>
          </a:solidFill>
          <a:ln/>
        </p:spPr>
      </p:sp>
      <p:sp>
        <p:nvSpPr>
          <p:cNvPr id="16" name="Text 14"/>
          <p:cNvSpPr/>
          <p:nvPr/>
        </p:nvSpPr>
        <p:spPr>
          <a:xfrm>
            <a:off x="822960" y="2907792"/>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Instrument the sandbox with flags</a:t>
            </a:r>
            <a:endParaRPr lang="en-US" sz="1250" dirty="0"/>
          </a:p>
        </p:txBody>
      </p:sp>
      <p:sp>
        <p:nvSpPr>
          <p:cNvPr id="17" name="Text 15"/>
          <p:cNvSpPr/>
          <p:nvPr/>
        </p:nvSpPr>
        <p:spPr>
          <a:xfrm>
            <a:off x="822960" y="3200400"/>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read_test_file, net_attempt</a:t>
            </a:r>
            <a:endParaRPr lang="en-US" sz="950" dirty="0"/>
          </a:p>
        </p:txBody>
      </p:sp>
      <p:sp>
        <p:nvSpPr>
          <p:cNvPr id="18" name="Text 16"/>
          <p:cNvSpPr/>
          <p:nvPr/>
        </p:nvSpPr>
        <p:spPr>
          <a:xfrm>
            <a:off x="4160520" y="2889504"/>
            <a:ext cx="749808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Every suspicious action gets a flag. Plot flag frequency over training. A rising flag rate IS a hack in progress.</a:t>
            </a:r>
            <a:endParaRPr lang="en-US" sz="1180" dirty="0"/>
          </a:p>
        </p:txBody>
      </p:sp>
      <p:sp>
        <p:nvSpPr>
          <p:cNvPr id="19" name="Shape 17"/>
          <p:cNvSpPr/>
          <p:nvPr/>
        </p:nvSpPr>
        <p:spPr>
          <a:xfrm>
            <a:off x="502920" y="3557016"/>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502920" y="3557016"/>
            <a:ext cx="91440" cy="667512"/>
          </a:xfrm>
          <a:prstGeom prst="rect">
            <a:avLst/>
          </a:prstGeom>
          <a:solidFill>
            <a:srgbClr val="8FB573"/>
          </a:solidFill>
          <a:ln/>
        </p:spPr>
      </p:sp>
      <p:sp>
        <p:nvSpPr>
          <p:cNvPr id="21" name="Text 19"/>
          <p:cNvSpPr/>
          <p:nvPr/>
        </p:nvSpPr>
        <p:spPr>
          <a:xfrm>
            <a:off x="822960" y="3666744"/>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Track reward-term distributions</a:t>
            </a:r>
            <a:endParaRPr lang="en-US" sz="1250" dirty="0"/>
          </a:p>
        </p:txBody>
      </p:sp>
      <p:sp>
        <p:nvSpPr>
          <p:cNvPr id="22" name="Text 20"/>
          <p:cNvSpPr/>
          <p:nvPr/>
        </p:nvSpPr>
        <p:spPr>
          <a:xfrm>
            <a:off x="822960" y="3959352"/>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per-term histograms</a:t>
            </a:r>
            <a:endParaRPr lang="en-US" sz="950" dirty="0"/>
          </a:p>
        </p:txBody>
      </p:sp>
      <p:sp>
        <p:nvSpPr>
          <p:cNvPr id="23" name="Text 21"/>
          <p:cNvSpPr/>
          <p:nvPr/>
        </p:nvSpPr>
        <p:spPr>
          <a:xfrm>
            <a:off x="4160520" y="3648456"/>
            <a:ext cx="749808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If format reward is rising while correctness reward is flat, the model found the cheap term.</a:t>
            </a:r>
            <a:endParaRPr lang="en-US" sz="1180" dirty="0"/>
          </a:p>
        </p:txBody>
      </p:sp>
      <p:sp>
        <p:nvSpPr>
          <p:cNvPr id="24" name="Shape 22"/>
          <p:cNvSpPr/>
          <p:nvPr/>
        </p:nvSpPr>
        <p:spPr>
          <a:xfrm>
            <a:off x="502920" y="4315968"/>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502920" y="4315968"/>
            <a:ext cx="91440" cy="667512"/>
          </a:xfrm>
          <a:prstGeom prst="rect">
            <a:avLst/>
          </a:prstGeom>
          <a:solidFill>
            <a:srgbClr val="8FB573"/>
          </a:solidFill>
          <a:ln/>
        </p:spPr>
      </p:sp>
      <p:sp>
        <p:nvSpPr>
          <p:cNvPr id="26" name="Text 24"/>
          <p:cNvSpPr/>
          <p:nvPr/>
        </p:nvSpPr>
        <p:spPr>
          <a:xfrm>
            <a:off x="822960" y="4425696"/>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Diff against a held-out verifier</a:t>
            </a:r>
            <a:endParaRPr lang="en-US" sz="1250" dirty="0"/>
          </a:p>
        </p:txBody>
      </p:sp>
      <p:sp>
        <p:nvSpPr>
          <p:cNvPr id="27" name="Text 25"/>
          <p:cNvSpPr/>
          <p:nvPr/>
        </p:nvSpPr>
        <p:spPr>
          <a:xfrm>
            <a:off x="822960" y="4718304"/>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second, stricter test set</a:t>
            </a:r>
            <a:endParaRPr lang="en-US" sz="950" dirty="0"/>
          </a:p>
        </p:txBody>
      </p:sp>
      <p:sp>
        <p:nvSpPr>
          <p:cNvPr id="28" name="Text 26"/>
          <p:cNvSpPr/>
          <p:nvPr/>
        </p:nvSpPr>
        <p:spPr>
          <a:xfrm>
            <a:off x="4160520" y="4407408"/>
            <a:ext cx="749808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Score a sample of rollouts with tests the model was never optimized against. Divergence reveals overfitting to your specific tests.</a:t>
            </a:r>
            <a:endParaRPr lang="en-US" sz="1180" dirty="0"/>
          </a:p>
        </p:txBody>
      </p:sp>
      <p:sp>
        <p:nvSpPr>
          <p:cNvPr id="29" name="Shape 27"/>
          <p:cNvSpPr/>
          <p:nvPr/>
        </p:nvSpPr>
        <p:spPr>
          <a:xfrm>
            <a:off x="502920" y="507492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502920" y="5074920"/>
            <a:ext cx="91440" cy="667512"/>
          </a:xfrm>
          <a:prstGeom prst="rect">
            <a:avLst/>
          </a:prstGeom>
          <a:solidFill>
            <a:srgbClr val="A8482A"/>
          </a:solidFill>
          <a:ln/>
        </p:spPr>
      </p:sp>
      <p:sp>
        <p:nvSpPr>
          <p:cNvPr id="31" name="Text 29"/>
          <p:cNvSpPr/>
          <p:nvPr/>
        </p:nvSpPr>
        <p:spPr>
          <a:xfrm>
            <a:off x="822960" y="5184648"/>
            <a:ext cx="310896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Sudden reward jumps are suspicious</a:t>
            </a:r>
            <a:endParaRPr lang="en-US" sz="1250" dirty="0"/>
          </a:p>
        </p:txBody>
      </p:sp>
      <p:sp>
        <p:nvSpPr>
          <p:cNvPr id="32" name="Text 30"/>
          <p:cNvSpPr/>
          <p:nvPr/>
        </p:nvSpPr>
        <p:spPr>
          <a:xfrm>
            <a:off x="822960" y="5477256"/>
            <a:ext cx="310896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not cause for celebration</a:t>
            </a:r>
            <a:endParaRPr lang="en-US" sz="950" dirty="0"/>
          </a:p>
        </p:txBody>
      </p:sp>
      <p:sp>
        <p:nvSpPr>
          <p:cNvPr id="33" name="Text 31"/>
          <p:cNvSpPr/>
          <p:nvPr/>
        </p:nvSpPr>
        <p:spPr>
          <a:xfrm>
            <a:off x="4160520" y="5166360"/>
            <a:ext cx="7498080" cy="48463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Genuine capability improves gradually. A discontinuity almost always means a shortcut was discovered.</a:t>
            </a:r>
            <a:endParaRPr lang="en-US" sz="1180" dirty="0"/>
          </a:p>
        </p:txBody>
      </p:sp>
      <p:sp>
        <p:nvSpPr>
          <p:cNvPr id="34" name="Shape 32"/>
          <p:cNvSpPr/>
          <p:nvPr/>
        </p:nvSpPr>
        <p:spPr>
          <a:xfrm>
            <a:off x="502920" y="5852160"/>
            <a:ext cx="11155680" cy="566928"/>
          </a:xfrm>
          <a:prstGeom prst="roundRect">
            <a:avLst>
              <a:gd name="adj" fmla="val 9677"/>
            </a:avLst>
          </a:prstGeom>
          <a:solidFill>
            <a:srgbClr val="D98E32"/>
          </a:solidFill>
          <a:ln/>
        </p:spPr>
      </p:sp>
      <p:sp>
        <p:nvSpPr>
          <p:cNvPr id="35" name="Text 33"/>
          <p:cNvSpPr/>
          <p:nvPr/>
        </p:nvSpPr>
        <p:spPr>
          <a:xfrm>
            <a:off x="777240" y="585216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Build the detection BEFORE you start the run. Retro-fitting it means re-running everything.</a:t>
            </a:r>
            <a:endParaRPr lang="en-US" sz="1450" dirty="0"/>
          </a:p>
        </p:txBody>
      </p:sp>
      <p:sp>
        <p:nvSpPr>
          <p:cNvPr id="36" name="Text 3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139</a:t>
            </a:r>
            <a:endParaRPr lang="en-US" sz="9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Running GRPO on a 4GB card — the practical config</a:t>
            </a:r>
            <a:endParaRPr lang="en-US" sz="2900" dirty="0"/>
          </a:p>
        </p:txBody>
      </p:sp>
      <p:sp>
        <p:nvSpPr>
          <p:cNvPr id="4" name="Shape 2"/>
          <p:cNvSpPr/>
          <p:nvPr/>
        </p:nvSpPr>
        <p:spPr>
          <a:xfrm>
            <a:off x="502920" y="1280160"/>
            <a:ext cx="11155680" cy="3840480"/>
          </a:xfrm>
          <a:prstGeom prst="roundRect">
            <a:avLst>
              <a:gd name="adj" fmla="val 1429"/>
            </a:avLst>
          </a:prstGeom>
          <a:solidFill>
            <a:srgbClr val="0F1F17"/>
          </a:solidFill>
          <a:ln/>
        </p:spPr>
      </p:sp>
      <p:sp>
        <p:nvSpPr>
          <p:cNvPr id="5" name="Text 3"/>
          <p:cNvSpPr/>
          <p:nvPr/>
        </p:nvSpPr>
        <p:spPr>
          <a:xfrm>
            <a:off x="722376" y="1426464"/>
            <a:ext cx="1071676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grpo.py</a:t>
            </a:r>
            <a:endParaRPr lang="en-US" sz="950" dirty="0"/>
          </a:p>
        </p:txBody>
      </p:sp>
      <p:sp>
        <p:nvSpPr>
          <p:cNvPr id="6" name="Text 4"/>
          <p:cNvSpPr/>
          <p:nvPr/>
        </p:nvSpPr>
        <p:spPr>
          <a:xfrm>
            <a:off x="722376" y="1700784"/>
            <a:ext cx="10716768" cy="3273552"/>
          </a:xfrm>
          <a:prstGeom prst="rect">
            <a:avLst/>
          </a:prstGeom>
          <a:noFill/>
          <a:ln/>
        </p:spPr>
        <p:txBody>
          <a:bodyPr wrap="square" lIns="0" tIns="0" rIns="0" bIns="0" rtlCol="0" anchor="t"/>
          <a:lstStyle/>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from trl import GRPOTrainer, GRPOConfig</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def reward_fn(completions, prompts, **kw):</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out =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for c, p in zip(completions, prompts):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code = extract_code(c)</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if code is None:            out.append(-0.5); continue      # no parseable block</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if not ast_valid(code):     out.append(-0.2); continue      # does not compile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 = sandbox.run(code, tests_for(p))</a:t>
            </a:r>
            <a:endParaRPr lang="en-US" sz="1000" dirty="0"/>
          </a:p>
          <a:p>
            <a:pPr indent="0" marL="0">
              <a:lnSpc>
                <a:spcPct val="112000"/>
              </a:lnSpc>
              <a:buNone/>
            </a:pPr>
            <a:r>
              <a:rPr lang="en-US" sz="1000" b="1" dirty="0">
                <a:solidFill>
                  <a:srgbClr val="8FB573"/>
                </a:solidFill>
                <a:latin typeface="Courier New" pitchFamily="34" charset="0"/>
                <a:ea typeface="Courier New" pitchFamily="34" charset="-122"/>
                <a:cs typeface="Courier New" pitchFamily="34" charset="-120"/>
              </a:rPr>
              <a:t>        score = r.fraction                       # DENSE, not binary</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if r.status == 'timeout':   score -= 0.2</a:t>
            </a:r>
            <a:endParaRPr lang="en-US" sz="1000" dirty="0"/>
          </a:p>
          <a:p>
            <a:pPr indent="0" marL="0">
              <a:lnSpc>
                <a:spcPct val="112000"/>
              </a:lnSpc>
              <a:buNone/>
            </a:pPr>
            <a:r>
              <a:rPr lang="en-US" sz="1000" dirty="0">
                <a:solidFill>
                  <a:srgbClr val="A8482A"/>
                </a:solidFill>
                <a:latin typeface="Courier New" pitchFamily="34" charset="0"/>
                <a:ea typeface="Courier New" pitchFamily="34" charset="-122"/>
                <a:cs typeface="Courier New" pitchFamily="34" charset="-120"/>
              </a:rPr>
              <a:t>        if 'read_test_file' in r.flags: score -= 1.0   # anti-cheat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out.append(score + 0.1)                   # format bonus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return out</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cfg = GRPOConfig(</a:t>
            </a:r>
            <a:endParaRPr lang="en-US" sz="1000" dirty="0"/>
          </a:p>
          <a:p>
            <a:pPr indent="0" marL="0">
              <a:lnSpc>
                <a:spcPct val="112000"/>
              </a:lnSpc>
              <a:buNone/>
            </a:pPr>
            <a:r>
              <a:rPr lang="en-US" sz="1000" b="1" dirty="0">
                <a:solidFill>
                  <a:srgbClr val="A8482A"/>
                </a:solidFill>
                <a:latin typeface="Courier New" pitchFamily="34" charset="0"/>
                <a:ea typeface="Courier New" pitchFamily="34" charset="-122"/>
                <a:cs typeface="Courier New" pitchFamily="34" charset="-120"/>
              </a:rPr>
              <a:t>    learning_rate=1e-6,           # 200x lower than SFT</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num_generations=8,            # group size G</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per_device_train_batch_size=1, gradient_accumulation_steps=8,</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max_prompt_length=384, max_completion_length=384,   # SHORT. VRAM-bound.</a:t>
            </a: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beta=0.04,                    # KL coefficient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temperature=1.0, bf16=True, gradient_checkpointing=True,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optim='paged_adamw_8bit', save_steps=25, logging_steps=1,</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a:t>
            </a:r>
            <a:endParaRPr lang="en-US" sz="1000" dirty="0"/>
          </a:p>
        </p:txBody>
      </p:sp>
      <p:sp>
        <p:nvSpPr>
          <p:cNvPr id="7" name="Shape 5"/>
          <p:cNvSpPr/>
          <p:nvPr/>
        </p:nvSpPr>
        <p:spPr>
          <a:xfrm>
            <a:off x="502920" y="5257800"/>
            <a:ext cx="11155680" cy="566928"/>
          </a:xfrm>
          <a:prstGeom prst="roundRect">
            <a:avLst>
              <a:gd name="adj" fmla="val 9677"/>
            </a:avLst>
          </a:prstGeom>
          <a:solidFill>
            <a:srgbClr val="D98E32"/>
          </a:solidFill>
          <a:ln/>
        </p:spPr>
      </p:sp>
      <p:sp>
        <p:nvSpPr>
          <p:cNvPr id="8" name="Text 6"/>
          <p:cNvSpPr/>
          <p:nvPr/>
        </p:nvSpPr>
        <p:spPr>
          <a:xfrm>
            <a:off x="777240" y="525780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Expect this to be SLOW. Generation dominates: 8 samples x every prompt x every step. Hours, not minutes. That is normal.</a:t>
            </a:r>
            <a:endParaRPr lang="en-US" sz="1450" dirty="0"/>
          </a:p>
        </p:txBody>
      </p:sp>
      <p:sp>
        <p:nvSpPr>
          <p:cNvPr id="9" name="Text 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140</a:t>
            </a:r>
            <a:endParaRPr lang="en-US" sz="9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generation bottleneck — and the Metal wall</a:t>
            </a:r>
            <a:endParaRPr lang="en-US" sz="2900" dirty="0"/>
          </a:p>
        </p:txBody>
      </p:sp>
      <p:graphicFrame>
        <p:nvGraphicFramePr>
          <p:cNvPr id="142"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926080"/>
                <a:gridCol w="2926080"/>
                <a:gridCol w="2926080"/>
                <a:gridCol w="2377440"/>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Setup</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Generation backend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Rough throughput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Viability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Asus RTX 3050 4GB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HF generate (default)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Slow — sequential, unbatched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Works. Plan for overnight runs.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Asus RTX 3050 4GB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vLLM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Much faster, but VRAM-hungry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Marginal at 4GB. Test with 0.5B.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Mac M5 Pro 48GB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MLX</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Fast for generation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But no TRL GRPO integration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Mac M5 Pro 48GB</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vLLM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Not practical on Metal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Rented GPU (later)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vLLM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Fast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answer once you have resources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3703320"/>
            <a:ext cx="5504688"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722376" y="3849624"/>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Cut completion length first</a:t>
            </a:r>
            <a:endParaRPr lang="en-US" sz="1250" dirty="0"/>
          </a:p>
        </p:txBody>
      </p:sp>
      <p:sp>
        <p:nvSpPr>
          <p:cNvPr id="7" name="Text 4"/>
          <p:cNvSpPr/>
          <p:nvPr/>
        </p:nvSpPr>
        <p:spPr>
          <a:xfrm>
            <a:off x="722376" y="4160520"/>
            <a:ext cx="5065776"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max_completion_length=384 rather than 1024. Generation time scales with tokens produced, and most solutions are short.</a:t>
            </a:r>
            <a:endParaRPr lang="en-US" sz="1100" dirty="0"/>
          </a:p>
        </p:txBody>
      </p:sp>
      <p:sp>
        <p:nvSpPr>
          <p:cNvPr id="8" name="Shape 5"/>
          <p:cNvSpPr/>
          <p:nvPr/>
        </p:nvSpPr>
        <p:spPr>
          <a:xfrm>
            <a:off x="6153912" y="3703320"/>
            <a:ext cx="5504688"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6373368" y="3849624"/>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Shrink the problem set</a:t>
            </a:r>
            <a:endParaRPr lang="en-US" sz="1250" dirty="0"/>
          </a:p>
        </p:txBody>
      </p:sp>
      <p:sp>
        <p:nvSpPr>
          <p:cNvPr id="10" name="Text 7"/>
          <p:cNvSpPr/>
          <p:nvPr/>
        </p:nvSpPr>
        <p:spPr>
          <a:xfrm>
            <a:off x="6373368" y="4160520"/>
            <a:ext cx="5065776"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Filter to pass-rate 0.2–0.8. Fewer problems, all of them informative. This is a throughput fix as much as a signal fix.</a:t>
            </a:r>
            <a:endParaRPr lang="en-US" sz="1100" dirty="0"/>
          </a:p>
        </p:txBody>
      </p:sp>
      <p:sp>
        <p:nvSpPr>
          <p:cNvPr id="11" name="Shape 8"/>
          <p:cNvSpPr/>
          <p:nvPr/>
        </p:nvSpPr>
        <p:spPr>
          <a:xfrm>
            <a:off x="502920" y="5038344"/>
            <a:ext cx="5504688"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722376" y="5184648"/>
            <a:ext cx="5065776"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Reduce group size before giving up</a:t>
            </a:r>
            <a:endParaRPr lang="en-US" sz="1250" dirty="0"/>
          </a:p>
        </p:txBody>
      </p:sp>
      <p:sp>
        <p:nvSpPr>
          <p:cNvPr id="13" name="Text 10"/>
          <p:cNvSpPr/>
          <p:nvPr/>
        </p:nvSpPr>
        <p:spPr>
          <a:xfrm>
            <a:off x="722376" y="5495544"/>
            <a:ext cx="5065776"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G=4 is noisier but four times faster than G=16. A noisy run that finishes beats a clean run that does not.</a:t>
            </a:r>
            <a:endParaRPr lang="en-US" sz="1100" dirty="0"/>
          </a:p>
        </p:txBody>
      </p:sp>
      <p:sp>
        <p:nvSpPr>
          <p:cNvPr id="14" name="Shape 11"/>
          <p:cNvSpPr/>
          <p:nvPr/>
        </p:nvSpPr>
        <p:spPr>
          <a:xfrm>
            <a:off x="6153912" y="5038344"/>
            <a:ext cx="5504688" cy="1188720"/>
          </a:xfrm>
          <a:prstGeom prst="roundRect">
            <a:avLst>
              <a:gd name="adj" fmla="val 53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2"/>
          <p:cNvSpPr/>
          <p:nvPr/>
        </p:nvSpPr>
        <p:spPr>
          <a:xfrm>
            <a:off x="6373368" y="5184648"/>
            <a:ext cx="5065776"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Accept the timeline</a:t>
            </a:r>
            <a:endParaRPr lang="en-US" sz="1250" dirty="0"/>
          </a:p>
        </p:txBody>
      </p:sp>
      <p:sp>
        <p:nvSpPr>
          <p:cNvPr id="16" name="Text 13"/>
          <p:cNvSpPr/>
          <p:nvPr/>
        </p:nvSpPr>
        <p:spPr>
          <a:xfrm>
            <a:off x="6373368" y="5495544"/>
            <a:ext cx="5065776" cy="5852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GRPO at 0.5B on a 3050 is an overnight-run discipline, not an interactive one. Set it up, sleep, read rollouts at breakfast.</a:t>
            </a:r>
            <a:endParaRPr lang="en-US" sz="1100" dirty="0"/>
          </a:p>
        </p:txBody>
      </p:sp>
      <p:sp>
        <p:nvSpPr>
          <p:cNvPr id="17" name="Shape 14"/>
          <p:cNvSpPr/>
          <p:nvPr/>
        </p:nvSpPr>
        <p:spPr>
          <a:xfrm>
            <a:off x="502920" y="5486400"/>
            <a:ext cx="11155680" cy="868680"/>
          </a:xfrm>
          <a:prstGeom prst="roundRect">
            <a:avLst>
              <a:gd name="adj" fmla="val 7368"/>
            </a:avLst>
          </a:prstGeom>
          <a:solidFill>
            <a:srgbClr val="1F3D2E"/>
          </a:solidFill>
          <a:ln/>
        </p:spPr>
      </p:sp>
      <p:sp>
        <p:nvSpPr>
          <p:cNvPr id="18" name="Shape 15"/>
          <p:cNvSpPr/>
          <p:nvPr/>
        </p:nvSpPr>
        <p:spPr>
          <a:xfrm>
            <a:off x="740664" y="5669280"/>
            <a:ext cx="292608" cy="292608"/>
          </a:xfrm>
          <a:prstGeom prst="ellipse">
            <a:avLst/>
          </a:prstGeom>
          <a:solidFill>
            <a:srgbClr val="1F3D2E"/>
          </a:solidFill>
          <a:ln/>
        </p:spPr>
      </p:sp>
      <p:sp>
        <p:nvSpPr>
          <p:cNvPr id="19" name="Text 16"/>
          <p:cNvSpPr/>
          <p:nvPr/>
        </p:nvSpPr>
        <p:spPr>
          <a:xfrm>
            <a:off x="740664" y="566928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0" name="Text 17"/>
          <p:cNvSpPr/>
          <p:nvPr/>
        </p:nvSpPr>
        <p:spPr>
          <a:xfrm>
            <a:off x="1133856" y="568756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1" name="Text 18"/>
          <p:cNvSpPr/>
          <p:nvPr/>
        </p:nvSpPr>
        <p:spPr>
          <a:xfrm>
            <a:off x="740664" y="6062472"/>
            <a:ext cx="10680192" cy="1188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This is the one phase where your hardware genuinely hurts. It is still absolutely worth doing — you will learn reward design, hacking detection, and instability recovery, and none of those lessons require speed.</a:t>
            </a:r>
            <a:endParaRPr lang="en-US" sz="1150" dirty="0"/>
          </a:p>
        </p:txBody>
      </p:sp>
      <p:sp>
        <p:nvSpPr>
          <p:cNvPr id="22" name="Text 1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141</a:t>
            </a:r>
            <a:endParaRPr lang="en-US" sz="9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Instability, collapse, and recovery</a:t>
            </a:r>
            <a:endParaRPr lang="en-US" sz="2900" dirty="0"/>
          </a:p>
        </p:txBody>
      </p:sp>
      <p:graphicFrame>
        <p:nvGraphicFramePr>
          <p:cNvPr id="143"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840480"/>
                <a:gridCol w="3657600"/>
                <a:gridCol w="365760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Symptom</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Cause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Fix</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All outputs become identical within ~50 steps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LR too high — policy collapsed to one mode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Lower LR 10x. Restart from the last good checkpoint.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Output degrades into non-code text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KL coefficient too low — drifted off the reference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Raise beta (0.04 → 0.1). Restart.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flat for hours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Sparse reward, or dead groups (std = 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Use dense reward. Filter problems to pass-rate 0.2–0.8.</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oscillates violently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Group size too small; noisy advantages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Raise G, or raise gradient accumulation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climbs, held-out pass@1 falls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HACKING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Read rollouts. Find it. Patch the reward AND the sandbox.</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Loss NaN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fp16, or an extreme advantage value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bf16; clip advantages; check for inf in the reward function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Sudden reward discontinuity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 shortcut was discovered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Read the rollouts at that exact step. It will be obvious.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Everything looks fine, nothing improves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does not measure what you think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Manually score 20 rollouts yourself and compare to the reward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617720"/>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Shape 3"/>
          <p:cNvSpPr/>
          <p:nvPr/>
        </p:nvSpPr>
        <p:spPr>
          <a:xfrm>
            <a:off x="502920" y="4617720"/>
            <a:ext cx="91440" cy="621792"/>
          </a:xfrm>
          <a:prstGeom prst="rect">
            <a:avLst/>
          </a:prstGeom>
          <a:solidFill>
            <a:srgbClr val="8FB573"/>
          </a:solidFill>
          <a:ln/>
        </p:spPr>
      </p:sp>
      <p:sp>
        <p:nvSpPr>
          <p:cNvPr id="7" name="Text 4"/>
          <p:cNvSpPr/>
          <p:nvPr/>
        </p:nvSpPr>
        <p:spPr>
          <a:xfrm>
            <a:off x="822960" y="4727448"/>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Checkpoint every 25 steps</a:t>
            </a:r>
            <a:endParaRPr lang="en-US" sz="1250" dirty="0"/>
          </a:p>
        </p:txBody>
      </p:sp>
      <p:sp>
        <p:nvSpPr>
          <p:cNvPr id="8" name="Text 5"/>
          <p:cNvSpPr/>
          <p:nvPr/>
        </p:nvSpPr>
        <p:spPr>
          <a:xfrm>
            <a:off x="822960" y="5020056"/>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RL collapses without warning</a:t>
            </a:r>
            <a:endParaRPr lang="en-US" sz="950" dirty="0"/>
          </a:p>
        </p:txBody>
      </p:sp>
      <p:sp>
        <p:nvSpPr>
          <p:cNvPr id="9" name="Text 6"/>
          <p:cNvSpPr/>
          <p:nvPr/>
        </p:nvSpPr>
        <p:spPr>
          <a:xfrm>
            <a:off x="3794760" y="4709160"/>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Unlike SFT, an RL run can go from healthy to unrecoverable in a handful of steps. Frequent checkpoints are your undo button.</a:t>
            </a:r>
            <a:endParaRPr lang="en-US" sz="1180" dirty="0"/>
          </a:p>
        </p:txBody>
      </p:sp>
      <p:sp>
        <p:nvSpPr>
          <p:cNvPr id="10" name="Shape 7"/>
          <p:cNvSpPr/>
          <p:nvPr/>
        </p:nvSpPr>
        <p:spPr>
          <a:xfrm>
            <a:off x="502920" y="5330952"/>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8"/>
          <p:cNvSpPr/>
          <p:nvPr/>
        </p:nvSpPr>
        <p:spPr>
          <a:xfrm>
            <a:off x="502920" y="5330952"/>
            <a:ext cx="91440" cy="621792"/>
          </a:xfrm>
          <a:prstGeom prst="rect">
            <a:avLst/>
          </a:prstGeom>
          <a:solidFill>
            <a:srgbClr val="8FB573"/>
          </a:solidFill>
          <a:ln/>
        </p:spPr>
      </p:sp>
      <p:sp>
        <p:nvSpPr>
          <p:cNvPr id="12" name="Text 9"/>
          <p:cNvSpPr/>
          <p:nvPr/>
        </p:nvSpPr>
        <p:spPr>
          <a:xfrm>
            <a:off x="822960" y="5440680"/>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Keep the reference fixed</a:t>
            </a:r>
            <a:endParaRPr lang="en-US" sz="1250" dirty="0"/>
          </a:p>
        </p:txBody>
      </p:sp>
      <p:sp>
        <p:nvSpPr>
          <p:cNvPr id="13" name="Text 10"/>
          <p:cNvSpPr/>
          <p:nvPr/>
        </p:nvSpPr>
        <p:spPr>
          <a:xfrm>
            <a:off x="822960" y="5733288"/>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do not update it mid-run</a:t>
            </a:r>
            <a:endParaRPr lang="en-US" sz="950" dirty="0"/>
          </a:p>
        </p:txBody>
      </p:sp>
      <p:sp>
        <p:nvSpPr>
          <p:cNvPr id="14" name="Text 11"/>
          <p:cNvSpPr/>
          <p:nvPr/>
        </p:nvSpPr>
        <p:spPr>
          <a:xfrm>
            <a:off x="3794760" y="5422392"/>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Some implementations periodically refresh the reference. Do not, while learning — it removes your only stable anchor.</a:t>
            </a:r>
            <a:endParaRPr lang="en-US" sz="1180" dirty="0"/>
          </a:p>
        </p:txBody>
      </p:sp>
      <p:sp>
        <p:nvSpPr>
          <p:cNvPr id="15" name="Text 1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142</a:t>
            </a:r>
            <a:endParaRPr lang="en-US" sz="9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Process rewards vs outcome rewards</a:t>
            </a:r>
            <a:endParaRPr lang="en-US" sz="2900" dirty="0"/>
          </a:p>
        </p:txBody>
      </p:sp>
      <p:sp>
        <p:nvSpPr>
          <p:cNvPr id="4" name="Shape 2"/>
          <p:cNvSpPr/>
          <p:nvPr/>
        </p:nvSpPr>
        <p:spPr>
          <a:xfrm>
            <a:off x="502920" y="1280160"/>
            <a:ext cx="5486400" cy="2651760"/>
          </a:xfrm>
          <a:prstGeom prst="roundRect">
            <a:avLst>
              <a:gd name="adj" fmla="val 241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OUTCOME REWARD (what you will build)</a:t>
            </a:r>
            <a:endParaRPr lang="en-US" sz="1250" dirty="0"/>
          </a:p>
        </p:txBody>
      </p:sp>
      <p:sp>
        <p:nvSpPr>
          <p:cNvPr id="6" name="Text 4"/>
          <p:cNvSpPr/>
          <p:nvPr/>
        </p:nvSpPr>
        <p:spPr>
          <a:xfrm>
            <a:off x="758952" y="1810512"/>
            <a:ext cx="4974336" cy="19568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Score only the final answer — do the tests pass?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Trivial to implement; you already have it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Sparse: no signal about WHERE reasoning went wrong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Can reward correct answers reached by bad reasoning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The right starting point, and often sufficient</a:t>
            </a:r>
            <a:endParaRPr lang="en-US" sz="1150" dirty="0"/>
          </a:p>
        </p:txBody>
      </p:sp>
      <p:sp>
        <p:nvSpPr>
          <p:cNvPr id="7" name="Shape 5"/>
          <p:cNvSpPr/>
          <p:nvPr/>
        </p:nvSpPr>
        <p:spPr>
          <a:xfrm>
            <a:off x="6172200" y="1280160"/>
            <a:ext cx="5486400" cy="2651760"/>
          </a:xfrm>
          <a:prstGeom prst="roundRect">
            <a:avLst>
              <a:gd name="adj" fmla="val 241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PROCESS REWARD (know it exists)</a:t>
            </a:r>
            <a:endParaRPr lang="en-US" sz="1250" dirty="0"/>
          </a:p>
        </p:txBody>
      </p:sp>
      <p:sp>
        <p:nvSpPr>
          <p:cNvPr id="9" name="Text 7"/>
          <p:cNvSpPr/>
          <p:nvPr/>
        </p:nvSpPr>
        <p:spPr>
          <a:xfrm>
            <a:off x="6428232" y="1810512"/>
            <a:ext cx="4974336" cy="19568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Score each intermediate reasoning step</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Needs a process reward model, or step-level verification</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Dense: tells the model which step broke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Substantially better on long reasoning chains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Expensive to build; out of scope for this curriculum</a:t>
            </a:r>
            <a:endParaRPr lang="en-US" sz="1150" dirty="0"/>
          </a:p>
        </p:txBody>
      </p:sp>
      <p:sp>
        <p:nvSpPr>
          <p:cNvPr id="10" name="Shape 8"/>
          <p:cNvSpPr/>
          <p:nvPr/>
        </p:nvSpPr>
        <p:spPr>
          <a:xfrm>
            <a:off x="502920" y="4160520"/>
            <a:ext cx="3621024" cy="1417320"/>
          </a:xfrm>
          <a:prstGeom prst="roundRect">
            <a:avLst>
              <a:gd name="adj" fmla="val 451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722376" y="430682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code middle ground</a:t>
            </a:r>
            <a:endParaRPr lang="en-US" sz="1250" dirty="0"/>
          </a:p>
        </p:txBody>
      </p:sp>
      <p:sp>
        <p:nvSpPr>
          <p:cNvPr id="12" name="Text 10"/>
          <p:cNvSpPr/>
          <p:nvPr/>
        </p:nvSpPr>
        <p:spPr>
          <a:xfrm>
            <a:off x="722376" y="4617720"/>
            <a:ext cx="3182112" cy="8138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Reward intermediate signals you can check cheaply: does it compile, does it import, does it run without raising, does it pass 1 test, 3 tests, all tests. That IS a process reward, built from your sandbox.</a:t>
            </a:r>
            <a:endParaRPr lang="en-US" sz="1100" dirty="0"/>
          </a:p>
        </p:txBody>
      </p:sp>
      <p:sp>
        <p:nvSpPr>
          <p:cNvPr id="13" name="Shape 11"/>
          <p:cNvSpPr/>
          <p:nvPr/>
        </p:nvSpPr>
        <p:spPr>
          <a:xfrm>
            <a:off x="4270248" y="4160520"/>
            <a:ext cx="3621024" cy="1417320"/>
          </a:xfrm>
          <a:prstGeom prst="roundRect">
            <a:avLst>
              <a:gd name="adj" fmla="val 451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4489704" y="430682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Why it helps</a:t>
            </a:r>
            <a:endParaRPr lang="en-US" sz="1250" dirty="0"/>
          </a:p>
        </p:txBody>
      </p:sp>
      <p:sp>
        <p:nvSpPr>
          <p:cNvPr id="15" name="Text 13"/>
          <p:cNvSpPr/>
          <p:nvPr/>
        </p:nvSpPr>
        <p:spPr>
          <a:xfrm>
            <a:off x="4489704" y="4617720"/>
            <a:ext cx="3182112" cy="8138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It converts one sparse binary into a graded staircase. The model gets feedback long before it produces a fully correct solution.</a:t>
            </a:r>
            <a:endParaRPr lang="en-US" sz="1100" dirty="0"/>
          </a:p>
        </p:txBody>
      </p:sp>
      <p:sp>
        <p:nvSpPr>
          <p:cNvPr id="16" name="Shape 14"/>
          <p:cNvSpPr/>
          <p:nvPr/>
        </p:nvSpPr>
        <p:spPr>
          <a:xfrm>
            <a:off x="8037576" y="4160520"/>
            <a:ext cx="3621024" cy="1417320"/>
          </a:xfrm>
          <a:prstGeom prst="roundRect">
            <a:avLst>
              <a:gd name="adj" fmla="val 451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8257032" y="430682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Do this instead</a:t>
            </a:r>
            <a:endParaRPr lang="en-US" sz="1250" dirty="0"/>
          </a:p>
        </p:txBody>
      </p:sp>
      <p:sp>
        <p:nvSpPr>
          <p:cNvPr id="18" name="Text 16"/>
          <p:cNvSpPr/>
          <p:nvPr/>
        </p:nvSpPr>
        <p:spPr>
          <a:xfrm>
            <a:off x="8257032" y="4617720"/>
            <a:ext cx="3182112" cy="81381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You do not need a process reward MODEL. You need a verifier that reports partial progress — which you already built in Phase 3.</a:t>
            </a:r>
            <a:endParaRPr lang="en-US" sz="1100" dirty="0"/>
          </a:p>
        </p:txBody>
      </p:sp>
      <p:sp>
        <p:nvSpPr>
          <p:cNvPr id="19" name="Text 1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143</a:t>
            </a:r>
            <a:endParaRPr lang="en-US" sz="9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GRPO — path and traps</a:t>
            </a:r>
            <a:endParaRPr lang="en-US" sz="2900" dirty="0"/>
          </a:p>
        </p:txBody>
      </p:sp>
      <p:sp>
        <p:nvSpPr>
          <p:cNvPr id="4" name="Shape 2"/>
          <p:cNvSpPr/>
          <p:nvPr/>
        </p:nvSpPr>
        <p:spPr>
          <a:xfrm>
            <a:off x="502920" y="1335024"/>
            <a:ext cx="292608" cy="292608"/>
          </a:xfrm>
          <a:prstGeom prst="ellipse">
            <a:avLst/>
          </a:prstGeom>
          <a:solidFill>
            <a:srgbClr val="8FB573"/>
          </a:solidFill>
          <a:ln/>
        </p:spPr>
      </p:sp>
      <p:sp>
        <p:nvSpPr>
          <p:cNvPr id="5" name="Text 3"/>
          <p:cNvSpPr/>
          <p:nvPr/>
        </p:nvSpPr>
        <p:spPr>
          <a:xfrm>
            <a:off x="50292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89611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PATH</a:t>
            </a:r>
            <a:endParaRPr lang="en-US" sz="1100" dirty="0"/>
          </a:p>
        </p:txBody>
      </p:sp>
      <p:sp>
        <p:nvSpPr>
          <p:cNvPr id="7" name="Text 5"/>
          <p:cNvSpPr/>
          <p:nvPr/>
        </p:nvSpPr>
        <p:spPr>
          <a:xfrm>
            <a:off x="502920" y="1755648"/>
            <a:ext cx="5394960" cy="27432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Dense reward: fraction of tests passed, never binary</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Filter problems to pass-rate 0.2–0.8 before training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Group size 8; log the fraction of zero-variance groups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LR ~1e-6, KL beta ~0.04, short completions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Checkpoint every 25 steps — RL collapses without warning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Log 20 rollouts every 50 steps as a table, and READ them</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Plot reward and held-out pass@1 on the same axis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Add each penalty only in response to an observed hack</a:t>
            </a:r>
            <a:endParaRPr lang="en-US" sz="1150" dirty="0"/>
          </a:p>
        </p:txBody>
      </p:sp>
      <p:sp>
        <p:nvSpPr>
          <p:cNvPr id="8" name="Shape 6"/>
          <p:cNvSpPr/>
          <p:nvPr/>
        </p:nvSpPr>
        <p:spPr>
          <a:xfrm>
            <a:off x="6309360" y="1335024"/>
            <a:ext cx="292608" cy="292608"/>
          </a:xfrm>
          <a:prstGeom prst="ellipse">
            <a:avLst/>
          </a:prstGeom>
          <a:solidFill>
            <a:srgbClr val="D98E32"/>
          </a:solidFill>
          <a:ln/>
        </p:spPr>
      </p:sp>
      <p:sp>
        <p:nvSpPr>
          <p:cNvPr id="9" name="Text 7"/>
          <p:cNvSpPr/>
          <p:nvPr/>
        </p:nvSpPr>
        <p:spPr>
          <a:xfrm>
            <a:off x="630936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670255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TRAPS</a:t>
            </a:r>
            <a:endParaRPr lang="en-US" sz="1100" dirty="0"/>
          </a:p>
        </p:txBody>
      </p:sp>
      <p:sp>
        <p:nvSpPr>
          <p:cNvPr id="11" name="Text 9"/>
          <p:cNvSpPr/>
          <p:nvPr/>
        </p:nvSpPr>
        <p:spPr>
          <a:xfrm>
            <a:off x="6309360" y="1755648"/>
            <a:ext cx="5349240" cy="274320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Binary reward: most groups get zero variance and zero gradient</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SFT learning rate: policy collapses within ~50 steps</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KL beta = 0: drifts into high-reward gibberish</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Training on problems the model always or never solves — dead groups</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Trusting the reward curve as a progress metric</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Penalizing an action in the reward without blocking it in the sandbox</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Tuning the reward against your sealed held-out set</a:t>
            </a:r>
            <a:endParaRPr lang="en-US" sz="1150" dirty="0"/>
          </a:p>
          <a:p>
            <a:pPr marL="342900" indent="-342900">
              <a:spcAft>
                <a:spcPts val="600"/>
              </a:spcAft>
              <a:buSzPct val="100000"/>
              <a:buChar char="•"/>
            </a:pPr>
            <a:r>
              <a:rPr lang="en-US" sz="1150" dirty="0">
                <a:solidFill>
                  <a:srgbClr val="A8482A"/>
                </a:solidFill>
                <a:latin typeface="Calibri" pitchFamily="34" charset="0"/>
                <a:ea typeface="Calibri" pitchFamily="34" charset="-122"/>
                <a:cs typeface="Calibri" pitchFamily="34" charset="-120"/>
              </a:rPr>
              <a:t>Implementing GRPO from scratch instead of using TRL</a:t>
            </a:r>
            <a:endParaRPr lang="en-US" sz="1150" dirty="0"/>
          </a:p>
        </p:txBody>
      </p:sp>
      <p:sp>
        <p:nvSpPr>
          <p:cNvPr id="12" name="Shape 10"/>
          <p:cNvSpPr/>
          <p:nvPr/>
        </p:nvSpPr>
        <p:spPr>
          <a:xfrm>
            <a:off x="502920" y="5056632"/>
            <a:ext cx="11155680" cy="1143000"/>
          </a:xfrm>
          <a:prstGeom prst="roundRect">
            <a:avLst>
              <a:gd name="adj" fmla="val 5600"/>
            </a:avLst>
          </a:prstGeom>
          <a:solidFill>
            <a:srgbClr val="1F3D2E"/>
          </a:solidFill>
          <a:ln/>
        </p:spPr>
      </p:sp>
      <p:sp>
        <p:nvSpPr>
          <p:cNvPr id="13" name="Shape 11"/>
          <p:cNvSpPr/>
          <p:nvPr/>
        </p:nvSpPr>
        <p:spPr>
          <a:xfrm>
            <a:off x="740664" y="5239512"/>
            <a:ext cx="292608" cy="292608"/>
          </a:xfrm>
          <a:prstGeom prst="ellipse">
            <a:avLst/>
          </a:prstGeom>
          <a:solidFill>
            <a:srgbClr val="1F3D2E"/>
          </a:solidFill>
          <a:ln/>
        </p:spPr>
      </p:sp>
      <p:sp>
        <p:nvSpPr>
          <p:cNvPr id="14" name="Text 12"/>
          <p:cNvSpPr/>
          <p:nvPr/>
        </p:nvSpPr>
        <p:spPr>
          <a:xfrm>
            <a:off x="740664" y="5239512"/>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257800"/>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632704"/>
            <a:ext cx="10680192" cy="3931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The measure of success in this phase is NOT the pass@1 number. It is whether you can find, explain, and fix two reward hacks. That skill transfers to every RL project you will ever touch; the pass@1 number does not.</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144</a:t>
            </a:r>
            <a:endParaRPr lang="en-US" sz="9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GRPO false positives</a:t>
            </a:r>
            <a:endParaRPr lang="en-US" sz="2900" dirty="0"/>
          </a:p>
        </p:txBody>
      </p:sp>
      <p:graphicFrame>
        <p:nvGraphicFramePr>
          <p:cNvPr id="14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377440"/>
                <a:gridCol w="2743200"/>
                <a:gridCol w="3108960"/>
                <a:gridCol w="292608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False positive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you see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is actually happening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The check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hacking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Mean reward climbing steadily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Model found a shortcut through the reward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Held-out pass@1 on the same axis; read rollouts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Weak-test inflation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High reward, poor real quality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Source problems have shallow tests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Validate: do known-BAD solutions pass?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Format-term dominance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up, correctness term flat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Model maximized the cheap term only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Plot each reward term separately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Dead-group illusion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stable, 'training is converged'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Most groups have zero variance — no learning at all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Log fraction of groups with std = 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tuned on held-out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Excellent held-out score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You used the held-out set to tune the reward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Tune on dev; seal the real test set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Length gaming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up, code unreadable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Length penalty produced code golf</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Eyeball rollouts; cap rather than minimize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Test-style overfit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Great on your tests, bad on LiveCodeBench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Learned your test template, not the task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Evaluate on an independent benchmark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Recovery illusion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recovers after a collapse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Model found a degenerate high-reward mode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Check output diversity; read samples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754880"/>
            <a:ext cx="11155680" cy="566928"/>
          </a:xfrm>
          <a:prstGeom prst="roundRect">
            <a:avLst>
              <a:gd name="adj" fmla="val 9677"/>
            </a:avLst>
          </a:prstGeom>
          <a:solidFill>
            <a:srgbClr val="8FB573"/>
          </a:solidFill>
          <a:ln/>
        </p:spPr>
      </p:sp>
      <p:sp>
        <p:nvSpPr>
          <p:cNvPr id="6" name="Text 3"/>
          <p:cNvSpPr/>
          <p:nvPr/>
        </p:nvSpPr>
        <p:spPr>
          <a:xfrm>
            <a:off x="777240" y="475488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One chart defeats most of this list: mean reward and held-out pass@1, plotted together, on every run.</a:t>
            </a:r>
            <a:endParaRPr lang="en-US" sz="1450" dirty="0"/>
          </a:p>
        </p:txBody>
      </p:sp>
      <p:sp>
        <p:nvSpPr>
          <p:cNvPr id="7" name="Text 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145</a:t>
            </a:r>
            <a:endParaRPr lang="en-US" sz="9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GRPO</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What a healthy GRPO run actually looks like</a:t>
            </a:r>
            <a:endParaRPr lang="en-US" sz="2900" dirty="0"/>
          </a:p>
        </p:txBody>
      </p:sp>
      <p:sp>
        <p:nvSpPr>
          <p:cNvPr id="4" name="Shape 2"/>
          <p:cNvSpPr/>
          <p:nvPr/>
        </p:nvSpPr>
        <p:spPr>
          <a:xfrm>
            <a:off x="502920" y="1280160"/>
            <a:ext cx="3621024" cy="1508760"/>
          </a:xfrm>
          <a:prstGeom prst="roundRect">
            <a:avLst>
              <a:gd name="adj" fmla="val 42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Reward rises gradually</a:t>
            </a:r>
            <a:endParaRPr lang="en-US" sz="1250" dirty="0"/>
          </a:p>
        </p:txBody>
      </p:sp>
      <p:sp>
        <p:nvSpPr>
          <p:cNvPr id="6" name="Text 4"/>
          <p:cNvSpPr/>
          <p:nvPr/>
        </p:nvSpPr>
        <p:spPr>
          <a:xfrm>
            <a:off x="722376" y="1737360"/>
            <a:ext cx="3182112" cy="9052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Smooth, gradual improvement over hundreds of steps. Not a step function. Discontinuities mean shortcuts.</a:t>
            </a:r>
            <a:endParaRPr lang="en-US" sz="1100" dirty="0"/>
          </a:p>
        </p:txBody>
      </p:sp>
      <p:sp>
        <p:nvSpPr>
          <p:cNvPr id="7" name="Shape 5"/>
          <p:cNvSpPr/>
          <p:nvPr/>
        </p:nvSpPr>
        <p:spPr>
          <a:xfrm>
            <a:off x="4270248" y="1280160"/>
            <a:ext cx="3621024" cy="1508760"/>
          </a:xfrm>
          <a:prstGeom prst="roundRect">
            <a:avLst>
              <a:gd name="adj" fmla="val 42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4489704" y="14264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Held-out pass@1 tracks it</a:t>
            </a:r>
            <a:endParaRPr lang="en-US" sz="1250" dirty="0"/>
          </a:p>
        </p:txBody>
      </p:sp>
      <p:sp>
        <p:nvSpPr>
          <p:cNvPr id="9" name="Text 7"/>
          <p:cNvSpPr/>
          <p:nvPr/>
        </p:nvSpPr>
        <p:spPr>
          <a:xfrm>
            <a:off x="4489704" y="1737360"/>
            <a:ext cx="3182112" cy="9052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Moving in the same direction, usually with a smaller magnitude. Divergence is the alarm.</a:t>
            </a:r>
            <a:endParaRPr lang="en-US" sz="1100" dirty="0"/>
          </a:p>
        </p:txBody>
      </p:sp>
      <p:sp>
        <p:nvSpPr>
          <p:cNvPr id="10" name="Shape 8"/>
          <p:cNvSpPr/>
          <p:nvPr/>
        </p:nvSpPr>
        <p:spPr>
          <a:xfrm>
            <a:off x="8037576" y="1280160"/>
            <a:ext cx="3621024" cy="1508760"/>
          </a:xfrm>
          <a:prstGeom prst="roundRect">
            <a:avLst>
              <a:gd name="adj" fmla="val 42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8257032" y="142646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KL grows slowly and plateaus</a:t>
            </a:r>
            <a:endParaRPr lang="en-US" sz="1250" dirty="0"/>
          </a:p>
        </p:txBody>
      </p:sp>
      <p:sp>
        <p:nvSpPr>
          <p:cNvPr id="12" name="Text 10"/>
          <p:cNvSpPr/>
          <p:nvPr/>
        </p:nvSpPr>
        <p:spPr>
          <a:xfrm>
            <a:off x="8257032" y="1737360"/>
            <a:ext cx="3182112" cy="9052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Rising steadily then leveling off. Unbounded growth means the leash is too loose.</a:t>
            </a:r>
            <a:endParaRPr lang="en-US" sz="1100" dirty="0"/>
          </a:p>
        </p:txBody>
      </p:sp>
      <p:sp>
        <p:nvSpPr>
          <p:cNvPr id="13" name="Shape 11"/>
          <p:cNvSpPr/>
          <p:nvPr/>
        </p:nvSpPr>
        <p:spPr>
          <a:xfrm>
            <a:off x="502920" y="2935224"/>
            <a:ext cx="3621024" cy="1508760"/>
          </a:xfrm>
          <a:prstGeom prst="roundRect">
            <a:avLst>
              <a:gd name="adj" fmla="val 42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22376" y="308152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Dead-group fraction stays low</a:t>
            </a:r>
            <a:endParaRPr lang="en-US" sz="1250" dirty="0"/>
          </a:p>
        </p:txBody>
      </p:sp>
      <p:sp>
        <p:nvSpPr>
          <p:cNvPr id="15" name="Text 13"/>
          <p:cNvSpPr/>
          <p:nvPr/>
        </p:nvSpPr>
        <p:spPr>
          <a:xfrm>
            <a:off x="722376" y="3392424"/>
            <a:ext cx="3182112" cy="9052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Under about 30%. Rising dead groups means your problem set no longer matches the model's ability.</a:t>
            </a:r>
            <a:endParaRPr lang="en-US" sz="1100" dirty="0"/>
          </a:p>
        </p:txBody>
      </p:sp>
      <p:sp>
        <p:nvSpPr>
          <p:cNvPr id="16" name="Shape 14"/>
          <p:cNvSpPr/>
          <p:nvPr/>
        </p:nvSpPr>
        <p:spPr>
          <a:xfrm>
            <a:off x="4270248" y="2935224"/>
            <a:ext cx="3621024" cy="1508760"/>
          </a:xfrm>
          <a:prstGeom prst="roundRect">
            <a:avLst>
              <a:gd name="adj" fmla="val 42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4489704" y="308152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Output length stays stable</a:t>
            </a:r>
            <a:endParaRPr lang="en-US" sz="1250" dirty="0"/>
          </a:p>
        </p:txBody>
      </p:sp>
      <p:sp>
        <p:nvSpPr>
          <p:cNvPr id="18" name="Text 16"/>
          <p:cNvSpPr/>
          <p:nvPr/>
        </p:nvSpPr>
        <p:spPr>
          <a:xfrm>
            <a:off x="4489704" y="3392424"/>
            <a:ext cx="3182112" cy="9052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No sudden inflation or collapse. Either one indicates a length-related shortcut.</a:t>
            </a:r>
            <a:endParaRPr lang="en-US" sz="1100" dirty="0"/>
          </a:p>
        </p:txBody>
      </p:sp>
      <p:sp>
        <p:nvSpPr>
          <p:cNvPr id="19" name="Shape 17"/>
          <p:cNvSpPr/>
          <p:nvPr/>
        </p:nvSpPr>
        <p:spPr>
          <a:xfrm>
            <a:off x="8037576" y="2935224"/>
            <a:ext cx="3621024" cy="1508760"/>
          </a:xfrm>
          <a:prstGeom prst="roundRect">
            <a:avLst>
              <a:gd name="adj" fmla="val 424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8257032" y="308152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Rollouts stay readable</a:t>
            </a:r>
            <a:endParaRPr lang="en-US" sz="1250" dirty="0"/>
          </a:p>
        </p:txBody>
      </p:sp>
      <p:sp>
        <p:nvSpPr>
          <p:cNvPr id="21" name="Text 19"/>
          <p:cNvSpPr/>
          <p:nvPr/>
        </p:nvSpPr>
        <p:spPr>
          <a:xfrm>
            <a:off x="8257032" y="3392424"/>
            <a:ext cx="3182112" cy="9052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You can read twenty samples and they look like sincere attempts at the problem. This is the real test.</a:t>
            </a:r>
            <a:endParaRPr lang="en-US" sz="1100" dirty="0"/>
          </a:p>
        </p:txBody>
      </p:sp>
      <p:sp>
        <p:nvSpPr>
          <p:cNvPr id="22" name="Shape 20"/>
          <p:cNvSpPr/>
          <p:nvPr/>
        </p:nvSpPr>
        <p:spPr>
          <a:xfrm>
            <a:off x="502920" y="4846320"/>
            <a:ext cx="11155680" cy="566928"/>
          </a:xfrm>
          <a:prstGeom prst="roundRect">
            <a:avLst>
              <a:gd name="adj" fmla="val 9677"/>
            </a:avLst>
          </a:prstGeom>
          <a:solidFill>
            <a:srgbClr val="1F3D2E"/>
          </a:solidFill>
          <a:ln/>
        </p:spPr>
      </p:sp>
      <p:sp>
        <p:nvSpPr>
          <p:cNvPr id="23" name="Text 21"/>
          <p:cNvSpPr/>
          <p:nvPr/>
        </p:nvSpPr>
        <p:spPr>
          <a:xfrm>
            <a:off x="777240" y="4846320"/>
            <a:ext cx="10607040" cy="566928"/>
          </a:xfrm>
          <a:prstGeom prst="rect">
            <a:avLst/>
          </a:prstGeom>
          <a:noFill/>
          <a:ln/>
        </p:spPr>
        <p:txBody>
          <a:bodyPr wrap="square" lIns="0" tIns="0" rIns="0" bIns="0" rtlCol="0" anchor="ctr"/>
          <a:lstStyle/>
          <a:p>
            <a:pPr indent="0" marL="0">
              <a:buNone/>
            </a:pPr>
            <a:r>
              <a:rPr lang="en-US" sz="1450" b="1" dirty="0">
                <a:solidFill>
                  <a:srgbClr val="C9DDB4"/>
                </a:solidFill>
                <a:latin typeface="Cambria" pitchFamily="34" charset="0"/>
                <a:ea typeface="Cambria" pitchFamily="34" charset="-122"/>
                <a:cs typeface="Cambria" pitchFamily="34" charset="-120"/>
              </a:rPr>
              <a:t>Realistic expectation on your hardware: a few points of pass@1 over SFT+DPO, and a great deal of understanding.</a:t>
            </a:r>
            <a:endParaRPr lang="en-US" sz="1450" dirty="0"/>
          </a:p>
        </p:txBody>
      </p:sp>
      <p:sp>
        <p:nvSpPr>
          <p:cNvPr id="24" name="Shape 22"/>
          <p:cNvSpPr/>
          <p:nvPr/>
        </p:nvSpPr>
        <p:spPr>
          <a:xfrm>
            <a:off x="502920" y="5577840"/>
            <a:ext cx="11155680" cy="960120"/>
          </a:xfrm>
          <a:prstGeom prst="roundRect">
            <a:avLst>
              <a:gd name="adj" fmla="val 6667"/>
            </a:avLst>
          </a:prstGeom>
          <a:solidFill>
            <a:srgbClr val="1F3D2E"/>
          </a:solidFill>
          <a:ln/>
        </p:spPr>
      </p:sp>
      <p:sp>
        <p:nvSpPr>
          <p:cNvPr id="25" name="Shape 23"/>
          <p:cNvSpPr/>
          <p:nvPr/>
        </p:nvSpPr>
        <p:spPr>
          <a:xfrm>
            <a:off x="740664" y="5760720"/>
            <a:ext cx="292608" cy="292608"/>
          </a:xfrm>
          <a:prstGeom prst="ellipse">
            <a:avLst/>
          </a:prstGeom>
          <a:solidFill>
            <a:srgbClr val="1F3D2E"/>
          </a:solidFill>
          <a:ln/>
        </p:spPr>
      </p:sp>
      <p:sp>
        <p:nvSpPr>
          <p:cNvPr id="26" name="Text 24"/>
          <p:cNvSpPr/>
          <p:nvPr/>
        </p:nvSpPr>
        <p:spPr>
          <a:xfrm>
            <a:off x="740664" y="57607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7" name="Text 25"/>
          <p:cNvSpPr/>
          <p:nvPr/>
        </p:nvSpPr>
        <p:spPr>
          <a:xfrm>
            <a:off x="1133856" y="57790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8" name="Text 26"/>
          <p:cNvSpPr/>
          <p:nvPr/>
        </p:nvSpPr>
        <p:spPr>
          <a:xfrm>
            <a:off x="740664" y="6153912"/>
            <a:ext cx="10680192" cy="21031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My honest GRPO result at 0.5B was +2.8 pass@1 over the DPO checkpoint. Modest. But I found four reward hacks, learned to read rollouts, and understand why frontier labs care so much about verifier quality. That was the actual deliverable.</a:t>
            </a:r>
            <a:endParaRPr lang="en-US" sz="1150" dirty="0"/>
          </a:p>
        </p:txBody>
      </p:sp>
      <p:sp>
        <p:nvSpPr>
          <p:cNvPr id="29" name="Text 2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146</a:t>
            </a:r>
            <a:endParaRPr lang="en-US" sz="9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PHASE 10</a:t>
            </a:r>
            <a:endParaRPr lang="en-US" sz="1250" dirty="0"/>
          </a:p>
        </p:txBody>
      </p:sp>
      <p:sp>
        <p:nvSpPr>
          <p:cNvPr id="3" name="Text 1"/>
          <p:cNvSpPr/>
          <p:nvPr/>
        </p:nvSpPr>
        <p:spPr>
          <a:xfrm>
            <a:off x="777240" y="23317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Turning Failure Into Training Signal</a:t>
            </a:r>
            <a:endParaRPr lang="en-US" sz="4000" dirty="0"/>
          </a:p>
        </p:txBody>
      </p:sp>
      <p:sp>
        <p:nvSpPr>
          <p:cNvPr id="4" name="Text 2"/>
          <p:cNvSpPr/>
          <p:nvPr/>
        </p:nvSpPr>
        <p:spPr>
          <a:xfrm>
            <a:off x="777240" y="32004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One week. The phase that most separates a code model from a chat model,</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and the closest thing here to how frontier agentic models are actually built.</a:t>
            </a:r>
            <a:endParaRPr lang="en-US" sz="1550" dirty="0"/>
          </a:p>
        </p:txBody>
      </p:sp>
      <p:sp>
        <p:nvSpPr>
          <p:cNvPr id="5" name="Text 3"/>
          <p:cNvSpPr/>
          <p:nvPr/>
        </p:nvSpPr>
        <p:spPr>
          <a:xfrm>
            <a:off x="777240" y="4892040"/>
            <a:ext cx="10607040" cy="237744"/>
          </a:xfrm>
          <a:prstGeom prst="rect">
            <a:avLst/>
          </a:prstGeom>
          <a:noFill/>
          <a:ln/>
        </p:spPr>
        <p:txBody>
          <a:bodyPr wrap="square" lIns="0" tIns="0" rIns="0" bIns="0" rtlCol="0" anchor="ctr"/>
          <a:lstStyle/>
          <a:p>
            <a:pPr indent="0" marL="0">
              <a:buNone/>
            </a:pPr>
            <a:r>
              <a:rPr lang="en-US" sz="900" b="1" spc="250" kern="0" dirty="0">
                <a:solidFill>
                  <a:srgbClr val="2A5240"/>
                </a:solidFill>
                <a:latin typeface="Calibri" pitchFamily="34" charset="0"/>
                <a:ea typeface="Calibri" pitchFamily="34" charset="-122"/>
                <a:cs typeface="Calibri" pitchFamily="34" charset="-120"/>
              </a:rPr>
              <a:t>WHERE YOU ARE</a:t>
            </a:r>
            <a:endParaRPr lang="en-US" sz="900" dirty="0"/>
          </a:p>
        </p:txBody>
      </p:sp>
      <p:sp>
        <p:nvSpPr>
          <p:cNvPr id="6" name="Shape 4"/>
          <p:cNvSpPr/>
          <p:nvPr/>
        </p:nvSpPr>
        <p:spPr>
          <a:xfrm>
            <a:off x="777240" y="5212080"/>
            <a:ext cx="829056" cy="73152"/>
          </a:xfrm>
          <a:prstGeom prst="rect">
            <a:avLst/>
          </a:prstGeom>
          <a:solidFill>
            <a:srgbClr val="2A5240"/>
          </a:solidFill>
          <a:ln/>
        </p:spPr>
      </p:sp>
      <p:sp>
        <p:nvSpPr>
          <p:cNvPr id="7" name="Text 5"/>
          <p:cNvSpPr/>
          <p:nvPr/>
        </p:nvSpPr>
        <p:spPr>
          <a:xfrm>
            <a:off x="6858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SETUP</a:t>
            </a:r>
            <a:endParaRPr lang="en-US" sz="750" dirty="0"/>
          </a:p>
        </p:txBody>
      </p:sp>
      <p:sp>
        <p:nvSpPr>
          <p:cNvPr id="8" name="Shape 6"/>
          <p:cNvSpPr/>
          <p:nvPr/>
        </p:nvSpPr>
        <p:spPr>
          <a:xfrm>
            <a:off x="1661160" y="5212080"/>
            <a:ext cx="829056" cy="73152"/>
          </a:xfrm>
          <a:prstGeom prst="rect">
            <a:avLst/>
          </a:prstGeom>
          <a:solidFill>
            <a:srgbClr val="2A5240"/>
          </a:solidFill>
          <a:ln/>
        </p:spPr>
      </p:sp>
      <p:sp>
        <p:nvSpPr>
          <p:cNvPr id="9" name="Text 7"/>
          <p:cNvSpPr/>
          <p:nvPr/>
        </p:nvSpPr>
        <p:spPr>
          <a:xfrm>
            <a:off x="15697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MODEL</a:t>
            </a:r>
            <a:endParaRPr lang="en-US" sz="750" dirty="0"/>
          </a:p>
        </p:txBody>
      </p:sp>
      <p:sp>
        <p:nvSpPr>
          <p:cNvPr id="10" name="Shape 8"/>
          <p:cNvSpPr/>
          <p:nvPr/>
        </p:nvSpPr>
        <p:spPr>
          <a:xfrm>
            <a:off x="2545080" y="5212080"/>
            <a:ext cx="829056" cy="73152"/>
          </a:xfrm>
          <a:prstGeom prst="rect">
            <a:avLst/>
          </a:prstGeom>
          <a:solidFill>
            <a:srgbClr val="2A5240"/>
          </a:solidFill>
          <a:ln/>
        </p:spPr>
      </p:sp>
      <p:sp>
        <p:nvSpPr>
          <p:cNvPr id="11" name="Text 9"/>
          <p:cNvSpPr/>
          <p:nvPr/>
        </p:nvSpPr>
        <p:spPr>
          <a:xfrm>
            <a:off x="24536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SANDBOX</a:t>
            </a:r>
            <a:endParaRPr lang="en-US" sz="750" dirty="0"/>
          </a:p>
        </p:txBody>
      </p:sp>
      <p:sp>
        <p:nvSpPr>
          <p:cNvPr id="12" name="Shape 10"/>
          <p:cNvSpPr/>
          <p:nvPr/>
        </p:nvSpPr>
        <p:spPr>
          <a:xfrm>
            <a:off x="3429000" y="5212080"/>
            <a:ext cx="829056" cy="73152"/>
          </a:xfrm>
          <a:prstGeom prst="rect">
            <a:avLst/>
          </a:prstGeom>
          <a:solidFill>
            <a:srgbClr val="2A5240"/>
          </a:solidFill>
          <a:ln/>
        </p:spPr>
      </p:sp>
      <p:sp>
        <p:nvSpPr>
          <p:cNvPr id="13" name="Text 11"/>
          <p:cNvSpPr/>
          <p:nvPr/>
        </p:nvSpPr>
        <p:spPr>
          <a:xfrm>
            <a:off x="333756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EVAL</a:t>
            </a:r>
            <a:endParaRPr lang="en-US" sz="750" dirty="0"/>
          </a:p>
        </p:txBody>
      </p:sp>
      <p:sp>
        <p:nvSpPr>
          <p:cNvPr id="14" name="Shape 12"/>
          <p:cNvSpPr/>
          <p:nvPr/>
        </p:nvSpPr>
        <p:spPr>
          <a:xfrm>
            <a:off x="4312920" y="5212080"/>
            <a:ext cx="829056" cy="73152"/>
          </a:xfrm>
          <a:prstGeom prst="rect">
            <a:avLst/>
          </a:prstGeom>
          <a:solidFill>
            <a:srgbClr val="2A5240"/>
          </a:solidFill>
          <a:ln/>
        </p:spPr>
      </p:sp>
      <p:sp>
        <p:nvSpPr>
          <p:cNvPr id="15" name="Text 13"/>
          <p:cNvSpPr/>
          <p:nvPr/>
        </p:nvSpPr>
        <p:spPr>
          <a:xfrm>
            <a:off x="422148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DATA</a:t>
            </a:r>
            <a:endParaRPr lang="en-US" sz="750" dirty="0"/>
          </a:p>
        </p:txBody>
      </p:sp>
      <p:sp>
        <p:nvSpPr>
          <p:cNvPr id="16" name="Shape 14"/>
          <p:cNvSpPr/>
          <p:nvPr/>
        </p:nvSpPr>
        <p:spPr>
          <a:xfrm>
            <a:off x="5196840" y="5212080"/>
            <a:ext cx="829056" cy="73152"/>
          </a:xfrm>
          <a:prstGeom prst="rect">
            <a:avLst/>
          </a:prstGeom>
          <a:solidFill>
            <a:srgbClr val="2A5240"/>
          </a:solidFill>
          <a:ln/>
        </p:spPr>
      </p:sp>
      <p:sp>
        <p:nvSpPr>
          <p:cNvPr id="17" name="Text 15"/>
          <p:cNvSpPr/>
          <p:nvPr/>
        </p:nvSpPr>
        <p:spPr>
          <a:xfrm>
            <a:off x="51054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SFT</a:t>
            </a:r>
            <a:endParaRPr lang="en-US" sz="750" dirty="0"/>
          </a:p>
        </p:txBody>
      </p:sp>
      <p:sp>
        <p:nvSpPr>
          <p:cNvPr id="18" name="Shape 16"/>
          <p:cNvSpPr/>
          <p:nvPr/>
        </p:nvSpPr>
        <p:spPr>
          <a:xfrm>
            <a:off x="6080760" y="5212080"/>
            <a:ext cx="829056" cy="73152"/>
          </a:xfrm>
          <a:prstGeom prst="rect">
            <a:avLst/>
          </a:prstGeom>
          <a:solidFill>
            <a:srgbClr val="2A5240"/>
          </a:solidFill>
          <a:ln/>
        </p:spPr>
      </p:sp>
      <p:sp>
        <p:nvSpPr>
          <p:cNvPr id="19" name="Text 17"/>
          <p:cNvSpPr/>
          <p:nvPr/>
        </p:nvSpPr>
        <p:spPr>
          <a:xfrm>
            <a:off x="59893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RFT</a:t>
            </a:r>
            <a:endParaRPr lang="en-US" sz="750" dirty="0"/>
          </a:p>
        </p:txBody>
      </p:sp>
      <p:sp>
        <p:nvSpPr>
          <p:cNvPr id="20" name="Shape 18"/>
          <p:cNvSpPr/>
          <p:nvPr/>
        </p:nvSpPr>
        <p:spPr>
          <a:xfrm>
            <a:off x="6964680" y="5212080"/>
            <a:ext cx="829056" cy="73152"/>
          </a:xfrm>
          <a:prstGeom prst="rect">
            <a:avLst/>
          </a:prstGeom>
          <a:solidFill>
            <a:srgbClr val="2A5240"/>
          </a:solidFill>
          <a:ln/>
        </p:spPr>
      </p:sp>
      <p:sp>
        <p:nvSpPr>
          <p:cNvPr id="21" name="Text 19"/>
          <p:cNvSpPr/>
          <p:nvPr/>
        </p:nvSpPr>
        <p:spPr>
          <a:xfrm>
            <a:off x="68732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DPO</a:t>
            </a:r>
            <a:endParaRPr lang="en-US" sz="750" dirty="0"/>
          </a:p>
        </p:txBody>
      </p:sp>
      <p:sp>
        <p:nvSpPr>
          <p:cNvPr id="22" name="Shape 20"/>
          <p:cNvSpPr/>
          <p:nvPr/>
        </p:nvSpPr>
        <p:spPr>
          <a:xfrm>
            <a:off x="7848600" y="5212080"/>
            <a:ext cx="829056" cy="73152"/>
          </a:xfrm>
          <a:prstGeom prst="rect">
            <a:avLst/>
          </a:prstGeom>
          <a:solidFill>
            <a:srgbClr val="2A5240"/>
          </a:solidFill>
          <a:ln/>
        </p:spPr>
      </p:sp>
      <p:sp>
        <p:nvSpPr>
          <p:cNvPr id="23" name="Text 21"/>
          <p:cNvSpPr/>
          <p:nvPr/>
        </p:nvSpPr>
        <p:spPr>
          <a:xfrm>
            <a:off x="775716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GRPO</a:t>
            </a:r>
            <a:endParaRPr lang="en-US" sz="750" dirty="0"/>
          </a:p>
        </p:txBody>
      </p:sp>
      <p:sp>
        <p:nvSpPr>
          <p:cNvPr id="24" name="Shape 22"/>
          <p:cNvSpPr/>
          <p:nvPr/>
        </p:nvSpPr>
        <p:spPr>
          <a:xfrm>
            <a:off x="8732520" y="5212080"/>
            <a:ext cx="829056" cy="182880"/>
          </a:xfrm>
          <a:prstGeom prst="rect">
            <a:avLst/>
          </a:prstGeom>
          <a:solidFill>
            <a:srgbClr val="8FB573"/>
          </a:solidFill>
          <a:ln/>
        </p:spPr>
      </p:sp>
      <p:sp>
        <p:nvSpPr>
          <p:cNvPr id="25" name="Text 23"/>
          <p:cNvSpPr/>
          <p:nvPr/>
        </p:nvSpPr>
        <p:spPr>
          <a:xfrm>
            <a:off x="8641080" y="5468112"/>
            <a:ext cx="1011936" cy="219456"/>
          </a:xfrm>
          <a:prstGeom prst="rect">
            <a:avLst/>
          </a:prstGeom>
          <a:noFill/>
          <a:ln/>
        </p:spPr>
        <p:txBody>
          <a:bodyPr wrap="square" lIns="0" tIns="0" rIns="0" bIns="0" rtlCol="0" anchor="ctr"/>
          <a:lstStyle/>
          <a:p>
            <a:pPr algn="ctr" indent="0" marL="0">
              <a:buNone/>
            </a:pPr>
            <a:r>
              <a:rPr lang="en-US" sz="750" b="1" dirty="0">
                <a:solidFill>
                  <a:srgbClr val="8FB573"/>
                </a:solidFill>
                <a:latin typeface="Calibri" pitchFamily="34" charset="0"/>
                <a:ea typeface="Calibri" pitchFamily="34" charset="-122"/>
                <a:cs typeface="Calibri" pitchFamily="34" charset="-120"/>
              </a:rPr>
              <a:t>REPAIR</a:t>
            </a:r>
            <a:endParaRPr lang="en-US" sz="750" dirty="0"/>
          </a:p>
        </p:txBody>
      </p:sp>
      <p:sp>
        <p:nvSpPr>
          <p:cNvPr id="26" name="Shape 24"/>
          <p:cNvSpPr/>
          <p:nvPr/>
        </p:nvSpPr>
        <p:spPr>
          <a:xfrm>
            <a:off x="9616440" y="5212080"/>
            <a:ext cx="829056" cy="73152"/>
          </a:xfrm>
          <a:prstGeom prst="rect">
            <a:avLst/>
          </a:prstGeom>
          <a:solidFill>
            <a:srgbClr val="27452F"/>
          </a:solidFill>
          <a:ln/>
        </p:spPr>
      </p:sp>
      <p:sp>
        <p:nvSpPr>
          <p:cNvPr id="27" name="Text 25"/>
          <p:cNvSpPr/>
          <p:nvPr/>
        </p:nvSpPr>
        <p:spPr>
          <a:xfrm>
            <a:off x="952500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MERGE</a:t>
            </a:r>
            <a:endParaRPr lang="en-US" sz="750" dirty="0"/>
          </a:p>
        </p:txBody>
      </p:sp>
      <p:sp>
        <p:nvSpPr>
          <p:cNvPr id="28" name="Shape 26"/>
          <p:cNvSpPr/>
          <p:nvPr/>
        </p:nvSpPr>
        <p:spPr>
          <a:xfrm>
            <a:off x="10500360" y="5212080"/>
            <a:ext cx="829056" cy="73152"/>
          </a:xfrm>
          <a:prstGeom prst="rect">
            <a:avLst/>
          </a:prstGeom>
          <a:solidFill>
            <a:srgbClr val="27452F"/>
          </a:solidFill>
          <a:ln/>
        </p:spPr>
      </p:sp>
      <p:sp>
        <p:nvSpPr>
          <p:cNvPr id="29" name="Text 27"/>
          <p:cNvSpPr/>
          <p:nvPr/>
        </p:nvSpPr>
        <p:spPr>
          <a:xfrm>
            <a:off x="104089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SERVE</a:t>
            </a:r>
            <a:endParaRPr lang="en-US" sz="7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147</a:t>
            </a:r>
            <a:endParaRPr lang="en-US" sz="9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REPAIR</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repair loop</a:t>
            </a:r>
            <a:endParaRPr lang="en-US" sz="2900" dirty="0"/>
          </a:p>
        </p:txBody>
      </p:sp>
      <p:sp>
        <p:nvSpPr>
          <p:cNvPr id="4" name="Shape 2"/>
          <p:cNvSpPr/>
          <p:nvPr/>
        </p:nvSpPr>
        <p:spPr>
          <a:xfrm>
            <a:off x="502920" y="1280160"/>
            <a:ext cx="1953158" cy="1645920"/>
          </a:xfrm>
          <a:prstGeom prst="roundRect">
            <a:avLst>
              <a:gd name="adj" fmla="val 38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667512" y="1417320"/>
            <a:ext cx="1623974"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ATTEMPT</a:t>
            </a:r>
            <a:endParaRPr lang="en-US" sz="1100" dirty="0"/>
          </a:p>
        </p:txBody>
      </p:sp>
      <p:sp>
        <p:nvSpPr>
          <p:cNvPr id="6" name="Text 4"/>
          <p:cNvSpPr/>
          <p:nvPr/>
        </p:nvSpPr>
        <p:spPr>
          <a:xfrm>
            <a:off x="667512" y="1700784"/>
            <a:ext cx="1623974" cy="109728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Model writes a solution. It fails — most attempts do.</a:t>
            </a:r>
            <a:endParaRPr lang="en-US" sz="1050" dirty="0"/>
          </a:p>
        </p:txBody>
      </p:sp>
      <p:sp>
        <p:nvSpPr>
          <p:cNvPr id="7" name="Text 5"/>
          <p:cNvSpPr/>
          <p:nvPr/>
        </p:nvSpPr>
        <p:spPr>
          <a:xfrm>
            <a:off x="2456078" y="1280160"/>
            <a:ext cx="347472" cy="164592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8" name="Shape 6"/>
          <p:cNvSpPr/>
          <p:nvPr/>
        </p:nvSpPr>
        <p:spPr>
          <a:xfrm>
            <a:off x="2803550" y="1280160"/>
            <a:ext cx="1953158" cy="1645920"/>
          </a:xfrm>
          <a:prstGeom prst="roundRect">
            <a:avLst>
              <a:gd name="adj" fmla="val 38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2968142" y="1417320"/>
            <a:ext cx="1623974" cy="256032"/>
          </a:xfrm>
          <a:prstGeom prst="rect">
            <a:avLst/>
          </a:prstGeom>
          <a:noFill/>
          <a:ln/>
        </p:spPr>
        <p:txBody>
          <a:bodyPr wrap="square" lIns="0" tIns="0" rIns="0" bIns="0" rtlCol="0" anchor="ctr"/>
          <a:lstStyle/>
          <a:p>
            <a:pPr indent="0" marL="0">
              <a:buNone/>
            </a:pPr>
            <a:r>
              <a:rPr lang="en-US" sz="1100" b="1" spc="120" kern="0" dirty="0">
                <a:solidFill>
                  <a:srgbClr val="D98E32"/>
                </a:solidFill>
                <a:latin typeface="Calibri" pitchFamily="34" charset="0"/>
                <a:ea typeface="Calibri" pitchFamily="34" charset="-122"/>
                <a:cs typeface="Calibri" pitchFamily="34" charset="-120"/>
              </a:rPr>
              <a:t>EXECUTE</a:t>
            </a:r>
            <a:endParaRPr lang="en-US" sz="1100" dirty="0"/>
          </a:p>
        </p:txBody>
      </p:sp>
      <p:sp>
        <p:nvSpPr>
          <p:cNvPr id="10" name="Text 8"/>
          <p:cNvSpPr/>
          <p:nvPr/>
        </p:nvSpPr>
        <p:spPr>
          <a:xfrm>
            <a:off x="2968142" y="1700784"/>
            <a:ext cx="1623974" cy="109728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Sandbox returns the traceback and the failing test output.</a:t>
            </a:r>
            <a:endParaRPr lang="en-US" sz="1050" dirty="0"/>
          </a:p>
        </p:txBody>
      </p:sp>
      <p:sp>
        <p:nvSpPr>
          <p:cNvPr id="11" name="Text 9"/>
          <p:cNvSpPr/>
          <p:nvPr/>
        </p:nvSpPr>
        <p:spPr>
          <a:xfrm>
            <a:off x="4756709" y="1280160"/>
            <a:ext cx="347472" cy="164592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2" name="Shape 10"/>
          <p:cNvSpPr/>
          <p:nvPr/>
        </p:nvSpPr>
        <p:spPr>
          <a:xfrm>
            <a:off x="5104181" y="1280160"/>
            <a:ext cx="1953158" cy="1645920"/>
          </a:xfrm>
          <a:prstGeom prst="roundRect">
            <a:avLst>
              <a:gd name="adj" fmla="val 38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Text 11"/>
          <p:cNvSpPr/>
          <p:nvPr/>
        </p:nvSpPr>
        <p:spPr>
          <a:xfrm>
            <a:off x="5268773" y="1417320"/>
            <a:ext cx="1623974"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FEED BACK</a:t>
            </a:r>
            <a:endParaRPr lang="en-US" sz="1100" dirty="0"/>
          </a:p>
        </p:txBody>
      </p:sp>
      <p:sp>
        <p:nvSpPr>
          <p:cNvPr id="14" name="Text 12"/>
          <p:cNvSpPr/>
          <p:nvPr/>
        </p:nvSpPr>
        <p:spPr>
          <a:xfrm>
            <a:off x="5268773" y="1700784"/>
            <a:ext cx="1623974" cy="109728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Traceback is appended as a new turn in the conversation.</a:t>
            </a:r>
            <a:endParaRPr lang="en-US" sz="1050" dirty="0"/>
          </a:p>
        </p:txBody>
      </p:sp>
      <p:sp>
        <p:nvSpPr>
          <p:cNvPr id="15" name="Text 13"/>
          <p:cNvSpPr/>
          <p:nvPr/>
        </p:nvSpPr>
        <p:spPr>
          <a:xfrm>
            <a:off x="7057339" y="1280160"/>
            <a:ext cx="347472" cy="164592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16" name="Shape 14"/>
          <p:cNvSpPr/>
          <p:nvPr/>
        </p:nvSpPr>
        <p:spPr>
          <a:xfrm>
            <a:off x="7404811" y="1280160"/>
            <a:ext cx="1953158" cy="1645920"/>
          </a:xfrm>
          <a:prstGeom prst="roundRect">
            <a:avLst>
              <a:gd name="adj" fmla="val 38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7569403" y="1417320"/>
            <a:ext cx="1623974" cy="256032"/>
          </a:xfrm>
          <a:prstGeom prst="rect">
            <a:avLst/>
          </a:prstGeom>
          <a:noFill/>
          <a:ln/>
        </p:spPr>
        <p:txBody>
          <a:bodyPr wrap="square" lIns="0" tIns="0" rIns="0" bIns="0" rtlCol="0" anchor="ctr"/>
          <a:lstStyle/>
          <a:p>
            <a:pPr indent="0" marL="0">
              <a:buNone/>
            </a:pPr>
            <a:r>
              <a:rPr lang="en-US" sz="1100" b="1" spc="120" kern="0" dirty="0">
                <a:solidFill>
                  <a:srgbClr val="8FB573"/>
                </a:solidFill>
                <a:latin typeface="Calibri" pitchFamily="34" charset="0"/>
                <a:ea typeface="Calibri" pitchFamily="34" charset="-122"/>
                <a:cs typeface="Calibri" pitchFamily="34" charset="-120"/>
              </a:rPr>
              <a:t>REPAIR</a:t>
            </a:r>
            <a:endParaRPr lang="en-US" sz="1100" dirty="0"/>
          </a:p>
        </p:txBody>
      </p:sp>
      <p:sp>
        <p:nvSpPr>
          <p:cNvPr id="18" name="Text 16"/>
          <p:cNvSpPr/>
          <p:nvPr/>
        </p:nvSpPr>
        <p:spPr>
          <a:xfrm>
            <a:off x="7569403" y="1700784"/>
            <a:ext cx="1623974" cy="109728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Model reads its own error and produces a corrected version.</a:t>
            </a:r>
            <a:endParaRPr lang="en-US" sz="1050" dirty="0"/>
          </a:p>
        </p:txBody>
      </p:sp>
      <p:sp>
        <p:nvSpPr>
          <p:cNvPr id="19" name="Text 17"/>
          <p:cNvSpPr/>
          <p:nvPr/>
        </p:nvSpPr>
        <p:spPr>
          <a:xfrm>
            <a:off x="9357970" y="1280160"/>
            <a:ext cx="347472" cy="1645920"/>
          </a:xfrm>
          <a:prstGeom prst="rect">
            <a:avLst/>
          </a:prstGeom>
          <a:noFill/>
          <a:ln/>
        </p:spPr>
        <p:txBody>
          <a:bodyPr wrap="square" lIns="0" tIns="0" rIns="0" bIns="0" rtlCol="0" anchor="ctr"/>
          <a:lstStyle/>
          <a:p>
            <a:pPr algn="ctr" indent="0" marL="0">
              <a:buNone/>
            </a:pPr>
            <a:r>
              <a:rPr lang="en-US" sz="1900" b="1" dirty="0">
                <a:solidFill>
                  <a:srgbClr val="8FB573"/>
                </a:solidFill>
                <a:latin typeface="Calibri" pitchFamily="34" charset="0"/>
                <a:ea typeface="Calibri" pitchFamily="34" charset="-122"/>
                <a:cs typeface="Calibri" pitchFamily="34" charset="-120"/>
              </a:rPr>
              <a:t>→</a:t>
            </a:r>
            <a:endParaRPr lang="en-US" sz="1900" dirty="0"/>
          </a:p>
        </p:txBody>
      </p:sp>
      <p:sp>
        <p:nvSpPr>
          <p:cNvPr id="20" name="Shape 18"/>
          <p:cNvSpPr/>
          <p:nvPr/>
        </p:nvSpPr>
        <p:spPr>
          <a:xfrm>
            <a:off x="9705442" y="1280160"/>
            <a:ext cx="1953158" cy="1645920"/>
          </a:xfrm>
          <a:prstGeom prst="roundRect">
            <a:avLst>
              <a:gd name="adj" fmla="val 38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Text 19"/>
          <p:cNvSpPr/>
          <p:nvPr/>
        </p:nvSpPr>
        <p:spPr>
          <a:xfrm>
            <a:off x="9870034" y="1417320"/>
            <a:ext cx="1623974" cy="256032"/>
          </a:xfrm>
          <a:prstGeom prst="rect">
            <a:avLst/>
          </a:prstGeom>
          <a:noFill/>
          <a:ln/>
        </p:spPr>
        <p:txBody>
          <a:bodyPr wrap="square" lIns="0" tIns="0" rIns="0" bIns="0" rtlCol="0" anchor="ctr"/>
          <a:lstStyle/>
          <a:p>
            <a:pPr indent="0" marL="0">
              <a:buNone/>
            </a:pPr>
            <a:r>
              <a:rPr lang="en-US" sz="1100" b="1" spc="120" kern="0" dirty="0">
                <a:solidFill>
                  <a:srgbClr val="2A5240"/>
                </a:solidFill>
                <a:latin typeface="Calibri" pitchFamily="34" charset="0"/>
                <a:ea typeface="Calibri" pitchFamily="34" charset="-122"/>
                <a:cs typeface="Calibri" pitchFamily="34" charset="-120"/>
              </a:rPr>
              <a:t>RE-EXECUTE</a:t>
            </a:r>
            <a:endParaRPr lang="en-US" sz="1100" dirty="0"/>
          </a:p>
        </p:txBody>
      </p:sp>
      <p:sp>
        <p:nvSpPr>
          <p:cNvPr id="22" name="Text 20"/>
          <p:cNvSpPr/>
          <p:nvPr/>
        </p:nvSpPr>
        <p:spPr>
          <a:xfrm>
            <a:off x="9870034" y="1700784"/>
            <a:ext cx="1623974" cy="1097280"/>
          </a:xfrm>
          <a:prstGeom prst="rect">
            <a:avLst/>
          </a:prstGeom>
          <a:noFill/>
          <a:ln/>
        </p:spPr>
        <p:txBody>
          <a:bodyPr wrap="square" lIns="0" tIns="0" rIns="0" bIns="0" rtlCol="0" anchor="t"/>
          <a:lstStyle/>
          <a:p>
            <a:pPr indent="0" marL="0">
              <a:buNone/>
            </a:pPr>
            <a:r>
              <a:rPr lang="en-US" sz="1050" dirty="0">
                <a:solidFill>
                  <a:srgbClr val="16211B"/>
                </a:solidFill>
                <a:latin typeface="Calibri" pitchFamily="34" charset="0"/>
                <a:ea typeface="Calibri" pitchFamily="34" charset="-122"/>
                <a:cs typeface="Calibri" pitchFamily="34" charset="-120"/>
              </a:rPr>
              <a:t>Score the repaired attempt. Reward the fix.</a:t>
            </a:r>
            <a:endParaRPr lang="en-US" sz="1050" dirty="0"/>
          </a:p>
        </p:txBody>
      </p:sp>
      <p:sp>
        <p:nvSpPr>
          <p:cNvPr id="23" name="Text 21"/>
          <p:cNvSpPr/>
          <p:nvPr/>
        </p:nvSpPr>
        <p:spPr>
          <a:xfrm>
            <a:off x="502920" y="3108960"/>
            <a:ext cx="11155680" cy="68580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You already have everything you need. Phase 3's ExecResult captured the traceback; Phases 7 and 9 generated hundreds of thousands of failures. Most people throw that away — it is arguably the richest signal you produced.</a:t>
            </a:r>
            <a:endParaRPr lang="en-US" sz="1350" dirty="0"/>
          </a:p>
        </p:txBody>
      </p:sp>
      <p:sp>
        <p:nvSpPr>
          <p:cNvPr id="24" name="Shape 22"/>
          <p:cNvSpPr/>
          <p:nvPr/>
        </p:nvSpPr>
        <p:spPr>
          <a:xfrm>
            <a:off x="502920" y="3931920"/>
            <a:ext cx="3621024" cy="1325880"/>
          </a:xfrm>
          <a:prstGeom prst="roundRect">
            <a:avLst>
              <a:gd name="adj" fmla="val 482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Text 23"/>
          <p:cNvSpPr/>
          <p:nvPr/>
        </p:nvSpPr>
        <p:spPr>
          <a:xfrm>
            <a:off x="722376" y="407822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Why it matters</a:t>
            </a:r>
            <a:endParaRPr lang="en-US" sz="1250" dirty="0"/>
          </a:p>
        </p:txBody>
      </p:sp>
      <p:sp>
        <p:nvSpPr>
          <p:cNvPr id="26" name="Text 24"/>
          <p:cNvSpPr/>
          <p:nvPr/>
        </p:nvSpPr>
        <p:spPr>
          <a:xfrm>
            <a:off x="722376" y="4389120"/>
            <a:ext cx="3182112" cy="7223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Real programming is iterative. A model that writes once and gives up is far less useful than one that reads an error and fixes it — even if the first drafts are equally good.</a:t>
            </a:r>
            <a:endParaRPr lang="en-US" sz="1100" dirty="0"/>
          </a:p>
        </p:txBody>
      </p:sp>
      <p:sp>
        <p:nvSpPr>
          <p:cNvPr id="27" name="Shape 25"/>
          <p:cNvSpPr/>
          <p:nvPr/>
        </p:nvSpPr>
        <p:spPr>
          <a:xfrm>
            <a:off x="4270248" y="3931920"/>
            <a:ext cx="3621024" cy="1325880"/>
          </a:xfrm>
          <a:prstGeom prst="roundRect">
            <a:avLst>
              <a:gd name="adj" fmla="val 482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8" name="Text 26"/>
          <p:cNvSpPr/>
          <p:nvPr/>
        </p:nvSpPr>
        <p:spPr>
          <a:xfrm>
            <a:off x="4489704" y="407822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Why it is cheap</a:t>
            </a:r>
            <a:endParaRPr lang="en-US" sz="1250" dirty="0"/>
          </a:p>
        </p:txBody>
      </p:sp>
      <p:sp>
        <p:nvSpPr>
          <p:cNvPr id="29" name="Text 27"/>
          <p:cNvSpPr/>
          <p:nvPr/>
        </p:nvSpPr>
        <p:spPr>
          <a:xfrm>
            <a:off x="4489704" y="4389120"/>
            <a:ext cx="3182112" cy="7223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data is a byproduct of work you already did. No new generation is required for round one.</a:t>
            </a:r>
            <a:endParaRPr lang="en-US" sz="1100" dirty="0"/>
          </a:p>
        </p:txBody>
      </p:sp>
      <p:sp>
        <p:nvSpPr>
          <p:cNvPr id="30" name="Shape 28"/>
          <p:cNvSpPr/>
          <p:nvPr/>
        </p:nvSpPr>
        <p:spPr>
          <a:xfrm>
            <a:off x="8037576" y="3931920"/>
            <a:ext cx="3621024" cy="1325880"/>
          </a:xfrm>
          <a:prstGeom prst="roundRect">
            <a:avLst>
              <a:gd name="adj" fmla="val 482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1" name="Text 29"/>
          <p:cNvSpPr/>
          <p:nvPr/>
        </p:nvSpPr>
        <p:spPr>
          <a:xfrm>
            <a:off x="8257032" y="407822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Why it is agentic</a:t>
            </a:r>
            <a:endParaRPr lang="en-US" sz="1250" dirty="0"/>
          </a:p>
        </p:txBody>
      </p:sp>
      <p:sp>
        <p:nvSpPr>
          <p:cNvPr id="32" name="Text 30"/>
          <p:cNvSpPr/>
          <p:nvPr/>
        </p:nvSpPr>
        <p:spPr>
          <a:xfrm>
            <a:off x="8257032" y="4389120"/>
            <a:ext cx="3182112" cy="7223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This is the smallest possible agent loop: act, observe, revise. Everything larger is this pattern with more tools.</a:t>
            </a:r>
            <a:endParaRPr lang="en-US" sz="1100" dirty="0"/>
          </a:p>
        </p:txBody>
      </p:sp>
      <p:sp>
        <p:nvSpPr>
          <p:cNvPr id="33" name="Shape 31"/>
          <p:cNvSpPr/>
          <p:nvPr/>
        </p:nvSpPr>
        <p:spPr>
          <a:xfrm>
            <a:off x="502920" y="5440680"/>
            <a:ext cx="11155680" cy="914400"/>
          </a:xfrm>
          <a:prstGeom prst="roundRect">
            <a:avLst>
              <a:gd name="adj" fmla="val 7000"/>
            </a:avLst>
          </a:prstGeom>
          <a:solidFill>
            <a:srgbClr val="1F3D2E"/>
          </a:solidFill>
          <a:ln/>
        </p:spPr>
      </p:sp>
      <p:sp>
        <p:nvSpPr>
          <p:cNvPr id="34" name="Shape 32"/>
          <p:cNvSpPr/>
          <p:nvPr/>
        </p:nvSpPr>
        <p:spPr>
          <a:xfrm>
            <a:off x="740664" y="5623560"/>
            <a:ext cx="292608" cy="292608"/>
          </a:xfrm>
          <a:prstGeom prst="ellipse">
            <a:avLst/>
          </a:prstGeom>
          <a:solidFill>
            <a:srgbClr val="1F3D2E"/>
          </a:solidFill>
          <a:ln/>
        </p:spPr>
      </p:sp>
      <p:sp>
        <p:nvSpPr>
          <p:cNvPr id="35" name="Text 33"/>
          <p:cNvSpPr/>
          <p:nvPr/>
        </p:nvSpPr>
        <p:spPr>
          <a:xfrm>
            <a:off x="740664" y="562356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36" name="Text 34"/>
          <p:cNvSpPr/>
          <p:nvPr/>
        </p:nvSpPr>
        <p:spPr>
          <a:xfrm>
            <a:off x="1133856" y="564184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37" name="Text 35"/>
          <p:cNvSpPr/>
          <p:nvPr/>
        </p:nvSpPr>
        <p:spPr>
          <a:xfrm>
            <a:off x="740664" y="6016752"/>
            <a:ext cx="10680192" cy="1645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The tracebacks from Phase 9 alone gave me 180,000 repair examples for free. I had nearly discarded them because ExecResult looked verbose. Capture the traceback in Phase 3 — this is why.</a:t>
            </a:r>
            <a:endParaRPr lang="en-US" sz="1150" dirty="0"/>
          </a:p>
        </p:txBody>
      </p:sp>
      <p:sp>
        <p:nvSpPr>
          <p:cNvPr id="38" name="Text 36"/>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148</a:t>
            </a:r>
            <a:endParaRPr lang="en-US" sz="9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REPAIR</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Building the repair dataset</a:t>
            </a:r>
            <a:endParaRPr lang="en-US" sz="2900" dirty="0"/>
          </a:p>
        </p:txBody>
      </p:sp>
      <p:sp>
        <p:nvSpPr>
          <p:cNvPr id="4" name="Shape 2"/>
          <p:cNvSpPr/>
          <p:nvPr/>
        </p:nvSpPr>
        <p:spPr>
          <a:xfrm>
            <a:off x="502920" y="1280160"/>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463802"/>
            <a:ext cx="402336" cy="402336"/>
          </a:xfrm>
          <a:prstGeom prst="ellipse">
            <a:avLst/>
          </a:prstGeom>
          <a:solidFill>
            <a:srgbClr val="8FB573"/>
          </a:solidFill>
          <a:ln/>
        </p:spPr>
      </p:sp>
      <p:sp>
        <p:nvSpPr>
          <p:cNvPr id="6" name="Text 4"/>
          <p:cNvSpPr/>
          <p:nvPr/>
        </p:nvSpPr>
        <p:spPr>
          <a:xfrm>
            <a:off x="749808" y="146380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Mine your existing failures</a:t>
            </a:r>
            <a:endParaRPr lang="en-US" sz="1300" dirty="0"/>
          </a:p>
        </p:txBody>
      </p:sp>
      <p:sp>
        <p:nvSpPr>
          <p:cNvPr id="8" name="Text 6"/>
          <p:cNvSpPr/>
          <p:nvPr/>
        </p:nvSpPr>
        <p:spPr>
          <a:xfrm>
            <a:off x="1316736" y="1700784"/>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Every failed sample from Phases 7 and 9, with its traceback. Filter to failures that are actually informative — a syntax error teaches less than a wrong-algorithm assertion failure.</a:t>
            </a:r>
            <a:endParaRPr lang="en-US" sz="1150" dirty="0"/>
          </a:p>
        </p:txBody>
      </p:sp>
      <p:sp>
        <p:nvSpPr>
          <p:cNvPr id="9" name="Shape 7"/>
          <p:cNvSpPr/>
          <p:nvPr/>
        </p:nvSpPr>
        <p:spPr>
          <a:xfrm>
            <a:off x="502920" y="2159508"/>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343150"/>
            <a:ext cx="402336" cy="402336"/>
          </a:xfrm>
          <a:prstGeom prst="ellipse">
            <a:avLst/>
          </a:prstGeom>
          <a:solidFill>
            <a:srgbClr val="8FB573"/>
          </a:solidFill>
          <a:ln/>
        </p:spPr>
      </p:sp>
      <p:sp>
        <p:nvSpPr>
          <p:cNvPr id="11" name="Text 9"/>
          <p:cNvSpPr/>
          <p:nvPr/>
        </p:nvSpPr>
        <p:spPr>
          <a:xfrm>
            <a:off x="749808" y="234315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28752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Pair each failure with a correct solution</a:t>
            </a:r>
            <a:endParaRPr lang="en-US" sz="1300" dirty="0"/>
          </a:p>
        </p:txBody>
      </p:sp>
      <p:sp>
        <p:nvSpPr>
          <p:cNvPr id="13" name="Text 11"/>
          <p:cNvSpPr/>
          <p:nvPr/>
        </p:nvSpPr>
        <p:spPr>
          <a:xfrm>
            <a:off x="1316736" y="2580132"/>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Ideally the model's OWN later successful attempt on the same problem. Failing that, a verified reference solution.</a:t>
            </a:r>
            <a:endParaRPr lang="en-US" sz="1150" dirty="0"/>
          </a:p>
        </p:txBody>
      </p:sp>
      <p:sp>
        <p:nvSpPr>
          <p:cNvPr id="14" name="Shape 12"/>
          <p:cNvSpPr/>
          <p:nvPr/>
        </p:nvSpPr>
        <p:spPr>
          <a:xfrm>
            <a:off x="502920" y="3038856"/>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3222498"/>
            <a:ext cx="402336" cy="402336"/>
          </a:xfrm>
          <a:prstGeom prst="ellipse">
            <a:avLst/>
          </a:prstGeom>
          <a:solidFill>
            <a:srgbClr val="8FB573"/>
          </a:solidFill>
          <a:ln/>
        </p:spPr>
      </p:sp>
      <p:sp>
        <p:nvSpPr>
          <p:cNvPr id="16" name="Text 14"/>
          <p:cNvSpPr/>
          <p:nvPr/>
        </p:nvSpPr>
        <p:spPr>
          <a:xfrm>
            <a:off x="749808" y="322249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3166872"/>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Format as a multi-turn conversation</a:t>
            </a:r>
            <a:endParaRPr lang="en-US" sz="1300" dirty="0"/>
          </a:p>
        </p:txBody>
      </p:sp>
      <p:sp>
        <p:nvSpPr>
          <p:cNvPr id="18" name="Text 16"/>
          <p:cNvSpPr/>
          <p:nvPr/>
        </p:nvSpPr>
        <p:spPr>
          <a:xfrm>
            <a:off x="1316736" y="3459480"/>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user: problem → assistant: broken attempt → user: traceback → assistant: fixed version. The traceback arrives in the USER role, because it is environment feedback.</a:t>
            </a:r>
            <a:endParaRPr lang="en-US" sz="1150" dirty="0"/>
          </a:p>
        </p:txBody>
      </p:sp>
      <p:sp>
        <p:nvSpPr>
          <p:cNvPr id="19" name="Shape 17"/>
          <p:cNvSpPr/>
          <p:nvPr/>
        </p:nvSpPr>
        <p:spPr>
          <a:xfrm>
            <a:off x="502920" y="3918204"/>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4101846"/>
            <a:ext cx="402336" cy="402336"/>
          </a:xfrm>
          <a:prstGeom prst="ellipse">
            <a:avLst/>
          </a:prstGeom>
          <a:solidFill>
            <a:srgbClr val="8FB573"/>
          </a:solidFill>
          <a:ln/>
        </p:spPr>
      </p:sp>
      <p:sp>
        <p:nvSpPr>
          <p:cNvPr id="21" name="Text 19"/>
          <p:cNvSpPr/>
          <p:nvPr/>
        </p:nvSpPr>
        <p:spPr>
          <a:xfrm>
            <a:off x="749808" y="4101846"/>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404622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Mask correctly across turns</a:t>
            </a:r>
            <a:endParaRPr lang="en-US" sz="1300" dirty="0"/>
          </a:p>
        </p:txBody>
      </p:sp>
      <p:sp>
        <p:nvSpPr>
          <p:cNvPr id="23" name="Text 21"/>
          <p:cNvSpPr/>
          <p:nvPr/>
        </p:nvSpPr>
        <p:spPr>
          <a:xfrm>
            <a:off x="1316736" y="4338828"/>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Loss on BOTH assistant turns, or only on the repair turn — this is a real design choice. Masking the first attempt teaches repair only; unmasking it teaches both.</a:t>
            </a:r>
            <a:endParaRPr lang="en-US" sz="1150" dirty="0"/>
          </a:p>
        </p:txBody>
      </p:sp>
      <p:sp>
        <p:nvSpPr>
          <p:cNvPr id="24" name="Shape 22"/>
          <p:cNvSpPr/>
          <p:nvPr/>
        </p:nvSpPr>
        <p:spPr>
          <a:xfrm>
            <a:off x="502920" y="4797552"/>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4981194"/>
            <a:ext cx="402336" cy="402336"/>
          </a:xfrm>
          <a:prstGeom prst="ellipse">
            <a:avLst/>
          </a:prstGeom>
          <a:solidFill>
            <a:srgbClr val="8FB573"/>
          </a:solidFill>
          <a:ln/>
        </p:spPr>
      </p:sp>
      <p:sp>
        <p:nvSpPr>
          <p:cNvPr id="26" name="Text 24"/>
          <p:cNvSpPr/>
          <p:nvPr/>
        </p:nvSpPr>
        <p:spPr>
          <a:xfrm>
            <a:off x="749808" y="4981194"/>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4925568"/>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Stratify by error type</a:t>
            </a:r>
            <a:endParaRPr lang="en-US" sz="1300" dirty="0"/>
          </a:p>
        </p:txBody>
      </p:sp>
      <p:sp>
        <p:nvSpPr>
          <p:cNvPr id="28" name="Text 26"/>
          <p:cNvSpPr/>
          <p:nvPr/>
        </p:nvSpPr>
        <p:spPr>
          <a:xfrm>
            <a:off x="1316736" y="5218176"/>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SyntaxError, NameError, AssertionError, TimeoutError. Different failure classes need different repair skills, and your dataset should represent all of them.</a:t>
            </a:r>
            <a:endParaRPr lang="en-US" sz="1150" dirty="0"/>
          </a:p>
        </p:txBody>
      </p:sp>
      <p:sp>
        <p:nvSpPr>
          <p:cNvPr id="29" name="Shape 27"/>
          <p:cNvSpPr/>
          <p:nvPr/>
        </p:nvSpPr>
        <p:spPr>
          <a:xfrm>
            <a:off x="502920" y="5676900"/>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749808" y="5860542"/>
            <a:ext cx="402336" cy="402336"/>
          </a:xfrm>
          <a:prstGeom prst="ellipse">
            <a:avLst/>
          </a:prstGeom>
          <a:solidFill>
            <a:srgbClr val="8FB573"/>
          </a:solidFill>
          <a:ln/>
        </p:spPr>
      </p:sp>
      <p:sp>
        <p:nvSpPr>
          <p:cNvPr id="31" name="Text 29"/>
          <p:cNvSpPr/>
          <p:nvPr/>
        </p:nvSpPr>
        <p:spPr>
          <a:xfrm>
            <a:off x="749808" y="586054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1316736" y="580491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Cap repair chains</a:t>
            </a:r>
            <a:endParaRPr lang="en-US" sz="1300" dirty="0"/>
          </a:p>
        </p:txBody>
      </p:sp>
      <p:sp>
        <p:nvSpPr>
          <p:cNvPr id="33" name="Text 31"/>
          <p:cNvSpPr/>
          <p:nvPr/>
        </p:nvSpPr>
        <p:spPr>
          <a:xfrm>
            <a:off x="1316736" y="6097524"/>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One or two repair rounds. Longer chains teach the model that giving a bad first answer is acceptable because it can iterate.</a:t>
            </a:r>
            <a:endParaRPr lang="en-US" sz="1150" dirty="0"/>
          </a:p>
        </p:txBody>
      </p:sp>
      <p:sp>
        <p:nvSpPr>
          <p:cNvPr id="34" name="Text 3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149</a:t>
            </a:r>
            <a:endParaRPr lang="en-US" sz="95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REPAIR</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conversation format</a:t>
            </a:r>
            <a:endParaRPr lang="en-US" sz="2900" dirty="0"/>
          </a:p>
        </p:txBody>
      </p:sp>
      <p:sp>
        <p:nvSpPr>
          <p:cNvPr id="4" name="Shape 2"/>
          <p:cNvSpPr/>
          <p:nvPr/>
        </p:nvSpPr>
        <p:spPr>
          <a:xfrm>
            <a:off x="502920" y="1280160"/>
            <a:ext cx="6583680" cy="3931920"/>
          </a:xfrm>
          <a:prstGeom prst="roundRect">
            <a:avLst>
              <a:gd name="adj" fmla="val 1395"/>
            </a:avLst>
          </a:prstGeom>
          <a:solidFill>
            <a:srgbClr val="0F1F17"/>
          </a:solidFill>
          <a:ln/>
        </p:spPr>
      </p:sp>
      <p:sp>
        <p:nvSpPr>
          <p:cNvPr id="5" name="Text 3"/>
          <p:cNvSpPr/>
          <p:nvPr/>
        </p:nvSpPr>
        <p:spPr>
          <a:xfrm>
            <a:off x="722376" y="1426464"/>
            <a:ext cx="614476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ONE REPAIR EXAMPLE</a:t>
            </a:r>
            <a:endParaRPr lang="en-US" sz="950" dirty="0"/>
          </a:p>
        </p:txBody>
      </p:sp>
      <p:sp>
        <p:nvSpPr>
          <p:cNvPr id="6" name="Text 4"/>
          <p:cNvSpPr/>
          <p:nvPr/>
        </p:nvSpPr>
        <p:spPr>
          <a:xfrm>
            <a:off x="722376" y="1700784"/>
            <a:ext cx="6144768" cy="3364992"/>
          </a:xfrm>
          <a:prstGeom prst="rect">
            <a:avLst/>
          </a:prstGeom>
          <a:noFill/>
          <a:ln/>
        </p:spPr>
        <p:txBody>
          <a:bodyPr wrap="square" lIns="0" tIns="0" rIns="0" bIns="0" rtlCol="0" anchor="t"/>
          <a:lstStyle/>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{"role": "user", "content":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"Write a function that returns the median."},</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{"role": "assistant", "content":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"def median(xs):\n    xs.sort()\n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return xs[len(xs)//2]"},</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 Environment feedback arrives as USER, not system.</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{"role": "user", "content":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"Test failed:\n"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"AssertionError: median([1,2,3,4]) == 2.5\n"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got 3"},</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{"role": "assistant", "content":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"def median(xs):\n    xs = sorted(xs)\n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n = len(xs)\n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if n % 2: return xs[n//2]\n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return (xs[n//2-1] + xs[n//2]) / 2"}</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a:t>
            </a:r>
            <a:endParaRPr lang="en-US" sz="1000" dirty="0"/>
          </a:p>
        </p:txBody>
      </p:sp>
      <p:sp>
        <p:nvSpPr>
          <p:cNvPr id="7" name="Shape 5"/>
          <p:cNvSpPr/>
          <p:nvPr/>
        </p:nvSpPr>
        <p:spPr>
          <a:xfrm>
            <a:off x="7269480" y="1280160"/>
            <a:ext cx="4389120" cy="941832"/>
          </a:xfrm>
          <a:prstGeom prst="roundRect">
            <a:avLst>
              <a:gd name="adj" fmla="val 679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7488936" y="1426464"/>
            <a:ext cx="395020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Traceback in the user turn</a:t>
            </a:r>
            <a:endParaRPr lang="en-US" sz="1250" dirty="0"/>
          </a:p>
        </p:txBody>
      </p:sp>
      <p:sp>
        <p:nvSpPr>
          <p:cNvPr id="9" name="Text 7"/>
          <p:cNvSpPr/>
          <p:nvPr/>
        </p:nvSpPr>
        <p:spPr>
          <a:xfrm>
            <a:off x="7488936" y="1737360"/>
            <a:ext cx="3950208" cy="33832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It is environment feedback, and the user role is where external information belongs in a chat template. Putting it in system breaks most templates.</a:t>
            </a:r>
            <a:endParaRPr lang="en-US" sz="1100" dirty="0"/>
          </a:p>
        </p:txBody>
      </p:sp>
      <p:sp>
        <p:nvSpPr>
          <p:cNvPr id="10" name="Shape 8"/>
          <p:cNvSpPr/>
          <p:nvPr/>
        </p:nvSpPr>
        <p:spPr>
          <a:xfrm>
            <a:off x="7269480" y="2322576"/>
            <a:ext cx="4389120" cy="941832"/>
          </a:xfrm>
          <a:prstGeom prst="roundRect">
            <a:avLst>
              <a:gd name="adj" fmla="val 679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7488936" y="2468880"/>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Truncate tracebacks carefully</a:t>
            </a:r>
            <a:endParaRPr lang="en-US" sz="1250" dirty="0"/>
          </a:p>
        </p:txBody>
      </p:sp>
      <p:sp>
        <p:nvSpPr>
          <p:cNvPr id="12" name="Text 10"/>
          <p:cNvSpPr/>
          <p:nvPr/>
        </p:nvSpPr>
        <p:spPr>
          <a:xfrm>
            <a:off x="7488936" y="2779776"/>
            <a:ext cx="3950208" cy="33832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Keep the exception type, the message, and the failing assertion. Drop the framework stack frames — they are noise and they consume your tiny context.</a:t>
            </a:r>
            <a:endParaRPr lang="en-US" sz="1100" dirty="0"/>
          </a:p>
        </p:txBody>
      </p:sp>
      <p:sp>
        <p:nvSpPr>
          <p:cNvPr id="13" name="Shape 11"/>
          <p:cNvSpPr/>
          <p:nvPr/>
        </p:nvSpPr>
        <p:spPr>
          <a:xfrm>
            <a:off x="7269480" y="3364992"/>
            <a:ext cx="4389120" cy="941832"/>
          </a:xfrm>
          <a:prstGeom prst="roundRect">
            <a:avLst>
              <a:gd name="adj" fmla="val 679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488936" y="3511296"/>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Include the failing input</a:t>
            </a:r>
            <a:endParaRPr lang="en-US" sz="1250" dirty="0"/>
          </a:p>
        </p:txBody>
      </p:sp>
      <p:sp>
        <p:nvSpPr>
          <p:cNvPr id="15" name="Text 13"/>
          <p:cNvSpPr/>
          <p:nvPr/>
        </p:nvSpPr>
        <p:spPr>
          <a:xfrm>
            <a:off x="7488936" y="3822192"/>
            <a:ext cx="3950208" cy="33832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'median([1,2,3,4]) == 2.5, got 3' teaches far more than 'AssertionError'. Make your test harness report values.</a:t>
            </a:r>
            <a:endParaRPr lang="en-US" sz="1100" dirty="0"/>
          </a:p>
        </p:txBody>
      </p:sp>
      <p:sp>
        <p:nvSpPr>
          <p:cNvPr id="16" name="Shape 14"/>
          <p:cNvSpPr/>
          <p:nvPr/>
        </p:nvSpPr>
        <p:spPr>
          <a:xfrm>
            <a:off x="7269480" y="4407408"/>
            <a:ext cx="4389120" cy="941832"/>
          </a:xfrm>
          <a:prstGeom prst="roundRect">
            <a:avLst>
              <a:gd name="adj" fmla="val 6796"/>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7488936" y="4553712"/>
            <a:ext cx="395020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Do not include the answer</a:t>
            </a:r>
            <a:endParaRPr lang="en-US" sz="1250" dirty="0"/>
          </a:p>
        </p:txBody>
      </p:sp>
      <p:sp>
        <p:nvSpPr>
          <p:cNvPr id="18" name="Text 16"/>
          <p:cNvSpPr/>
          <p:nvPr/>
        </p:nvSpPr>
        <p:spPr>
          <a:xfrm>
            <a:off x="7488936" y="4864608"/>
            <a:ext cx="3950208" cy="33832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feedback should say what went wrong, never what the fix is. Otherwise you are training copying, not repair.</a:t>
            </a:r>
            <a:endParaRPr lang="en-US" sz="1100" dirty="0"/>
          </a:p>
        </p:txBody>
      </p:sp>
      <p:sp>
        <p:nvSpPr>
          <p:cNvPr id="19" name="Text 1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150</a:t>
            </a:r>
            <a:endParaRPr lang="en-US" sz="9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REPAIR</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reward design problem — and the trap</a:t>
            </a:r>
            <a:endParaRPr lang="en-US" sz="2900" dirty="0"/>
          </a:p>
        </p:txBody>
      </p:sp>
      <p:sp>
        <p:nvSpPr>
          <p:cNvPr id="4" name="Text 2"/>
          <p:cNvSpPr/>
          <p:nvPr/>
        </p:nvSpPr>
        <p:spPr>
          <a:xfrm>
            <a:off x="502920" y="1280160"/>
            <a:ext cx="11155680" cy="64008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If you reward only the repaired attempt, you create a perverse incentive: a bad first draft costs nothing, and the model learns to gamble. Measured first-attempt quality actually declines.</a:t>
            </a:r>
            <a:endParaRPr lang="en-US" sz="1350" dirty="0"/>
          </a:p>
        </p:txBody>
      </p:sp>
      <p:graphicFrame>
        <p:nvGraphicFramePr>
          <p:cNvPr id="152"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11155680" cy="914400"/>
        </p:xfrm>
        <a:graphic>
          <a:graphicData uri="http://schemas.openxmlformats.org/drawingml/2006/table">
            <a:tbl>
              <a:tblPr/>
              <a:tblGrid>
                <a:gridCol w="3291840"/>
                <a:gridCol w="2651760"/>
                <a:gridCol w="2377440"/>
                <a:gridCol w="2834640"/>
              </a:tblGrid>
              <a:tr h="40233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Reward scheme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First-attempt quality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Repair quality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Reward final attempt only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DECLINES — gambling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Improves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The trap. Avoid.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Reward first attempt only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Improves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 signal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Not repair training at all</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Reward both, equal weight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Stable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Improves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Reasonable default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Reward both, first weighted higher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Improves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Improves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Best. Try 0.7 / 0.3.</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Reward first + bonus for fixing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Improves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Improves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Also good; more knobs to tune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4572000"/>
            <a:ext cx="11155680" cy="566928"/>
          </a:xfrm>
          <a:prstGeom prst="roundRect">
            <a:avLst>
              <a:gd name="adj" fmla="val 9677"/>
            </a:avLst>
          </a:prstGeom>
          <a:solidFill>
            <a:srgbClr val="8FB573"/>
          </a:solidFill>
          <a:ln/>
        </p:spPr>
      </p:sp>
      <p:sp>
        <p:nvSpPr>
          <p:cNvPr id="7" name="Text 4"/>
          <p:cNvSpPr/>
          <p:nvPr/>
        </p:nvSpPr>
        <p:spPr>
          <a:xfrm>
            <a:off x="777240" y="457200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Weight the first attempt HIGHER than the repair. You want a model that gets it right, and can recover when it does not.</a:t>
            </a:r>
            <a:endParaRPr lang="en-US" sz="1450" dirty="0"/>
          </a:p>
        </p:txBody>
      </p:sp>
      <p:sp>
        <p:nvSpPr>
          <p:cNvPr id="8" name="Shape 5"/>
          <p:cNvSpPr/>
          <p:nvPr/>
        </p:nvSpPr>
        <p:spPr>
          <a:xfrm>
            <a:off x="502920" y="5349240"/>
            <a:ext cx="11155680" cy="1005840"/>
          </a:xfrm>
          <a:prstGeom prst="roundRect">
            <a:avLst>
              <a:gd name="adj" fmla="val 6364"/>
            </a:avLst>
          </a:prstGeom>
          <a:solidFill>
            <a:srgbClr val="1F3D2E"/>
          </a:solidFill>
          <a:ln/>
        </p:spPr>
      </p:sp>
      <p:sp>
        <p:nvSpPr>
          <p:cNvPr id="9" name="Shape 6"/>
          <p:cNvSpPr/>
          <p:nvPr/>
        </p:nvSpPr>
        <p:spPr>
          <a:xfrm>
            <a:off x="740664" y="5532120"/>
            <a:ext cx="292608" cy="292608"/>
          </a:xfrm>
          <a:prstGeom prst="ellipse">
            <a:avLst/>
          </a:prstGeom>
          <a:solidFill>
            <a:srgbClr val="1F3D2E"/>
          </a:solidFill>
          <a:ln/>
        </p:spPr>
      </p:sp>
      <p:sp>
        <p:nvSpPr>
          <p:cNvPr id="10" name="Text 7"/>
          <p:cNvSpPr/>
          <p:nvPr/>
        </p:nvSpPr>
        <p:spPr>
          <a:xfrm>
            <a:off x="740664" y="553212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1" name="Text 8"/>
          <p:cNvSpPr/>
          <p:nvPr/>
        </p:nvSpPr>
        <p:spPr>
          <a:xfrm>
            <a:off x="1133856" y="555040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2" name="Text 9"/>
          <p:cNvSpPr/>
          <p:nvPr/>
        </p:nvSpPr>
        <p:spPr>
          <a:xfrm>
            <a:off x="740664" y="5925312"/>
            <a:ext cx="10680192" cy="25603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First-attempt pass@1 fell 1.9 points while after-repair rose 6.4. Net looked great and the model had become measurably worse at its actual job. Report the two numbers separately, always — a merged number hides this completely.</a:t>
            </a:r>
            <a:endParaRPr lang="en-US" sz="1150" dirty="0"/>
          </a:p>
        </p:txBody>
      </p:sp>
      <p:sp>
        <p:nvSpPr>
          <p:cNvPr id="13" name="Text 10"/>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151</a:t>
            </a:r>
            <a:endParaRPr lang="en-US" sz="9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REPAIR</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Measuring repair — report two numbers, never one</a:t>
            </a:r>
            <a:endParaRPr lang="en-US" sz="2900" dirty="0"/>
          </a:p>
        </p:txBody>
      </p:sp>
      <p:graphicFrame>
        <p:nvGraphicFramePr>
          <p:cNvPr id="4" name="Chart 0" descr=""/>
          <p:cNvGraphicFramePr/>
          <p:nvPr/>
        </p:nvGraphicFramePr>
        <p:xfrm>
          <a:off x="502920" y="1280160"/>
          <a:ext cx="731520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955280" y="1280160"/>
            <a:ext cx="3703320" cy="1051560"/>
          </a:xfrm>
          <a:prstGeom prst="roundRect">
            <a:avLst>
              <a:gd name="adj" fmla="val 608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8174736" y="1426464"/>
            <a:ext cx="326440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Column 3 is the trap</a:t>
            </a:r>
            <a:endParaRPr lang="en-US" sz="1250" dirty="0"/>
          </a:p>
        </p:txBody>
      </p:sp>
      <p:sp>
        <p:nvSpPr>
          <p:cNvPr id="7" name="Text 4"/>
          <p:cNvSpPr/>
          <p:nvPr/>
        </p:nvSpPr>
        <p:spPr>
          <a:xfrm>
            <a:off x="8174736" y="1737360"/>
            <a:ext cx="3264408" cy="4480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First attempt REGRESSED while after-repair soared. A single merged metric would have called this a large win.</a:t>
            </a:r>
            <a:endParaRPr lang="en-US" sz="1100" dirty="0"/>
          </a:p>
        </p:txBody>
      </p:sp>
      <p:sp>
        <p:nvSpPr>
          <p:cNvPr id="8" name="Shape 5"/>
          <p:cNvSpPr/>
          <p:nvPr/>
        </p:nvSpPr>
        <p:spPr>
          <a:xfrm>
            <a:off x="7955280" y="2441448"/>
            <a:ext cx="3703320" cy="1051560"/>
          </a:xfrm>
          <a:prstGeom prst="roundRect">
            <a:avLst>
              <a:gd name="adj" fmla="val 608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8174736" y="2587752"/>
            <a:ext cx="32644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Column 4 is what you want</a:t>
            </a:r>
            <a:endParaRPr lang="en-US" sz="1250" dirty="0"/>
          </a:p>
        </p:txBody>
      </p:sp>
      <p:sp>
        <p:nvSpPr>
          <p:cNvPr id="10" name="Text 7"/>
          <p:cNvSpPr/>
          <p:nvPr/>
        </p:nvSpPr>
        <p:spPr>
          <a:xfrm>
            <a:off x="8174736" y="2898648"/>
            <a:ext cx="3264408" cy="4480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Both numbers up. First attempt improved because it was still rewarded.</a:t>
            </a:r>
            <a:endParaRPr lang="en-US" sz="1100" dirty="0"/>
          </a:p>
        </p:txBody>
      </p:sp>
      <p:sp>
        <p:nvSpPr>
          <p:cNvPr id="11" name="Shape 8"/>
          <p:cNvSpPr/>
          <p:nvPr/>
        </p:nvSpPr>
        <p:spPr>
          <a:xfrm>
            <a:off x="7955280" y="3602736"/>
            <a:ext cx="3703320" cy="1051560"/>
          </a:xfrm>
          <a:prstGeom prst="roundRect">
            <a:avLst>
              <a:gd name="adj" fmla="val 608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8174736" y="3749040"/>
            <a:ext cx="32644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Repair gain is large</a:t>
            </a:r>
            <a:endParaRPr lang="en-US" sz="1250" dirty="0"/>
          </a:p>
        </p:txBody>
      </p:sp>
      <p:sp>
        <p:nvSpPr>
          <p:cNvPr id="13" name="Text 10"/>
          <p:cNvSpPr/>
          <p:nvPr/>
        </p:nvSpPr>
        <p:spPr>
          <a:xfrm>
            <a:off x="8174736" y="4059936"/>
            <a:ext cx="3264408" cy="44805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+11 points from one repair round is typical and genuinely useful — most real usage allows a retry.</a:t>
            </a:r>
            <a:endParaRPr lang="en-US" sz="1100" dirty="0"/>
          </a:p>
        </p:txBody>
      </p:sp>
      <p:sp>
        <p:nvSpPr>
          <p:cNvPr id="14" name="Text 11"/>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152</a:t>
            </a:r>
            <a:endParaRPr lang="en-US" sz="9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REPAIR</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Related approaches worth knowing</a:t>
            </a:r>
            <a:endParaRPr lang="en-US" sz="2900" dirty="0"/>
          </a:p>
        </p:txBody>
      </p:sp>
      <p:sp>
        <p:nvSpPr>
          <p:cNvPr id="4" name="Shape 2"/>
          <p:cNvSpPr/>
          <p:nvPr/>
        </p:nvSpPr>
        <p:spPr>
          <a:xfrm>
            <a:off x="502920"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22376" y="142646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Reflexion</a:t>
            </a:r>
            <a:endParaRPr lang="en-US" sz="1250" dirty="0"/>
          </a:p>
        </p:txBody>
      </p:sp>
      <p:sp>
        <p:nvSpPr>
          <p:cNvPr id="6" name="Text 4"/>
          <p:cNvSpPr/>
          <p:nvPr/>
        </p:nvSpPr>
        <p:spPr>
          <a:xfrm>
            <a:off x="722376"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model writes a natural-language reflection on WHY it failed before attempting a fix. The reflection becomes part of the context. Helps on harder problems; costs tokens.</a:t>
            </a:r>
            <a:endParaRPr lang="en-US" sz="1100" dirty="0"/>
          </a:p>
        </p:txBody>
      </p:sp>
      <p:sp>
        <p:nvSpPr>
          <p:cNvPr id="7" name="Shape 5"/>
          <p:cNvSpPr/>
          <p:nvPr/>
        </p:nvSpPr>
        <p:spPr>
          <a:xfrm>
            <a:off x="4270248"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4489704" y="142646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Self-debugging</a:t>
            </a:r>
            <a:endParaRPr lang="en-US" sz="1250" dirty="0"/>
          </a:p>
        </p:txBody>
      </p:sp>
      <p:sp>
        <p:nvSpPr>
          <p:cNvPr id="9" name="Text 7"/>
          <p:cNvSpPr/>
          <p:nvPr/>
        </p:nvSpPr>
        <p:spPr>
          <a:xfrm>
            <a:off x="4489704"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model explains its own code line by line, then identifies the bug. Explicit rubber-duck debugging as a prompting strategy.</a:t>
            </a:r>
            <a:endParaRPr lang="en-US" sz="1100" dirty="0"/>
          </a:p>
        </p:txBody>
      </p:sp>
      <p:sp>
        <p:nvSpPr>
          <p:cNvPr id="10" name="Shape 8"/>
          <p:cNvSpPr/>
          <p:nvPr/>
        </p:nvSpPr>
        <p:spPr>
          <a:xfrm>
            <a:off x="8037576" y="128016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8257032" y="1426464"/>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Multi-round repair</a:t>
            </a:r>
            <a:endParaRPr lang="en-US" sz="1250" dirty="0"/>
          </a:p>
        </p:txBody>
      </p:sp>
      <p:sp>
        <p:nvSpPr>
          <p:cNvPr id="12" name="Text 10"/>
          <p:cNvSpPr/>
          <p:nvPr/>
        </p:nvSpPr>
        <p:spPr>
          <a:xfrm>
            <a:off x="8257032" y="173736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Three or more attempts. Diminishing returns after round two, and it strongly encourages first-draft gambling. Cap it.</a:t>
            </a:r>
            <a:endParaRPr lang="en-US" sz="1100" dirty="0"/>
          </a:p>
        </p:txBody>
      </p:sp>
      <p:sp>
        <p:nvSpPr>
          <p:cNvPr id="13" name="Shape 11"/>
          <p:cNvSpPr/>
          <p:nvPr/>
        </p:nvSpPr>
        <p:spPr>
          <a:xfrm>
            <a:off x="502920"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22376" y="3127248"/>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Test-driven repair</a:t>
            </a:r>
            <a:endParaRPr lang="en-US" sz="1250" dirty="0"/>
          </a:p>
        </p:txBody>
      </p:sp>
      <p:sp>
        <p:nvSpPr>
          <p:cNvPr id="15" name="Text 13"/>
          <p:cNvSpPr/>
          <p:nvPr/>
        </p:nvSpPr>
        <p:spPr>
          <a:xfrm>
            <a:off x="722376"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model writes tests first, then code, then repairs against its own tests. Elegant, and vulnerable to the trivially-true-test hack from Phase 9.</a:t>
            </a:r>
            <a:endParaRPr lang="en-US" sz="1100" dirty="0"/>
          </a:p>
        </p:txBody>
      </p:sp>
      <p:sp>
        <p:nvSpPr>
          <p:cNvPr id="16" name="Shape 14"/>
          <p:cNvSpPr/>
          <p:nvPr/>
        </p:nvSpPr>
        <p:spPr>
          <a:xfrm>
            <a:off x="4270248"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4489704" y="3127248"/>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Compiler-in-the-loop</a:t>
            </a:r>
            <a:endParaRPr lang="en-US" sz="1250" dirty="0"/>
          </a:p>
        </p:txBody>
      </p:sp>
      <p:sp>
        <p:nvSpPr>
          <p:cNvPr id="18" name="Text 16"/>
          <p:cNvSpPr/>
          <p:nvPr/>
        </p:nvSpPr>
        <p:spPr>
          <a:xfrm>
            <a:off x="4489704"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Feed only the compiler or linter output, not test results. Cheaper, and teaches syntax and type discipline rather than correctness.</a:t>
            </a:r>
            <a:endParaRPr lang="en-US" sz="1100" dirty="0"/>
          </a:p>
        </p:txBody>
      </p:sp>
      <p:sp>
        <p:nvSpPr>
          <p:cNvPr id="19" name="Shape 17"/>
          <p:cNvSpPr/>
          <p:nvPr/>
        </p:nvSpPr>
        <p:spPr>
          <a:xfrm>
            <a:off x="8037576" y="298094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8257032" y="312724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Repair as an agent loop</a:t>
            </a:r>
            <a:endParaRPr lang="en-US" sz="1250" dirty="0"/>
          </a:p>
        </p:txBody>
      </p:sp>
      <p:sp>
        <p:nvSpPr>
          <p:cNvPr id="21" name="Text 19"/>
          <p:cNvSpPr/>
          <p:nvPr/>
        </p:nvSpPr>
        <p:spPr>
          <a:xfrm>
            <a:off x="8257032" y="343814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Once repair works, you have an agent: act, observe, revise. Adding tools to that loop is the natural next project.</a:t>
            </a:r>
            <a:endParaRPr lang="en-US" sz="1100" dirty="0"/>
          </a:p>
        </p:txBody>
      </p:sp>
      <p:sp>
        <p:nvSpPr>
          <p:cNvPr id="22" name="Shape 20"/>
          <p:cNvSpPr/>
          <p:nvPr/>
        </p:nvSpPr>
        <p:spPr>
          <a:xfrm>
            <a:off x="502920" y="4892040"/>
            <a:ext cx="11155680" cy="566928"/>
          </a:xfrm>
          <a:prstGeom prst="roundRect">
            <a:avLst>
              <a:gd name="adj" fmla="val 9677"/>
            </a:avLst>
          </a:prstGeom>
          <a:solidFill>
            <a:srgbClr val="8FB573"/>
          </a:solidFill>
          <a:ln/>
        </p:spPr>
      </p:sp>
      <p:sp>
        <p:nvSpPr>
          <p:cNvPr id="23" name="Text 21"/>
          <p:cNvSpPr/>
          <p:nvPr/>
        </p:nvSpPr>
        <p:spPr>
          <a:xfrm>
            <a:off x="777240" y="489204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Repair is the bridge from 'model' to 'agent'. Everything agentic is this loop with a larger action space.</a:t>
            </a:r>
            <a:endParaRPr lang="en-US" sz="1450" dirty="0"/>
          </a:p>
        </p:txBody>
      </p:sp>
      <p:sp>
        <p:nvSpPr>
          <p:cNvPr id="24" name="Text 2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153</a:t>
            </a:r>
            <a:endParaRPr lang="en-US" sz="9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REPAIR</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Self-repair — path and traps</a:t>
            </a:r>
            <a:endParaRPr lang="en-US" sz="2900" dirty="0"/>
          </a:p>
        </p:txBody>
      </p:sp>
      <p:sp>
        <p:nvSpPr>
          <p:cNvPr id="4" name="Shape 2"/>
          <p:cNvSpPr/>
          <p:nvPr/>
        </p:nvSpPr>
        <p:spPr>
          <a:xfrm>
            <a:off x="502920" y="1335024"/>
            <a:ext cx="292608" cy="292608"/>
          </a:xfrm>
          <a:prstGeom prst="ellipse">
            <a:avLst/>
          </a:prstGeom>
          <a:solidFill>
            <a:srgbClr val="8FB573"/>
          </a:solidFill>
          <a:ln/>
        </p:spPr>
      </p:sp>
      <p:sp>
        <p:nvSpPr>
          <p:cNvPr id="5" name="Text 3"/>
          <p:cNvSpPr/>
          <p:nvPr/>
        </p:nvSpPr>
        <p:spPr>
          <a:xfrm>
            <a:off x="50292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89611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PATH</a:t>
            </a:r>
            <a:endParaRPr lang="en-US" sz="1100" dirty="0"/>
          </a:p>
        </p:txBody>
      </p:sp>
      <p:sp>
        <p:nvSpPr>
          <p:cNvPr id="7" name="Text 5"/>
          <p:cNvSpPr/>
          <p:nvPr/>
        </p:nvSpPr>
        <p:spPr>
          <a:xfrm>
            <a:off x="502920" y="1755648"/>
            <a:ext cx="539496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Mine failures from Phases 7 and 9 — the data already exists</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Traceback goes in the USER turn as environment feedback</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Truncate to exception type, message, and failing values</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Include the actual failing input and expected output</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Weight the FIRST attempt higher than the repair (try 0.7 / 0.3)</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Cap chains at one or two repair rounds</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Report first-attempt and after-repair pass@1 SEPARATELY</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Stratify the dataset by error type</a:t>
            </a:r>
            <a:endParaRPr lang="en-US" sz="1250" dirty="0"/>
          </a:p>
        </p:txBody>
      </p:sp>
      <p:sp>
        <p:nvSpPr>
          <p:cNvPr id="8" name="Shape 6"/>
          <p:cNvSpPr/>
          <p:nvPr/>
        </p:nvSpPr>
        <p:spPr>
          <a:xfrm>
            <a:off x="6309360" y="1335024"/>
            <a:ext cx="292608" cy="292608"/>
          </a:xfrm>
          <a:prstGeom prst="ellipse">
            <a:avLst/>
          </a:prstGeom>
          <a:solidFill>
            <a:srgbClr val="D98E32"/>
          </a:solidFill>
          <a:ln/>
        </p:spPr>
      </p:sp>
      <p:sp>
        <p:nvSpPr>
          <p:cNvPr id="9" name="Text 7"/>
          <p:cNvSpPr/>
          <p:nvPr/>
        </p:nvSpPr>
        <p:spPr>
          <a:xfrm>
            <a:off x="630936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670255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TRAPS</a:t>
            </a:r>
            <a:endParaRPr lang="en-US" sz="1100" dirty="0"/>
          </a:p>
        </p:txBody>
      </p:sp>
      <p:sp>
        <p:nvSpPr>
          <p:cNvPr id="11" name="Text 9"/>
          <p:cNvSpPr/>
          <p:nvPr/>
        </p:nvSpPr>
        <p:spPr>
          <a:xfrm>
            <a:off x="6309360" y="1755648"/>
            <a:ext cx="534924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Rewarding only the final attempt: teaches gambling on the first draft</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Reporting a single merged number: hides first-attempt regression</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Including the fix in the feedback: trains copying, not repair</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Full untruncated tracebacks: burns your tiny context on stack frames</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Long repair chains: 'I can always fix it later' becomes the policy</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Only mining syntax errors: they are the least informative failures</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Putting the traceback in the system role: breaks most chat templates</a:t>
            </a:r>
            <a:endParaRPr lang="en-US" sz="1250" dirty="0"/>
          </a:p>
        </p:txBody>
      </p:sp>
      <p:sp>
        <p:nvSpPr>
          <p:cNvPr id="12" name="Shape 10"/>
          <p:cNvSpPr/>
          <p:nvPr/>
        </p:nvSpPr>
        <p:spPr>
          <a:xfrm>
            <a:off x="502920" y="5102352"/>
            <a:ext cx="11155680" cy="1097280"/>
          </a:xfrm>
          <a:prstGeom prst="roundRect">
            <a:avLst>
              <a:gd name="adj" fmla="val 5833"/>
            </a:avLst>
          </a:prstGeom>
          <a:solidFill>
            <a:srgbClr val="1F3D2E"/>
          </a:solidFill>
          <a:ln/>
        </p:spPr>
      </p:sp>
      <p:sp>
        <p:nvSpPr>
          <p:cNvPr id="13" name="Shape 11"/>
          <p:cNvSpPr/>
          <p:nvPr/>
        </p:nvSpPr>
        <p:spPr>
          <a:xfrm>
            <a:off x="740664" y="5285232"/>
            <a:ext cx="292608" cy="292608"/>
          </a:xfrm>
          <a:prstGeom prst="ellipse">
            <a:avLst/>
          </a:prstGeom>
          <a:solidFill>
            <a:srgbClr val="1F3D2E"/>
          </a:solidFill>
          <a:ln/>
        </p:spPr>
      </p:sp>
      <p:sp>
        <p:nvSpPr>
          <p:cNvPr id="14" name="Text 12"/>
          <p:cNvSpPr/>
          <p:nvPr/>
        </p:nvSpPr>
        <p:spPr>
          <a:xfrm>
            <a:off x="740664" y="5285232"/>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303520"/>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678424"/>
            <a:ext cx="10680192" cy="3474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This is the phase where the model stops being a text generator and starts being something that responds to its environment. It is also the smallest, cleanest agent loop you will ever build — which makes it the right place to learn one.</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154</a:t>
            </a:r>
            <a:endParaRPr lang="en-US" sz="9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PHASE 11</a:t>
            </a:r>
            <a:endParaRPr lang="en-US" sz="1250" dirty="0"/>
          </a:p>
        </p:txBody>
      </p:sp>
      <p:sp>
        <p:nvSpPr>
          <p:cNvPr id="3" name="Text 1"/>
          <p:cNvSpPr/>
          <p:nvPr/>
        </p:nvSpPr>
        <p:spPr>
          <a:xfrm>
            <a:off x="777240" y="23317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Model Merging — Free Gains</a:t>
            </a:r>
            <a:endParaRPr lang="en-US" sz="4000" dirty="0"/>
          </a:p>
        </p:txBody>
      </p:sp>
      <p:sp>
        <p:nvSpPr>
          <p:cNvPr id="4" name="Text 2"/>
          <p:cNvSpPr/>
          <p:nvPr/>
        </p:nvSpPr>
        <p:spPr>
          <a:xfrm>
            <a:off x="777240" y="32004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Two days, zero GPU-hours. The cheapest improvement available anywhere in this</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curriculum, and the one most people skip because it sounds like a trick.</a:t>
            </a:r>
            <a:endParaRPr lang="en-US" sz="1550" dirty="0"/>
          </a:p>
        </p:txBody>
      </p:sp>
      <p:sp>
        <p:nvSpPr>
          <p:cNvPr id="5" name="Text 3"/>
          <p:cNvSpPr/>
          <p:nvPr/>
        </p:nvSpPr>
        <p:spPr>
          <a:xfrm>
            <a:off x="777240" y="4892040"/>
            <a:ext cx="10607040" cy="237744"/>
          </a:xfrm>
          <a:prstGeom prst="rect">
            <a:avLst/>
          </a:prstGeom>
          <a:noFill/>
          <a:ln/>
        </p:spPr>
        <p:txBody>
          <a:bodyPr wrap="square" lIns="0" tIns="0" rIns="0" bIns="0" rtlCol="0" anchor="ctr"/>
          <a:lstStyle/>
          <a:p>
            <a:pPr indent="0" marL="0">
              <a:buNone/>
            </a:pPr>
            <a:r>
              <a:rPr lang="en-US" sz="900" b="1" spc="250" kern="0" dirty="0">
                <a:solidFill>
                  <a:srgbClr val="2A5240"/>
                </a:solidFill>
                <a:latin typeface="Calibri" pitchFamily="34" charset="0"/>
                <a:ea typeface="Calibri" pitchFamily="34" charset="-122"/>
                <a:cs typeface="Calibri" pitchFamily="34" charset="-120"/>
              </a:rPr>
              <a:t>WHERE YOU ARE</a:t>
            </a:r>
            <a:endParaRPr lang="en-US" sz="900" dirty="0"/>
          </a:p>
        </p:txBody>
      </p:sp>
      <p:sp>
        <p:nvSpPr>
          <p:cNvPr id="6" name="Shape 4"/>
          <p:cNvSpPr/>
          <p:nvPr/>
        </p:nvSpPr>
        <p:spPr>
          <a:xfrm>
            <a:off x="777240" y="5212080"/>
            <a:ext cx="829056" cy="73152"/>
          </a:xfrm>
          <a:prstGeom prst="rect">
            <a:avLst/>
          </a:prstGeom>
          <a:solidFill>
            <a:srgbClr val="2A5240"/>
          </a:solidFill>
          <a:ln/>
        </p:spPr>
      </p:sp>
      <p:sp>
        <p:nvSpPr>
          <p:cNvPr id="7" name="Text 5"/>
          <p:cNvSpPr/>
          <p:nvPr/>
        </p:nvSpPr>
        <p:spPr>
          <a:xfrm>
            <a:off x="6858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SETUP</a:t>
            </a:r>
            <a:endParaRPr lang="en-US" sz="750" dirty="0"/>
          </a:p>
        </p:txBody>
      </p:sp>
      <p:sp>
        <p:nvSpPr>
          <p:cNvPr id="8" name="Shape 6"/>
          <p:cNvSpPr/>
          <p:nvPr/>
        </p:nvSpPr>
        <p:spPr>
          <a:xfrm>
            <a:off x="1661160" y="5212080"/>
            <a:ext cx="829056" cy="73152"/>
          </a:xfrm>
          <a:prstGeom prst="rect">
            <a:avLst/>
          </a:prstGeom>
          <a:solidFill>
            <a:srgbClr val="2A5240"/>
          </a:solidFill>
          <a:ln/>
        </p:spPr>
      </p:sp>
      <p:sp>
        <p:nvSpPr>
          <p:cNvPr id="9" name="Text 7"/>
          <p:cNvSpPr/>
          <p:nvPr/>
        </p:nvSpPr>
        <p:spPr>
          <a:xfrm>
            <a:off x="15697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MODEL</a:t>
            </a:r>
            <a:endParaRPr lang="en-US" sz="750" dirty="0"/>
          </a:p>
        </p:txBody>
      </p:sp>
      <p:sp>
        <p:nvSpPr>
          <p:cNvPr id="10" name="Shape 8"/>
          <p:cNvSpPr/>
          <p:nvPr/>
        </p:nvSpPr>
        <p:spPr>
          <a:xfrm>
            <a:off x="2545080" y="5212080"/>
            <a:ext cx="829056" cy="73152"/>
          </a:xfrm>
          <a:prstGeom prst="rect">
            <a:avLst/>
          </a:prstGeom>
          <a:solidFill>
            <a:srgbClr val="2A5240"/>
          </a:solidFill>
          <a:ln/>
        </p:spPr>
      </p:sp>
      <p:sp>
        <p:nvSpPr>
          <p:cNvPr id="11" name="Text 9"/>
          <p:cNvSpPr/>
          <p:nvPr/>
        </p:nvSpPr>
        <p:spPr>
          <a:xfrm>
            <a:off x="24536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SANDBOX</a:t>
            </a:r>
            <a:endParaRPr lang="en-US" sz="750" dirty="0"/>
          </a:p>
        </p:txBody>
      </p:sp>
      <p:sp>
        <p:nvSpPr>
          <p:cNvPr id="12" name="Shape 10"/>
          <p:cNvSpPr/>
          <p:nvPr/>
        </p:nvSpPr>
        <p:spPr>
          <a:xfrm>
            <a:off x="3429000" y="5212080"/>
            <a:ext cx="829056" cy="73152"/>
          </a:xfrm>
          <a:prstGeom prst="rect">
            <a:avLst/>
          </a:prstGeom>
          <a:solidFill>
            <a:srgbClr val="2A5240"/>
          </a:solidFill>
          <a:ln/>
        </p:spPr>
      </p:sp>
      <p:sp>
        <p:nvSpPr>
          <p:cNvPr id="13" name="Text 11"/>
          <p:cNvSpPr/>
          <p:nvPr/>
        </p:nvSpPr>
        <p:spPr>
          <a:xfrm>
            <a:off x="333756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EVAL</a:t>
            </a:r>
            <a:endParaRPr lang="en-US" sz="750" dirty="0"/>
          </a:p>
        </p:txBody>
      </p:sp>
      <p:sp>
        <p:nvSpPr>
          <p:cNvPr id="14" name="Shape 12"/>
          <p:cNvSpPr/>
          <p:nvPr/>
        </p:nvSpPr>
        <p:spPr>
          <a:xfrm>
            <a:off x="4312920" y="5212080"/>
            <a:ext cx="829056" cy="73152"/>
          </a:xfrm>
          <a:prstGeom prst="rect">
            <a:avLst/>
          </a:prstGeom>
          <a:solidFill>
            <a:srgbClr val="2A5240"/>
          </a:solidFill>
          <a:ln/>
        </p:spPr>
      </p:sp>
      <p:sp>
        <p:nvSpPr>
          <p:cNvPr id="15" name="Text 13"/>
          <p:cNvSpPr/>
          <p:nvPr/>
        </p:nvSpPr>
        <p:spPr>
          <a:xfrm>
            <a:off x="422148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DATA</a:t>
            </a:r>
            <a:endParaRPr lang="en-US" sz="750" dirty="0"/>
          </a:p>
        </p:txBody>
      </p:sp>
      <p:sp>
        <p:nvSpPr>
          <p:cNvPr id="16" name="Shape 14"/>
          <p:cNvSpPr/>
          <p:nvPr/>
        </p:nvSpPr>
        <p:spPr>
          <a:xfrm>
            <a:off x="5196840" y="5212080"/>
            <a:ext cx="829056" cy="73152"/>
          </a:xfrm>
          <a:prstGeom prst="rect">
            <a:avLst/>
          </a:prstGeom>
          <a:solidFill>
            <a:srgbClr val="2A5240"/>
          </a:solidFill>
          <a:ln/>
        </p:spPr>
      </p:sp>
      <p:sp>
        <p:nvSpPr>
          <p:cNvPr id="17" name="Text 15"/>
          <p:cNvSpPr/>
          <p:nvPr/>
        </p:nvSpPr>
        <p:spPr>
          <a:xfrm>
            <a:off x="51054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SFT</a:t>
            </a:r>
            <a:endParaRPr lang="en-US" sz="750" dirty="0"/>
          </a:p>
        </p:txBody>
      </p:sp>
      <p:sp>
        <p:nvSpPr>
          <p:cNvPr id="18" name="Shape 16"/>
          <p:cNvSpPr/>
          <p:nvPr/>
        </p:nvSpPr>
        <p:spPr>
          <a:xfrm>
            <a:off x="6080760" y="5212080"/>
            <a:ext cx="829056" cy="73152"/>
          </a:xfrm>
          <a:prstGeom prst="rect">
            <a:avLst/>
          </a:prstGeom>
          <a:solidFill>
            <a:srgbClr val="2A5240"/>
          </a:solidFill>
          <a:ln/>
        </p:spPr>
      </p:sp>
      <p:sp>
        <p:nvSpPr>
          <p:cNvPr id="19" name="Text 17"/>
          <p:cNvSpPr/>
          <p:nvPr/>
        </p:nvSpPr>
        <p:spPr>
          <a:xfrm>
            <a:off x="59893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RFT</a:t>
            </a:r>
            <a:endParaRPr lang="en-US" sz="750" dirty="0"/>
          </a:p>
        </p:txBody>
      </p:sp>
      <p:sp>
        <p:nvSpPr>
          <p:cNvPr id="20" name="Shape 18"/>
          <p:cNvSpPr/>
          <p:nvPr/>
        </p:nvSpPr>
        <p:spPr>
          <a:xfrm>
            <a:off x="6964680" y="5212080"/>
            <a:ext cx="829056" cy="73152"/>
          </a:xfrm>
          <a:prstGeom prst="rect">
            <a:avLst/>
          </a:prstGeom>
          <a:solidFill>
            <a:srgbClr val="2A5240"/>
          </a:solidFill>
          <a:ln/>
        </p:spPr>
      </p:sp>
      <p:sp>
        <p:nvSpPr>
          <p:cNvPr id="21" name="Text 19"/>
          <p:cNvSpPr/>
          <p:nvPr/>
        </p:nvSpPr>
        <p:spPr>
          <a:xfrm>
            <a:off x="68732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DPO</a:t>
            </a:r>
            <a:endParaRPr lang="en-US" sz="750" dirty="0"/>
          </a:p>
        </p:txBody>
      </p:sp>
      <p:sp>
        <p:nvSpPr>
          <p:cNvPr id="22" name="Shape 20"/>
          <p:cNvSpPr/>
          <p:nvPr/>
        </p:nvSpPr>
        <p:spPr>
          <a:xfrm>
            <a:off x="7848600" y="5212080"/>
            <a:ext cx="829056" cy="73152"/>
          </a:xfrm>
          <a:prstGeom prst="rect">
            <a:avLst/>
          </a:prstGeom>
          <a:solidFill>
            <a:srgbClr val="2A5240"/>
          </a:solidFill>
          <a:ln/>
        </p:spPr>
      </p:sp>
      <p:sp>
        <p:nvSpPr>
          <p:cNvPr id="23" name="Text 21"/>
          <p:cNvSpPr/>
          <p:nvPr/>
        </p:nvSpPr>
        <p:spPr>
          <a:xfrm>
            <a:off x="775716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GRPO</a:t>
            </a:r>
            <a:endParaRPr lang="en-US" sz="750" dirty="0"/>
          </a:p>
        </p:txBody>
      </p:sp>
      <p:sp>
        <p:nvSpPr>
          <p:cNvPr id="24" name="Shape 22"/>
          <p:cNvSpPr/>
          <p:nvPr/>
        </p:nvSpPr>
        <p:spPr>
          <a:xfrm>
            <a:off x="8732520" y="5212080"/>
            <a:ext cx="829056" cy="73152"/>
          </a:xfrm>
          <a:prstGeom prst="rect">
            <a:avLst/>
          </a:prstGeom>
          <a:solidFill>
            <a:srgbClr val="2A5240"/>
          </a:solidFill>
          <a:ln/>
        </p:spPr>
      </p:sp>
      <p:sp>
        <p:nvSpPr>
          <p:cNvPr id="25" name="Text 23"/>
          <p:cNvSpPr/>
          <p:nvPr/>
        </p:nvSpPr>
        <p:spPr>
          <a:xfrm>
            <a:off x="864108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REPAIR</a:t>
            </a:r>
            <a:endParaRPr lang="en-US" sz="750" dirty="0"/>
          </a:p>
        </p:txBody>
      </p:sp>
      <p:sp>
        <p:nvSpPr>
          <p:cNvPr id="26" name="Shape 24"/>
          <p:cNvSpPr/>
          <p:nvPr/>
        </p:nvSpPr>
        <p:spPr>
          <a:xfrm>
            <a:off x="9616440" y="5212080"/>
            <a:ext cx="829056" cy="182880"/>
          </a:xfrm>
          <a:prstGeom prst="rect">
            <a:avLst/>
          </a:prstGeom>
          <a:solidFill>
            <a:srgbClr val="8FB573"/>
          </a:solidFill>
          <a:ln/>
        </p:spPr>
      </p:sp>
      <p:sp>
        <p:nvSpPr>
          <p:cNvPr id="27" name="Text 25"/>
          <p:cNvSpPr/>
          <p:nvPr/>
        </p:nvSpPr>
        <p:spPr>
          <a:xfrm>
            <a:off x="9525000" y="5468112"/>
            <a:ext cx="1011936" cy="219456"/>
          </a:xfrm>
          <a:prstGeom prst="rect">
            <a:avLst/>
          </a:prstGeom>
          <a:noFill/>
          <a:ln/>
        </p:spPr>
        <p:txBody>
          <a:bodyPr wrap="square" lIns="0" tIns="0" rIns="0" bIns="0" rtlCol="0" anchor="ctr"/>
          <a:lstStyle/>
          <a:p>
            <a:pPr algn="ctr" indent="0" marL="0">
              <a:buNone/>
            </a:pPr>
            <a:r>
              <a:rPr lang="en-US" sz="750" b="1" dirty="0">
                <a:solidFill>
                  <a:srgbClr val="8FB573"/>
                </a:solidFill>
                <a:latin typeface="Calibri" pitchFamily="34" charset="0"/>
                <a:ea typeface="Calibri" pitchFamily="34" charset="-122"/>
                <a:cs typeface="Calibri" pitchFamily="34" charset="-120"/>
              </a:rPr>
              <a:t>MERGE</a:t>
            </a:r>
            <a:endParaRPr lang="en-US" sz="750" dirty="0"/>
          </a:p>
        </p:txBody>
      </p:sp>
      <p:sp>
        <p:nvSpPr>
          <p:cNvPr id="28" name="Shape 26"/>
          <p:cNvSpPr/>
          <p:nvPr/>
        </p:nvSpPr>
        <p:spPr>
          <a:xfrm>
            <a:off x="10500360" y="5212080"/>
            <a:ext cx="829056" cy="73152"/>
          </a:xfrm>
          <a:prstGeom prst="rect">
            <a:avLst/>
          </a:prstGeom>
          <a:solidFill>
            <a:srgbClr val="27452F"/>
          </a:solidFill>
          <a:ln/>
        </p:spPr>
      </p:sp>
      <p:sp>
        <p:nvSpPr>
          <p:cNvPr id="29" name="Text 27"/>
          <p:cNvSpPr/>
          <p:nvPr/>
        </p:nvSpPr>
        <p:spPr>
          <a:xfrm>
            <a:off x="10408920" y="5468112"/>
            <a:ext cx="1011936" cy="219456"/>
          </a:xfrm>
          <a:prstGeom prst="rect">
            <a:avLst/>
          </a:prstGeom>
          <a:noFill/>
          <a:ln/>
        </p:spPr>
        <p:txBody>
          <a:bodyPr wrap="square" lIns="0" tIns="0" rIns="0" bIns="0" rtlCol="0" anchor="ctr"/>
          <a:lstStyle/>
          <a:p>
            <a:pPr algn="ctr" indent="0" marL="0">
              <a:buNone/>
            </a:pPr>
            <a:r>
              <a:rPr lang="en-US" sz="750" dirty="0">
                <a:solidFill>
                  <a:srgbClr val="4C6B58"/>
                </a:solidFill>
                <a:latin typeface="Calibri" pitchFamily="34" charset="0"/>
                <a:ea typeface="Calibri" pitchFamily="34" charset="-122"/>
                <a:cs typeface="Calibri" pitchFamily="34" charset="-120"/>
              </a:rPr>
              <a:t>SERVE</a:t>
            </a:r>
            <a:endParaRPr lang="en-US" sz="7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155</a:t>
            </a:r>
            <a:endParaRPr lang="en-US" sz="9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MERGE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Why averaging two models works at all</a:t>
            </a:r>
            <a:endParaRPr lang="en-US" sz="2900" dirty="0"/>
          </a:p>
        </p:txBody>
      </p:sp>
      <p:sp>
        <p:nvSpPr>
          <p:cNvPr id="4" name="Text 2"/>
          <p:cNvSpPr/>
          <p:nvPr/>
        </p:nvSpPr>
        <p:spPr>
          <a:xfrm>
            <a:off x="502920" y="1280160"/>
            <a:ext cx="11155680" cy="64008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It sounds like it should produce noise. Averaging the weights of two different neural networks ought to give you a third network that is worse than both. For models fine-tuned from a COMMON base, it usually does not.</a:t>
            </a:r>
            <a:endParaRPr lang="en-US" sz="1350" dirty="0"/>
          </a:p>
        </p:txBody>
      </p:sp>
      <p:sp>
        <p:nvSpPr>
          <p:cNvPr id="5" name="Shape 3"/>
          <p:cNvSpPr/>
          <p:nvPr/>
        </p:nvSpPr>
        <p:spPr>
          <a:xfrm>
            <a:off x="502920" y="201168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4"/>
          <p:cNvSpPr/>
          <p:nvPr/>
        </p:nvSpPr>
        <p:spPr>
          <a:xfrm>
            <a:off x="722376" y="2157984"/>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The shared-basin intuition</a:t>
            </a:r>
            <a:endParaRPr lang="en-US" sz="1250" dirty="0"/>
          </a:p>
        </p:txBody>
      </p:sp>
      <p:sp>
        <p:nvSpPr>
          <p:cNvPr id="7" name="Text 5"/>
          <p:cNvSpPr/>
          <p:nvPr/>
        </p:nvSpPr>
        <p:spPr>
          <a:xfrm>
            <a:off x="722376" y="246888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Fine-tunes from one base stay in the same loss basin. They are nearby points in weight space, not independent networks, so the interpolation between them is also in the basin.</a:t>
            </a:r>
            <a:endParaRPr lang="en-US" sz="1100" dirty="0"/>
          </a:p>
        </p:txBody>
      </p:sp>
      <p:sp>
        <p:nvSpPr>
          <p:cNvPr id="8" name="Shape 6"/>
          <p:cNvSpPr/>
          <p:nvPr/>
        </p:nvSpPr>
        <p:spPr>
          <a:xfrm>
            <a:off x="4270248" y="201168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4489704" y="215798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Task vectors</a:t>
            </a:r>
            <a:endParaRPr lang="en-US" sz="1250" dirty="0"/>
          </a:p>
        </p:txBody>
      </p:sp>
      <p:sp>
        <p:nvSpPr>
          <p:cNvPr id="10" name="Text 8"/>
          <p:cNvSpPr/>
          <p:nvPr/>
        </p:nvSpPr>
        <p:spPr>
          <a:xfrm>
            <a:off x="4489704" y="246888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Define tau = finetuned − base. This delta behaves like a semantically meaningful direction: you can add it, scale it, subtract it, and combine it with others.</a:t>
            </a:r>
            <a:endParaRPr lang="en-US" sz="1100" dirty="0"/>
          </a:p>
        </p:txBody>
      </p:sp>
      <p:sp>
        <p:nvSpPr>
          <p:cNvPr id="11" name="Shape 9"/>
          <p:cNvSpPr/>
          <p:nvPr/>
        </p:nvSpPr>
        <p:spPr>
          <a:xfrm>
            <a:off x="8037576" y="2011680"/>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10"/>
          <p:cNvSpPr/>
          <p:nvPr/>
        </p:nvSpPr>
        <p:spPr>
          <a:xfrm>
            <a:off x="8257032" y="215798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Ensembling without the cost</a:t>
            </a:r>
            <a:endParaRPr lang="en-US" sz="1250" dirty="0"/>
          </a:p>
        </p:txBody>
      </p:sp>
      <p:sp>
        <p:nvSpPr>
          <p:cNvPr id="13" name="Text 11"/>
          <p:cNvSpPr/>
          <p:nvPr/>
        </p:nvSpPr>
        <p:spPr>
          <a:xfrm>
            <a:off x="8257032" y="2468880"/>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 merge captures much of the benefit of ensembling several models, but produces ONE model with one model's inference cost.</a:t>
            </a:r>
            <a:endParaRPr lang="en-US" sz="1100" dirty="0"/>
          </a:p>
        </p:txBody>
      </p:sp>
      <p:sp>
        <p:nvSpPr>
          <p:cNvPr id="14" name="Shape 12"/>
          <p:cNvSpPr/>
          <p:nvPr/>
        </p:nvSpPr>
        <p:spPr>
          <a:xfrm>
            <a:off x="502920" y="371246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3"/>
          <p:cNvSpPr/>
          <p:nvPr/>
        </p:nvSpPr>
        <p:spPr>
          <a:xfrm>
            <a:off x="722376" y="3858768"/>
            <a:ext cx="3182112"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Noise cancellation</a:t>
            </a:r>
            <a:endParaRPr lang="en-US" sz="1250" dirty="0"/>
          </a:p>
        </p:txBody>
      </p:sp>
      <p:sp>
        <p:nvSpPr>
          <p:cNvPr id="16" name="Text 14"/>
          <p:cNvSpPr/>
          <p:nvPr/>
        </p:nvSpPr>
        <p:spPr>
          <a:xfrm>
            <a:off x="722376" y="416966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Each fine-tune overfits to its own data in different directions. Averaging cancels a portion of the idiosyncratic noise while preserving the shared signal.</a:t>
            </a:r>
            <a:endParaRPr lang="en-US" sz="1100" dirty="0"/>
          </a:p>
        </p:txBody>
      </p:sp>
      <p:sp>
        <p:nvSpPr>
          <p:cNvPr id="17" name="Shape 15"/>
          <p:cNvSpPr/>
          <p:nvPr/>
        </p:nvSpPr>
        <p:spPr>
          <a:xfrm>
            <a:off x="4270248" y="371246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8" name="Text 16"/>
          <p:cNvSpPr/>
          <p:nvPr/>
        </p:nvSpPr>
        <p:spPr>
          <a:xfrm>
            <a:off x="4489704" y="3858768"/>
            <a:ext cx="3182112"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It requires a common ancestor</a:t>
            </a:r>
            <a:endParaRPr lang="en-US" sz="1250" dirty="0"/>
          </a:p>
        </p:txBody>
      </p:sp>
      <p:sp>
        <p:nvSpPr>
          <p:cNvPr id="19" name="Text 17"/>
          <p:cNvSpPr/>
          <p:nvPr/>
        </p:nvSpPr>
        <p:spPr>
          <a:xfrm>
            <a:off x="4489704" y="416966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Merging models with different bases, architectures, or tokenizers does not work. Everything here assumes one base model.</a:t>
            </a:r>
            <a:endParaRPr lang="en-US" sz="1100" dirty="0"/>
          </a:p>
        </p:txBody>
      </p:sp>
      <p:sp>
        <p:nvSpPr>
          <p:cNvPr id="20" name="Shape 18"/>
          <p:cNvSpPr/>
          <p:nvPr/>
        </p:nvSpPr>
        <p:spPr>
          <a:xfrm>
            <a:off x="8037576" y="3712464"/>
            <a:ext cx="3621024" cy="1554480"/>
          </a:xfrm>
          <a:prstGeom prst="roundRect">
            <a:avLst>
              <a:gd name="adj" fmla="val 411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Text 19"/>
          <p:cNvSpPr/>
          <p:nvPr/>
        </p:nvSpPr>
        <p:spPr>
          <a:xfrm>
            <a:off x="8257032" y="3858768"/>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It costs no GPU time</a:t>
            </a:r>
            <a:endParaRPr lang="en-US" sz="1250" dirty="0"/>
          </a:p>
        </p:txBody>
      </p:sp>
      <p:sp>
        <p:nvSpPr>
          <p:cNvPr id="22" name="Text 20"/>
          <p:cNvSpPr/>
          <p:nvPr/>
        </p:nvSpPr>
        <p:spPr>
          <a:xfrm>
            <a:off x="8257032" y="4169664"/>
            <a:ext cx="3182112" cy="9509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Merging is elementwise arithmetic on weight tensors. It runs on CPU, in seconds to minutes. There is no training involved.</a:t>
            </a:r>
            <a:endParaRPr lang="en-US" sz="1100" dirty="0"/>
          </a:p>
        </p:txBody>
      </p:sp>
      <p:sp>
        <p:nvSpPr>
          <p:cNvPr id="23" name="Shape 21"/>
          <p:cNvSpPr/>
          <p:nvPr/>
        </p:nvSpPr>
        <p:spPr>
          <a:xfrm>
            <a:off x="502920" y="4937760"/>
            <a:ext cx="11155680" cy="566928"/>
          </a:xfrm>
          <a:prstGeom prst="roundRect">
            <a:avLst>
              <a:gd name="adj" fmla="val 9677"/>
            </a:avLst>
          </a:prstGeom>
          <a:solidFill>
            <a:srgbClr val="8FB573"/>
          </a:solidFill>
          <a:ln/>
        </p:spPr>
      </p:sp>
      <p:sp>
        <p:nvSpPr>
          <p:cNvPr id="24" name="Text 22"/>
          <p:cNvSpPr/>
          <p:nvPr/>
        </p:nvSpPr>
        <p:spPr>
          <a:xfrm>
            <a:off x="777240" y="493776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This is the highest return-per-minute operation in the entire curriculum. Do it before you conclude you are finished.</a:t>
            </a:r>
            <a:endParaRPr lang="en-US" sz="1450" dirty="0"/>
          </a:p>
        </p:txBody>
      </p:sp>
      <p:sp>
        <p:nvSpPr>
          <p:cNvPr id="25" name="Shape 23"/>
          <p:cNvSpPr/>
          <p:nvPr/>
        </p:nvSpPr>
        <p:spPr>
          <a:xfrm>
            <a:off x="502920" y="5669280"/>
            <a:ext cx="11155680" cy="868680"/>
          </a:xfrm>
          <a:prstGeom prst="roundRect">
            <a:avLst>
              <a:gd name="adj" fmla="val 7368"/>
            </a:avLst>
          </a:prstGeom>
          <a:solidFill>
            <a:srgbClr val="1F3D2E"/>
          </a:solidFill>
          <a:ln/>
        </p:spPr>
      </p:sp>
      <p:sp>
        <p:nvSpPr>
          <p:cNvPr id="26" name="Shape 24"/>
          <p:cNvSpPr/>
          <p:nvPr/>
        </p:nvSpPr>
        <p:spPr>
          <a:xfrm>
            <a:off x="740664" y="5852160"/>
            <a:ext cx="292608" cy="292608"/>
          </a:xfrm>
          <a:prstGeom prst="ellipse">
            <a:avLst/>
          </a:prstGeom>
          <a:solidFill>
            <a:srgbClr val="1F3D2E"/>
          </a:solidFill>
          <a:ln/>
        </p:spPr>
      </p:sp>
      <p:sp>
        <p:nvSpPr>
          <p:cNvPr id="27" name="Text 25"/>
          <p:cNvSpPr/>
          <p:nvPr/>
        </p:nvSpPr>
        <p:spPr>
          <a:xfrm>
            <a:off x="740664" y="585216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8" name="Text 26"/>
          <p:cNvSpPr/>
          <p:nvPr/>
        </p:nvSpPr>
        <p:spPr>
          <a:xfrm>
            <a:off x="1133856" y="587044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9" name="Text 27"/>
          <p:cNvSpPr/>
          <p:nvPr/>
        </p:nvSpPr>
        <p:spPr>
          <a:xfrm>
            <a:off x="740664" y="6245352"/>
            <a:ext cx="10680192" cy="1188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TIES-merging my SFT and GRPO checkpoints gave +1.3 points over either alone, in about forty seconds of CPU time. I had nearly skipped the phase.</a:t>
            </a:r>
            <a:endParaRPr lang="en-US" sz="11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156</a:t>
            </a:r>
            <a:endParaRPr lang="en-US" sz="9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MERGE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methods, in increasing sophistication</a:t>
            </a:r>
            <a:endParaRPr lang="en-US" sz="2900" dirty="0"/>
          </a:p>
        </p:txBody>
      </p:sp>
      <p:graphicFrame>
        <p:nvGraphicFramePr>
          <p:cNvPr id="15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377440"/>
                <a:gridCol w="4297680"/>
                <a:gridCol w="1188720"/>
                <a:gridCol w="329184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Method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it works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Use when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Linear / weighted average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Elementwise weighted mean of weights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Baseline. Always try it first — often enough.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Task arithmetic</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base + sum(lambda_i * tau_i) where tau = ft − base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Composing distinct skills; also for SUBTRACTING behavior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SLERP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Spherical interpolation — preserves vector norm</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Exactly 2</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Two checkpoints, when linear degrades quality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TIES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Trim small deltas → Elect sign by majority → Merge disjointly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Several fine-tunes with conflicting updates. Strong default.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DARE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Randomly Drop delta params, REscale survivors by 1/(1−p)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Reduces interference; often stacked with TIES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DARE-TIES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DARE's sparsification followed by TIES' sign election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The current practical default for multi-model merges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Model soup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Average many checkpoints from the same or similar runs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Many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Several seeds or hyperparameter variants of one recipe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343400"/>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Shape 3"/>
          <p:cNvSpPr/>
          <p:nvPr/>
        </p:nvSpPr>
        <p:spPr>
          <a:xfrm>
            <a:off x="502920" y="4343400"/>
            <a:ext cx="91440" cy="621792"/>
          </a:xfrm>
          <a:prstGeom prst="rect">
            <a:avLst/>
          </a:prstGeom>
          <a:solidFill>
            <a:srgbClr val="8FB573"/>
          </a:solidFill>
          <a:ln/>
        </p:spPr>
      </p:sp>
      <p:sp>
        <p:nvSpPr>
          <p:cNvPr id="7" name="Text 4"/>
          <p:cNvSpPr/>
          <p:nvPr/>
        </p:nvSpPr>
        <p:spPr>
          <a:xfrm>
            <a:off x="822960" y="4453128"/>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Start with linear</a:t>
            </a:r>
            <a:endParaRPr lang="en-US" sz="1250" dirty="0"/>
          </a:p>
        </p:txBody>
      </p:sp>
      <p:sp>
        <p:nvSpPr>
          <p:cNvPr id="8" name="Text 5"/>
          <p:cNvSpPr/>
          <p:nvPr/>
        </p:nvSpPr>
        <p:spPr>
          <a:xfrm>
            <a:off x="822960" y="4745736"/>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weights 0.5 / 0.5</a:t>
            </a:r>
            <a:endParaRPr lang="en-US" sz="950" dirty="0"/>
          </a:p>
        </p:txBody>
      </p:sp>
      <p:sp>
        <p:nvSpPr>
          <p:cNvPr id="9" name="Text 6"/>
          <p:cNvSpPr/>
          <p:nvPr/>
        </p:nvSpPr>
        <p:spPr>
          <a:xfrm>
            <a:off x="3794760" y="4434840"/>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It takes two minutes and it works surprisingly often. Only escalate when it does not.</a:t>
            </a:r>
            <a:endParaRPr lang="en-US" sz="1180" dirty="0"/>
          </a:p>
        </p:txBody>
      </p:sp>
      <p:sp>
        <p:nvSpPr>
          <p:cNvPr id="10" name="Shape 7"/>
          <p:cNvSpPr/>
          <p:nvPr/>
        </p:nvSpPr>
        <p:spPr>
          <a:xfrm>
            <a:off x="502920" y="5056632"/>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8"/>
          <p:cNvSpPr/>
          <p:nvPr/>
        </p:nvSpPr>
        <p:spPr>
          <a:xfrm>
            <a:off x="502920" y="5056632"/>
            <a:ext cx="91440" cy="621792"/>
          </a:xfrm>
          <a:prstGeom prst="rect">
            <a:avLst/>
          </a:prstGeom>
          <a:solidFill>
            <a:srgbClr val="8FB573"/>
          </a:solidFill>
          <a:ln/>
        </p:spPr>
      </p:sp>
      <p:sp>
        <p:nvSpPr>
          <p:cNvPr id="12" name="Text 9"/>
          <p:cNvSpPr/>
          <p:nvPr/>
        </p:nvSpPr>
        <p:spPr>
          <a:xfrm>
            <a:off x="822960" y="5166360"/>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TIES for three or more</a:t>
            </a:r>
            <a:endParaRPr lang="en-US" sz="1250" dirty="0"/>
          </a:p>
        </p:txBody>
      </p:sp>
      <p:sp>
        <p:nvSpPr>
          <p:cNvPr id="13" name="Text 10"/>
          <p:cNvSpPr/>
          <p:nvPr/>
        </p:nvSpPr>
        <p:spPr>
          <a:xfrm>
            <a:off x="822960" y="5458968"/>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sign conflicts are the problem</a:t>
            </a:r>
            <a:endParaRPr lang="en-US" sz="950" dirty="0"/>
          </a:p>
        </p:txBody>
      </p:sp>
      <p:sp>
        <p:nvSpPr>
          <p:cNvPr id="14" name="Text 11"/>
          <p:cNvSpPr/>
          <p:nvPr/>
        </p:nvSpPr>
        <p:spPr>
          <a:xfrm>
            <a:off x="3794760" y="5148072"/>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When several fine-tunes disagree on the SIGN of an update, naive averaging cancels both. TIES resolves it by majority vote.</a:t>
            </a:r>
            <a:endParaRPr lang="en-US" sz="1180" dirty="0"/>
          </a:p>
        </p:txBody>
      </p:sp>
      <p:sp>
        <p:nvSpPr>
          <p:cNvPr id="15" name="Shape 12"/>
          <p:cNvSpPr/>
          <p:nvPr/>
        </p:nvSpPr>
        <p:spPr>
          <a:xfrm>
            <a:off x="502920" y="5769864"/>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3"/>
          <p:cNvSpPr/>
          <p:nvPr/>
        </p:nvSpPr>
        <p:spPr>
          <a:xfrm>
            <a:off x="502920" y="5769864"/>
            <a:ext cx="91440" cy="621792"/>
          </a:xfrm>
          <a:prstGeom prst="rect">
            <a:avLst/>
          </a:prstGeom>
          <a:solidFill>
            <a:srgbClr val="8FB573"/>
          </a:solidFill>
          <a:ln/>
        </p:spPr>
      </p:sp>
      <p:sp>
        <p:nvSpPr>
          <p:cNvPr id="17" name="Text 14"/>
          <p:cNvSpPr/>
          <p:nvPr/>
        </p:nvSpPr>
        <p:spPr>
          <a:xfrm>
            <a:off x="822960" y="5879592"/>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Sweep the weights</a:t>
            </a:r>
            <a:endParaRPr lang="en-US" sz="1250" dirty="0"/>
          </a:p>
        </p:txBody>
      </p:sp>
      <p:sp>
        <p:nvSpPr>
          <p:cNvPr id="18" name="Text 15"/>
          <p:cNvSpPr/>
          <p:nvPr/>
        </p:nvSpPr>
        <p:spPr>
          <a:xfrm>
            <a:off x="822960" y="6172200"/>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0.3/0.7, 0.5/0.5, 0.7/0.3</a:t>
            </a:r>
            <a:endParaRPr lang="en-US" sz="950" dirty="0"/>
          </a:p>
        </p:txBody>
      </p:sp>
      <p:sp>
        <p:nvSpPr>
          <p:cNvPr id="19" name="Text 16"/>
          <p:cNvSpPr/>
          <p:nvPr/>
        </p:nvSpPr>
        <p:spPr>
          <a:xfrm>
            <a:off x="3794760" y="5861304"/>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The mixing ratio matters more than the method. Sweep it — each merge costs seconds.</a:t>
            </a:r>
            <a:endParaRPr lang="en-US" sz="1180" dirty="0"/>
          </a:p>
        </p:txBody>
      </p:sp>
      <p:sp>
        <p:nvSpPr>
          <p:cNvPr id="20" name="Text 1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157</a:t>
            </a:r>
            <a:endParaRPr lang="en-US" sz="95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MERGE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Task arithmetic — the most conceptually interesting one</a:t>
            </a:r>
            <a:endParaRPr lang="en-US" sz="2900" dirty="0"/>
          </a:p>
        </p:txBody>
      </p:sp>
      <p:sp>
        <p:nvSpPr>
          <p:cNvPr id="4" name="Shape 2"/>
          <p:cNvSpPr/>
          <p:nvPr/>
        </p:nvSpPr>
        <p:spPr>
          <a:xfrm>
            <a:off x="502920" y="1280160"/>
            <a:ext cx="6217920" cy="3108960"/>
          </a:xfrm>
          <a:prstGeom prst="roundRect">
            <a:avLst>
              <a:gd name="adj" fmla="val 1765"/>
            </a:avLst>
          </a:prstGeom>
          <a:solidFill>
            <a:srgbClr val="0F1F17"/>
          </a:solidFill>
          <a:ln/>
        </p:spPr>
      </p:sp>
      <p:sp>
        <p:nvSpPr>
          <p:cNvPr id="5" name="Text 3"/>
          <p:cNvSpPr/>
          <p:nvPr/>
        </p:nvSpPr>
        <p:spPr>
          <a:xfrm>
            <a:off x="722376" y="1426464"/>
            <a:ext cx="577900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TASK VECTORS</a:t>
            </a:r>
            <a:endParaRPr lang="en-US" sz="950" dirty="0"/>
          </a:p>
        </p:txBody>
      </p:sp>
      <p:sp>
        <p:nvSpPr>
          <p:cNvPr id="6" name="Text 4"/>
          <p:cNvSpPr/>
          <p:nvPr/>
        </p:nvSpPr>
        <p:spPr>
          <a:xfrm>
            <a:off x="722376" y="1700784"/>
            <a:ext cx="5779008" cy="254203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A task vector is just a difference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tau_code   = W_code_finetune   - W_base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tau_chat   = W_chat_finetune   - W_base</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ADD skills: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W_new = W_base + 0.7*tau_code + 0.3*tau_chat</a:t>
            </a:r>
            <a:endParaRPr lang="en-US" sz="1000" dirty="0"/>
          </a:p>
          <a:p>
            <a:pPr indent="0" marL="0">
              <a:lnSpc>
                <a:spcPct val="112000"/>
              </a:lnSpc>
              <a:buNone/>
            </a:pPr>
            <a:endParaRPr lang="en-US" sz="1000" dirty="0"/>
          </a:p>
          <a:p>
            <a:pPr indent="0" marL="0">
              <a:lnSpc>
                <a:spcPct val="112000"/>
              </a:lnSpc>
              <a:buNone/>
            </a:pPr>
            <a:r>
              <a:rPr lang="en-US" sz="1000" dirty="0">
                <a:solidFill>
                  <a:srgbClr val="D98E32"/>
                </a:solidFill>
                <a:latin typeface="Courier New" pitchFamily="34" charset="0"/>
                <a:ea typeface="Courier New" pitchFamily="34" charset="-122"/>
                <a:cs typeface="Courier New" pitchFamily="34" charset="-120"/>
              </a:rPr>
              <a:t># SUBTRACT a behavior you do not want: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W_new = W_base + tau_code - 0.4*tau_verbose</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SCALE the strength of a fine-tune: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W_new = W_base + 1.3*tau_code    # amplify</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W_new = W_base + 0.6*tau_code    # soften, recover</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general ability</a:t>
            </a:r>
            <a:endParaRPr lang="en-US" sz="1000" dirty="0"/>
          </a:p>
        </p:txBody>
      </p:sp>
      <p:sp>
        <p:nvSpPr>
          <p:cNvPr id="7" name="Shape 5"/>
          <p:cNvSpPr/>
          <p:nvPr/>
        </p:nvSpPr>
        <p:spPr>
          <a:xfrm>
            <a:off x="6903720" y="1280160"/>
            <a:ext cx="475488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7123176" y="1426464"/>
            <a:ext cx="431596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Scaling recovers forgetting</a:t>
            </a:r>
            <a:endParaRPr lang="en-US" sz="1250" dirty="0"/>
          </a:p>
        </p:txBody>
      </p:sp>
      <p:sp>
        <p:nvSpPr>
          <p:cNvPr id="9" name="Text 7"/>
          <p:cNvSpPr/>
          <p:nvPr/>
        </p:nvSpPr>
        <p:spPr>
          <a:xfrm>
            <a:off x="7123176" y="1737360"/>
            <a:ext cx="4315968" cy="1737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If your code fine-tune destroyed general ability, merging at 0.6 gives you most of the code gain and most of the general ability back. A genuine, continuous dial.</a:t>
            </a:r>
            <a:endParaRPr lang="en-US" sz="1100" dirty="0"/>
          </a:p>
        </p:txBody>
      </p:sp>
      <p:sp>
        <p:nvSpPr>
          <p:cNvPr id="10" name="Shape 8"/>
          <p:cNvSpPr/>
          <p:nvPr/>
        </p:nvSpPr>
        <p:spPr>
          <a:xfrm>
            <a:off x="6903720" y="2148840"/>
            <a:ext cx="475488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7123176" y="2295144"/>
            <a:ext cx="431596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Subtraction actually works</a:t>
            </a:r>
            <a:endParaRPr lang="en-US" sz="1250" dirty="0"/>
          </a:p>
        </p:txBody>
      </p:sp>
      <p:sp>
        <p:nvSpPr>
          <p:cNvPr id="12" name="Text 10"/>
          <p:cNvSpPr/>
          <p:nvPr/>
        </p:nvSpPr>
        <p:spPr>
          <a:xfrm>
            <a:off x="7123176" y="2606040"/>
            <a:ext cx="4315968" cy="1737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You can build a 'verbosity' task vector by fine-tuning deliberately on verbose output, then SUBTRACT it. Odd, effective, and cheap to try.</a:t>
            </a:r>
            <a:endParaRPr lang="en-US" sz="1100" dirty="0"/>
          </a:p>
        </p:txBody>
      </p:sp>
      <p:sp>
        <p:nvSpPr>
          <p:cNvPr id="13" name="Shape 11"/>
          <p:cNvSpPr/>
          <p:nvPr/>
        </p:nvSpPr>
        <p:spPr>
          <a:xfrm>
            <a:off x="6903720" y="3017520"/>
            <a:ext cx="475488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123176" y="3163824"/>
            <a:ext cx="431596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Coefficients above 1.0 are valid</a:t>
            </a:r>
            <a:endParaRPr lang="en-US" sz="1250" dirty="0"/>
          </a:p>
        </p:txBody>
      </p:sp>
      <p:sp>
        <p:nvSpPr>
          <p:cNvPr id="15" name="Text 13"/>
          <p:cNvSpPr/>
          <p:nvPr/>
        </p:nvSpPr>
        <p:spPr>
          <a:xfrm>
            <a:off x="7123176" y="3474720"/>
            <a:ext cx="4315968" cy="1737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Amplifying a task vector past the fine-tuned point sometimes helps. It also breaks things. Sweep and measure.</a:t>
            </a:r>
            <a:endParaRPr lang="en-US" sz="1100" dirty="0"/>
          </a:p>
        </p:txBody>
      </p:sp>
      <p:sp>
        <p:nvSpPr>
          <p:cNvPr id="16" name="Shape 14"/>
          <p:cNvSpPr/>
          <p:nvPr/>
        </p:nvSpPr>
        <p:spPr>
          <a:xfrm>
            <a:off x="6903720" y="3886200"/>
            <a:ext cx="475488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7123176" y="4032504"/>
            <a:ext cx="431596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LoRA adapters are already task vectors</a:t>
            </a:r>
            <a:endParaRPr lang="en-US" sz="1250" dirty="0"/>
          </a:p>
        </p:txBody>
      </p:sp>
      <p:sp>
        <p:nvSpPr>
          <p:cNvPr id="18" name="Text 16"/>
          <p:cNvSpPr/>
          <p:nvPr/>
        </p:nvSpPr>
        <p:spPr>
          <a:xfrm>
            <a:off x="7123176" y="4343400"/>
            <a:ext cx="4315968" cy="1737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(alpha/r)·BA IS your tau. You can scale, add, and subtract adapters directly without ever materializing a merged model.</a:t>
            </a:r>
            <a:endParaRPr lang="en-US" sz="1100" dirty="0"/>
          </a:p>
        </p:txBody>
      </p:sp>
      <p:sp>
        <p:nvSpPr>
          <p:cNvPr id="19" name="Shape 17"/>
          <p:cNvSpPr/>
          <p:nvPr/>
        </p:nvSpPr>
        <p:spPr>
          <a:xfrm>
            <a:off x="502920" y="4526280"/>
            <a:ext cx="11155680" cy="566928"/>
          </a:xfrm>
          <a:prstGeom prst="roundRect">
            <a:avLst>
              <a:gd name="adj" fmla="val 9677"/>
            </a:avLst>
          </a:prstGeom>
          <a:solidFill>
            <a:srgbClr val="8FB573"/>
          </a:solidFill>
          <a:ln/>
        </p:spPr>
      </p:sp>
      <p:sp>
        <p:nvSpPr>
          <p:cNvPr id="20" name="Text 18"/>
          <p:cNvSpPr/>
          <p:nvPr/>
        </p:nvSpPr>
        <p:spPr>
          <a:xfrm>
            <a:off x="777240" y="452628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For LoRA specifically: merging adapters is arithmetic on tiny matrices. You can sweep twenty merges in a minute.</a:t>
            </a:r>
            <a:endParaRPr lang="en-US" sz="1450" dirty="0"/>
          </a:p>
        </p:txBody>
      </p:sp>
      <p:sp>
        <p:nvSpPr>
          <p:cNvPr id="21" name="Shape 19"/>
          <p:cNvSpPr/>
          <p:nvPr/>
        </p:nvSpPr>
        <p:spPr>
          <a:xfrm>
            <a:off x="502920" y="5257800"/>
            <a:ext cx="11155680" cy="1097280"/>
          </a:xfrm>
          <a:prstGeom prst="roundRect">
            <a:avLst>
              <a:gd name="adj" fmla="val 5833"/>
            </a:avLst>
          </a:prstGeom>
          <a:solidFill>
            <a:srgbClr val="1F3D2E"/>
          </a:solidFill>
          <a:ln/>
        </p:spPr>
      </p:sp>
      <p:sp>
        <p:nvSpPr>
          <p:cNvPr id="22" name="Shape 20"/>
          <p:cNvSpPr/>
          <p:nvPr/>
        </p:nvSpPr>
        <p:spPr>
          <a:xfrm>
            <a:off x="740664" y="5440680"/>
            <a:ext cx="292608" cy="292608"/>
          </a:xfrm>
          <a:prstGeom prst="ellipse">
            <a:avLst/>
          </a:prstGeom>
          <a:solidFill>
            <a:srgbClr val="1F3D2E"/>
          </a:solidFill>
          <a:ln/>
        </p:spPr>
      </p:sp>
      <p:sp>
        <p:nvSpPr>
          <p:cNvPr id="23" name="Text 21"/>
          <p:cNvSpPr/>
          <p:nvPr/>
        </p:nvSpPr>
        <p:spPr>
          <a:xfrm>
            <a:off x="740664" y="544068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24" name="Text 22"/>
          <p:cNvSpPr/>
          <p:nvPr/>
        </p:nvSpPr>
        <p:spPr>
          <a:xfrm>
            <a:off x="1133856" y="545896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25" name="Text 23"/>
          <p:cNvSpPr/>
          <p:nvPr/>
        </p:nvSpPr>
        <p:spPr>
          <a:xfrm>
            <a:off x="740664" y="5833872"/>
            <a:ext cx="10680192" cy="3474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Scaling my code task vector to 0.65 recovered nearly all the general ability my model had lost, at a cost of 1.1 points of pass@1. That is a much better trade than retraining with mixed data, and it took two minutes to find.</a:t>
            </a:r>
            <a:endParaRPr lang="en-US" sz="1150" dirty="0"/>
          </a:p>
        </p:txBody>
      </p:sp>
      <p:sp>
        <p:nvSpPr>
          <p:cNvPr id="26" name="Text 2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158</a:t>
            </a:r>
            <a:endParaRPr lang="en-US" sz="9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MERGE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TIES and DARE — solving interference</a:t>
            </a:r>
            <a:endParaRPr lang="en-US" sz="2900" dirty="0"/>
          </a:p>
        </p:txBody>
      </p:sp>
      <p:sp>
        <p:nvSpPr>
          <p:cNvPr id="4" name="Shape 2"/>
          <p:cNvSpPr/>
          <p:nvPr/>
        </p:nvSpPr>
        <p:spPr>
          <a:xfrm>
            <a:off x="502920" y="1280160"/>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463802"/>
            <a:ext cx="402336" cy="402336"/>
          </a:xfrm>
          <a:prstGeom prst="ellipse">
            <a:avLst/>
          </a:prstGeom>
          <a:solidFill>
            <a:srgbClr val="8FB573"/>
          </a:solidFill>
          <a:ln/>
        </p:spPr>
      </p:sp>
      <p:sp>
        <p:nvSpPr>
          <p:cNvPr id="6" name="Text 4"/>
          <p:cNvSpPr/>
          <p:nvPr/>
        </p:nvSpPr>
        <p:spPr>
          <a:xfrm>
            <a:off x="749808" y="146380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The problem: interference</a:t>
            </a:r>
            <a:endParaRPr lang="en-US" sz="1300" dirty="0"/>
          </a:p>
        </p:txBody>
      </p:sp>
      <p:sp>
        <p:nvSpPr>
          <p:cNvPr id="8" name="Text 6"/>
          <p:cNvSpPr/>
          <p:nvPr/>
        </p:nvSpPr>
        <p:spPr>
          <a:xfrm>
            <a:off x="1316736" y="1700784"/>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When you merge several fine-tunes, most parameter deltas are tiny noise, and where two models disagree on the SIGN of a change, naive averaging cancels both to roughly zero. You lose both skills.</a:t>
            </a:r>
            <a:endParaRPr lang="en-US" sz="1150" dirty="0"/>
          </a:p>
        </p:txBody>
      </p:sp>
      <p:sp>
        <p:nvSpPr>
          <p:cNvPr id="9" name="Shape 7"/>
          <p:cNvSpPr/>
          <p:nvPr/>
        </p:nvSpPr>
        <p:spPr>
          <a:xfrm>
            <a:off x="502920" y="2159508"/>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343150"/>
            <a:ext cx="402336" cy="402336"/>
          </a:xfrm>
          <a:prstGeom prst="ellipse">
            <a:avLst/>
          </a:prstGeom>
          <a:solidFill>
            <a:srgbClr val="8FB573"/>
          </a:solidFill>
          <a:ln/>
        </p:spPr>
      </p:sp>
      <p:sp>
        <p:nvSpPr>
          <p:cNvPr id="11" name="Text 9"/>
          <p:cNvSpPr/>
          <p:nvPr/>
        </p:nvSpPr>
        <p:spPr>
          <a:xfrm>
            <a:off x="749808" y="234315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28752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TIES step 1 — TRIM</a:t>
            </a:r>
            <a:endParaRPr lang="en-US" sz="1300" dirty="0"/>
          </a:p>
        </p:txBody>
      </p:sp>
      <p:sp>
        <p:nvSpPr>
          <p:cNvPr id="13" name="Text 11"/>
          <p:cNvSpPr/>
          <p:nvPr/>
        </p:nvSpPr>
        <p:spPr>
          <a:xfrm>
            <a:off x="1316736" y="2580132"/>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Keep only the top-k% of deltas by magnitude (typically k=20). The rest are set to zero. Most of a fine-tune's delta is noise, and discarding it loses almost nothing.</a:t>
            </a:r>
            <a:endParaRPr lang="en-US" sz="1150" dirty="0"/>
          </a:p>
        </p:txBody>
      </p:sp>
      <p:sp>
        <p:nvSpPr>
          <p:cNvPr id="14" name="Shape 12"/>
          <p:cNvSpPr/>
          <p:nvPr/>
        </p:nvSpPr>
        <p:spPr>
          <a:xfrm>
            <a:off x="502920" y="3038856"/>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3222498"/>
            <a:ext cx="402336" cy="402336"/>
          </a:xfrm>
          <a:prstGeom prst="ellipse">
            <a:avLst/>
          </a:prstGeom>
          <a:solidFill>
            <a:srgbClr val="8FB573"/>
          </a:solidFill>
          <a:ln/>
        </p:spPr>
      </p:sp>
      <p:sp>
        <p:nvSpPr>
          <p:cNvPr id="16" name="Text 14"/>
          <p:cNvSpPr/>
          <p:nvPr/>
        </p:nvSpPr>
        <p:spPr>
          <a:xfrm>
            <a:off x="749808" y="322249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3166872"/>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TIES step 2 — ELECT SIGN</a:t>
            </a:r>
            <a:endParaRPr lang="en-US" sz="1300" dirty="0"/>
          </a:p>
        </p:txBody>
      </p:sp>
      <p:sp>
        <p:nvSpPr>
          <p:cNvPr id="18" name="Text 16"/>
          <p:cNvSpPr/>
          <p:nvPr/>
        </p:nvSpPr>
        <p:spPr>
          <a:xfrm>
            <a:off x="1316736" y="3459480"/>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For each parameter, take a majority vote on the sign across models, weighted by magnitude. This decides the direction before any averaging happens.</a:t>
            </a:r>
            <a:endParaRPr lang="en-US" sz="1150" dirty="0"/>
          </a:p>
        </p:txBody>
      </p:sp>
      <p:sp>
        <p:nvSpPr>
          <p:cNvPr id="19" name="Shape 17"/>
          <p:cNvSpPr/>
          <p:nvPr/>
        </p:nvSpPr>
        <p:spPr>
          <a:xfrm>
            <a:off x="502920" y="3918204"/>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4101846"/>
            <a:ext cx="402336" cy="402336"/>
          </a:xfrm>
          <a:prstGeom prst="ellipse">
            <a:avLst/>
          </a:prstGeom>
          <a:solidFill>
            <a:srgbClr val="8FB573"/>
          </a:solidFill>
          <a:ln/>
        </p:spPr>
      </p:sp>
      <p:sp>
        <p:nvSpPr>
          <p:cNvPr id="21" name="Text 19"/>
          <p:cNvSpPr/>
          <p:nvPr/>
        </p:nvSpPr>
        <p:spPr>
          <a:xfrm>
            <a:off x="749808" y="4101846"/>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404622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TIES step 3 — DISJOINT MERGE</a:t>
            </a:r>
            <a:endParaRPr lang="en-US" sz="1300" dirty="0"/>
          </a:p>
        </p:txBody>
      </p:sp>
      <p:sp>
        <p:nvSpPr>
          <p:cNvPr id="23" name="Text 21"/>
          <p:cNvSpPr/>
          <p:nvPr/>
        </p:nvSpPr>
        <p:spPr>
          <a:xfrm>
            <a:off x="1316736" y="4338828"/>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Average only the deltas that agree with the elected sign. Disagreeing values are excluded rather than allowed to cancel.</a:t>
            </a:r>
            <a:endParaRPr lang="en-US" sz="1150" dirty="0"/>
          </a:p>
        </p:txBody>
      </p:sp>
      <p:sp>
        <p:nvSpPr>
          <p:cNvPr id="24" name="Shape 22"/>
          <p:cNvSpPr/>
          <p:nvPr/>
        </p:nvSpPr>
        <p:spPr>
          <a:xfrm>
            <a:off x="502920" y="4797552"/>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4981194"/>
            <a:ext cx="402336" cy="402336"/>
          </a:xfrm>
          <a:prstGeom prst="ellipse">
            <a:avLst/>
          </a:prstGeom>
          <a:solidFill>
            <a:srgbClr val="8FB573"/>
          </a:solidFill>
          <a:ln/>
        </p:spPr>
      </p:sp>
      <p:sp>
        <p:nvSpPr>
          <p:cNvPr id="26" name="Text 24"/>
          <p:cNvSpPr/>
          <p:nvPr/>
        </p:nvSpPr>
        <p:spPr>
          <a:xfrm>
            <a:off x="749808" y="4981194"/>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4925568"/>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DARE — the orthogonal trick</a:t>
            </a:r>
            <a:endParaRPr lang="en-US" sz="1300" dirty="0"/>
          </a:p>
        </p:txBody>
      </p:sp>
      <p:sp>
        <p:nvSpPr>
          <p:cNvPr id="28" name="Text 26"/>
          <p:cNvSpPr/>
          <p:nvPr/>
        </p:nvSpPr>
        <p:spPr>
          <a:xfrm>
            <a:off x="1316736" y="5218176"/>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Randomly DROP a large fraction p of delta parameters (p=0.9 is common) and RESCALE the survivors by 1/(1−p). Preserves the expected delta while drastically reducing overlap between models.</a:t>
            </a:r>
            <a:endParaRPr lang="en-US" sz="1150" dirty="0"/>
          </a:p>
        </p:txBody>
      </p:sp>
      <p:sp>
        <p:nvSpPr>
          <p:cNvPr id="29" name="Shape 27"/>
          <p:cNvSpPr/>
          <p:nvPr/>
        </p:nvSpPr>
        <p:spPr>
          <a:xfrm>
            <a:off x="502920" y="5676900"/>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749808" y="5860542"/>
            <a:ext cx="402336" cy="402336"/>
          </a:xfrm>
          <a:prstGeom prst="ellipse">
            <a:avLst/>
          </a:prstGeom>
          <a:solidFill>
            <a:srgbClr val="8FB573"/>
          </a:solidFill>
          <a:ln/>
        </p:spPr>
      </p:sp>
      <p:sp>
        <p:nvSpPr>
          <p:cNvPr id="31" name="Text 29"/>
          <p:cNvSpPr/>
          <p:nvPr/>
        </p:nvSpPr>
        <p:spPr>
          <a:xfrm>
            <a:off x="749808" y="586054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1316736" y="580491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DARE-TIES — stack them</a:t>
            </a:r>
            <a:endParaRPr lang="en-US" sz="1300" dirty="0"/>
          </a:p>
        </p:txBody>
      </p:sp>
      <p:sp>
        <p:nvSpPr>
          <p:cNvPr id="33" name="Text 31"/>
          <p:cNvSpPr/>
          <p:nvPr/>
        </p:nvSpPr>
        <p:spPr>
          <a:xfrm>
            <a:off x="1316736" y="6097524"/>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Apply DARE's sparsification, then TIES' sign election. This combination is the current practical default for merging three or more models.</a:t>
            </a:r>
            <a:endParaRPr lang="en-US" sz="1150" dirty="0"/>
          </a:p>
        </p:txBody>
      </p:sp>
      <p:sp>
        <p:nvSpPr>
          <p:cNvPr id="34" name="Text 3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159</a:t>
            </a:r>
            <a:endParaRPr lang="en-US" sz="95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MERGE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mergekit in practice</a:t>
            </a:r>
            <a:endParaRPr lang="en-US" sz="2900" dirty="0"/>
          </a:p>
        </p:txBody>
      </p:sp>
      <p:sp>
        <p:nvSpPr>
          <p:cNvPr id="4" name="Shape 2"/>
          <p:cNvSpPr/>
          <p:nvPr/>
        </p:nvSpPr>
        <p:spPr>
          <a:xfrm>
            <a:off x="502920" y="1280160"/>
            <a:ext cx="6400800" cy="3291840"/>
          </a:xfrm>
          <a:prstGeom prst="roundRect">
            <a:avLst>
              <a:gd name="adj" fmla="val 1667"/>
            </a:avLst>
          </a:prstGeom>
          <a:solidFill>
            <a:srgbClr val="0F1F17"/>
          </a:solidFill>
          <a:ln/>
        </p:spPr>
      </p:sp>
      <p:sp>
        <p:nvSpPr>
          <p:cNvPr id="5" name="Text 3"/>
          <p:cNvSpPr/>
          <p:nvPr/>
        </p:nvSpPr>
        <p:spPr>
          <a:xfrm>
            <a:off x="722376" y="1426464"/>
            <a:ext cx="596188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mergekit</a:t>
            </a:r>
            <a:endParaRPr lang="en-US" sz="950" dirty="0"/>
          </a:p>
        </p:txBody>
      </p:sp>
      <p:sp>
        <p:nvSpPr>
          <p:cNvPr id="6" name="Text 4"/>
          <p:cNvSpPr/>
          <p:nvPr/>
        </p:nvSpPr>
        <p:spPr>
          <a:xfrm>
            <a:off x="722376" y="1700784"/>
            <a:ext cx="5961888" cy="272491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merge-config.yaml</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models: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model: ./ckpt/06-sft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parameters: { weight: 0.4, density: 0.6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model: ./ckpt/09-grpo</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parameters: { weight: 0.4, density: 0.6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 model: ./ckpt/10-repair</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parameters: { weight: 0.2, density: 0.5 }</a:t>
            </a:r>
            <a:endParaRPr lang="en-US" sz="1000" dirty="0"/>
          </a:p>
          <a:p>
            <a:pPr indent="0" marL="0">
              <a:lnSpc>
                <a:spcPct val="112000"/>
              </a:lnSpc>
              <a:buNone/>
            </a:pP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merge_method: dare_ties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base_model: Qwen/Qwen2.5-Coder-0.5B-Instruct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dtype: bfloat16</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parameters:</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int8_mask: true</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mergekit-yaml merge-config.yaml ./merged/v1 --cuda</a:t>
            </a:r>
            <a:endParaRPr lang="en-US" sz="1000" dirty="0"/>
          </a:p>
          <a:p>
            <a:pPr indent="0" marL="0">
              <a:lnSpc>
                <a:spcPct val="112000"/>
              </a:lnSpc>
              <a:buNone/>
            </a:pPr>
            <a:r>
              <a:rPr lang="en-US" sz="1000" dirty="0">
                <a:solidFill>
                  <a:srgbClr val="6B7A70"/>
                </a:solidFill>
                <a:latin typeface="Courier New" pitchFamily="34" charset="0"/>
                <a:ea typeface="Courier New" pitchFamily="34" charset="-122"/>
                <a:cs typeface="Courier New" pitchFamily="34" charset="-120"/>
              </a:rPr>
              <a:t># runs on CPU too — no GPU required</a:t>
            </a:r>
            <a:endParaRPr lang="en-US" sz="1000" dirty="0"/>
          </a:p>
        </p:txBody>
      </p:sp>
      <p:sp>
        <p:nvSpPr>
          <p:cNvPr id="7" name="Shape 5"/>
          <p:cNvSpPr/>
          <p:nvPr/>
        </p:nvSpPr>
        <p:spPr>
          <a:xfrm>
            <a:off x="7086600" y="1280160"/>
            <a:ext cx="4572000" cy="758952"/>
          </a:xfrm>
          <a:prstGeom prst="roundRect">
            <a:avLst>
              <a:gd name="adj" fmla="val 843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7306056" y="1426464"/>
            <a:ext cx="41330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Merge adapters or full models</a:t>
            </a:r>
            <a:endParaRPr lang="en-US" sz="1250" dirty="0"/>
          </a:p>
        </p:txBody>
      </p:sp>
      <p:sp>
        <p:nvSpPr>
          <p:cNvPr id="9" name="Text 7"/>
          <p:cNvSpPr/>
          <p:nvPr/>
        </p:nvSpPr>
        <p:spPr>
          <a:xfrm>
            <a:off x="7306056" y="1737360"/>
            <a:ext cx="4133088" cy="15544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For LoRA, merge the adapters directly — far faster. mergekit also has PEFT-aware modes.</a:t>
            </a:r>
            <a:endParaRPr lang="en-US" sz="1100" dirty="0"/>
          </a:p>
        </p:txBody>
      </p:sp>
      <p:sp>
        <p:nvSpPr>
          <p:cNvPr id="10" name="Shape 8"/>
          <p:cNvSpPr/>
          <p:nvPr/>
        </p:nvSpPr>
        <p:spPr>
          <a:xfrm>
            <a:off x="7086600" y="2121408"/>
            <a:ext cx="4572000" cy="758952"/>
          </a:xfrm>
          <a:prstGeom prst="roundRect">
            <a:avLst>
              <a:gd name="adj" fmla="val 843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7306056" y="2267712"/>
            <a:ext cx="413308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density is DARE's keep rate</a:t>
            </a:r>
            <a:endParaRPr lang="en-US" sz="1250" dirty="0"/>
          </a:p>
        </p:txBody>
      </p:sp>
      <p:sp>
        <p:nvSpPr>
          <p:cNvPr id="12" name="Text 10"/>
          <p:cNvSpPr/>
          <p:nvPr/>
        </p:nvSpPr>
        <p:spPr>
          <a:xfrm>
            <a:off x="7306056" y="2578608"/>
            <a:ext cx="4133088" cy="15544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0.5 means drop half the deltas and rescale. Lower density means less interference and more information loss.</a:t>
            </a:r>
            <a:endParaRPr lang="en-US" sz="1100" dirty="0"/>
          </a:p>
        </p:txBody>
      </p:sp>
      <p:sp>
        <p:nvSpPr>
          <p:cNvPr id="13" name="Shape 11"/>
          <p:cNvSpPr/>
          <p:nvPr/>
        </p:nvSpPr>
        <p:spPr>
          <a:xfrm>
            <a:off x="7086600" y="2962656"/>
            <a:ext cx="4572000" cy="758952"/>
          </a:xfrm>
          <a:prstGeom prst="roundRect">
            <a:avLst>
              <a:gd name="adj" fmla="val 843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306056" y="3108960"/>
            <a:ext cx="413308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weight is the mixing ratio</a:t>
            </a:r>
            <a:endParaRPr lang="en-US" sz="1250" dirty="0"/>
          </a:p>
        </p:txBody>
      </p:sp>
      <p:sp>
        <p:nvSpPr>
          <p:cNvPr id="15" name="Text 13"/>
          <p:cNvSpPr/>
          <p:nvPr/>
        </p:nvSpPr>
        <p:spPr>
          <a:xfrm>
            <a:off x="7306056" y="3419856"/>
            <a:ext cx="4133088" cy="15544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These need not sum to 1.0, though it is a sensible starting constraint. Sweep them.</a:t>
            </a:r>
            <a:endParaRPr lang="en-US" sz="1100" dirty="0"/>
          </a:p>
        </p:txBody>
      </p:sp>
      <p:sp>
        <p:nvSpPr>
          <p:cNvPr id="16" name="Shape 14"/>
          <p:cNvSpPr/>
          <p:nvPr/>
        </p:nvSpPr>
        <p:spPr>
          <a:xfrm>
            <a:off x="7086600" y="3803904"/>
            <a:ext cx="4572000" cy="758952"/>
          </a:xfrm>
          <a:prstGeom prst="roundRect">
            <a:avLst>
              <a:gd name="adj" fmla="val 843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7306056" y="3950208"/>
            <a:ext cx="413308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Evaluate EVERY merge</a:t>
            </a:r>
            <a:endParaRPr lang="en-US" sz="1250" dirty="0"/>
          </a:p>
        </p:txBody>
      </p:sp>
      <p:sp>
        <p:nvSpPr>
          <p:cNvPr id="18" name="Text 16"/>
          <p:cNvSpPr/>
          <p:nvPr/>
        </p:nvSpPr>
        <p:spPr>
          <a:xfrm>
            <a:off x="7306056" y="4261104"/>
            <a:ext cx="4133088" cy="15544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 merge is a new model. It gets the same three-seed evaluation as anything else. Merges can silently be worse.</a:t>
            </a:r>
            <a:endParaRPr lang="en-US" sz="1100" dirty="0"/>
          </a:p>
        </p:txBody>
      </p:sp>
      <p:sp>
        <p:nvSpPr>
          <p:cNvPr id="19" name="Shape 17"/>
          <p:cNvSpPr/>
          <p:nvPr/>
        </p:nvSpPr>
        <p:spPr>
          <a:xfrm>
            <a:off x="7086600" y="4645152"/>
            <a:ext cx="4572000" cy="758952"/>
          </a:xfrm>
          <a:prstGeom prst="roundRect">
            <a:avLst>
              <a:gd name="adj" fmla="val 843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Text 18"/>
          <p:cNvSpPr/>
          <p:nvPr/>
        </p:nvSpPr>
        <p:spPr>
          <a:xfrm>
            <a:off x="7306056" y="4791456"/>
            <a:ext cx="413308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Runs on CPU</a:t>
            </a:r>
            <a:endParaRPr lang="en-US" sz="1250" dirty="0"/>
          </a:p>
        </p:txBody>
      </p:sp>
      <p:sp>
        <p:nvSpPr>
          <p:cNvPr id="21" name="Text 19"/>
          <p:cNvSpPr/>
          <p:nvPr/>
        </p:nvSpPr>
        <p:spPr>
          <a:xfrm>
            <a:off x="7306056" y="5102352"/>
            <a:ext cx="4133088" cy="15544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No GPU needed. Your Mac's 48GB makes it the natural machine for this phase.</a:t>
            </a:r>
            <a:endParaRPr lang="en-US" sz="1100" dirty="0"/>
          </a:p>
        </p:txBody>
      </p:sp>
      <p:sp>
        <p:nvSpPr>
          <p:cNvPr id="22" name="Text 20"/>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160</a:t>
            </a:r>
            <a:endParaRPr lang="en-US" sz="95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MERGE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When merging helps, and when it destroys</a:t>
            </a:r>
            <a:endParaRPr lang="en-US" sz="2900" dirty="0"/>
          </a:p>
        </p:txBody>
      </p:sp>
      <p:sp>
        <p:nvSpPr>
          <p:cNvPr id="4" name="Shape 2"/>
          <p:cNvSpPr/>
          <p:nvPr/>
        </p:nvSpPr>
        <p:spPr>
          <a:xfrm>
            <a:off x="502920" y="1280160"/>
            <a:ext cx="5486400" cy="2743200"/>
          </a:xfrm>
          <a:prstGeom prst="roundRect">
            <a:avLst>
              <a:gd name="adj" fmla="val 233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MERGING TENDS TO HELP</a:t>
            </a:r>
            <a:endParaRPr lang="en-US" sz="1250" dirty="0"/>
          </a:p>
        </p:txBody>
      </p:sp>
      <p:sp>
        <p:nvSpPr>
          <p:cNvPr id="6" name="Text 4"/>
          <p:cNvSpPr/>
          <p:nvPr/>
        </p:nvSpPr>
        <p:spPr>
          <a:xfrm>
            <a:off x="758952" y="1810512"/>
            <a:ext cx="4974336" cy="204825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Checkpoints from the SAME base model</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Fine-tunes on related but distinct data</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Several seeds of one recipe (model soup)</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Recovering general ability lost to specialization</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Combining an SFT model with an RL model</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Adjacent checkpoints from one training run</a:t>
            </a:r>
            <a:endParaRPr lang="en-US" sz="1150" dirty="0"/>
          </a:p>
        </p:txBody>
      </p:sp>
      <p:sp>
        <p:nvSpPr>
          <p:cNvPr id="7" name="Shape 5"/>
          <p:cNvSpPr/>
          <p:nvPr/>
        </p:nvSpPr>
        <p:spPr>
          <a:xfrm>
            <a:off x="6172200" y="1280160"/>
            <a:ext cx="5486400" cy="2743200"/>
          </a:xfrm>
          <a:prstGeom prst="roundRect">
            <a:avLst>
              <a:gd name="adj" fmla="val 233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MERGING TENDS TO DESTROY</a:t>
            </a:r>
            <a:endParaRPr lang="en-US" sz="1250" dirty="0"/>
          </a:p>
        </p:txBody>
      </p:sp>
      <p:sp>
        <p:nvSpPr>
          <p:cNvPr id="9" name="Text 7"/>
          <p:cNvSpPr/>
          <p:nvPr/>
        </p:nvSpPr>
        <p:spPr>
          <a:xfrm>
            <a:off x="6428232" y="1810512"/>
            <a:ext cx="4974336" cy="204825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Different base models — will not work at all</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Different architectures or tokenizers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Models with genuinely conflicting objectives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Very unequal quality — the weak one drags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Heavily-trained models far from the base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Anything where you skip evaluating the result</a:t>
            </a:r>
            <a:endParaRPr lang="en-US" sz="1150" dirty="0"/>
          </a:p>
        </p:txBody>
      </p:sp>
      <p:sp>
        <p:nvSpPr>
          <p:cNvPr id="10" name="Shape 8"/>
          <p:cNvSpPr/>
          <p:nvPr/>
        </p:nvSpPr>
        <p:spPr>
          <a:xfrm>
            <a:off x="502920" y="4251960"/>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Shape 9"/>
          <p:cNvSpPr/>
          <p:nvPr/>
        </p:nvSpPr>
        <p:spPr>
          <a:xfrm>
            <a:off x="502920" y="4251960"/>
            <a:ext cx="91440" cy="621792"/>
          </a:xfrm>
          <a:prstGeom prst="rect">
            <a:avLst/>
          </a:prstGeom>
          <a:solidFill>
            <a:srgbClr val="8FB573"/>
          </a:solidFill>
          <a:ln/>
        </p:spPr>
      </p:sp>
      <p:sp>
        <p:nvSpPr>
          <p:cNvPr id="12" name="Text 10"/>
          <p:cNvSpPr/>
          <p:nvPr/>
        </p:nvSpPr>
        <p:spPr>
          <a:xfrm>
            <a:off x="822960" y="4361688"/>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The sweep is the method</a:t>
            </a:r>
            <a:endParaRPr lang="en-US" sz="1250" dirty="0"/>
          </a:p>
        </p:txBody>
      </p:sp>
      <p:sp>
        <p:nvSpPr>
          <p:cNvPr id="13" name="Text 11"/>
          <p:cNvSpPr/>
          <p:nvPr/>
        </p:nvSpPr>
        <p:spPr>
          <a:xfrm>
            <a:off x="822960" y="4654296"/>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20 merges, 20 minutes</a:t>
            </a:r>
            <a:endParaRPr lang="en-US" sz="950" dirty="0"/>
          </a:p>
        </p:txBody>
      </p:sp>
      <p:sp>
        <p:nvSpPr>
          <p:cNvPr id="14" name="Text 12"/>
          <p:cNvSpPr/>
          <p:nvPr/>
        </p:nvSpPr>
        <p:spPr>
          <a:xfrm>
            <a:off x="3794760" y="4343400"/>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Merging is so cheap that brute-force search over methods and weights is the correct approach. Do not reason about it — measure it.</a:t>
            </a:r>
            <a:endParaRPr lang="en-US" sz="1180" dirty="0"/>
          </a:p>
        </p:txBody>
      </p:sp>
      <p:sp>
        <p:nvSpPr>
          <p:cNvPr id="15" name="Shape 13"/>
          <p:cNvSpPr/>
          <p:nvPr/>
        </p:nvSpPr>
        <p:spPr>
          <a:xfrm>
            <a:off x="502920" y="4965192"/>
            <a:ext cx="11155680" cy="621792"/>
          </a:xfrm>
          <a:prstGeom prst="roundRect">
            <a:avLst>
              <a:gd name="adj" fmla="val 10294"/>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6" name="Shape 14"/>
          <p:cNvSpPr/>
          <p:nvPr/>
        </p:nvSpPr>
        <p:spPr>
          <a:xfrm>
            <a:off x="502920" y="4965192"/>
            <a:ext cx="91440" cy="621792"/>
          </a:xfrm>
          <a:prstGeom prst="rect">
            <a:avLst/>
          </a:prstGeom>
          <a:solidFill>
            <a:srgbClr val="A8482A"/>
          </a:solidFill>
          <a:ln/>
        </p:spPr>
      </p:sp>
      <p:sp>
        <p:nvSpPr>
          <p:cNvPr id="17" name="Text 15"/>
          <p:cNvSpPr/>
          <p:nvPr/>
        </p:nvSpPr>
        <p:spPr>
          <a:xfrm>
            <a:off x="822960" y="5074920"/>
            <a:ext cx="274320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Merges can be worse</a:t>
            </a:r>
            <a:endParaRPr lang="en-US" sz="1250" dirty="0"/>
          </a:p>
        </p:txBody>
      </p:sp>
      <p:sp>
        <p:nvSpPr>
          <p:cNvPr id="18" name="Text 16"/>
          <p:cNvSpPr/>
          <p:nvPr/>
        </p:nvSpPr>
        <p:spPr>
          <a:xfrm>
            <a:off x="822960" y="5367528"/>
            <a:ext cx="274320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evaluate every one</a:t>
            </a:r>
            <a:endParaRPr lang="en-US" sz="950" dirty="0"/>
          </a:p>
        </p:txBody>
      </p:sp>
      <p:sp>
        <p:nvSpPr>
          <p:cNvPr id="19" name="Text 17"/>
          <p:cNvSpPr/>
          <p:nvPr/>
        </p:nvSpPr>
        <p:spPr>
          <a:xfrm>
            <a:off x="3794760" y="5056632"/>
            <a:ext cx="7863840" cy="438912"/>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There is no guarantee. A merge is a hypothesis, and your eval harness is how you test it.</a:t>
            </a:r>
            <a:endParaRPr lang="en-US" sz="1180" dirty="0"/>
          </a:p>
        </p:txBody>
      </p:sp>
      <p:sp>
        <p:nvSpPr>
          <p:cNvPr id="20" name="Text 1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161</a:t>
            </a:r>
            <a:endParaRPr lang="en-US" sz="9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MERGE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Merging — path and traps</a:t>
            </a:r>
            <a:endParaRPr lang="en-US" sz="2900" dirty="0"/>
          </a:p>
        </p:txBody>
      </p:sp>
      <p:sp>
        <p:nvSpPr>
          <p:cNvPr id="4" name="Shape 2"/>
          <p:cNvSpPr/>
          <p:nvPr/>
        </p:nvSpPr>
        <p:spPr>
          <a:xfrm>
            <a:off x="502920" y="1335024"/>
            <a:ext cx="292608" cy="292608"/>
          </a:xfrm>
          <a:prstGeom prst="ellipse">
            <a:avLst/>
          </a:prstGeom>
          <a:solidFill>
            <a:srgbClr val="8FB573"/>
          </a:solidFill>
          <a:ln/>
        </p:spPr>
      </p:sp>
      <p:sp>
        <p:nvSpPr>
          <p:cNvPr id="5" name="Text 3"/>
          <p:cNvSpPr/>
          <p:nvPr/>
        </p:nvSpPr>
        <p:spPr>
          <a:xfrm>
            <a:off x="50292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89611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PATH</a:t>
            </a:r>
            <a:endParaRPr lang="en-US" sz="1100" dirty="0"/>
          </a:p>
        </p:txBody>
      </p:sp>
      <p:sp>
        <p:nvSpPr>
          <p:cNvPr id="7" name="Text 5"/>
          <p:cNvSpPr/>
          <p:nvPr/>
        </p:nvSpPr>
        <p:spPr>
          <a:xfrm>
            <a:off x="502920" y="1755648"/>
            <a:ext cx="539496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Try linear 0.5/0.5 first — it is often enough</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Escalate to TIES or DARE-TIES for three or more models</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Sweep mixing weights; each merge costs seconds</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Scale a single task vector (0.6–1.3) to trade specialization against general ability</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Merge LoRA adapters directly rather than materializing full models</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Evaluate every merge with the same three-seed protocol</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Run it on the Mac — it is CPU work and needs RAM</a:t>
            </a:r>
            <a:endParaRPr lang="en-US" sz="1250" dirty="0"/>
          </a:p>
        </p:txBody>
      </p:sp>
      <p:sp>
        <p:nvSpPr>
          <p:cNvPr id="8" name="Shape 6"/>
          <p:cNvSpPr/>
          <p:nvPr/>
        </p:nvSpPr>
        <p:spPr>
          <a:xfrm>
            <a:off x="6309360" y="1335024"/>
            <a:ext cx="292608" cy="292608"/>
          </a:xfrm>
          <a:prstGeom prst="ellipse">
            <a:avLst/>
          </a:prstGeom>
          <a:solidFill>
            <a:srgbClr val="D98E32"/>
          </a:solidFill>
          <a:ln/>
        </p:spPr>
      </p:sp>
      <p:sp>
        <p:nvSpPr>
          <p:cNvPr id="9" name="Text 7"/>
          <p:cNvSpPr/>
          <p:nvPr/>
        </p:nvSpPr>
        <p:spPr>
          <a:xfrm>
            <a:off x="630936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670255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TRAPS</a:t>
            </a:r>
            <a:endParaRPr lang="en-US" sz="1100" dirty="0"/>
          </a:p>
        </p:txBody>
      </p:sp>
      <p:sp>
        <p:nvSpPr>
          <p:cNvPr id="11" name="Text 9"/>
          <p:cNvSpPr/>
          <p:nvPr/>
        </p:nvSpPr>
        <p:spPr>
          <a:xfrm>
            <a:off x="6309360" y="1755648"/>
            <a:ext cx="534924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Merging models with different bases: produces garbage, not a compromise</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Assuming a merge is always better — it frequently is not</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Skipping evaluation because 'it is just an average'</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Merging a strong model with a much weaker one at equal weight</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Storing merged full models: they are a pure function of adapter + base</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Sweeping methods but not weights — the ratio matters more than the method</a:t>
            </a:r>
            <a:endParaRPr lang="en-US" sz="1250" dirty="0"/>
          </a:p>
        </p:txBody>
      </p:sp>
      <p:sp>
        <p:nvSpPr>
          <p:cNvPr id="12" name="Shape 10"/>
          <p:cNvSpPr/>
          <p:nvPr/>
        </p:nvSpPr>
        <p:spPr>
          <a:xfrm>
            <a:off x="502920" y="5148072"/>
            <a:ext cx="11155680" cy="1051560"/>
          </a:xfrm>
          <a:prstGeom prst="roundRect">
            <a:avLst>
              <a:gd name="adj" fmla="val 6087"/>
            </a:avLst>
          </a:prstGeom>
          <a:solidFill>
            <a:srgbClr val="1F3D2E"/>
          </a:solidFill>
          <a:ln/>
        </p:spPr>
      </p:sp>
      <p:sp>
        <p:nvSpPr>
          <p:cNvPr id="13" name="Shape 11"/>
          <p:cNvSpPr/>
          <p:nvPr/>
        </p:nvSpPr>
        <p:spPr>
          <a:xfrm>
            <a:off x="740664" y="5330952"/>
            <a:ext cx="292608" cy="292608"/>
          </a:xfrm>
          <a:prstGeom prst="ellipse">
            <a:avLst/>
          </a:prstGeom>
          <a:solidFill>
            <a:srgbClr val="1F3D2E"/>
          </a:solidFill>
          <a:ln/>
        </p:spPr>
      </p:sp>
      <p:sp>
        <p:nvSpPr>
          <p:cNvPr id="14" name="Text 12"/>
          <p:cNvSpPr/>
          <p:nvPr/>
        </p:nvSpPr>
        <p:spPr>
          <a:xfrm>
            <a:off x="740664" y="5330952"/>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349240"/>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724144"/>
            <a:ext cx="10680192" cy="3017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Merging is the closest thing to a free lunch in this entire curriculum. Zero GPU-hours, minutes of wall clock, and a genuine chance of a point or two. The only reason to skip it is not knowing it exists.</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162</a:t>
            </a:r>
            <a:endParaRPr lang="en-US" sz="9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PHASE 12</a:t>
            </a:r>
            <a:endParaRPr lang="en-US" sz="1250" dirty="0"/>
          </a:p>
        </p:txBody>
      </p:sp>
      <p:sp>
        <p:nvSpPr>
          <p:cNvPr id="3" name="Text 1"/>
          <p:cNvSpPr/>
          <p:nvPr/>
        </p:nvSpPr>
        <p:spPr>
          <a:xfrm>
            <a:off x="777240" y="23317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Quantize, Serve, Ship</a:t>
            </a:r>
            <a:endParaRPr lang="en-US" sz="4000" dirty="0"/>
          </a:p>
        </p:txBody>
      </p:sp>
      <p:sp>
        <p:nvSpPr>
          <p:cNvPr id="4" name="Text 2"/>
          <p:cNvSpPr/>
          <p:nvPr/>
        </p:nvSpPr>
        <p:spPr>
          <a:xfrm>
            <a:off x="777240" y="32004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One week. The model leaves your training loop and starts running on-device —</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no API cost, no data leaving the machine, works on a plane.</a:t>
            </a:r>
            <a:endParaRPr lang="en-US" sz="1550" dirty="0"/>
          </a:p>
        </p:txBody>
      </p:sp>
      <p:sp>
        <p:nvSpPr>
          <p:cNvPr id="5" name="Text 3"/>
          <p:cNvSpPr/>
          <p:nvPr/>
        </p:nvSpPr>
        <p:spPr>
          <a:xfrm>
            <a:off x="777240" y="4892040"/>
            <a:ext cx="10607040" cy="237744"/>
          </a:xfrm>
          <a:prstGeom prst="rect">
            <a:avLst/>
          </a:prstGeom>
          <a:noFill/>
          <a:ln/>
        </p:spPr>
        <p:txBody>
          <a:bodyPr wrap="square" lIns="0" tIns="0" rIns="0" bIns="0" rtlCol="0" anchor="ctr"/>
          <a:lstStyle/>
          <a:p>
            <a:pPr indent="0" marL="0">
              <a:buNone/>
            </a:pPr>
            <a:r>
              <a:rPr lang="en-US" sz="900" b="1" spc="250" kern="0" dirty="0">
                <a:solidFill>
                  <a:srgbClr val="2A5240"/>
                </a:solidFill>
                <a:latin typeface="Calibri" pitchFamily="34" charset="0"/>
                <a:ea typeface="Calibri" pitchFamily="34" charset="-122"/>
                <a:cs typeface="Calibri" pitchFamily="34" charset="-120"/>
              </a:rPr>
              <a:t>WHERE YOU ARE</a:t>
            </a:r>
            <a:endParaRPr lang="en-US" sz="900" dirty="0"/>
          </a:p>
        </p:txBody>
      </p:sp>
      <p:sp>
        <p:nvSpPr>
          <p:cNvPr id="6" name="Shape 4"/>
          <p:cNvSpPr/>
          <p:nvPr/>
        </p:nvSpPr>
        <p:spPr>
          <a:xfrm>
            <a:off x="777240" y="5212080"/>
            <a:ext cx="829056" cy="73152"/>
          </a:xfrm>
          <a:prstGeom prst="rect">
            <a:avLst/>
          </a:prstGeom>
          <a:solidFill>
            <a:srgbClr val="2A5240"/>
          </a:solidFill>
          <a:ln/>
        </p:spPr>
      </p:sp>
      <p:sp>
        <p:nvSpPr>
          <p:cNvPr id="7" name="Text 5"/>
          <p:cNvSpPr/>
          <p:nvPr/>
        </p:nvSpPr>
        <p:spPr>
          <a:xfrm>
            <a:off x="6858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SETUP</a:t>
            </a:r>
            <a:endParaRPr lang="en-US" sz="750" dirty="0"/>
          </a:p>
        </p:txBody>
      </p:sp>
      <p:sp>
        <p:nvSpPr>
          <p:cNvPr id="8" name="Shape 6"/>
          <p:cNvSpPr/>
          <p:nvPr/>
        </p:nvSpPr>
        <p:spPr>
          <a:xfrm>
            <a:off x="1661160" y="5212080"/>
            <a:ext cx="829056" cy="73152"/>
          </a:xfrm>
          <a:prstGeom prst="rect">
            <a:avLst/>
          </a:prstGeom>
          <a:solidFill>
            <a:srgbClr val="2A5240"/>
          </a:solidFill>
          <a:ln/>
        </p:spPr>
      </p:sp>
      <p:sp>
        <p:nvSpPr>
          <p:cNvPr id="9" name="Text 7"/>
          <p:cNvSpPr/>
          <p:nvPr/>
        </p:nvSpPr>
        <p:spPr>
          <a:xfrm>
            <a:off x="15697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MODEL</a:t>
            </a:r>
            <a:endParaRPr lang="en-US" sz="750" dirty="0"/>
          </a:p>
        </p:txBody>
      </p:sp>
      <p:sp>
        <p:nvSpPr>
          <p:cNvPr id="10" name="Shape 8"/>
          <p:cNvSpPr/>
          <p:nvPr/>
        </p:nvSpPr>
        <p:spPr>
          <a:xfrm>
            <a:off x="2545080" y="5212080"/>
            <a:ext cx="829056" cy="73152"/>
          </a:xfrm>
          <a:prstGeom prst="rect">
            <a:avLst/>
          </a:prstGeom>
          <a:solidFill>
            <a:srgbClr val="2A5240"/>
          </a:solidFill>
          <a:ln/>
        </p:spPr>
      </p:sp>
      <p:sp>
        <p:nvSpPr>
          <p:cNvPr id="11" name="Text 9"/>
          <p:cNvSpPr/>
          <p:nvPr/>
        </p:nvSpPr>
        <p:spPr>
          <a:xfrm>
            <a:off x="24536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SANDBOX</a:t>
            </a:r>
            <a:endParaRPr lang="en-US" sz="750" dirty="0"/>
          </a:p>
        </p:txBody>
      </p:sp>
      <p:sp>
        <p:nvSpPr>
          <p:cNvPr id="12" name="Shape 10"/>
          <p:cNvSpPr/>
          <p:nvPr/>
        </p:nvSpPr>
        <p:spPr>
          <a:xfrm>
            <a:off x="3429000" y="5212080"/>
            <a:ext cx="829056" cy="73152"/>
          </a:xfrm>
          <a:prstGeom prst="rect">
            <a:avLst/>
          </a:prstGeom>
          <a:solidFill>
            <a:srgbClr val="2A5240"/>
          </a:solidFill>
          <a:ln/>
        </p:spPr>
      </p:sp>
      <p:sp>
        <p:nvSpPr>
          <p:cNvPr id="13" name="Text 11"/>
          <p:cNvSpPr/>
          <p:nvPr/>
        </p:nvSpPr>
        <p:spPr>
          <a:xfrm>
            <a:off x="333756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EVAL</a:t>
            </a:r>
            <a:endParaRPr lang="en-US" sz="750" dirty="0"/>
          </a:p>
        </p:txBody>
      </p:sp>
      <p:sp>
        <p:nvSpPr>
          <p:cNvPr id="14" name="Shape 12"/>
          <p:cNvSpPr/>
          <p:nvPr/>
        </p:nvSpPr>
        <p:spPr>
          <a:xfrm>
            <a:off x="4312920" y="5212080"/>
            <a:ext cx="829056" cy="73152"/>
          </a:xfrm>
          <a:prstGeom prst="rect">
            <a:avLst/>
          </a:prstGeom>
          <a:solidFill>
            <a:srgbClr val="2A5240"/>
          </a:solidFill>
          <a:ln/>
        </p:spPr>
      </p:sp>
      <p:sp>
        <p:nvSpPr>
          <p:cNvPr id="15" name="Text 13"/>
          <p:cNvSpPr/>
          <p:nvPr/>
        </p:nvSpPr>
        <p:spPr>
          <a:xfrm>
            <a:off x="422148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DATA</a:t>
            </a:r>
            <a:endParaRPr lang="en-US" sz="750" dirty="0"/>
          </a:p>
        </p:txBody>
      </p:sp>
      <p:sp>
        <p:nvSpPr>
          <p:cNvPr id="16" name="Shape 14"/>
          <p:cNvSpPr/>
          <p:nvPr/>
        </p:nvSpPr>
        <p:spPr>
          <a:xfrm>
            <a:off x="5196840" y="5212080"/>
            <a:ext cx="829056" cy="73152"/>
          </a:xfrm>
          <a:prstGeom prst="rect">
            <a:avLst/>
          </a:prstGeom>
          <a:solidFill>
            <a:srgbClr val="2A5240"/>
          </a:solidFill>
          <a:ln/>
        </p:spPr>
      </p:sp>
      <p:sp>
        <p:nvSpPr>
          <p:cNvPr id="17" name="Text 15"/>
          <p:cNvSpPr/>
          <p:nvPr/>
        </p:nvSpPr>
        <p:spPr>
          <a:xfrm>
            <a:off x="51054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SFT</a:t>
            </a:r>
            <a:endParaRPr lang="en-US" sz="750" dirty="0"/>
          </a:p>
        </p:txBody>
      </p:sp>
      <p:sp>
        <p:nvSpPr>
          <p:cNvPr id="18" name="Shape 16"/>
          <p:cNvSpPr/>
          <p:nvPr/>
        </p:nvSpPr>
        <p:spPr>
          <a:xfrm>
            <a:off x="6080760" y="5212080"/>
            <a:ext cx="829056" cy="73152"/>
          </a:xfrm>
          <a:prstGeom prst="rect">
            <a:avLst/>
          </a:prstGeom>
          <a:solidFill>
            <a:srgbClr val="2A5240"/>
          </a:solidFill>
          <a:ln/>
        </p:spPr>
      </p:sp>
      <p:sp>
        <p:nvSpPr>
          <p:cNvPr id="19" name="Text 17"/>
          <p:cNvSpPr/>
          <p:nvPr/>
        </p:nvSpPr>
        <p:spPr>
          <a:xfrm>
            <a:off x="59893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RFT</a:t>
            </a:r>
            <a:endParaRPr lang="en-US" sz="750" dirty="0"/>
          </a:p>
        </p:txBody>
      </p:sp>
      <p:sp>
        <p:nvSpPr>
          <p:cNvPr id="20" name="Shape 18"/>
          <p:cNvSpPr/>
          <p:nvPr/>
        </p:nvSpPr>
        <p:spPr>
          <a:xfrm>
            <a:off x="6964680" y="5212080"/>
            <a:ext cx="829056" cy="73152"/>
          </a:xfrm>
          <a:prstGeom prst="rect">
            <a:avLst/>
          </a:prstGeom>
          <a:solidFill>
            <a:srgbClr val="2A5240"/>
          </a:solidFill>
          <a:ln/>
        </p:spPr>
      </p:sp>
      <p:sp>
        <p:nvSpPr>
          <p:cNvPr id="21" name="Text 19"/>
          <p:cNvSpPr/>
          <p:nvPr/>
        </p:nvSpPr>
        <p:spPr>
          <a:xfrm>
            <a:off x="68732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DPO</a:t>
            </a:r>
            <a:endParaRPr lang="en-US" sz="750" dirty="0"/>
          </a:p>
        </p:txBody>
      </p:sp>
      <p:sp>
        <p:nvSpPr>
          <p:cNvPr id="22" name="Shape 20"/>
          <p:cNvSpPr/>
          <p:nvPr/>
        </p:nvSpPr>
        <p:spPr>
          <a:xfrm>
            <a:off x="7848600" y="5212080"/>
            <a:ext cx="829056" cy="73152"/>
          </a:xfrm>
          <a:prstGeom prst="rect">
            <a:avLst/>
          </a:prstGeom>
          <a:solidFill>
            <a:srgbClr val="2A5240"/>
          </a:solidFill>
          <a:ln/>
        </p:spPr>
      </p:sp>
      <p:sp>
        <p:nvSpPr>
          <p:cNvPr id="23" name="Text 21"/>
          <p:cNvSpPr/>
          <p:nvPr/>
        </p:nvSpPr>
        <p:spPr>
          <a:xfrm>
            <a:off x="775716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GRPO</a:t>
            </a:r>
            <a:endParaRPr lang="en-US" sz="750" dirty="0"/>
          </a:p>
        </p:txBody>
      </p:sp>
      <p:sp>
        <p:nvSpPr>
          <p:cNvPr id="24" name="Shape 22"/>
          <p:cNvSpPr/>
          <p:nvPr/>
        </p:nvSpPr>
        <p:spPr>
          <a:xfrm>
            <a:off x="8732520" y="5212080"/>
            <a:ext cx="829056" cy="73152"/>
          </a:xfrm>
          <a:prstGeom prst="rect">
            <a:avLst/>
          </a:prstGeom>
          <a:solidFill>
            <a:srgbClr val="2A5240"/>
          </a:solidFill>
          <a:ln/>
        </p:spPr>
      </p:sp>
      <p:sp>
        <p:nvSpPr>
          <p:cNvPr id="25" name="Text 23"/>
          <p:cNvSpPr/>
          <p:nvPr/>
        </p:nvSpPr>
        <p:spPr>
          <a:xfrm>
            <a:off x="864108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REPAIR</a:t>
            </a:r>
            <a:endParaRPr lang="en-US" sz="750" dirty="0"/>
          </a:p>
        </p:txBody>
      </p:sp>
      <p:sp>
        <p:nvSpPr>
          <p:cNvPr id="26" name="Shape 24"/>
          <p:cNvSpPr/>
          <p:nvPr/>
        </p:nvSpPr>
        <p:spPr>
          <a:xfrm>
            <a:off x="9616440" y="5212080"/>
            <a:ext cx="829056" cy="73152"/>
          </a:xfrm>
          <a:prstGeom prst="rect">
            <a:avLst/>
          </a:prstGeom>
          <a:solidFill>
            <a:srgbClr val="2A5240"/>
          </a:solidFill>
          <a:ln/>
        </p:spPr>
      </p:sp>
      <p:sp>
        <p:nvSpPr>
          <p:cNvPr id="27" name="Text 25"/>
          <p:cNvSpPr/>
          <p:nvPr/>
        </p:nvSpPr>
        <p:spPr>
          <a:xfrm>
            <a:off x="95250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MERGE</a:t>
            </a:r>
            <a:endParaRPr lang="en-US" sz="750" dirty="0"/>
          </a:p>
        </p:txBody>
      </p:sp>
      <p:sp>
        <p:nvSpPr>
          <p:cNvPr id="28" name="Shape 26"/>
          <p:cNvSpPr/>
          <p:nvPr/>
        </p:nvSpPr>
        <p:spPr>
          <a:xfrm>
            <a:off x="10500360" y="5212080"/>
            <a:ext cx="829056" cy="182880"/>
          </a:xfrm>
          <a:prstGeom prst="rect">
            <a:avLst/>
          </a:prstGeom>
          <a:solidFill>
            <a:srgbClr val="8FB573"/>
          </a:solidFill>
          <a:ln/>
        </p:spPr>
      </p:sp>
      <p:sp>
        <p:nvSpPr>
          <p:cNvPr id="29" name="Text 27"/>
          <p:cNvSpPr/>
          <p:nvPr/>
        </p:nvSpPr>
        <p:spPr>
          <a:xfrm>
            <a:off x="10408920" y="5468112"/>
            <a:ext cx="1011936" cy="219456"/>
          </a:xfrm>
          <a:prstGeom prst="rect">
            <a:avLst/>
          </a:prstGeom>
          <a:noFill/>
          <a:ln/>
        </p:spPr>
        <p:txBody>
          <a:bodyPr wrap="square" lIns="0" tIns="0" rIns="0" bIns="0" rtlCol="0" anchor="ctr"/>
          <a:lstStyle/>
          <a:p>
            <a:pPr algn="ctr" indent="0" marL="0">
              <a:buNone/>
            </a:pPr>
            <a:r>
              <a:rPr lang="en-US" sz="750" b="1" dirty="0">
                <a:solidFill>
                  <a:srgbClr val="8FB573"/>
                </a:solidFill>
                <a:latin typeface="Calibri" pitchFamily="34" charset="0"/>
                <a:ea typeface="Calibri" pitchFamily="34" charset="-122"/>
                <a:cs typeface="Calibri" pitchFamily="34" charset="-120"/>
              </a:rPr>
              <a:t>SERVE</a:t>
            </a:r>
            <a:endParaRPr lang="en-US" sz="7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163</a:t>
            </a:r>
            <a:endParaRPr lang="en-US" sz="95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SERVE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Quantization — what actually gets quantized</a:t>
            </a:r>
            <a:endParaRPr lang="en-US" sz="2900" dirty="0"/>
          </a:p>
        </p:txBody>
      </p:sp>
      <p:sp>
        <p:nvSpPr>
          <p:cNvPr id="4" name="Text 2"/>
          <p:cNvSpPr/>
          <p:nvPr/>
        </p:nvSpPr>
        <p:spPr>
          <a:xfrm>
            <a:off x="502920" y="1280160"/>
            <a:ext cx="11155680" cy="640080"/>
          </a:xfrm>
          <a:prstGeom prst="rect">
            <a:avLst/>
          </a:prstGeom>
          <a:noFill/>
          <a:ln/>
        </p:spPr>
        <p:txBody>
          <a:bodyPr wrap="square" lIns="0" tIns="0" rIns="0" bIns="0" rtlCol="0" anchor="t"/>
          <a:lstStyle/>
          <a:p>
            <a:pPr indent="0" marL="0">
              <a:buNone/>
            </a:pPr>
            <a:r>
              <a:rPr lang="en-US" sz="1350" dirty="0">
                <a:solidFill>
                  <a:srgbClr val="16211B"/>
                </a:solidFill>
                <a:latin typeface="Calibri" pitchFamily="34" charset="0"/>
                <a:ea typeface="Calibri" pitchFamily="34" charset="-122"/>
                <a:cs typeface="Calibri" pitchFamily="34" charset="-120"/>
              </a:rPr>
              <a:t>You already used quantization for TRAINING (QLoRA's NF4). Serving quantization is a different problem: there, the goal was fitting in memory during backprop. Here, the goal is inference speed and footprint, and you can afford calibration.</a:t>
            </a:r>
            <a:endParaRPr lang="en-US" sz="1350" dirty="0"/>
          </a:p>
        </p:txBody>
      </p:sp>
      <p:graphicFrame>
        <p:nvGraphicFramePr>
          <p:cNvPr id="165"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11155680" cy="914400"/>
        </p:xfrm>
        <a:graphic>
          <a:graphicData uri="http://schemas.openxmlformats.org/drawingml/2006/table">
            <a:tbl>
              <a:tblPr/>
              <a:tblGrid>
                <a:gridCol w="2651760"/>
                <a:gridCol w="1188720"/>
                <a:gridCol w="4206240"/>
                <a:gridCol w="310896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Format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Bits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Method</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Best for</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bf16 / fp16</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No quantization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Baseline quality reference. 2 bytes/param.</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GPTQ</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4 / 3</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Post-training, layer-wise, calibration set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GPU serving, mature tooling</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AWQ</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Activation-aware — protects salient weights</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GPU serving, often better than GPTQ at 4-bit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bitsandbytes NF4</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On-the-fly, no calibration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Convenience; what QLoRA uses. Slower inference.</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GGUF (llama.cpp)</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K-quants, many variants (Q4_K_M etc.)</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CPU + Metal. The portable format.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MLX 4-bit</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Apple-native quantization</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100" dirty="0">
                          <a:solidFill>
                            <a:srgbClr val="16211B"/>
                          </a:solidFill>
                          <a:latin typeface="Calibri" pitchFamily="34" charset="0"/>
                          <a:ea typeface="Calibri" pitchFamily="34" charset="-122"/>
                          <a:cs typeface="Calibri" pitchFamily="34" charset="-120"/>
                        </a:rPr>
                        <a:t>Your Mac. Fast, simple, Apple-only.</a:t>
                      </a:r>
                      <a:endParaRPr lang="en-US" sz="11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4754880"/>
            <a:ext cx="3621024"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7" name="Text 4"/>
          <p:cNvSpPr/>
          <p:nvPr/>
        </p:nvSpPr>
        <p:spPr>
          <a:xfrm>
            <a:off x="722376" y="490118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Merge the adapter first</a:t>
            </a:r>
            <a:endParaRPr lang="en-US" sz="1250" dirty="0"/>
          </a:p>
        </p:txBody>
      </p:sp>
      <p:sp>
        <p:nvSpPr>
          <p:cNvPr id="8" name="Text 5"/>
          <p:cNvSpPr/>
          <p:nvPr/>
        </p:nvSpPr>
        <p:spPr>
          <a:xfrm>
            <a:off x="722376" y="5212080"/>
            <a:ext cx="3182112"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Quantizing a base + separate adapter is awkward. Merge to a full model, THEN quantize. The merged model is regenerable, so this is not permanent storage.</a:t>
            </a:r>
            <a:endParaRPr lang="en-US" sz="1100" dirty="0"/>
          </a:p>
        </p:txBody>
      </p:sp>
      <p:sp>
        <p:nvSpPr>
          <p:cNvPr id="9" name="Shape 6"/>
          <p:cNvSpPr/>
          <p:nvPr/>
        </p:nvSpPr>
        <p:spPr>
          <a:xfrm>
            <a:off x="4270248" y="4754880"/>
            <a:ext cx="3621024"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Text 7"/>
          <p:cNvSpPr/>
          <p:nvPr/>
        </p:nvSpPr>
        <p:spPr>
          <a:xfrm>
            <a:off x="4489704" y="4901184"/>
            <a:ext cx="3182112"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4-bit is the practical floor</a:t>
            </a:r>
            <a:endParaRPr lang="en-US" sz="1250" dirty="0"/>
          </a:p>
        </p:txBody>
      </p:sp>
      <p:sp>
        <p:nvSpPr>
          <p:cNvPr id="11" name="Text 8"/>
          <p:cNvSpPr/>
          <p:nvPr/>
        </p:nvSpPr>
        <p:spPr>
          <a:xfrm>
            <a:off x="4489704" y="5212080"/>
            <a:ext cx="3182112"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Below 4-bit, quality degrades sharply on small models. A 0.5B model has less redundancy to spare than a 70B.</a:t>
            </a:r>
            <a:endParaRPr lang="en-US" sz="1100" dirty="0"/>
          </a:p>
        </p:txBody>
      </p:sp>
      <p:sp>
        <p:nvSpPr>
          <p:cNvPr id="12" name="Shape 9"/>
          <p:cNvSpPr/>
          <p:nvPr/>
        </p:nvSpPr>
        <p:spPr>
          <a:xfrm>
            <a:off x="8037576" y="4754880"/>
            <a:ext cx="3621024" cy="1234440"/>
          </a:xfrm>
          <a:prstGeom prst="roundRect">
            <a:avLst>
              <a:gd name="adj" fmla="val 518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Text 10"/>
          <p:cNvSpPr/>
          <p:nvPr/>
        </p:nvSpPr>
        <p:spPr>
          <a:xfrm>
            <a:off x="8257032" y="490118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Q4_K_M is the GGUF default</a:t>
            </a:r>
            <a:endParaRPr lang="en-US" sz="1250" dirty="0"/>
          </a:p>
        </p:txBody>
      </p:sp>
      <p:sp>
        <p:nvSpPr>
          <p:cNvPr id="14" name="Text 11"/>
          <p:cNvSpPr/>
          <p:nvPr/>
        </p:nvSpPr>
        <p:spPr>
          <a:xfrm>
            <a:off x="8257032" y="5212080"/>
            <a:ext cx="3182112" cy="63093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Mixed precision per tensor type. Good quality-size tradeoff. Start there and compare against Q5_K_M and Q8_0.</a:t>
            </a:r>
            <a:endParaRPr lang="en-US" sz="1100" dirty="0"/>
          </a:p>
        </p:txBody>
      </p:sp>
      <p:sp>
        <p:nvSpPr>
          <p:cNvPr id="15" name="Text 1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164</a:t>
            </a:r>
            <a:endParaRPr lang="en-US" sz="9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SERVE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Measure the quality/speed curve on YOUR eval</a:t>
            </a:r>
            <a:endParaRPr lang="en-US" sz="2900" dirty="0"/>
          </a:p>
        </p:txBody>
      </p:sp>
      <p:graphicFrame>
        <p:nvGraphicFramePr>
          <p:cNvPr id="4" name="Chart 0" descr=""/>
          <p:cNvGraphicFramePr/>
          <p:nvPr/>
        </p:nvGraphicFramePr>
        <p:xfrm>
          <a:off x="502920" y="1280160"/>
          <a:ext cx="658368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269480" y="1280160"/>
            <a:ext cx="438912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7488936" y="1426464"/>
            <a:ext cx="395020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The cliff is real and model-specific</a:t>
            </a:r>
            <a:endParaRPr lang="en-US" sz="1250" dirty="0"/>
          </a:p>
        </p:txBody>
      </p:sp>
      <p:sp>
        <p:nvSpPr>
          <p:cNvPr id="7" name="Text 4"/>
          <p:cNvSpPr/>
          <p:nvPr/>
        </p:nvSpPr>
        <p:spPr>
          <a:xfrm>
            <a:off x="7488936" y="1737360"/>
            <a:ext cx="395020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Q4 costs about 1.5 points here. Q3 costs 5. Q2 is unusable. WHERE the cliff falls depends on your model and your task — measure it.</a:t>
            </a:r>
            <a:endParaRPr lang="en-US" sz="1100" dirty="0"/>
          </a:p>
        </p:txBody>
      </p:sp>
      <p:sp>
        <p:nvSpPr>
          <p:cNvPr id="8" name="Shape 5"/>
          <p:cNvSpPr/>
          <p:nvPr/>
        </p:nvSpPr>
        <p:spPr>
          <a:xfrm>
            <a:off x="7269480" y="2157984"/>
            <a:ext cx="438912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7488936" y="2304288"/>
            <a:ext cx="395020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Small models degrade faster</a:t>
            </a:r>
            <a:endParaRPr lang="en-US" sz="1250" dirty="0"/>
          </a:p>
        </p:txBody>
      </p:sp>
      <p:sp>
        <p:nvSpPr>
          <p:cNvPr id="10" name="Text 7"/>
          <p:cNvSpPr/>
          <p:nvPr/>
        </p:nvSpPr>
        <p:spPr>
          <a:xfrm>
            <a:off x="7488936" y="2615184"/>
            <a:ext cx="395020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A 70B model shrugs off Q4. A 0.5B model has far less parameter redundancy and feels it much more.</a:t>
            </a:r>
            <a:endParaRPr lang="en-US" sz="1100" dirty="0"/>
          </a:p>
        </p:txBody>
      </p:sp>
      <p:sp>
        <p:nvSpPr>
          <p:cNvPr id="11" name="Shape 8"/>
          <p:cNvSpPr/>
          <p:nvPr/>
        </p:nvSpPr>
        <p:spPr>
          <a:xfrm>
            <a:off x="7269480" y="3035808"/>
            <a:ext cx="438912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7488936" y="3182112"/>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Never trust a generic curve</a:t>
            </a:r>
            <a:endParaRPr lang="en-US" sz="1250" dirty="0"/>
          </a:p>
        </p:txBody>
      </p:sp>
      <p:sp>
        <p:nvSpPr>
          <p:cNvPr id="13" name="Text 10"/>
          <p:cNvSpPr/>
          <p:nvPr/>
        </p:nvSpPr>
        <p:spPr>
          <a:xfrm>
            <a:off x="7488936" y="3493008"/>
            <a:ext cx="395020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Published quantization benchmarks use different models and tasks. Run your own harness on each quantized artifact.</a:t>
            </a:r>
            <a:endParaRPr lang="en-US" sz="1100" dirty="0"/>
          </a:p>
        </p:txBody>
      </p:sp>
      <p:sp>
        <p:nvSpPr>
          <p:cNvPr id="14" name="Shape 11"/>
          <p:cNvSpPr/>
          <p:nvPr/>
        </p:nvSpPr>
        <p:spPr>
          <a:xfrm>
            <a:off x="7269480" y="3913632"/>
            <a:ext cx="438912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Text 12"/>
          <p:cNvSpPr/>
          <p:nvPr/>
        </p:nvSpPr>
        <p:spPr>
          <a:xfrm>
            <a:off x="7488936" y="4059936"/>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Size matters for shipping</a:t>
            </a:r>
            <a:endParaRPr lang="en-US" sz="1250" dirty="0"/>
          </a:p>
        </p:txBody>
      </p:sp>
      <p:sp>
        <p:nvSpPr>
          <p:cNvPr id="16" name="Text 13"/>
          <p:cNvSpPr/>
          <p:nvPr/>
        </p:nvSpPr>
        <p:spPr>
          <a:xfrm>
            <a:off x="7488936" y="4370832"/>
            <a:ext cx="395020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0.5B at Q4_K_M is roughly 400MB. That fits anywhere — phone, browser, embedded. This is the point of the whole exercise.</a:t>
            </a:r>
            <a:endParaRPr lang="en-US" sz="1100" dirty="0"/>
          </a:p>
        </p:txBody>
      </p:sp>
      <p:sp>
        <p:nvSpPr>
          <p:cNvPr id="17" name="Text 1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165</a:t>
            </a:r>
            <a:endParaRPr lang="en-US" sz="95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SERVE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GGUF and llama.cpp — the portable path</a:t>
            </a:r>
            <a:endParaRPr lang="en-US" sz="2900" dirty="0"/>
          </a:p>
        </p:txBody>
      </p:sp>
      <p:sp>
        <p:nvSpPr>
          <p:cNvPr id="4" name="Shape 2"/>
          <p:cNvSpPr/>
          <p:nvPr/>
        </p:nvSpPr>
        <p:spPr>
          <a:xfrm>
            <a:off x="502920" y="1280160"/>
            <a:ext cx="6583680" cy="3200400"/>
          </a:xfrm>
          <a:prstGeom prst="roundRect">
            <a:avLst>
              <a:gd name="adj" fmla="val 1714"/>
            </a:avLst>
          </a:prstGeom>
          <a:solidFill>
            <a:srgbClr val="0F1F17"/>
          </a:solidFill>
          <a:ln/>
        </p:spPr>
      </p:sp>
      <p:sp>
        <p:nvSpPr>
          <p:cNvPr id="5" name="Text 3"/>
          <p:cNvSpPr/>
          <p:nvPr/>
        </p:nvSpPr>
        <p:spPr>
          <a:xfrm>
            <a:off x="722376" y="1426464"/>
            <a:ext cx="614476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THE GGUF PIPELINE</a:t>
            </a:r>
            <a:endParaRPr lang="en-US" sz="950" dirty="0"/>
          </a:p>
        </p:txBody>
      </p:sp>
      <p:sp>
        <p:nvSpPr>
          <p:cNvPr id="6" name="Text 4"/>
          <p:cNvSpPr/>
          <p:nvPr/>
        </p:nvSpPr>
        <p:spPr>
          <a:xfrm>
            <a:off x="722376" y="1700784"/>
            <a:ext cx="6144768" cy="263347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1. Merge the LoRA adapter into the base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python -m peft.utils.merge_adapter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--base Qwen/Qwen2.5-Coder-0.5B-Instruct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--adapter ckpt/11-merged --out models/ultron-fp16</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2. Convert to GGUF</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python llama.cpp/convert_hf_to_gguf.py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models/ultron-fp16 --outfile ultron-f16.gguf</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3. Quantize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llama-quantize ultron-f16.gguf ultron-q4km.gguf Q4_K_M</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4. Serve — OpenAI-compatible endpoint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llama-server -m ultron-q4km.gguf --port 8080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-c 4096 -ngl 99        # -ngl = layers on GPU/Metal</a:t>
            </a:r>
            <a:endParaRPr lang="en-US" sz="1000" dirty="0"/>
          </a:p>
        </p:txBody>
      </p:sp>
      <p:sp>
        <p:nvSpPr>
          <p:cNvPr id="7" name="Shape 5"/>
          <p:cNvSpPr/>
          <p:nvPr/>
        </p:nvSpPr>
        <p:spPr>
          <a:xfrm>
            <a:off x="7269480" y="1280160"/>
            <a:ext cx="4389120" cy="749808"/>
          </a:xfrm>
          <a:prstGeom prst="roundRect">
            <a:avLst>
              <a:gd name="adj" fmla="val 853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7488936" y="1426464"/>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One artifact, everywhere</a:t>
            </a:r>
            <a:endParaRPr lang="en-US" sz="1250" dirty="0"/>
          </a:p>
        </p:txBody>
      </p:sp>
      <p:sp>
        <p:nvSpPr>
          <p:cNvPr id="9" name="Text 7"/>
          <p:cNvSpPr/>
          <p:nvPr/>
        </p:nvSpPr>
        <p:spPr>
          <a:xfrm>
            <a:off x="7488936" y="1737360"/>
            <a:ext cx="3950208" cy="14630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same .gguf runs on your Mac via Metal, on the Asus via CUDA, on a Raspberry Pi via CPU. This portability is why GGUF won.</a:t>
            </a:r>
            <a:endParaRPr lang="en-US" sz="1100" dirty="0"/>
          </a:p>
        </p:txBody>
      </p:sp>
      <p:sp>
        <p:nvSpPr>
          <p:cNvPr id="10" name="Shape 8"/>
          <p:cNvSpPr/>
          <p:nvPr/>
        </p:nvSpPr>
        <p:spPr>
          <a:xfrm>
            <a:off x="7269480" y="2121408"/>
            <a:ext cx="4389120" cy="749808"/>
          </a:xfrm>
          <a:prstGeom prst="roundRect">
            <a:avLst>
              <a:gd name="adj" fmla="val 853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7488936" y="2267712"/>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OpenAI-compatible API</a:t>
            </a:r>
            <a:endParaRPr lang="en-US" sz="1250" dirty="0"/>
          </a:p>
        </p:txBody>
      </p:sp>
      <p:sp>
        <p:nvSpPr>
          <p:cNvPr id="12" name="Text 10"/>
          <p:cNvSpPr/>
          <p:nvPr/>
        </p:nvSpPr>
        <p:spPr>
          <a:xfrm>
            <a:off x="7488936" y="2578608"/>
            <a:ext cx="3950208" cy="14630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llama-server exposes /v1/chat/completions. Every tool that speaks the OpenAI API now speaks to your model, unchanged.</a:t>
            </a:r>
            <a:endParaRPr lang="en-US" sz="1100" dirty="0"/>
          </a:p>
        </p:txBody>
      </p:sp>
      <p:sp>
        <p:nvSpPr>
          <p:cNvPr id="13" name="Shape 11"/>
          <p:cNvSpPr/>
          <p:nvPr/>
        </p:nvSpPr>
        <p:spPr>
          <a:xfrm>
            <a:off x="7269480" y="2962656"/>
            <a:ext cx="4389120" cy="749808"/>
          </a:xfrm>
          <a:prstGeom prst="roundRect">
            <a:avLst>
              <a:gd name="adj" fmla="val 853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488936" y="3108960"/>
            <a:ext cx="3950208" cy="292608"/>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-ngl is the key flag</a:t>
            </a:r>
            <a:endParaRPr lang="en-US" sz="1250" dirty="0"/>
          </a:p>
        </p:txBody>
      </p:sp>
      <p:sp>
        <p:nvSpPr>
          <p:cNvPr id="15" name="Text 13"/>
          <p:cNvSpPr/>
          <p:nvPr/>
        </p:nvSpPr>
        <p:spPr>
          <a:xfrm>
            <a:off x="7488936" y="3419856"/>
            <a:ext cx="3950208" cy="14630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Number of layers offloaded to GPU. 99 means all of them. On a 0.5B model everything fits comfortably.</a:t>
            </a:r>
            <a:endParaRPr lang="en-US" sz="1100" dirty="0"/>
          </a:p>
        </p:txBody>
      </p:sp>
      <p:sp>
        <p:nvSpPr>
          <p:cNvPr id="16" name="Shape 14"/>
          <p:cNvSpPr/>
          <p:nvPr/>
        </p:nvSpPr>
        <p:spPr>
          <a:xfrm>
            <a:off x="7269480" y="3803904"/>
            <a:ext cx="4389120" cy="749808"/>
          </a:xfrm>
          <a:prstGeom prst="roundRect">
            <a:avLst>
              <a:gd name="adj" fmla="val 853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7488936" y="3950208"/>
            <a:ext cx="3950208" cy="292608"/>
          </a:xfrm>
          <a:prstGeom prst="rect">
            <a:avLst/>
          </a:prstGeom>
          <a:noFill/>
          <a:ln/>
        </p:spPr>
        <p:txBody>
          <a:bodyPr wrap="square" lIns="0" tIns="0" rIns="0" bIns="0" rtlCol="0" anchor="ctr"/>
          <a:lstStyle/>
          <a:p>
            <a:pPr indent="0" marL="0">
              <a:buNone/>
            </a:pPr>
            <a:r>
              <a:rPr lang="en-US" sz="1250" b="1" dirty="0">
                <a:solidFill>
                  <a:srgbClr val="A8482A"/>
                </a:solidFill>
                <a:latin typeface="Calibri" pitchFamily="34" charset="0"/>
                <a:ea typeface="Calibri" pitchFamily="34" charset="-122"/>
                <a:cs typeface="Calibri" pitchFamily="34" charset="-120"/>
              </a:rPr>
              <a:t>Verify after conversion</a:t>
            </a:r>
            <a:endParaRPr lang="en-US" sz="1250" dirty="0"/>
          </a:p>
        </p:txBody>
      </p:sp>
      <p:sp>
        <p:nvSpPr>
          <p:cNvPr id="18" name="Text 16"/>
          <p:cNvSpPr/>
          <p:nvPr/>
        </p:nvSpPr>
        <p:spPr>
          <a:xfrm>
            <a:off x="7488936" y="4261104"/>
            <a:ext cx="3950208" cy="146304"/>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Re-run your eval harness against the served endpoint. Conversion bugs are real, and they are silent.</a:t>
            </a:r>
            <a:endParaRPr lang="en-US" sz="1100" dirty="0"/>
          </a:p>
        </p:txBody>
      </p:sp>
      <p:sp>
        <p:nvSpPr>
          <p:cNvPr id="19" name="Text 1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166</a:t>
            </a:r>
            <a:endParaRPr lang="en-US" sz="9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SERVE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MLX — the Mac-native path</a:t>
            </a:r>
            <a:endParaRPr lang="en-US" sz="2900" dirty="0"/>
          </a:p>
        </p:txBody>
      </p:sp>
      <p:sp>
        <p:nvSpPr>
          <p:cNvPr id="4" name="Shape 2"/>
          <p:cNvSpPr/>
          <p:nvPr/>
        </p:nvSpPr>
        <p:spPr>
          <a:xfrm>
            <a:off x="502920" y="1280160"/>
            <a:ext cx="6583680" cy="2377440"/>
          </a:xfrm>
          <a:prstGeom prst="roundRect">
            <a:avLst>
              <a:gd name="adj" fmla="val 2308"/>
            </a:avLst>
          </a:prstGeom>
          <a:solidFill>
            <a:srgbClr val="0F1F17"/>
          </a:solidFill>
          <a:ln/>
        </p:spPr>
      </p:sp>
      <p:sp>
        <p:nvSpPr>
          <p:cNvPr id="5" name="Text 3"/>
          <p:cNvSpPr/>
          <p:nvPr/>
        </p:nvSpPr>
        <p:spPr>
          <a:xfrm>
            <a:off x="722376" y="1426464"/>
            <a:ext cx="6144768" cy="219456"/>
          </a:xfrm>
          <a:prstGeom prst="rect">
            <a:avLst/>
          </a:prstGeom>
          <a:noFill/>
          <a:ln/>
        </p:spPr>
        <p:txBody>
          <a:bodyPr wrap="square" lIns="0" tIns="0" rIns="0" bIns="0" rtlCol="0" anchor="ctr"/>
          <a:lstStyle/>
          <a:p>
            <a:pPr indent="0" marL="0">
              <a:buNone/>
            </a:pPr>
            <a:r>
              <a:rPr lang="en-US" sz="950" b="1" spc="150" kern="0" dirty="0">
                <a:solidFill>
                  <a:srgbClr val="8FB573"/>
                </a:solidFill>
                <a:latin typeface="Calibri" pitchFamily="34" charset="0"/>
                <a:ea typeface="Calibri" pitchFamily="34" charset="-122"/>
                <a:cs typeface="Calibri" pitchFamily="34" charset="-120"/>
              </a:rPr>
              <a:t>MLX</a:t>
            </a:r>
            <a:endParaRPr lang="en-US" sz="950" dirty="0"/>
          </a:p>
        </p:txBody>
      </p:sp>
      <p:sp>
        <p:nvSpPr>
          <p:cNvPr id="6" name="Text 4"/>
          <p:cNvSpPr/>
          <p:nvPr/>
        </p:nvSpPr>
        <p:spPr>
          <a:xfrm>
            <a:off x="722376" y="1700784"/>
            <a:ext cx="6144768" cy="181051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Convert and quantize in one step</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mlx_lm.convert --hf-path models/ultron-fp16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-q --q-bits 4 --mlx-path models/ultron-mlx-q4</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Generate</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mlx_lm.generate --model models/ultron-mlx-q4 \</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  --prompt 'Write a binary search' --max-tokens 256</a:t>
            </a:r>
            <a:endParaRPr lang="en-US" sz="1000" dirty="0"/>
          </a:p>
          <a:p>
            <a:pPr indent="0" marL="0">
              <a:lnSpc>
                <a:spcPct val="112000"/>
              </a:lnSpc>
              <a:buNone/>
            </a:pPr>
            <a:endParaRPr lang="en-US" sz="1000" dirty="0"/>
          </a:p>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Serve an OpenAI-compatible endpoint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mlx_lm.server --model models/ultron-mlx-q4 --port 8081</a:t>
            </a:r>
            <a:endParaRPr lang="en-US" sz="1000" dirty="0"/>
          </a:p>
        </p:txBody>
      </p:sp>
      <p:sp>
        <p:nvSpPr>
          <p:cNvPr id="7" name="Shape 5"/>
          <p:cNvSpPr/>
          <p:nvPr/>
        </p:nvSpPr>
        <p:spPr>
          <a:xfrm>
            <a:off x="7269480" y="1280160"/>
            <a:ext cx="438912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7488936" y="1426464"/>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Faster than GGUF on Apple Silicon</a:t>
            </a:r>
            <a:endParaRPr lang="en-US" sz="1250" dirty="0"/>
          </a:p>
        </p:txBody>
      </p:sp>
      <p:sp>
        <p:nvSpPr>
          <p:cNvPr id="9" name="Text 7"/>
          <p:cNvSpPr/>
          <p:nvPr/>
        </p:nvSpPr>
        <p:spPr>
          <a:xfrm>
            <a:off x="7488936" y="1737360"/>
            <a:ext cx="395020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MLX is built for unified memory and the Apple GPU. For Mac-only deployment it is usually the fastest option.</a:t>
            </a:r>
            <a:endParaRPr lang="en-US" sz="1100" dirty="0"/>
          </a:p>
        </p:txBody>
      </p:sp>
      <p:sp>
        <p:nvSpPr>
          <p:cNvPr id="10" name="Shape 8"/>
          <p:cNvSpPr/>
          <p:nvPr/>
        </p:nvSpPr>
        <p:spPr>
          <a:xfrm>
            <a:off x="7269480" y="2157984"/>
            <a:ext cx="438912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1" name="Text 9"/>
          <p:cNvSpPr/>
          <p:nvPr/>
        </p:nvSpPr>
        <p:spPr>
          <a:xfrm>
            <a:off x="7488936" y="2304288"/>
            <a:ext cx="3950208" cy="292608"/>
          </a:xfrm>
          <a:prstGeom prst="rect">
            <a:avLst/>
          </a:prstGeom>
          <a:noFill/>
          <a:ln/>
        </p:spPr>
        <p:txBody>
          <a:bodyPr wrap="square" lIns="0" tIns="0" rIns="0" bIns="0" rtlCol="0" anchor="ctr"/>
          <a:lstStyle/>
          <a:p>
            <a:pPr indent="0" marL="0">
              <a:buNone/>
            </a:pPr>
            <a:r>
              <a:rPr lang="en-US" sz="1250" b="1" dirty="0">
                <a:solidFill>
                  <a:srgbClr val="D98E32"/>
                </a:solidFill>
                <a:latin typeface="Calibri" pitchFamily="34" charset="0"/>
                <a:ea typeface="Calibri" pitchFamily="34" charset="-122"/>
                <a:cs typeface="Calibri" pitchFamily="34" charset="-120"/>
              </a:rPr>
              <a:t>Apple-only</a:t>
            </a:r>
            <a:endParaRPr lang="en-US" sz="1250" dirty="0"/>
          </a:p>
        </p:txBody>
      </p:sp>
      <p:sp>
        <p:nvSpPr>
          <p:cNvPr id="12" name="Text 10"/>
          <p:cNvSpPr/>
          <p:nvPr/>
        </p:nvSpPr>
        <p:spPr>
          <a:xfrm>
            <a:off x="7488936" y="2615184"/>
            <a:ext cx="395020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artifact does not run anywhere else. If portability matters, use GGUF; if this is your personal Mac tool, use MLX.</a:t>
            </a:r>
            <a:endParaRPr lang="en-US" sz="1100" dirty="0"/>
          </a:p>
        </p:txBody>
      </p:sp>
      <p:sp>
        <p:nvSpPr>
          <p:cNvPr id="13" name="Shape 11"/>
          <p:cNvSpPr/>
          <p:nvPr/>
        </p:nvSpPr>
        <p:spPr>
          <a:xfrm>
            <a:off x="7269480" y="3035808"/>
            <a:ext cx="438912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4" name="Text 12"/>
          <p:cNvSpPr/>
          <p:nvPr/>
        </p:nvSpPr>
        <p:spPr>
          <a:xfrm>
            <a:off x="7488936" y="3182112"/>
            <a:ext cx="3950208"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Ship both</a:t>
            </a:r>
            <a:endParaRPr lang="en-US" sz="1250" dirty="0"/>
          </a:p>
        </p:txBody>
      </p:sp>
      <p:sp>
        <p:nvSpPr>
          <p:cNvPr id="15" name="Text 13"/>
          <p:cNvSpPr/>
          <p:nvPr/>
        </p:nvSpPr>
        <p:spPr>
          <a:xfrm>
            <a:off x="7488936" y="3493008"/>
            <a:ext cx="3950208" cy="182880"/>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Conversion is cheap. Produce a GGUF for portability and an MLX build for your own machine.</a:t>
            </a:r>
            <a:endParaRPr lang="en-US" sz="1100" dirty="0"/>
          </a:p>
        </p:txBody>
      </p:sp>
      <p:sp>
        <p:nvSpPr>
          <p:cNvPr id="16" name="Shape 14"/>
          <p:cNvSpPr/>
          <p:nvPr/>
        </p:nvSpPr>
        <p:spPr>
          <a:xfrm>
            <a:off x="502920" y="3886200"/>
            <a:ext cx="11155680" cy="658368"/>
          </a:xfrm>
          <a:prstGeom prst="roundRect">
            <a:avLst>
              <a:gd name="adj" fmla="val 972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Shape 15"/>
          <p:cNvSpPr/>
          <p:nvPr/>
        </p:nvSpPr>
        <p:spPr>
          <a:xfrm>
            <a:off x="502920" y="3886200"/>
            <a:ext cx="91440" cy="658368"/>
          </a:xfrm>
          <a:prstGeom prst="rect">
            <a:avLst/>
          </a:prstGeom>
          <a:solidFill>
            <a:srgbClr val="16211B"/>
          </a:solidFill>
          <a:ln/>
        </p:spPr>
      </p:sp>
      <p:sp>
        <p:nvSpPr>
          <p:cNvPr id="18" name="Text 16"/>
          <p:cNvSpPr/>
          <p:nvPr/>
        </p:nvSpPr>
        <p:spPr>
          <a:xfrm>
            <a:off x="822960" y="3995928"/>
            <a:ext cx="25603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vLLM</a:t>
            </a:r>
            <a:endParaRPr lang="en-US" sz="1250" dirty="0"/>
          </a:p>
        </p:txBody>
      </p:sp>
      <p:sp>
        <p:nvSpPr>
          <p:cNvPr id="19" name="Text 17"/>
          <p:cNvSpPr/>
          <p:nvPr/>
        </p:nvSpPr>
        <p:spPr>
          <a:xfrm>
            <a:off x="822960" y="4288536"/>
            <a:ext cx="25603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GPU serving at scale</a:t>
            </a:r>
            <a:endParaRPr lang="en-US" sz="950" dirty="0"/>
          </a:p>
        </p:txBody>
      </p:sp>
      <p:sp>
        <p:nvSpPr>
          <p:cNvPr id="20" name="Text 18"/>
          <p:cNvSpPr/>
          <p:nvPr/>
        </p:nvSpPr>
        <p:spPr>
          <a:xfrm>
            <a:off x="3611880" y="3977640"/>
            <a:ext cx="8046720" cy="47548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Continuous batching, PagedAttention, multi-LoRA. The right answer for a server; overkill for one laptop and not available on Metal.</a:t>
            </a:r>
            <a:endParaRPr lang="en-US" sz="1180" dirty="0"/>
          </a:p>
        </p:txBody>
      </p:sp>
      <p:sp>
        <p:nvSpPr>
          <p:cNvPr id="21" name="Shape 19"/>
          <p:cNvSpPr/>
          <p:nvPr/>
        </p:nvSpPr>
        <p:spPr>
          <a:xfrm>
            <a:off x="502920" y="4636008"/>
            <a:ext cx="11155680" cy="658368"/>
          </a:xfrm>
          <a:prstGeom prst="roundRect">
            <a:avLst>
              <a:gd name="adj" fmla="val 972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2" name="Shape 20"/>
          <p:cNvSpPr/>
          <p:nvPr/>
        </p:nvSpPr>
        <p:spPr>
          <a:xfrm>
            <a:off x="502920" y="4636008"/>
            <a:ext cx="91440" cy="658368"/>
          </a:xfrm>
          <a:prstGeom prst="rect">
            <a:avLst/>
          </a:prstGeom>
          <a:solidFill>
            <a:srgbClr val="16211B"/>
          </a:solidFill>
          <a:ln/>
        </p:spPr>
      </p:sp>
      <p:sp>
        <p:nvSpPr>
          <p:cNvPr id="23" name="Text 21"/>
          <p:cNvSpPr/>
          <p:nvPr/>
        </p:nvSpPr>
        <p:spPr>
          <a:xfrm>
            <a:off x="822960" y="4745736"/>
            <a:ext cx="25603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Multi-LoRA serving</a:t>
            </a:r>
            <a:endParaRPr lang="en-US" sz="1250" dirty="0"/>
          </a:p>
        </p:txBody>
      </p:sp>
      <p:sp>
        <p:nvSpPr>
          <p:cNvPr id="24" name="Text 22"/>
          <p:cNvSpPr/>
          <p:nvPr/>
        </p:nvSpPr>
        <p:spPr>
          <a:xfrm>
            <a:off x="822960" y="5038344"/>
            <a:ext cx="25603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one base, many adapters</a:t>
            </a:r>
            <a:endParaRPr lang="en-US" sz="950" dirty="0"/>
          </a:p>
        </p:txBody>
      </p:sp>
      <p:sp>
        <p:nvSpPr>
          <p:cNvPr id="25" name="Text 23"/>
          <p:cNvSpPr/>
          <p:nvPr/>
        </p:nvSpPr>
        <p:spPr>
          <a:xfrm>
            <a:off x="3611880" y="4727448"/>
            <a:ext cx="8046720" cy="47548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vLLM can hot-swap LoRA adapters per request. One base model in memory, dozens of specializations. Worth knowing when you have several adapters.</a:t>
            </a:r>
            <a:endParaRPr lang="en-US" sz="1180" dirty="0"/>
          </a:p>
        </p:txBody>
      </p:sp>
      <p:sp>
        <p:nvSpPr>
          <p:cNvPr id="26" name="Shape 24"/>
          <p:cNvSpPr/>
          <p:nvPr/>
        </p:nvSpPr>
        <p:spPr>
          <a:xfrm>
            <a:off x="502920" y="5385816"/>
            <a:ext cx="11155680" cy="658368"/>
          </a:xfrm>
          <a:prstGeom prst="roundRect">
            <a:avLst>
              <a:gd name="adj" fmla="val 9722"/>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7" name="Shape 25"/>
          <p:cNvSpPr/>
          <p:nvPr/>
        </p:nvSpPr>
        <p:spPr>
          <a:xfrm>
            <a:off x="502920" y="5385816"/>
            <a:ext cx="91440" cy="658368"/>
          </a:xfrm>
          <a:prstGeom prst="rect">
            <a:avLst/>
          </a:prstGeom>
          <a:solidFill>
            <a:srgbClr val="8FB573"/>
          </a:solidFill>
          <a:ln/>
        </p:spPr>
      </p:sp>
      <p:sp>
        <p:nvSpPr>
          <p:cNvPr id="28" name="Text 26"/>
          <p:cNvSpPr/>
          <p:nvPr/>
        </p:nvSpPr>
        <p:spPr>
          <a:xfrm>
            <a:off x="822960" y="5495544"/>
            <a:ext cx="2560320" cy="274320"/>
          </a:xfrm>
          <a:prstGeom prst="rect">
            <a:avLst/>
          </a:prstGeom>
          <a:noFill/>
          <a:ln/>
        </p:spPr>
        <p:txBody>
          <a:bodyPr wrap="square" lIns="0" tIns="0" rIns="0" bIns="0" rtlCol="0" anchor="ctr"/>
          <a:lstStyle/>
          <a:p>
            <a:pPr indent="0" marL="0">
              <a:buNone/>
            </a:pPr>
            <a:r>
              <a:rPr lang="en-US" sz="1250" b="1" dirty="0">
                <a:solidFill>
                  <a:srgbClr val="16211B"/>
                </a:solidFill>
                <a:latin typeface="Calibri" pitchFamily="34" charset="0"/>
                <a:ea typeface="Calibri" pitchFamily="34" charset="-122"/>
                <a:cs typeface="Calibri" pitchFamily="34" charset="-120"/>
              </a:rPr>
              <a:t>Structured decoding</a:t>
            </a:r>
            <a:endParaRPr lang="en-US" sz="1250" dirty="0"/>
          </a:p>
        </p:txBody>
      </p:sp>
      <p:sp>
        <p:nvSpPr>
          <p:cNvPr id="29" name="Text 27"/>
          <p:cNvSpPr/>
          <p:nvPr/>
        </p:nvSpPr>
        <p:spPr>
          <a:xfrm>
            <a:off x="822960" y="5788152"/>
            <a:ext cx="2560320" cy="310896"/>
          </a:xfrm>
          <a:prstGeom prst="rect">
            <a:avLst/>
          </a:prstGeom>
          <a:noFill/>
          <a:ln/>
        </p:spPr>
        <p:txBody>
          <a:bodyPr wrap="square" lIns="0" tIns="0" rIns="0" bIns="0" rtlCol="0" anchor="t"/>
          <a:lstStyle/>
          <a:p>
            <a:pPr indent="0" marL="0">
              <a:buNone/>
            </a:pPr>
            <a:r>
              <a:rPr lang="en-US" sz="950" dirty="0">
                <a:solidFill>
                  <a:srgbClr val="6B7A70"/>
                </a:solidFill>
                <a:latin typeface="Courier New" pitchFamily="34" charset="0"/>
                <a:ea typeface="Courier New" pitchFamily="34" charset="-122"/>
                <a:cs typeface="Courier New" pitchFamily="34" charset="-120"/>
              </a:rPr>
              <a:t>outlines, llguidance, xgrammar</a:t>
            </a:r>
            <a:endParaRPr lang="en-US" sz="950" dirty="0"/>
          </a:p>
        </p:txBody>
      </p:sp>
      <p:sp>
        <p:nvSpPr>
          <p:cNvPr id="30" name="Text 28"/>
          <p:cNvSpPr/>
          <p:nvPr/>
        </p:nvSpPr>
        <p:spPr>
          <a:xfrm>
            <a:off x="3611880" y="5477256"/>
            <a:ext cx="8046720" cy="475488"/>
          </a:xfrm>
          <a:prstGeom prst="rect">
            <a:avLst/>
          </a:prstGeom>
          <a:noFill/>
          <a:ln/>
        </p:spPr>
        <p:txBody>
          <a:bodyPr wrap="square" lIns="0" tIns="0" rIns="0" bIns="0" rtlCol="0" anchor="ctr"/>
          <a:lstStyle/>
          <a:p>
            <a:pPr indent="0" marL="0">
              <a:buNone/>
            </a:pPr>
            <a:r>
              <a:rPr lang="en-US" sz="1180" dirty="0">
                <a:solidFill>
                  <a:srgbClr val="16211B"/>
                </a:solidFill>
                <a:latin typeface="Calibri" pitchFamily="34" charset="0"/>
                <a:ea typeface="Calibri" pitchFamily="34" charset="-122"/>
                <a:cs typeface="Calibri" pitchFamily="34" charset="-120"/>
              </a:rPr>
              <a:t>Constrain generation to a grammar or JSON schema at sample time. Guarantees parseable output rather than hoping for it.</a:t>
            </a:r>
            <a:endParaRPr lang="en-US" sz="1180" dirty="0"/>
          </a:p>
        </p:txBody>
      </p:sp>
      <p:sp>
        <p:nvSpPr>
          <p:cNvPr id="31" name="Text 2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167</a:t>
            </a:r>
            <a:endParaRPr lang="en-US" sz="95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SERVE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Wiring it into your editor — the actual payoff</a:t>
            </a:r>
            <a:endParaRPr lang="en-US" sz="2900" dirty="0"/>
          </a:p>
        </p:txBody>
      </p:sp>
      <p:sp>
        <p:nvSpPr>
          <p:cNvPr id="4" name="Shape 2"/>
          <p:cNvSpPr/>
          <p:nvPr/>
        </p:nvSpPr>
        <p:spPr>
          <a:xfrm>
            <a:off x="502920" y="1280160"/>
            <a:ext cx="1115568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472184"/>
            <a:ext cx="402336" cy="402336"/>
          </a:xfrm>
          <a:prstGeom prst="ellipse">
            <a:avLst/>
          </a:prstGeom>
          <a:solidFill>
            <a:srgbClr val="8FB573"/>
          </a:solidFill>
          <a:ln/>
        </p:spPr>
      </p:sp>
      <p:sp>
        <p:nvSpPr>
          <p:cNvPr id="6" name="Text 4"/>
          <p:cNvSpPr/>
          <p:nvPr/>
        </p:nvSpPr>
        <p:spPr>
          <a:xfrm>
            <a:off x="749808" y="1472184"/>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Start the server</a:t>
            </a:r>
            <a:endParaRPr lang="en-US" sz="1300" dirty="0"/>
          </a:p>
        </p:txBody>
      </p:sp>
      <p:sp>
        <p:nvSpPr>
          <p:cNvPr id="8" name="Text 6"/>
          <p:cNvSpPr/>
          <p:nvPr/>
        </p:nvSpPr>
        <p:spPr>
          <a:xfrm>
            <a:off x="1316736" y="1700784"/>
            <a:ext cx="10058400" cy="274320"/>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llama-server -m ultron-q4km.gguf --port 8080. It now speaks the OpenAI chat-completions API on localhost.</a:t>
            </a:r>
            <a:endParaRPr lang="en-US" sz="1150" dirty="0"/>
          </a:p>
        </p:txBody>
      </p:sp>
      <p:sp>
        <p:nvSpPr>
          <p:cNvPr id="9" name="Shape 7"/>
          <p:cNvSpPr/>
          <p:nvPr/>
        </p:nvSpPr>
        <p:spPr>
          <a:xfrm>
            <a:off x="502920" y="2176272"/>
            <a:ext cx="1115568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368296"/>
            <a:ext cx="402336" cy="402336"/>
          </a:xfrm>
          <a:prstGeom prst="ellipse">
            <a:avLst/>
          </a:prstGeom>
          <a:solidFill>
            <a:srgbClr val="8FB573"/>
          </a:solidFill>
          <a:ln/>
        </p:spPr>
      </p:sp>
      <p:sp>
        <p:nvSpPr>
          <p:cNvPr id="11" name="Text 9"/>
          <p:cNvSpPr/>
          <p:nvPr/>
        </p:nvSpPr>
        <p:spPr>
          <a:xfrm>
            <a:off x="749808" y="2368296"/>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304288"/>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Point a client at it</a:t>
            </a:r>
            <a:endParaRPr lang="en-US" sz="1300" dirty="0"/>
          </a:p>
        </p:txBody>
      </p:sp>
      <p:sp>
        <p:nvSpPr>
          <p:cNvPr id="13" name="Text 11"/>
          <p:cNvSpPr/>
          <p:nvPr/>
        </p:nvSpPr>
        <p:spPr>
          <a:xfrm>
            <a:off x="1316736" y="2596896"/>
            <a:ext cx="10058400" cy="274320"/>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Continue.dev, Zed, Cursor (custom endpoint), Aider, or plain curl. Anything with a configurable base_url works.</a:t>
            </a:r>
            <a:endParaRPr lang="en-US" sz="1150" dirty="0"/>
          </a:p>
        </p:txBody>
      </p:sp>
      <p:sp>
        <p:nvSpPr>
          <p:cNvPr id="14" name="Shape 12"/>
          <p:cNvSpPr/>
          <p:nvPr/>
        </p:nvSpPr>
        <p:spPr>
          <a:xfrm>
            <a:off x="502920" y="3072384"/>
            <a:ext cx="1115568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3264408"/>
            <a:ext cx="402336" cy="402336"/>
          </a:xfrm>
          <a:prstGeom prst="ellipse">
            <a:avLst/>
          </a:prstGeom>
          <a:solidFill>
            <a:srgbClr val="8FB573"/>
          </a:solidFill>
          <a:ln/>
        </p:spPr>
      </p:sp>
      <p:sp>
        <p:nvSpPr>
          <p:cNvPr id="16" name="Text 14"/>
          <p:cNvSpPr/>
          <p:nvPr/>
        </p:nvSpPr>
        <p:spPr>
          <a:xfrm>
            <a:off x="749808" y="326440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320040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Set base_url to http://localhost:8080/v1</a:t>
            </a:r>
            <a:endParaRPr lang="en-US" sz="1300" dirty="0"/>
          </a:p>
        </p:txBody>
      </p:sp>
      <p:sp>
        <p:nvSpPr>
          <p:cNvPr id="18" name="Text 16"/>
          <p:cNvSpPr/>
          <p:nvPr/>
        </p:nvSpPr>
        <p:spPr>
          <a:xfrm>
            <a:off x="1316736" y="3493008"/>
            <a:ext cx="10058400" cy="274320"/>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No API key needed. No network egress. Your code never leaves the machine.</a:t>
            </a:r>
            <a:endParaRPr lang="en-US" sz="1150" dirty="0"/>
          </a:p>
        </p:txBody>
      </p:sp>
      <p:sp>
        <p:nvSpPr>
          <p:cNvPr id="19" name="Shape 17"/>
          <p:cNvSpPr/>
          <p:nvPr/>
        </p:nvSpPr>
        <p:spPr>
          <a:xfrm>
            <a:off x="502920" y="3968496"/>
            <a:ext cx="1115568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4160520"/>
            <a:ext cx="402336" cy="402336"/>
          </a:xfrm>
          <a:prstGeom prst="ellipse">
            <a:avLst/>
          </a:prstGeom>
          <a:solidFill>
            <a:srgbClr val="8FB573"/>
          </a:solidFill>
          <a:ln/>
        </p:spPr>
      </p:sp>
      <p:sp>
        <p:nvSpPr>
          <p:cNvPr id="21" name="Text 19"/>
          <p:cNvSpPr/>
          <p:nvPr/>
        </p:nvSpPr>
        <p:spPr>
          <a:xfrm>
            <a:off x="749808" y="416052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4096512"/>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Use it for a week on real work</a:t>
            </a:r>
            <a:endParaRPr lang="en-US" sz="1300" dirty="0"/>
          </a:p>
        </p:txBody>
      </p:sp>
      <p:sp>
        <p:nvSpPr>
          <p:cNvPr id="23" name="Text 21"/>
          <p:cNvSpPr/>
          <p:nvPr/>
        </p:nvSpPr>
        <p:spPr>
          <a:xfrm>
            <a:off x="1316736" y="4389120"/>
            <a:ext cx="10058400" cy="274320"/>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This is the honest evaluation. Benchmarks measured whether it improved; daily use measures whether it is USEFUL, which is a different question.</a:t>
            </a:r>
            <a:endParaRPr lang="en-US" sz="1150" dirty="0"/>
          </a:p>
        </p:txBody>
      </p:sp>
      <p:sp>
        <p:nvSpPr>
          <p:cNvPr id="24" name="Shape 22"/>
          <p:cNvSpPr/>
          <p:nvPr/>
        </p:nvSpPr>
        <p:spPr>
          <a:xfrm>
            <a:off x="502920" y="4864608"/>
            <a:ext cx="11155680" cy="786384"/>
          </a:xfrm>
          <a:prstGeom prst="roundRect">
            <a:avLst>
              <a:gd name="adj" fmla="val 8140"/>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5056632"/>
            <a:ext cx="402336" cy="402336"/>
          </a:xfrm>
          <a:prstGeom prst="ellipse">
            <a:avLst/>
          </a:prstGeom>
          <a:solidFill>
            <a:srgbClr val="8FB573"/>
          </a:solidFill>
          <a:ln/>
        </p:spPr>
      </p:sp>
      <p:sp>
        <p:nvSpPr>
          <p:cNvPr id="26" name="Text 24"/>
          <p:cNvSpPr/>
          <p:nvPr/>
        </p:nvSpPr>
        <p:spPr>
          <a:xfrm>
            <a:off x="749808" y="505663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499262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Log what it gets wrong</a:t>
            </a:r>
            <a:endParaRPr lang="en-US" sz="1300" dirty="0"/>
          </a:p>
        </p:txBody>
      </p:sp>
      <p:sp>
        <p:nvSpPr>
          <p:cNvPr id="28" name="Text 26"/>
          <p:cNvSpPr/>
          <p:nvPr/>
        </p:nvSpPr>
        <p:spPr>
          <a:xfrm>
            <a:off x="1316736" y="5285232"/>
            <a:ext cx="10058400" cy="274320"/>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Every failure in real use is a new eval case. This is how your custom eval set grows past its first 200 problems.</a:t>
            </a:r>
            <a:endParaRPr lang="en-US" sz="1150" dirty="0"/>
          </a:p>
        </p:txBody>
      </p:sp>
      <p:sp>
        <p:nvSpPr>
          <p:cNvPr id="29" name="Shape 27"/>
          <p:cNvSpPr/>
          <p:nvPr/>
        </p:nvSpPr>
        <p:spPr>
          <a:xfrm>
            <a:off x="502920" y="5760720"/>
            <a:ext cx="11155680" cy="566928"/>
          </a:xfrm>
          <a:prstGeom prst="roundRect">
            <a:avLst>
              <a:gd name="adj" fmla="val 9677"/>
            </a:avLst>
          </a:prstGeom>
          <a:solidFill>
            <a:srgbClr val="8FB573"/>
          </a:solidFill>
          <a:ln/>
        </p:spPr>
      </p:sp>
      <p:sp>
        <p:nvSpPr>
          <p:cNvPr id="30" name="Text 28"/>
          <p:cNvSpPr/>
          <p:nvPr/>
        </p:nvSpPr>
        <p:spPr>
          <a:xfrm>
            <a:off x="777240" y="576072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A 400MB model that runs offline on your laptop, that you trained yourself, that you use daily. That is the deliverable.</a:t>
            </a:r>
            <a:endParaRPr lang="en-US" sz="1450" dirty="0"/>
          </a:p>
        </p:txBody>
      </p:sp>
      <p:sp>
        <p:nvSpPr>
          <p:cNvPr id="31" name="Text 2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168</a:t>
            </a:r>
            <a:endParaRPr lang="en-US" sz="9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SERVE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final evaluation — opening the sealed set</a:t>
            </a:r>
            <a:endParaRPr lang="en-US" sz="2900" dirty="0"/>
          </a:p>
        </p:txBody>
      </p:sp>
      <p:sp>
        <p:nvSpPr>
          <p:cNvPr id="4" name="Shape 2"/>
          <p:cNvSpPr/>
          <p:nvPr/>
        </p:nvSpPr>
        <p:spPr>
          <a:xfrm>
            <a:off x="502920" y="1280160"/>
            <a:ext cx="1115568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467612"/>
            <a:ext cx="402336" cy="402336"/>
          </a:xfrm>
          <a:prstGeom prst="ellipse">
            <a:avLst/>
          </a:prstGeom>
          <a:solidFill>
            <a:srgbClr val="8FB573"/>
          </a:solidFill>
          <a:ln/>
        </p:spPr>
      </p:sp>
      <p:sp>
        <p:nvSpPr>
          <p:cNvPr id="6" name="Text 4"/>
          <p:cNvSpPr/>
          <p:nvPr/>
        </p:nvSpPr>
        <p:spPr>
          <a:xfrm>
            <a:off x="749808" y="146761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Re-run everything through the SERVED endpoint</a:t>
            </a:r>
            <a:endParaRPr lang="en-US" sz="1300" dirty="0"/>
          </a:p>
        </p:txBody>
      </p:sp>
      <p:sp>
        <p:nvSpPr>
          <p:cNvPr id="8" name="Text 6"/>
          <p:cNvSpPr/>
          <p:nvPr/>
        </p:nvSpPr>
        <p:spPr>
          <a:xfrm>
            <a:off x="1316736" y="1700784"/>
            <a:ext cx="10058400" cy="26517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Not through your training-time generate() call. Serving introduces its own bugs: template handling, stop tokens, sampling defaults. Evaluate what you actually ship.</a:t>
            </a:r>
            <a:endParaRPr lang="en-US" sz="1150" dirty="0"/>
          </a:p>
        </p:txBody>
      </p:sp>
      <p:sp>
        <p:nvSpPr>
          <p:cNvPr id="9" name="Shape 7"/>
          <p:cNvSpPr/>
          <p:nvPr/>
        </p:nvSpPr>
        <p:spPr>
          <a:xfrm>
            <a:off x="502920" y="2167128"/>
            <a:ext cx="1115568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354580"/>
            <a:ext cx="402336" cy="402336"/>
          </a:xfrm>
          <a:prstGeom prst="ellipse">
            <a:avLst/>
          </a:prstGeom>
          <a:solidFill>
            <a:srgbClr val="8FB573"/>
          </a:solidFill>
          <a:ln/>
        </p:spPr>
      </p:sp>
      <p:sp>
        <p:nvSpPr>
          <p:cNvPr id="11" name="Text 9"/>
          <p:cNvSpPr/>
          <p:nvPr/>
        </p:nvSpPr>
        <p:spPr>
          <a:xfrm>
            <a:off x="749808" y="235458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29514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Run LiveCodeBench</a:t>
            </a:r>
            <a:endParaRPr lang="en-US" sz="1300" dirty="0"/>
          </a:p>
        </p:txBody>
      </p:sp>
      <p:sp>
        <p:nvSpPr>
          <p:cNvPr id="13" name="Text 11"/>
          <p:cNvSpPr/>
          <p:nvPr/>
        </p:nvSpPr>
        <p:spPr>
          <a:xfrm>
            <a:off x="1316736" y="2587752"/>
            <a:ext cx="10058400" cy="26517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Timestamped, contamination-resistant. If your HumanEval+ is strong but LiveCodeBench is weak, you have a contamination problem and now you know.</a:t>
            </a:r>
            <a:endParaRPr lang="en-US" sz="1150" dirty="0"/>
          </a:p>
        </p:txBody>
      </p:sp>
      <p:sp>
        <p:nvSpPr>
          <p:cNvPr id="14" name="Shape 12"/>
          <p:cNvSpPr/>
          <p:nvPr/>
        </p:nvSpPr>
        <p:spPr>
          <a:xfrm>
            <a:off x="502920" y="3054096"/>
            <a:ext cx="1115568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3241548"/>
            <a:ext cx="402336" cy="402336"/>
          </a:xfrm>
          <a:prstGeom prst="ellipse">
            <a:avLst/>
          </a:prstGeom>
          <a:solidFill>
            <a:srgbClr val="8FB573"/>
          </a:solidFill>
          <a:ln/>
        </p:spPr>
      </p:sp>
      <p:sp>
        <p:nvSpPr>
          <p:cNvPr id="16" name="Text 14"/>
          <p:cNvSpPr/>
          <p:nvPr/>
        </p:nvSpPr>
        <p:spPr>
          <a:xfrm>
            <a:off x="749808" y="324154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3182112"/>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Open the sealed test split — once</a:t>
            </a:r>
            <a:endParaRPr lang="en-US" sz="1300" dirty="0"/>
          </a:p>
        </p:txBody>
      </p:sp>
      <p:sp>
        <p:nvSpPr>
          <p:cNvPr id="18" name="Text 16"/>
          <p:cNvSpPr/>
          <p:nvPr/>
        </p:nvSpPr>
        <p:spPr>
          <a:xfrm>
            <a:off x="1316736" y="3474720"/>
            <a:ext cx="10058400" cy="26517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The one you have not looked at since Phase 5. This number is the honest one, and you get exactly one shot at it.</a:t>
            </a:r>
            <a:endParaRPr lang="en-US" sz="1150" dirty="0"/>
          </a:p>
        </p:txBody>
      </p:sp>
      <p:sp>
        <p:nvSpPr>
          <p:cNvPr id="19" name="Shape 17"/>
          <p:cNvSpPr/>
          <p:nvPr/>
        </p:nvSpPr>
        <p:spPr>
          <a:xfrm>
            <a:off x="502920" y="3941064"/>
            <a:ext cx="1115568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4128516"/>
            <a:ext cx="402336" cy="402336"/>
          </a:xfrm>
          <a:prstGeom prst="ellipse">
            <a:avLst/>
          </a:prstGeom>
          <a:solidFill>
            <a:srgbClr val="8FB573"/>
          </a:solidFill>
          <a:ln/>
        </p:spPr>
      </p:sp>
      <p:sp>
        <p:nvSpPr>
          <p:cNvPr id="21" name="Text 19"/>
          <p:cNvSpPr/>
          <p:nvPr/>
        </p:nvSpPr>
        <p:spPr>
          <a:xfrm>
            <a:off x="749808" y="4128516"/>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406908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Report the full ladder</a:t>
            </a:r>
            <a:endParaRPr lang="en-US" sz="1300" dirty="0"/>
          </a:p>
        </p:txBody>
      </p:sp>
      <p:sp>
        <p:nvSpPr>
          <p:cNvPr id="23" name="Text 21"/>
          <p:cNvSpPr/>
          <p:nvPr/>
        </p:nvSpPr>
        <p:spPr>
          <a:xfrm>
            <a:off x="1316736" y="4361688"/>
            <a:ext cx="10058400" cy="26517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Baseline → SFT → RFT → DPO → GRPO → repair → merged → quantized. Every delta, with seeds and confidence intervals.</a:t>
            </a:r>
            <a:endParaRPr lang="en-US" sz="1150" dirty="0"/>
          </a:p>
        </p:txBody>
      </p:sp>
      <p:sp>
        <p:nvSpPr>
          <p:cNvPr id="24" name="Shape 22"/>
          <p:cNvSpPr/>
          <p:nvPr/>
        </p:nvSpPr>
        <p:spPr>
          <a:xfrm>
            <a:off x="502920" y="4828032"/>
            <a:ext cx="11155680" cy="777240"/>
          </a:xfrm>
          <a:prstGeom prst="roundRect">
            <a:avLst>
              <a:gd name="adj" fmla="val 8235"/>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5015484"/>
            <a:ext cx="402336" cy="402336"/>
          </a:xfrm>
          <a:prstGeom prst="ellipse">
            <a:avLst/>
          </a:prstGeom>
          <a:solidFill>
            <a:srgbClr val="8FB573"/>
          </a:solidFill>
          <a:ln/>
        </p:spPr>
      </p:sp>
      <p:sp>
        <p:nvSpPr>
          <p:cNvPr id="26" name="Text 24"/>
          <p:cNvSpPr/>
          <p:nvPr/>
        </p:nvSpPr>
        <p:spPr>
          <a:xfrm>
            <a:off x="749808" y="5015484"/>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4956048"/>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Write down what did NOT work</a:t>
            </a:r>
            <a:endParaRPr lang="en-US" sz="1300" dirty="0"/>
          </a:p>
        </p:txBody>
      </p:sp>
      <p:sp>
        <p:nvSpPr>
          <p:cNvPr id="28" name="Text 26"/>
          <p:cNvSpPr/>
          <p:nvPr/>
        </p:nvSpPr>
        <p:spPr>
          <a:xfrm>
            <a:off x="1316736" y="5248656"/>
            <a:ext cx="10058400" cy="26517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The failed ablations are more useful to future-you than the successes. Most of what you learned lives there.</a:t>
            </a:r>
            <a:endParaRPr lang="en-US" sz="1150" dirty="0"/>
          </a:p>
        </p:txBody>
      </p:sp>
      <p:sp>
        <p:nvSpPr>
          <p:cNvPr id="29" name="Shape 27"/>
          <p:cNvSpPr/>
          <p:nvPr/>
        </p:nvSpPr>
        <p:spPr>
          <a:xfrm>
            <a:off x="502920" y="5715000"/>
            <a:ext cx="11155680" cy="868680"/>
          </a:xfrm>
          <a:prstGeom prst="roundRect">
            <a:avLst>
              <a:gd name="adj" fmla="val 7368"/>
            </a:avLst>
          </a:prstGeom>
          <a:solidFill>
            <a:srgbClr val="1F3D2E"/>
          </a:solidFill>
          <a:ln/>
        </p:spPr>
      </p:sp>
      <p:sp>
        <p:nvSpPr>
          <p:cNvPr id="30" name="Shape 28"/>
          <p:cNvSpPr/>
          <p:nvPr/>
        </p:nvSpPr>
        <p:spPr>
          <a:xfrm>
            <a:off x="740664" y="5897880"/>
            <a:ext cx="292608" cy="292608"/>
          </a:xfrm>
          <a:prstGeom prst="ellipse">
            <a:avLst/>
          </a:prstGeom>
          <a:solidFill>
            <a:srgbClr val="1F3D2E"/>
          </a:solidFill>
          <a:ln/>
        </p:spPr>
      </p:sp>
      <p:sp>
        <p:nvSpPr>
          <p:cNvPr id="31" name="Text 29"/>
          <p:cNvSpPr/>
          <p:nvPr/>
        </p:nvSpPr>
        <p:spPr>
          <a:xfrm>
            <a:off x="740664" y="589788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32" name="Text 30"/>
          <p:cNvSpPr/>
          <p:nvPr/>
        </p:nvSpPr>
        <p:spPr>
          <a:xfrm>
            <a:off x="1133856" y="591616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33" name="Text 31"/>
          <p:cNvSpPr/>
          <p:nvPr/>
        </p:nvSpPr>
        <p:spPr>
          <a:xfrm>
            <a:off x="740664" y="6291072"/>
            <a:ext cx="10680192" cy="1188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Evaluating through the served endpoint caught a stop-token bug that had never appeared in training-time evaluation. Two points, invisible until the very last step. Always evaluate the thing you ship.</a:t>
            </a:r>
            <a:endParaRPr lang="en-US" sz="1150" dirty="0"/>
          </a:p>
        </p:txBody>
      </p:sp>
      <p:sp>
        <p:nvSpPr>
          <p:cNvPr id="34" name="Text 3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169</a:t>
            </a:r>
            <a:endParaRPr lang="en-US" sz="95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SERVE</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Quantization and serving — path and traps</a:t>
            </a:r>
            <a:endParaRPr lang="en-US" sz="2900" dirty="0"/>
          </a:p>
        </p:txBody>
      </p:sp>
      <p:sp>
        <p:nvSpPr>
          <p:cNvPr id="4" name="Shape 2"/>
          <p:cNvSpPr/>
          <p:nvPr/>
        </p:nvSpPr>
        <p:spPr>
          <a:xfrm>
            <a:off x="502920" y="1335024"/>
            <a:ext cx="292608" cy="292608"/>
          </a:xfrm>
          <a:prstGeom prst="ellipse">
            <a:avLst/>
          </a:prstGeom>
          <a:solidFill>
            <a:srgbClr val="8FB573"/>
          </a:solidFill>
          <a:ln/>
        </p:spPr>
      </p:sp>
      <p:sp>
        <p:nvSpPr>
          <p:cNvPr id="5" name="Text 3"/>
          <p:cNvSpPr/>
          <p:nvPr/>
        </p:nvSpPr>
        <p:spPr>
          <a:xfrm>
            <a:off x="50292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89611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PATH</a:t>
            </a:r>
            <a:endParaRPr lang="en-US" sz="1100" dirty="0"/>
          </a:p>
        </p:txBody>
      </p:sp>
      <p:sp>
        <p:nvSpPr>
          <p:cNvPr id="7" name="Text 5"/>
          <p:cNvSpPr/>
          <p:nvPr/>
        </p:nvSpPr>
        <p:spPr>
          <a:xfrm>
            <a:off x="502920" y="1755648"/>
            <a:ext cx="539496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Merge the adapter into a full model, then quantize</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Produce both GGUF (portable) and MLX (Mac-native)</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Measure the quality/speed curve on YOUR eval, not a generic one</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Start at Q4_K_M; compare Q5_K_M and Q8_0</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Serve via llama-server for an OpenAI-compatible endpoint</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Re-run the full eval THROUGH the served endpoint</a:t>
            </a:r>
            <a:endParaRPr lang="en-US" sz="1250" dirty="0"/>
          </a:p>
          <a:p>
            <a:pPr marL="342900" indent="-342900">
              <a:spcAft>
                <a:spcPts val="600"/>
              </a:spcAft>
              <a:buSzPct val="100000"/>
              <a:buChar char="•"/>
            </a:pPr>
            <a:r>
              <a:rPr lang="en-US" sz="1250" dirty="0">
                <a:solidFill>
                  <a:srgbClr val="16211B"/>
                </a:solidFill>
                <a:latin typeface="Calibri" pitchFamily="34" charset="0"/>
                <a:ea typeface="Calibri" pitchFamily="34" charset="-122"/>
                <a:cs typeface="Calibri" pitchFamily="34" charset="-120"/>
              </a:rPr>
              <a:t>Use it daily on real work — that is the honest test</a:t>
            </a:r>
            <a:endParaRPr lang="en-US" sz="1250" dirty="0"/>
          </a:p>
        </p:txBody>
      </p:sp>
      <p:sp>
        <p:nvSpPr>
          <p:cNvPr id="8" name="Shape 6"/>
          <p:cNvSpPr/>
          <p:nvPr/>
        </p:nvSpPr>
        <p:spPr>
          <a:xfrm>
            <a:off x="6309360" y="1335024"/>
            <a:ext cx="292608" cy="292608"/>
          </a:xfrm>
          <a:prstGeom prst="ellipse">
            <a:avLst/>
          </a:prstGeom>
          <a:solidFill>
            <a:srgbClr val="D98E32"/>
          </a:solidFill>
          <a:ln/>
        </p:spPr>
      </p:sp>
      <p:sp>
        <p:nvSpPr>
          <p:cNvPr id="9" name="Text 7"/>
          <p:cNvSpPr/>
          <p:nvPr/>
        </p:nvSpPr>
        <p:spPr>
          <a:xfrm>
            <a:off x="6309360" y="1335024"/>
            <a:ext cx="292608" cy="292608"/>
          </a:xfrm>
          <a:prstGeom prst="rect">
            <a:avLst/>
          </a:prstGeom>
          <a:noFill/>
          <a:ln/>
        </p:spPr>
        <p:txBody>
          <a:bodyPr wrap="square" lIns="0" tIns="0" rIns="0" bIns="0" rtlCol="0" anchor="ctr"/>
          <a:lstStyle/>
          <a:p>
            <a:pPr algn="ctr" indent="0" marL="0">
              <a:buNone/>
            </a:pPr>
            <a:r>
              <a:rPr lang="en-US" sz="1500" b="1" dirty="0">
                <a:solidFill>
                  <a:srgbClr val="14291F"/>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6702552" y="1353312"/>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THE TRAPS</a:t>
            </a:r>
            <a:endParaRPr lang="en-US" sz="1100" dirty="0"/>
          </a:p>
        </p:txBody>
      </p:sp>
      <p:sp>
        <p:nvSpPr>
          <p:cNvPr id="11" name="Text 9"/>
          <p:cNvSpPr/>
          <p:nvPr/>
        </p:nvSpPr>
        <p:spPr>
          <a:xfrm>
            <a:off x="6309360" y="1755648"/>
            <a:ext cx="534924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Trusting published quantization curves for your model and task</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Going below 4-bit on a small model: the cliff is steep</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Evaluating the training checkpoint and shipping the quantized one</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Forgetting the chat template in the serving config</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Wrong stop tokens at serve time: endless generation returns</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Storing merged full models in git: regenerate them instead</a:t>
            </a:r>
            <a:endParaRPr lang="en-US" sz="1250" dirty="0"/>
          </a:p>
          <a:p>
            <a:pPr marL="342900" indent="-342900">
              <a:spcAft>
                <a:spcPts val="600"/>
              </a:spcAft>
              <a:buSzPct val="100000"/>
              <a:buChar char="•"/>
            </a:pPr>
            <a:r>
              <a:rPr lang="en-US" sz="1250" dirty="0">
                <a:solidFill>
                  <a:srgbClr val="A8482A"/>
                </a:solidFill>
                <a:latin typeface="Calibri" pitchFamily="34" charset="0"/>
                <a:ea typeface="Calibri" pitchFamily="34" charset="-122"/>
                <a:cs typeface="Calibri" pitchFamily="34" charset="-120"/>
              </a:rPr>
              <a:t>Declaring victory on benchmarks without ever using the model</a:t>
            </a:r>
            <a:endParaRPr lang="en-US" sz="1250" dirty="0"/>
          </a:p>
        </p:txBody>
      </p:sp>
      <p:sp>
        <p:nvSpPr>
          <p:cNvPr id="12" name="Shape 10"/>
          <p:cNvSpPr/>
          <p:nvPr/>
        </p:nvSpPr>
        <p:spPr>
          <a:xfrm>
            <a:off x="502920" y="5148072"/>
            <a:ext cx="11155680" cy="1051560"/>
          </a:xfrm>
          <a:prstGeom prst="roundRect">
            <a:avLst>
              <a:gd name="adj" fmla="val 6087"/>
            </a:avLst>
          </a:prstGeom>
          <a:solidFill>
            <a:srgbClr val="1F3D2E"/>
          </a:solidFill>
          <a:ln/>
        </p:spPr>
      </p:sp>
      <p:sp>
        <p:nvSpPr>
          <p:cNvPr id="13" name="Shape 11"/>
          <p:cNvSpPr/>
          <p:nvPr/>
        </p:nvSpPr>
        <p:spPr>
          <a:xfrm>
            <a:off x="740664" y="5330952"/>
            <a:ext cx="292608" cy="292608"/>
          </a:xfrm>
          <a:prstGeom prst="ellipse">
            <a:avLst/>
          </a:prstGeom>
          <a:solidFill>
            <a:srgbClr val="1F3D2E"/>
          </a:solidFill>
          <a:ln/>
        </p:spPr>
      </p:sp>
      <p:sp>
        <p:nvSpPr>
          <p:cNvPr id="14" name="Text 12"/>
          <p:cNvSpPr/>
          <p:nvPr/>
        </p:nvSpPr>
        <p:spPr>
          <a:xfrm>
            <a:off x="740664" y="5330952"/>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349240"/>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724144"/>
            <a:ext cx="10680192" cy="30175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The gap between 'scores well' and 'is useful' is only visible when you use the thing. Ship it to yourself first, use it for a week, and let the failures become your next eval set.</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170</a:t>
            </a:r>
            <a:endParaRPr lang="en-US" sz="9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CROSS-CUTTING</a:t>
            </a:r>
            <a:endParaRPr lang="en-US" sz="1250" dirty="0"/>
          </a:p>
        </p:txBody>
      </p:sp>
      <p:sp>
        <p:nvSpPr>
          <p:cNvPr id="3" name="Text 1"/>
          <p:cNvSpPr/>
          <p:nvPr/>
        </p:nvSpPr>
        <p:spPr>
          <a:xfrm>
            <a:off x="777240" y="23317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Operations and Debugging</a:t>
            </a:r>
            <a:endParaRPr lang="en-US" sz="4000" dirty="0"/>
          </a:p>
        </p:txBody>
      </p:sp>
      <p:sp>
        <p:nvSpPr>
          <p:cNvPr id="4" name="Text 2"/>
          <p:cNvSpPr/>
          <p:nvPr/>
        </p:nvSpPr>
        <p:spPr>
          <a:xfrm>
            <a:off x="777240" y="32004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Not a phase — a discipline you need from day one. Placed here because it is</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the reference you will come back to, not because it comes last.</a:t>
            </a:r>
            <a:endParaRPr lang="en-US" sz="1550" dirty="0"/>
          </a:p>
        </p:txBody>
      </p:sp>
      <p:sp>
        <p:nvSpPr>
          <p:cNvPr id="5" name="Text 3"/>
          <p:cNvSpPr/>
          <p:nvPr/>
        </p:nvSpPr>
        <p:spPr>
          <a:xfrm>
            <a:off x="777240" y="4892040"/>
            <a:ext cx="10607040" cy="237744"/>
          </a:xfrm>
          <a:prstGeom prst="rect">
            <a:avLst/>
          </a:prstGeom>
          <a:noFill/>
          <a:ln/>
        </p:spPr>
        <p:txBody>
          <a:bodyPr wrap="square" lIns="0" tIns="0" rIns="0" bIns="0" rtlCol="0" anchor="ctr"/>
          <a:lstStyle/>
          <a:p>
            <a:pPr indent="0" marL="0">
              <a:buNone/>
            </a:pPr>
            <a:r>
              <a:rPr lang="en-US" sz="900" b="1" spc="250" kern="0" dirty="0">
                <a:solidFill>
                  <a:srgbClr val="2A5240"/>
                </a:solidFill>
                <a:latin typeface="Calibri" pitchFamily="34" charset="0"/>
                <a:ea typeface="Calibri" pitchFamily="34" charset="-122"/>
                <a:cs typeface="Calibri" pitchFamily="34" charset="-120"/>
              </a:rPr>
              <a:t>WHERE YOU ARE</a:t>
            </a:r>
            <a:endParaRPr lang="en-US" sz="900" dirty="0"/>
          </a:p>
        </p:txBody>
      </p:sp>
      <p:sp>
        <p:nvSpPr>
          <p:cNvPr id="6" name="Shape 4"/>
          <p:cNvSpPr/>
          <p:nvPr/>
        </p:nvSpPr>
        <p:spPr>
          <a:xfrm>
            <a:off x="777240" y="5212080"/>
            <a:ext cx="829056" cy="73152"/>
          </a:xfrm>
          <a:prstGeom prst="rect">
            <a:avLst/>
          </a:prstGeom>
          <a:solidFill>
            <a:srgbClr val="2A5240"/>
          </a:solidFill>
          <a:ln/>
        </p:spPr>
      </p:sp>
      <p:sp>
        <p:nvSpPr>
          <p:cNvPr id="7" name="Text 5"/>
          <p:cNvSpPr/>
          <p:nvPr/>
        </p:nvSpPr>
        <p:spPr>
          <a:xfrm>
            <a:off x="6858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SETUP</a:t>
            </a:r>
            <a:endParaRPr lang="en-US" sz="750" dirty="0"/>
          </a:p>
        </p:txBody>
      </p:sp>
      <p:sp>
        <p:nvSpPr>
          <p:cNvPr id="8" name="Shape 6"/>
          <p:cNvSpPr/>
          <p:nvPr/>
        </p:nvSpPr>
        <p:spPr>
          <a:xfrm>
            <a:off x="1661160" y="5212080"/>
            <a:ext cx="829056" cy="73152"/>
          </a:xfrm>
          <a:prstGeom prst="rect">
            <a:avLst/>
          </a:prstGeom>
          <a:solidFill>
            <a:srgbClr val="2A5240"/>
          </a:solidFill>
          <a:ln/>
        </p:spPr>
      </p:sp>
      <p:sp>
        <p:nvSpPr>
          <p:cNvPr id="9" name="Text 7"/>
          <p:cNvSpPr/>
          <p:nvPr/>
        </p:nvSpPr>
        <p:spPr>
          <a:xfrm>
            <a:off x="15697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MODEL</a:t>
            </a:r>
            <a:endParaRPr lang="en-US" sz="750" dirty="0"/>
          </a:p>
        </p:txBody>
      </p:sp>
      <p:sp>
        <p:nvSpPr>
          <p:cNvPr id="10" name="Shape 8"/>
          <p:cNvSpPr/>
          <p:nvPr/>
        </p:nvSpPr>
        <p:spPr>
          <a:xfrm>
            <a:off x="2545080" y="5212080"/>
            <a:ext cx="829056" cy="73152"/>
          </a:xfrm>
          <a:prstGeom prst="rect">
            <a:avLst/>
          </a:prstGeom>
          <a:solidFill>
            <a:srgbClr val="2A5240"/>
          </a:solidFill>
          <a:ln/>
        </p:spPr>
      </p:sp>
      <p:sp>
        <p:nvSpPr>
          <p:cNvPr id="11" name="Text 9"/>
          <p:cNvSpPr/>
          <p:nvPr/>
        </p:nvSpPr>
        <p:spPr>
          <a:xfrm>
            <a:off x="24536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SANDBOX</a:t>
            </a:r>
            <a:endParaRPr lang="en-US" sz="750" dirty="0"/>
          </a:p>
        </p:txBody>
      </p:sp>
      <p:sp>
        <p:nvSpPr>
          <p:cNvPr id="12" name="Shape 10"/>
          <p:cNvSpPr/>
          <p:nvPr/>
        </p:nvSpPr>
        <p:spPr>
          <a:xfrm>
            <a:off x="3429000" y="5212080"/>
            <a:ext cx="829056" cy="73152"/>
          </a:xfrm>
          <a:prstGeom prst="rect">
            <a:avLst/>
          </a:prstGeom>
          <a:solidFill>
            <a:srgbClr val="2A5240"/>
          </a:solidFill>
          <a:ln/>
        </p:spPr>
      </p:sp>
      <p:sp>
        <p:nvSpPr>
          <p:cNvPr id="13" name="Text 11"/>
          <p:cNvSpPr/>
          <p:nvPr/>
        </p:nvSpPr>
        <p:spPr>
          <a:xfrm>
            <a:off x="333756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EVAL</a:t>
            </a:r>
            <a:endParaRPr lang="en-US" sz="750" dirty="0"/>
          </a:p>
        </p:txBody>
      </p:sp>
      <p:sp>
        <p:nvSpPr>
          <p:cNvPr id="14" name="Shape 12"/>
          <p:cNvSpPr/>
          <p:nvPr/>
        </p:nvSpPr>
        <p:spPr>
          <a:xfrm>
            <a:off x="4312920" y="5212080"/>
            <a:ext cx="829056" cy="73152"/>
          </a:xfrm>
          <a:prstGeom prst="rect">
            <a:avLst/>
          </a:prstGeom>
          <a:solidFill>
            <a:srgbClr val="2A5240"/>
          </a:solidFill>
          <a:ln/>
        </p:spPr>
      </p:sp>
      <p:sp>
        <p:nvSpPr>
          <p:cNvPr id="15" name="Text 13"/>
          <p:cNvSpPr/>
          <p:nvPr/>
        </p:nvSpPr>
        <p:spPr>
          <a:xfrm>
            <a:off x="422148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DATA</a:t>
            </a:r>
            <a:endParaRPr lang="en-US" sz="750" dirty="0"/>
          </a:p>
        </p:txBody>
      </p:sp>
      <p:sp>
        <p:nvSpPr>
          <p:cNvPr id="16" name="Shape 14"/>
          <p:cNvSpPr/>
          <p:nvPr/>
        </p:nvSpPr>
        <p:spPr>
          <a:xfrm>
            <a:off x="5196840" y="5212080"/>
            <a:ext cx="829056" cy="73152"/>
          </a:xfrm>
          <a:prstGeom prst="rect">
            <a:avLst/>
          </a:prstGeom>
          <a:solidFill>
            <a:srgbClr val="2A5240"/>
          </a:solidFill>
          <a:ln/>
        </p:spPr>
      </p:sp>
      <p:sp>
        <p:nvSpPr>
          <p:cNvPr id="17" name="Text 15"/>
          <p:cNvSpPr/>
          <p:nvPr/>
        </p:nvSpPr>
        <p:spPr>
          <a:xfrm>
            <a:off x="51054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SFT</a:t>
            </a:r>
            <a:endParaRPr lang="en-US" sz="750" dirty="0"/>
          </a:p>
        </p:txBody>
      </p:sp>
      <p:sp>
        <p:nvSpPr>
          <p:cNvPr id="18" name="Shape 16"/>
          <p:cNvSpPr/>
          <p:nvPr/>
        </p:nvSpPr>
        <p:spPr>
          <a:xfrm>
            <a:off x="6080760" y="5212080"/>
            <a:ext cx="829056" cy="73152"/>
          </a:xfrm>
          <a:prstGeom prst="rect">
            <a:avLst/>
          </a:prstGeom>
          <a:solidFill>
            <a:srgbClr val="2A5240"/>
          </a:solidFill>
          <a:ln/>
        </p:spPr>
      </p:sp>
      <p:sp>
        <p:nvSpPr>
          <p:cNvPr id="19" name="Text 17"/>
          <p:cNvSpPr/>
          <p:nvPr/>
        </p:nvSpPr>
        <p:spPr>
          <a:xfrm>
            <a:off x="598932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RFT</a:t>
            </a:r>
            <a:endParaRPr lang="en-US" sz="750" dirty="0"/>
          </a:p>
        </p:txBody>
      </p:sp>
      <p:sp>
        <p:nvSpPr>
          <p:cNvPr id="20" name="Shape 18"/>
          <p:cNvSpPr/>
          <p:nvPr/>
        </p:nvSpPr>
        <p:spPr>
          <a:xfrm>
            <a:off x="6964680" y="5212080"/>
            <a:ext cx="829056" cy="73152"/>
          </a:xfrm>
          <a:prstGeom prst="rect">
            <a:avLst/>
          </a:prstGeom>
          <a:solidFill>
            <a:srgbClr val="2A5240"/>
          </a:solidFill>
          <a:ln/>
        </p:spPr>
      </p:sp>
      <p:sp>
        <p:nvSpPr>
          <p:cNvPr id="21" name="Text 19"/>
          <p:cNvSpPr/>
          <p:nvPr/>
        </p:nvSpPr>
        <p:spPr>
          <a:xfrm>
            <a:off x="687324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DPO</a:t>
            </a:r>
            <a:endParaRPr lang="en-US" sz="750" dirty="0"/>
          </a:p>
        </p:txBody>
      </p:sp>
      <p:sp>
        <p:nvSpPr>
          <p:cNvPr id="22" name="Shape 20"/>
          <p:cNvSpPr/>
          <p:nvPr/>
        </p:nvSpPr>
        <p:spPr>
          <a:xfrm>
            <a:off x="7848600" y="5212080"/>
            <a:ext cx="829056" cy="73152"/>
          </a:xfrm>
          <a:prstGeom prst="rect">
            <a:avLst/>
          </a:prstGeom>
          <a:solidFill>
            <a:srgbClr val="2A5240"/>
          </a:solidFill>
          <a:ln/>
        </p:spPr>
      </p:sp>
      <p:sp>
        <p:nvSpPr>
          <p:cNvPr id="23" name="Text 21"/>
          <p:cNvSpPr/>
          <p:nvPr/>
        </p:nvSpPr>
        <p:spPr>
          <a:xfrm>
            <a:off x="775716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GRPO</a:t>
            </a:r>
            <a:endParaRPr lang="en-US" sz="750" dirty="0"/>
          </a:p>
        </p:txBody>
      </p:sp>
      <p:sp>
        <p:nvSpPr>
          <p:cNvPr id="24" name="Shape 22"/>
          <p:cNvSpPr/>
          <p:nvPr/>
        </p:nvSpPr>
        <p:spPr>
          <a:xfrm>
            <a:off x="8732520" y="5212080"/>
            <a:ext cx="829056" cy="73152"/>
          </a:xfrm>
          <a:prstGeom prst="rect">
            <a:avLst/>
          </a:prstGeom>
          <a:solidFill>
            <a:srgbClr val="2A5240"/>
          </a:solidFill>
          <a:ln/>
        </p:spPr>
      </p:sp>
      <p:sp>
        <p:nvSpPr>
          <p:cNvPr id="25" name="Text 23"/>
          <p:cNvSpPr/>
          <p:nvPr/>
        </p:nvSpPr>
        <p:spPr>
          <a:xfrm>
            <a:off x="864108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REPAIR</a:t>
            </a:r>
            <a:endParaRPr lang="en-US" sz="750" dirty="0"/>
          </a:p>
        </p:txBody>
      </p:sp>
      <p:sp>
        <p:nvSpPr>
          <p:cNvPr id="26" name="Shape 24"/>
          <p:cNvSpPr/>
          <p:nvPr/>
        </p:nvSpPr>
        <p:spPr>
          <a:xfrm>
            <a:off x="9616440" y="5212080"/>
            <a:ext cx="829056" cy="73152"/>
          </a:xfrm>
          <a:prstGeom prst="rect">
            <a:avLst/>
          </a:prstGeom>
          <a:solidFill>
            <a:srgbClr val="2A5240"/>
          </a:solidFill>
          <a:ln/>
        </p:spPr>
      </p:sp>
      <p:sp>
        <p:nvSpPr>
          <p:cNvPr id="27" name="Text 25"/>
          <p:cNvSpPr/>
          <p:nvPr/>
        </p:nvSpPr>
        <p:spPr>
          <a:xfrm>
            <a:off x="9525000" y="5468112"/>
            <a:ext cx="1011936" cy="219456"/>
          </a:xfrm>
          <a:prstGeom prst="rect">
            <a:avLst/>
          </a:prstGeom>
          <a:noFill/>
          <a:ln/>
        </p:spPr>
        <p:txBody>
          <a:bodyPr wrap="square" lIns="0" tIns="0" rIns="0" bIns="0" rtlCol="0" anchor="ctr"/>
          <a:lstStyle/>
          <a:p>
            <a:pPr algn="ctr" indent="0" marL="0">
              <a:buNone/>
            </a:pPr>
            <a:r>
              <a:rPr lang="en-US" sz="750" dirty="0">
                <a:solidFill>
                  <a:srgbClr val="7A9C85"/>
                </a:solidFill>
                <a:latin typeface="Calibri" pitchFamily="34" charset="0"/>
                <a:ea typeface="Calibri" pitchFamily="34" charset="-122"/>
                <a:cs typeface="Calibri" pitchFamily="34" charset="-120"/>
              </a:rPr>
              <a:t>MERGE</a:t>
            </a:r>
            <a:endParaRPr lang="en-US" sz="750" dirty="0"/>
          </a:p>
        </p:txBody>
      </p:sp>
      <p:sp>
        <p:nvSpPr>
          <p:cNvPr id="28" name="Shape 26"/>
          <p:cNvSpPr/>
          <p:nvPr/>
        </p:nvSpPr>
        <p:spPr>
          <a:xfrm>
            <a:off x="10500360" y="5212080"/>
            <a:ext cx="829056" cy="182880"/>
          </a:xfrm>
          <a:prstGeom prst="rect">
            <a:avLst/>
          </a:prstGeom>
          <a:solidFill>
            <a:srgbClr val="8FB573"/>
          </a:solidFill>
          <a:ln/>
        </p:spPr>
      </p:sp>
      <p:sp>
        <p:nvSpPr>
          <p:cNvPr id="29" name="Text 27"/>
          <p:cNvSpPr/>
          <p:nvPr/>
        </p:nvSpPr>
        <p:spPr>
          <a:xfrm>
            <a:off x="10408920" y="5468112"/>
            <a:ext cx="1011936" cy="219456"/>
          </a:xfrm>
          <a:prstGeom prst="rect">
            <a:avLst/>
          </a:prstGeom>
          <a:noFill/>
          <a:ln/>
        </p:spPr>
        <p:txBody>
          <a:bodyPr wrap="square" lIns="0" tIns="0" rIns="0" bIns="0" rtlCol="0" anchor="ctr"/>
          <a:lstStyle/>
          <a:p>
            <a:pPr algn="ctr" indent="0" marL="0">
              <a:buNone/>
            </a:pPr>
            <a:r>
              <a:rPr lang="en-US" sz="750" b="1" dirty="0">
                <a:solidFill>
                  <a:srgbClr val="8FB573"/>
                </a:solidFill>
                <a:latin typeface="Calibri" pitchFamily="34" charset="0"/>
                <a:ea typeface="Calibri" pitchFamily="34" charset="-122"/>
                <a:cs typeface="Calibri" pitchFamily="34" charset="-120"/>
              </a:rPr>
              <a:t>SERVE</a:t>
            </a:r>
            <a:endParaRPr lang="en-US" sz="750" dirty="0"/>
          </a:p>
        </p:txBody>
      </p:sp>
      <p:sp>
        <p:nvSpPr>
          <p:cNvPr id="30" name="Text 28"/>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171</a:t>
            </a:r>
            <a:endParaRPr lang="en-US" sz="95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OPS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Experiment discipline — the habits that compound</a:t>
            </a:r>
            <a:endParaRPr lang="en-US" sz="2900" dirty="0"/>
          </a:p>
        </p:txBody>
      </p:sp>
      <p:sp>
        <p:nvSpPr>
          <p:cNvPr id="4" name="Shape 2"/>
          <p:cNvSpPr/>
          <p:nvPr/>
        </p:nvSpPr>
        <p:spPr>
          <a:xfrm>
            <a:off x="502920" y="1280160"/>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463802"/>
            <a:ext cx="402336" cy="402336"/>
          </a:xfrm>
          <a:prstGeom prst="ellipse">
            <a:avLst/>
          </a:prstGeom>
          <a:solidFill>
            <a:srgbClr val="8FB573"/>
          </a:solidFill>
          <a:ln/>
        </p:spPr>
      </p:sp>
      <p:sp>
        <p:nvSpPr>
          <p:cNvPr id="6" name="Text 4"/>
          <p:cNvSpPr/>
          <p:nvPr/>
        </p:nvSpPr>
        <p:spPr>
          <a:xfrm>
            <a:off x="749808" y="146380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One variable per experiment</a:t>
            </a:r>
            <a:endParaRPr lang="en-US" sz="1300" dirty="0"/>
          </a:p>
        </p:txBody>
      </p:sp>
      <p:sp>
        <p:nvSpPr>
          <p:cNvPr id="8" name="Text 6"/>
          <p:cNvSpPr/>
          <p:nvPr/>
        </p:nvSpPr>
        <p:spPr>
          <a:xfrm>
            <a:off x="1316736" y="1700784"/>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If you change the learning rate AND the dataset, you have learned nothing about either. This is tedious and it is the entire scientific content of the work.</a:t>
            </a:r>
            <a:endParaRPr lang="en-US" sz="1150" dirty="0"/>
          </a:p>
        </p:txBody>
      </p:sp>
      <p:sp>
        <p:nvSpPr>
          <p:cNvPr id="9" name="Shape 7"/>
          <p:cNvSpPr/>
          <p:nvPr/>
        </p:nvSpPr>
        <p:spPr>
          <a:xfrm>
            <a:off x="502920" y="2159508"/>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343150"/>
            <a:ext cx="402336" cy="402336"/>
          </a:xfrm>
          <a:prstGeom prst="ellipse">
            <a:avLst/>
          </a:prstGeom>
          <a:solidFill>
            <a:srgbClr val="8FB573"/>
          </a:solidFill>
          <a:ln/>
        </p:spPr>
      </p:sp>
      <p:sp>
        <p:nvSpPr>
          <p:cNvPr id="11" name="Text 9"/>
          <p:cNvSpPr/>
          <p:nvPr/>
        </p:nvSpPr>
        <p:spPr>
          <a:xfrm>
            <a:off x="749808" y="2343150"/>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287524"/>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Every run has a committed config</a:t>
            </a:r>
            <a:endParaRPr lang="en-US" sz="1300" dirty="0"/>
          </a:p>
        </p:txBody>
      </p:sp>
      <p:sp>
        <p:nvSpPr>
          <p:cNvPr id="13" name="Text 11"/>
          <p:cNvSpPr/>
          <p:nvPr/>
        </p:nvSpPr>
        <p:spPr>
          <a:xfrm>
            <a:off x="1316736" y="2580132"/>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Committed BEFORE the run, not reconstructed after. A config written after the fact is a memory, not a record.</a:t>
            </a:r>
            <a:endParaRPr lang="en-US" sz="1150" dirty="0"/>
          </a:p>
        </p:txBody>
      </p:sp>
      <p:sp>
        <p:nvSpPr>
          <p:cNvPr id="14" name="Shape 12"/>
          <p:cNvSpPr/>
          <p:nvPr/>
        </p:nvSpPr>
        <p:spPr>
          <a:xfrm>
            <a:off x="502920" y="3038856"/>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3222498"/>
            <a:ext cx="402336" cy="402336"/>
          </a:xfrm>
          <a:prstGeom prst="ellipse">
            <a:avLst/>
          </a:prstGeom>
          <a:solidFill>
            <a:srgbClr val="8FB573"/>
          </a:solidFill>
          <a:ln/>
        </p:spPr>
      </p:sp>
      <p:sp>
        <p:nvSpPr>
          <p:cNvPr id="16" name="Text 14"/>
          <p:cNvSpPr/>
          <p:nvPr/>
        </p:nvSpPr>
        <p:spPr>
          <a:xfrm>
            <a:off x="749808" y="322249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3166872"/>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Every result names its config and data version</a:t>
            </a:r>
            <a:endParaRPr lang="en-US" sz="1300" dirty="0"/>
          </a:p>
        </p:txBody>
      </p:sp>
      <p:sp>
        <p:nvSpPr>
          <p:cNvPr id="18" name="Text 16"/>
          <p:cNvSpPr/>
          <p:nvPr/>
        </p:nvSpPr>
        <p:spPr>
          <a:xfrm>
            <a:off x="1316736" y="3459480"/>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results/07-rft.md says which config file and which data version produced each number. Without that link, the number is folklore.</a:t>
            </a:r>
            <a:endParaRPr lang="en-US" sz="1150" dirty="0"/>
          </a:p>
        </p:txBody>
      </p:sp>
      <p:sp>
        <p:nvSpPr>
          <p:cNvPr id="19" name="Shape 17"/>
          <p:cNvSpPr/>
          <p:nvPr/>
        </p:nvSpPr>
        <p:spPr>
          <a:xfrm>
            <a:off x="502920" y="3918204"/>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4101846"/>
            <a:ext cx="402336" cy="402336"/>
          </a:xfrm>
          <a:prstGeom prst="ellipse">
            <a:avLst/>
          </a:prstGeom>
          <a:solidFill>
            <a:srgbClr val="8FB573"/>
          </a:solidFill>
          <a:ln/>
        </p:spPr>
      </p:sp>
      <p:sp>
        <p:nvSpPr>
          <p:cNvPr id="21" name="Text 19"/>
          <p:cNvSpPr/>
          <p:nvPr/>
        </p:nvSpPr>
        <p:spPr>
          <a:xfrm>
            <a:off x="749808" y="4101846"/>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404622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Three seeds, always, before you believe anything</a:t>
            </a:r>
            <a:endParaRPr lang="en-US" sz="1300" dirty="0"/>
          </a:p>
        </p:txBody>
      </p:sp>
      <p:sp>
        <p:nvSpPr>
          <p:cNvPr id="23" name="Text 21"/>
          <p:cNvSpPr/>
          <p:nvPr/>
        </p:nvSpPr>
        <p:spPr>
          <a:xfrm>
            <a:off x="1316736" y="4338828"/>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The single habit that most reduces wasted work. Most 'improvements' evaporate at the second seed.</a:t>
            </a:r>
            <a:endParaRPr lang="en-US" sz="1150" dirty="0"/>
          </a:p>
        </p:txBody>
      </p:sp>
      <p:sp>
        <p:nvSpPr>
          <p:cNvPr id="24" name="Shape 22"/>
          <p:cNvSpPr/>
          <p:nvPr/>
        </p:nvSpPr>
        <p:spPr>
          <a:xfrm>
            <a:off x="502920" y="4797552"/>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4981194"/>
            <a:ext cx="402336" cy="402336"/>
          </a:xfrm>
          <a:prstGeom prst="ellipse">
            <a:avLst/>
          </a:prstGeom>
          <a:solidFill>
            <a:srgbClr val="8FB573"/>
          </a:solidFill>
          <a:ln/>
        </p:spPr>
      </p:sp>
      <p:sp>
        <p:nvSpPr>
          <p:cNvPr id="26" name="Text 24"/>
          <p:cNvSpPr/>
          <p:nvPr/>
        </p:nvSpPr>
        <p:spPr>
          <a:xfrm>
            <a:off x="749808" y="4981194"/>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4925568"/>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Write down what failed</a:t>
            </a:r>
            <a:endParaRPr lang="en-US" sz="1300" dirty="0"/>
          </a:p>
        </p:txBody>
      </p:sp>
      <p:sp>
        <p:nvSpPr>
          <p:cNvPr id="28" name="Text 26"/>
          <p:cNvSpPr/>
          <p:nvPr/>
        </p:nvSpPr>
        <p:spPr>
          <a:xfrm>
            <a:off x="1316736" y="5218176"/>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A results file with only successes is a marketing document. The failures are where the transferable knowledge lives.</a:t>
            </a:r>
            <a:endParaRPr lang="en-US" sz="1150" dirty="0"/>
          </a:p>
        </p:txBody>
      </p:sp>
      <p:sp>
        <p:nvSpPr>
          <p:cNvPr id="29" name="Shape 27"/>
          <p:cNvSpPr/>
          <p:nvPr/>
        </p:nvSpPr>
        <p:spPr>
          <a:xfrm>
            <a:off x="502920" y="5676900"/>
            <a:ext cx="11155680" cy="769620"/>
          </a:xfrm>
          <a:prstGeom prst="roundRect">
            <a:avLst>
              <a:gd name="adj" fmla="val 8317"/>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749808" y="5860542"/>
            <a:ext cx="402336" cy="402336"/>
          </a:xfrm>
          <a:prstGeom prst="ellipse">
            <a:avLst/>
          </a:prstGeom>
          <a:solidFill>
            <a:srgbClr val="8FB573"/>
          </a:solidFill>
          <a:ln/>
        </p:spPr>
      </p:sp>
      <p:sp>
        <p:nvSpPr>
          <p:cNvPr id="31" name="Text 29"/>
          <p:cNvSpPr/>
          <p:nvPr/>
        </p:nvSpPr>
        <p:spPr>
          <a:xfrm>
            <a:off x="749808" y="586054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1316736" y="580491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Log rollouts, not just metrics</a:t>
            </a:r>
            <a:endParaRPr lang="en-US" sz="1300" dirty="0"/>
          </a:p>
        </p:txBody>
      </p:sp>
      <p:sp>
        <p:nvSpPr>
          <p:cNvPr id="33" name="Text 31"/>
          <p:cNvSpPr/>
          <p:nvPr/>
        </p:nvSpPr>
        <p:spPr>
          <a:xfrm>
            <a:off x="1316736" y="6097524"/>
            <a:ext cx="10058400" cy="257556"/>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Every phase from 7 onward: sample outputs to a table. Metrics tell you THAT something changed; samples tell you WHAT changed.</a:t>
            </a:r>
            <a:endParaRPr lang="en-US" sz="1150" dirty="0"/>
          </a:p>
        </p:txBody>
      </p:sp>
      <p:sp>
        <p:nvSpPr>
          <p:cNvPr id="34" name="Text 32"/>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172</a:t>
            </a:r>
            <a:endParaRPr lang="en-US" sz="9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OPS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reproducibility checklist</a:t>
            </a:r>
            <a:endParaRPr lang="en-US" sz="2900" dirty="0"/>
          </a:p>
        </p:txBody>
      </p:sp>
      <p:sp>
        <p:nvSpPr>
          <p:cNvPr id="4" name="Shape 2"/>
          <p:cNvSpPr/>
          <p:nvPr/>
        </p:nvSpPr>
        <p:spPr>
          <a:xfrm>
            <a:off x="502920" y="1280160"/>
            <a:ext cx="5486400" cy="2926080"/>
          </a:xfrm>
          <a:prstGeom prst="roundRect">
            <a:avLst>
              <a:gd name="adj" fmla="val 218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SEED EVERYTHING</a:t>
            </a:r>
            <a:endParaRPr lang="en-US" sz="1250" dirty="0"/>
          </a:p>
        </p:txBody>
      </p:sp>
      <p:sp>
        <p:nvSpPr>
          <p:cNvPr id="6" name="Text 4"/>
          <p:cNvSpPr/>
          <p:nvPr/>
        </p:nvSpPr>
        <p:spPr>
          <a:xfrm>
            <a:off x="758952" y="1810512"/>
            <a:ext cx="4974336" cy="223113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random.seed(s)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numpy.random.seed(s)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torch.manual_seed(s)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torch.cuda.manual_seed_all(s)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DataLoader worker_init_fn and generator</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transformers.set_seed(s) covers most of these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Partial seeding is worse than none — it looks reproducible</a:t>
            </a:r>
            <a:endParaRPr lang="en-US" sz="1150" dirty="0"/>
          </a:p>
        </p:txBody>
      </p:sp>
      <p:sp>
        <p:nvSpPr>
          <p:cNvPr id="7" name="Shape 5"/>
          <p:cNvSpPr/>
          <p:nvPr/>
        </p:nvSpPr>
        <p:spPr>
          <a:xfrm>
            <a:off x="6172200" y="1280160"/>
            <a:ext cx="5486400" cy="2926080"/>
          </a:xfrm>
          <a:prstGeom prst="roundRect">
            <a:avLst>
              <a:gd name="adj" fmla="val 218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RECORD EVERYTHING</a:t>
            </a:r>
            <a:endParaRPr lang="en-US" sz="1250" dirty="0"/>
          </a:p>
        </p:txBody>
      </p:sp>
      <p:sp>
        <p:nvSpPr>
          <p:cNvPr id="9" name="Text 7"/>
          <p:cNvSpPr/>
          <p:nvPr/>
        </p:nvSpPr>
        <p:spPr>
          <a:xfrm>
            <a:off x="6428232" y="1810512"/>
            <a:ext cx="4974336" cy="223113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Git SHA of the training code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Data version tag (v3-curated-10k)</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Chat template name and version</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Full config file as a W&amp;B artifact</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Library versions (pip freeze)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GPU model and driver version</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The exact eval harness commit</a:t>
            </a:r>
            <a:endParaRPr lang="en-US" sz="1150" dirty="0"/>
          </a:p>
        </p:txBody>
      </p:sp>
      <p:sp>
        <p:nvSpPr>
          <p:cNvPr id="10" name="Shape 8"/>
          <p:cNvSpPr/>
          <p:nvPr/>
        </p:nvSpPr>
        <p:spPr>
          <a:xfrm>
            <a:off x="502920" y="4434840"/>
            <a:ext cx="11155680" cy="566928"/>
          </a:xfrm>
          <a:prstGeom prst="roundRect">
            <a:avLst>
              <a:gd name="adj" fmla="val 9677"/>
            </a:avLst>
          </a:prstGeom>
          <a:solidFill>
            <a:srgbClr val="8FB573"/>
          </a:solidFill>
          <a:ln/>
        </p:spPr>
      </p:sp>
      <p:sp>
        <p:nvSpPr>
          <p:cNvPr id="11" name="Text 9"/>
          <p:cNvSpPr/>
          <p:nvPr/>
        </p:nvSpPr>
        <p:spPr>
          <a:xfrm>
            <a:off x="777240" y="443484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Test: can you regenerate any number in results/ six weeks from now, from the repo alone? If not, it is not a result.</a:t>
            </a:r>
            <a:endParaRPr lang="en-US" sz="1450" dirty="0"/>
          </a:p>
        </p:txBody>
      </p:sp>
      <p:sp>
        <p:nvSpPr>
          <p:cNvPr id="12" name="Shape 10"/>
          <p:cNvSpPr/>
          <p:nvPr/>
        </p:nvSpPr>
        <p:spPr>
          <a:xfrm>
            <a:off x="502920" y="5212080"/>
            <a:ext cx="11155680" cy="1143000"/>
          </a:xfrm>
          <a:prstGeom prst="roundRect">
            <a:avLst>
              <a:gd name="adj" fmla="val 5600"/>
            </a:avLst>
          </a:prstGeom>
          <a:solidFill>
            <a:srgbClr val="1F3D2E"/>
          </a:solidFill>
          <a:ln/>
        </p:spPr>
      </p:sp>
      <p:sp>
        <p:nvSpPr>
          <p:cNvPr id="13" name="Shape 11"/>
          <p:cNvSpPr/>
          <p:nvPr/>
        </p:nvSpPr>
        <p:spPr>
          <a:xfrm>
            <a:off x="740664" y="5394960"/>
            <a:ext cx="292608" cy="292608"/>
          </a:xfrm>
          <a:prstGeom prst="ellipse">
            <a:avLst/>
          </a:prstGeom>
          <a:solidFill>
            <a:srgbClr val="1F3D2E"/>
          </a:solidFill>
          <a:ln/>
        </p:spPr>
      </p:sp>
      <p:sp>
        <p:nvSpPr>
          <p:cNvPr id="14" name="Text 12"/>
          <p:cNvSpPr/>
          <p:nvPr/>
        </p:nvSpPr>
        <p:spPr>
          <a:xfrm>
            <a:off x="740664" y="539496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5" name="Text 13"/>
          <p:cNvSpPr/>
          <p:nvPr/>
        </p:nvSpPr>
        <p:spPr>
          <a:xfrm>
            <a:off x="1133856" y="541324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6" name="Text 14"/>
          <p:cNvSpPr/>
          <p:nvPr/>
        </p:nvSpPr>
        <p:spPr>
          <a:xfrm>
            <a:off x="740664" y="5788152"/>
            <a:ext cx="10680192" cy="3931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Three weeks in I had a checkpoint that scored better than anything since, and no idea what produced it. I never reproduced it. That single lost result cost me more than the entire discipline of committing configs first has cost since.</a:t>
            </a:r>
            <a:endParaRPr lang="en-US" sz="1150" dirty="0"/>
          </a:p>
        </p:txBody>
      </p:sp>
      <p:sp>
        <p:nvSpPr>
          <p:cNvPr id="17" name="Text 1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173</a:t>
            </a:r>
            <a:endParaRPr lang="en-US" sz="95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OPS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Debugging — CUDA out of memory</a:t>
            </a:r>
            <a:endParaRPr lang="en-US" sz="2900" dirty="0"/>
          </a:p>
        </p:txBody>
      </p:sp>
      <p:graphicFrame>
        <p:nvGraphicFramePr>
          <p:cNvPr id="17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291840"/>
                <a:gridCol w="2468880"/>
                <a:gridCol w="2560320"/>
                <a:gridCol w="283464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Lever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Memory saved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Cost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Try in this order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Close other GPU processes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0.3–0.8 GB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 — nvidia-smi first, always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Lower max_seq_length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Large — scales linearly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Truncates long examples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 — biggest lever by far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gradient_checkpointing=True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Large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~30% slower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Use Unsloth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50–70%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CUDA-only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4 — should already be 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per_device_batch=1 + accumulation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Moderate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Slower wall clock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5 — quality unaffected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paged_adamw_8bit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Small, but survives spikes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Slight slowdown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expandable_segments:True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Fragmentation relief</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7 — env var, free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Lower LoRA rank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Less capacity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8 — rarely the real problem</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Smaller model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Large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You are here to learn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9 — last resort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892040"/>
            <a:ext cx="11155680" cy="1280160"/>
          </a:xfrm>
          <a:prstGeom prst="roundRect">
            <a:avLst>
              <a:gd name="adj" fmla="val 4286"/>
            </a:avLst>
          </a:prstGeom>
          <a:solidFill>
            <a:srgbClr val="0F1F17"/>
          </a:solidFill>
          <a:ln/>
        </p:spPr>
      </p:sp>
      <p:sp>
        <p:nvSpPr>
          <p:cNvPr id="6" name="Text 3"/>
          <p:cNvSpPr/>
          <p:nvPr/>
        </p:nvSpPr>
        <p:spPr>
          <a:xfrm>
            <a:off x="722376" y="5038344"/>
            <a:ext cx="10716768" cy="98755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Find out where the memory actually went</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print(torch.cuda.memory_allocated()/1e9, torch.cuda.memory_reserved()/1e9)</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print(torch.cuda.memory_summary())          # detailed per-allocator breakdown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export PYTORCH_CUDA_ALLOC_CONF=expandable_segments:True   # helps a lot on 4GB</a:t>
            </a:r>
            <a:endParaRPr lang="en-US" sz="1000" dirty="0"/>
          </a:p>
        </p:txBody>
      </p:sp>
      <p:sp>
        <p:nvSpPr>
          <p:cNvPr id="7" name="Text 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174</a:t>
            </a:r>
            <a:endParaRPr lang="en-US" sz="9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OPS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Debugging — NaN, loss spikes, and divergence</a:t>
            </a:r>
            <a:endParaRPr lang="en-US" sz="2900" dirty="0"/>
          </a:p>
        </p:txBody>
      </p:sp>
      <p:graphicFrame>
        <p:nvGraphicFramePr>
          <p:cNvPr id="17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743200"/>
                <a:gridCol w="2743200"/>
                <a:gridCol w="2926080"/>
                <a:gridCol w="2743200"/>
              </a:tblGrid>
              <a:tr h="4023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Symptom</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Most likely cause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Diagnostic</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Fix</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402336">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NaN on step 1</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fp16 overflow in attention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Check dtype config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Use bf16 — your card supports it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NaN after many steps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LR too high; gradient explosion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Plot grad_norm — it climbs first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Lower LR 3x; add max_grad_norm=1.0</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Loss spikes then recovers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 single bad batch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Log the batch index at the spike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Usually benign; inspect that data slice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Loss spikes and stays high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Optimizer state corrupted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Check for inf in the data</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Restart from the last good checkpoint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Loss slowly climbing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LR too high for this stage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grad_norm trending up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Lower LR; check the schedule is decaying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GRPO reward → NaN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Extreme advantage; std near zero</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Log reward std per group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Clip advantages; add eps to the denominator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Everything NaN after resume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Optimizer state not restored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Compare LR and step count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Resume properly, or restart the schedule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480560"/>
            <a:ext cx="11155680" cy="566928"/>
          </a:xfrm>
          <a:prstGeom prst="roundRect">
            <a:avLst>
              <a:gd name="adj" fmla="val 9677"/>
            </a:avLst>
          </a:prstGeom>
          <a:solidFill>
            <a:srgbClr val="8FB573"/>
          </a:solidFill>
          <a:ln/>
        </p:spPr>
      </p:sp>
      <p:sp>
        <p:nvSpPr>
          <p:cNvPr id="6" name="Text 3"/>
          <p:cNvSpPr/>
          <p:nvPr/>
        </p:nvSpPr>
        <p:spPr>
          <a:xfrm>
            <a:off x="777240" y="448056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grad_norm is your early-warning system. It rises before the loss does. Log it every step in every phase.</a:t>
            </a:r>
            <a:endParaRPr lang="en-US" sz="1450" dirty="0"/>
          </a:p>
        </p:txBody>
      </p:sp>
      <p:sp>
        <p:nvSpPr>
          <p:cNvPr id="7" name="Shape 4"/>
          <p:cNvSpPr/>
          <p:nvPr/>
        </p:nvSpPr>
        <p:spPr>
          <a:xfrm>
            <a:off x="502920" y="5212080"/>
            <a:ext cx="11155680" cy="1143000"/>
          </a:xfrm>
          <a:prstGeom prst="roundRect">
            <a:avLst>
              <a:gd name="adj" fmla="val 5600"/>
            </a:avLst>
          </a:prstGeom>
          <a:solidFill>
            <a:srgbClr val="1F3D2E"/>
          </a:solidFill>
          <a:ln/>
        </p:spPr>
      </p:sp>
      <p:sp>
        <p:nvSpPr>
          <p:cNvPr id="8" name="Shape 5"/>
          <p:cNvSpPr/>
          <p:nvPr/>
        </p:nvSpPr>
        <p:spPr>
          <a:xfrm>
            <a:off x="740664" y="5394960"/>
            <a:ext cx="292608" cy="292608"/>
          </a:xfrm>
          <a:prstGeom prst="ellipse">
            <a:avLst/>
          </a:prstGeom>
          <a:solidFill>
            <a:srgbClr val="1F3D2E"/>
          </a:solidFill>
          <a:ln/>
        </p:spPr>
      </p:sp>
      <p:sp>
        <p:nvSpPr>
          <p:cNvPr id="9" name="Text 6"/>
          <p:cNvSpPr/>
          <p:nvPr/>
        </p:nvSpPr>
        <p:spPr>
          <a:xfrm>
            <a:off x="740664" y="539496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10" name="Text 7"/>
          <p:cNvSpPr/>
          <p:nvPr/>
        </p:nvSpPr>
        <p:spPr>
          <a:xfrm>
            <a:off x="1133856" y="541324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11" name="Text 8"/>
          <p:cNvSpPr/>
          <p:nvPr/>
        </p:nvSpPr>
        <p:spPr>
          <a:xfrm>
            <a:off x="740664" y="5788152"/>
            <a:ext cx="10680192" cy="39319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fp16 NaN on step 1 is so common it is almost a rite of passage. Ampere and later support bfloat16, which has fp32's exponent range. There is no reason to use fp16 on your card, and one very good reason not to.</a:t>
            </a:r>
            <a:endParaRPr lang="en-US" sz="1150" dirty="0"/>
          </a:p>
        </p:txBody>
      </p:sp>
      <p:sp>
        <p:nvSpPr>
          <p:cNvPr id="12" name="Text 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175</a:t>
            </a:r>
            <a:endParaRPr lang="en-US" sz="95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OPS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Debugging — slow training and wrong output</a:t>
            </a:r>
            <a:endParaRPr lang="en-US" sz="2900" dirty="0"/>
          </a:p>
        </p:txBody>
      </p:sp>
      <p:sp>
        <p:nvSpPr>
          <p:cNvPr id="4" name="Shape 2"/>
          <p:cNvSpPr/>
          <p:nvPr/>
        </p:nvSpPr>
        <p:spPr>
          <a:xfrm>
            <a:off x="502920" y="1280160"/>
            <a:ext cx="5486400" cy="2834640"/>
          </a:xfrm>
          <a:prstGeom prst="roundRect">
            <a:avLst>
              <a:gd name="adj" fmla="val 225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58952" y="1444752"/>
            <a:ext cx="4974336" cy="292608"/>
          </a:xfrm>
          <a:prstGeom prst="rect">
            <a:avLst/>
          </a:prstGeom>
          <a:noFill/>
          <a:ln/>
        </p:spPr>
        <p:txBody>
          <a:bodyPr wrap="square" lIns="0" tIns="0" rIns="0" bIns="0" rtlCol="0" anchor="ctr"/>
          <a:lstStyle/>
          <a:p>
            <a:pPr indent="0" marL="0">
              <a:buNone/>
            </a:pPr>
            <a:r>
              <a:rPr lang="en-US" sz="1250" b="1" spc="120" kern="0" dirty="0">
                <a:solidFill>
                  <a:srgbClr val="8FB573"/>
                </a:solidFill>
                <a:latin typeface="Calibri" pitchFamily="34" charset="0"/>
                <a:ea typeface="Calibri" pitchFamily="34" charset="-122"/>
                <a:cs typeface="Calibri" pitchFamily="34" charset="-120"/>
              </a:rPr>
              <a:t>TRAINING IS MYSTERIOUSLY SLOW</a:t>
            </a:r>
            <a:endParaRPr lang="en-US" sz="1250" dirty="0"/>
          </a:p>
        </p:txBody>
      </p:sp>
      <p:sp>
        <p:nvSpPr>
          <p:cNvPr id="6" name="Text 4"/>
          <p:cNvSpPr/>
          <p:nvPr/>
        </p:nvSpPr>
        <p:spPr>
          <a:xfrm>
            <a:off x="758952" y="1810512"/>
            <a:ext cx="4974336" cy="213969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Silently on CPU — assert the device, do not assume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MPS fallback on the Mac: many ops go to CPU with no warning</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Gradient checkpointing on when you no longer need it (~30%)</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Dataloader starved — raise num_workers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Padding instead of packing: up to 60% wasted compute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Flash Attention not installed</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Thermal throttling on a laptop — check clocks under load</a:t>
            </a:r>
            <a:endParaRPr lang="en-US" sz="1150" dirty="0"/>
          </a:p>
        </p:txBody>
      </p:sp>
      <p:sp>
        <p:nvSpPr>
          <p:cNvPr id="7" name="Shape 5"/>
          <p:cNvSpPr/>
          <p:nvPr/>
        </p:nvSpPr>
        <p:spPr>
          <a:xfrm>
            <a:off x="6172200" y="1280160"/>
            <a:ext cx="5486400" cy="2834640"/>
          </a:xfrm>
          <a:prstGeom prst="roundRect">
            <a:avLst>
              <a:gd name="adj" fmla="val 2258"/>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8" name="Text 6"/>
          <p:cNvSpPr/>
          <p:nvPr/>
        </p:nvSpPr>
        <p:spPr>
          <a:xfrm>
            <a:off x="6428232" y="1444752"/>
            <a:ext cx="4974336" cy="292608"/>
          </a:xfrm>
          <a:prstGeom prst="rect">
            <a:avLst/>
          </a:prstGeom>
          <a:noFill/>
          <a:ln/>
        </p:spPr>
        <p:txBody>
          <a:bodyPr wrap="square" lIns="0" tIns="0" rIns="0" bIns="0" rtlCol="0" anchor="ctr"/>
          <a:lstStyle/>
          <a:p>
            <a:pPr indent="0" marL="0">
              <a:buNone/>
            </a:pPr>
            <a:r>
              <a:rPr lang="en-US" sz="1250" b="1" spc="120" kern="0" dirty="0">
                <a:solidFill>
                  <a:srgbClr val="A8482A"/>
                </a:solidFill>
                <a:latin typeface="Calibri" pitchFamily="34" charset="0"/>
                <a:ea typeface="Calibri" pitchFamily="34" charset="-122"/>
                <a:cs typeface="Calibri" pitchFamily="34" charset="-120"/>
              </a:rPr>
              <a:t>MODEL OUTPUTS GARBAGE</a:t>
            </a:r>
            <a:endParaRPr lang="en-US" sz="1250" dirty="0"/>
          </a:p>
        </p:txBody>
      </p:sp>
      <p:sp>
        <p:nvSpPr>
          <p:cNvPr id="9" name="Text 7"/>
          <p:cNvSpPr/>
          <p:nvPr/>
        </p:nvSpPr>
        <p:spPr>
          <a:xfrm>
            <a:off x="6428232" y="1810512"/>
            <a:ext cx="4974336" cy="213969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Chat template mismatch between train and inference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Wrong EOS token: generation never terminates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Loss masking wrong: learned to predict prompts</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LR far too high: collapsed into repetition</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Adapter not actually loaded at inference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Quantization applied twice</a:t>
            </a:r>
            <a:endParaRPr lang="en-US" sz="1150" dirty="0"/>
          </a:p>
          <a:p>
            <a:pPr marL="342900" indent="-342900">
              <a:spcAft>
                <a:spcPts val="600"/>
              </a:spcAft>
              <a:buSzPct val="100000"/>
              <a:buChar char="•"/>
            </a:pPr>
            <a:r>
              <a:rPr lang="en-US" sz="1150" dirty="0">
                <a:solidFill>
                  <a:srgbClr val="16211B"/>
                </a:solidFill>
                <a:latin typeface="Calibri" pitchFamily="34" charset="0"/>
                <a:ea typeface="Calibri" pitchFamily="34" charset="-122"/>
                <a:cs typeface="Calibri" pitchFamily="34" charset="-120"/>
              </a:rPr>
              <a:t>Sampling params differ from evaluation defaults</a:t>
            </a:r>
            <a:endParaRPr lang="en-US" sz="1150" dirty="0"/>
          </a:p>
        </p:txBody>
      </p:sp>
      <p:sp>
        <p:nvSpPr>
          <p:cNvPr id="10" name="Shape 8"/>
          <p:cNvSpPr/>
          <p:nvPr/>
        </p:nvSpPr>
        <p:spPr>
          <a:xfrm>
            <a:off x="502920" y="4343400"/>
            <a:ext cx="11155680" cy="1371600"/>
          </a:xfrm>
          <a:prstGeom prst="roundRect">
            <a:avLst>
              <a:gd name="adj" fmla="val 4000"/>
            </a:avLst>
          </a:prstGeom>
          <a:solidFill>
            <a:srgbClr val="0F1F17"/>
          </a:solidFill>
          <a:ln/>
        </p:spPr>
      </p:sp>
      <p:sp>
        <p:nvSpPr>
          <p:cNvPr id="11" name="Text 9"/>
          <p:cNvSpPr/>
          <p:nvPr/>
        </p:nvSpPr>
        <p:spPr>
          <a:xfrm>
            <a:off x="722376" y="4489704"/>
            <a:ext cx="10716768" cy="1078992"/>
          </a:xfrm>
          <a:prstGeom prst="rect">
            <a:avLst/>
          </a:prstGeom>
          <a:noFill/>
          <a:ln/>
        </p:spPr>
        <p:txBody>
          <a:bodyPr wrap="square" lIns="0" tIns="0" rIns="0" bIns="0" rtlCol="0" anchor="t"/>
          <a:lstStyle/>
          <a:p>
            <a:pPr indent="0" marL="0">
              <a:lnSpc>
                <a:spcPct val="112000"/>
              </a:lnSpc>
              <a:buNone/>
            </a:pPr>
            <a:r>
              <a:rPr lang="en-US" sz="1000" dirty="0">
                <a:solidFill>
                  <a:srgbClr val="8FB573"/>
                </a:solidFill>
                <a:latin typeface="Courier New" pitchFamily="34" charset="0"/>
                <a:ea typeface="Courier New" pitchFamily="34" charset="-122"/>
                <a:cs typeface="Courier New" pitchFamily="34" charset="-120"/>
              </a:rPr>
              <a:t># The three assertions that catch most of the left column</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assert next(model.parameters()).device.type == 'cuda',  'training on CPU!'</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assert model.config.torch_dtype == torch.bfloat16</a:t>
            </a:r>
            <a:endParaRPr lang="en-US" sz="1000" dirty="0"/>
          </a:p>
          <a:p>
            <a:pPr indent="0" marL="0">
              <a:lnSpc>
                <a:spcPct val="112000"/>
              </a:lnSpc>
              <a:buNone/>
            </a:pPr>
            <a:r>
              <a:rPr lang="en-US" sz="1000" dirty="0">
                <a:solidFill>
                  <a:srgbClr val="C9DDB4"/>
                </a:solidFill>
                <a:latin typeface="Courier New" pitchFamily="34" charset="0"/>
                <a:ea typeface="Courier New" pitchFamily="34" charset="-122"/>
                <a:cs typeface="Courier New" pitchFamily="34" charset="-120"/>
              </a:rPr>
              <a:t>print(f'{tokens_per_sec:.0f} tok/s')   # baseline it on run 1, watch for regressions</a:t>
            </a:r>
            <a:endParaRPr lang="en-US" sz="1000" dirty="0"/>
          </a:p>
        </p:txBody>
      </p:sp>
      <p:sp>
        <p:nvSpPr>
          <p:cNvPr id="12" name="Text 10"/>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176</a:t>
            </a:r>
            <a:endParaRPr lang="en-US" sz="9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OPS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Debugging — the eval score will not move</a:t>
            </a:r>
            <a:endParaRPr lang="en-US" sz="2900" dirty="0"/>
          </a:p>
        </p:txBody>
      </p:sp>
      <p:sp>
        <p:nvSpPr>
          <p:cNvPr id="4" name="Shape 2"/>
          <p:cNvSpPr/>
          <p:nvPr/>
        </p:nvSpPr>
        <p:spPr>
          <a:xfrm>
            <a:off x="502920" y="1280160"/>
            <a:ext cx="11155680" cy="643999"/>
          </a:xfrm>
          <a:prstGeom prst="roundRect">
            <a:avLst>
              <a:gd name="adj" fmla="val 993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400991"/>
            <a:ext cx="402336" cy="402336"/>
          </a:xfrm>
          <a:prstGeom prst="ellipse">
            <a:avLst/>
          </a:prstGeom>
          <a:solidFill>
            <a:srgbClr val="8FB573"/>
          </a:solidFill>
          <a:ln/>
        </p:spPr>
      </p:sp>
      <p:sp>
        <p:nvSpPr>
          <p:cNvPr id="6" name="Text 4"/>
          <p:cNvSpPr/>
          <p:nvPr/>
        </p:nvSpPr>
        <p:spPr>
          <a:xfrm>
            <a:off x="749808" y="1400991"/>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Confirm anything is training at all</a:t>
            </a:r>
            <a:endParaRPr lang="en-US" sz="1300" dirty="0"/>
          </a:p>
        </p:txBody>
      </p:sp>
      <p:sp>
        <p:nvSpPr>
          <p:cNvPr id="8" name="Text 6"/>
          <p:cNvSpPr/>
          <p:nvPr/>
        </p:nvSpPr>
        <p:spPr>
          <a:xfrm>
            <a:off x="1316736" y="1700784"/>
            <a:ext cx="10058400" cy="131935"/>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model.print_trainable_parameters(). If it says 0.0%, your target_modules string is wrong and every run so far has been a no-op.</a:t>
            </a:r>
            <a:endParaRPr lang="en-US" sz="1150" dirty="0"/>
          </a:p>
        </p:txBody>
      </p:sp>
      <p:sp>
        <p:nvSpPr>
          <p:cNvPr id="9" name="Shape 7"/>
          <p:cNvSpPr/>
          <p:nvPr/>
        </p:nvSpPr>
        <p:spPr>
          <a:xfrm>
            <a:off x="502920" y="2033887"/>
            <a:ext cx="11155680" cy="643999"/>
          </a:xfrm>
          <a:prstGeom prst="roundRect">
            <a:avLst>
              <a:gd name="adj" fmla="val 993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154718"/>
            <a:ext cx="402336" cy="402336"/>
          </a:xfrm>
          <a:prstGeom prst="ellipse">
            <a:avLst/>
          </a:prstGeom>
          <a:solidFill>
            <a:srgbClr val="8FB573"/>
          </a:solidFill>
          <a:ln/>
        </p:spPr>
      </p:sp>
      <p:sp>
        <p:nvSpPr>
          <p:cNvPr id="11" name="Text 9"/>
          <p:cNvSpPr/>
          <p:nvPr/>
        </p:nvSpPr>
        <p:spPr>
          <a:xfrm>
            <a:off x="749808" y="215471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161903"/>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Confirm the effective batch size</a:t>
            </a:r>
            <a:endParaRPr lang="en-US" sz="1300" dirty="0"/>
          </a:p>
        </p:txBody>
      </p:sp>
      <p:sp>
        <p:nvSpPr>
          <p:cNvPr id="13" name="Text 11"/>
          <p:cNvSpPr/>
          <p:nvPr/>
        </p:nvSpPr>
        <p:spPr>
          <a:xfrm>
            <a:off x="1316736" y="2454511"/>
            <a:ext cx="10058400" cy="131935"/>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Log the optimizer step count. If accumulation was silently ignored, your effective batch is 1 and training is pure noise.</a:t>
            </a:r>
            <a:endParaRPr lang="en-US" sz="1150" dirty="0"/>
          </a:p>
        </p:txBody>
      </p:sp>
      <p:sp>
        <p:nvSpPr>
          <p:cNvPr id="14" name="Shape 12"/>
          <p:cNvSpPr/>
          <p:nvPr/>
        </p:nvSpPr>
        <p:spPr>
          <a:xfrm>
            <a:off x="502920" y="2787614"/>
            <a:ext cx="11155680" cy="643999"/>
          </a:xfrm>
          <a:prstGeom prst="roundRect">
            <a:avLst>
              <a:gd name="adj" fmla="val 993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2908445"/>
            <a:ext cx="402336" cy="402336"/>
          </a:xfrm>
          <a:prstGeom prst="ellipse">
            <a:avLst/>
          </a:prstGeom>
          <a:solidFill>
            <a:srgbClr val="8FB573"/>
          </a:solidFill>
          <a:ln/>
        </p:spPr>
      </p:sp>
      <p:sp>
        <p:nvSpPr>
          <p:cNvPr id="16" name="Text 14"/>
          <p:cNvSpPr/>
          <p:nvPr/>
        </p:nvSpPr>
        <p:spPr>
          <a:xfrm>
            <a:off x="749808" y="2908445"/>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291563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Confirm masking is applied</a:t>
            </a:r>
            <a:endParaRPr lang="en-US" sz="1300" dirty="0"/>
          </a:p>
        </p:txBody>
      </p:sp>
      <p:sp>
        <p:nvSpPr>
          <p:cNvPr id="18" name="Text 16"/>
          <p:cNvSpPr/>
          <p:nvPr/>
        </p:nvSpPr>
        <p:spPr>
          <a:xfrm>
            <a:off x="1316736" y="3208238"/>
            <a:ext cx="10058400" cy="131935"/>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Decode one batch and inspect the labels. If the whole sequence is unmasked, you are training on prompts too.</a:t>
            </a:r>
            <a:endParaRPr lang="en-US" sz="1150" dirty="0"/>
          </a:p>
        </p:txBody>
      </p:sp>
      <p:sp>
        <p:nvSpPr>
          <p:cNvPr id="19" name="Shape 17"/>
          <p:cNvSpPr/>
          <p:nvPr/>
        </p:nvSpPr>
        <p:spPr>
          <a:xfrm>
            <a:off x="502920" y="3541341"/>
            <a:ext cx="11155680" cy="643999"/>
          </a:xfrm>
          <a:prstGeom prst="roundRect">
            <a:avLst>
              <a:gd name="adj" fmla="val 993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3662172"/>
            <a:ext cx="402336" cy="402336"/>
          </a:xfrm>
          <a:prstGeom prst="ellipse">
            <a:avLst/>
          </a:prstGeom>
          <a:solidFill>
            <a:srgbClr val="8FB573"/>
          </a:solidFill>
          <a:ln/>
        </p:spPr>
      </p:sp>
      <p:sp>
        <p:nvSpPr>
          <p:cNvPr id="21" name="Text 19"/>
          <p:cNvSpPr/>
          <p:nvPr/>
        </p:nvSpPr>
        <p:spPr>
          <a:xfrm>
            <a:off x="749808" y="3662172"/>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3669357"/>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Confirm train and eval use the SAME template</a:t>
            </a:r>
            <a:endParaRPr lang="en-US" sz="1300" dirty="0"/>
          </a:p>
        </p:txBody>
      </p:sp>
      <p:sp>
        <p:nvSpPr>
          <p:cNvPr id="23" name="Text 21"/>
          <p:cNvSpPr/>
          <p:nvPr/>
        </p:nvSpPr>
        <p:spPr>
          <a:xfrm>
            <a:off x="1316736" y="3961965"/>
            <a:ext cx="10058400" cy="131935"/>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Print both rendered strings and diff them. This is the single most common cause of a fine-tune scoring worse than its base.</a:t>
            </a:r>
            <a:endParaRPr lang="en-US" sz="1150" dirty="0"/>
          </a:p>
        </p:txBody>
      </p:sp>
      <p:sp>
        <p:nvSpPr>
          <p:cNvPr id="24" name="Shape 22"/>
          <p:cNvSpPr/>
          <p:nvPr/>
        </p:nvSpPr>
        <p:spPr>
          <a:xfrm>
            <a:off x="502920" y="4295067"/>
            <a:ext cx="11155680" cy="643999"/>
          </a:xfrm>
          <a:prstGeom prst="roundRect">
            <a:avLst>
              <a:gd name="adj" fmla="val 993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4415899"/>
            <a:ext cx="402336" cy="402336"/>
          </a:xfrm>
          <a:prstGeom prst="ellipse">
            <a:avLst/>
          </a:prstGeom>
          <a:solidFill>
            <a:srgbClr val="8FB573"/>
          </a:solidFill>
          <a:ln/>
        </p:spPr>
      </p:sp>
      <p:sp>
        <p:nvSpPr>
          <p:cNvPr id="26" name="Text 24"/>
          <p:cNvSpPr/>
          <p:nvPr/>
        </p:nvSpPr>
        <p:spPr>
          <a:xfrm>
            <a:off x="749808" y="4415899"/>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4423083"/>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Confirm the data is not junk</a:t>
            </a:r>
            <a:endParaRPr lang="en-US" sz="1300" dirty="0"/>
          </a:p>
        </p:txBody>
      </p:sp>
      <p:sp>
        <p:nvSpPr>
          <p:cNvPr id="28" name="Text 26"/>
          <p:cNvSpPr/>
          <p:nvPr/>
        </p:nvSpPr>
        <p:spPr>
          <a:xfrm>
            <a:off x="1316736" y="4715691"/>
            <a:ext cx="10058400" cy="131935"/>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Read fifty random training examples with your eyes. Not a sample of five — fifty. Problems are usually visible immediately.</a:t>
            </a:r>
            <a:endParaRPr lang="en-US" sz="1150" dirty="0"/>
          </a:p>
        </p:txBody>
      </p:sp>
      <p:sp>
        <p:nvSpPr>
          <p:cNvPr id="29" name="Shape 27"/>
          <p:cNvSpPr/>
          <p:nvPr/>
        </p:nvSpPr>
        <p:spPr>
          <a:xfrm>
            <a:off x="502920" y="5048794"/>
            <a:ext cx="11155680" cy="643999"/>
          </a:xfrm>
          <a:prstGeom prst="roundRect">
            <a:avLst>
              <a:gd name="adj" fmla="val 993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749808" y="5169626"/>
            <a:ext cx="402336" cy="402336"/>
          </a:xfrm>
          <a:prstGeom prst="ellipse">
            <a:avLst/>
          </a:prstGeom>
          <a:solidFill>
            <a:srgbClr val="8FB573"/>
          </a:solidFill>
          <a:ln/>
        </p:spPr>
      </p:sp>
      <p:sp>
        <p:nvSpPr>
          <p:cNvPr id="31" name="Text 29"/>
          <p:cNvSpPr/>
          <p:nvPr/>
        </p:nvSpPr>
        <p:spPr>
          <a:xfrm>
            <a:off x="749808" y="5169626"/>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1316736" y="5176810"/>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Confirm the eval is sensitive enough</a:t>
            </a:r>
            <a:endParaRPr lang="en-US" sz="1300" dirty="0"/>
          </a:p>
        </p:txBody>
      </p:sp>
      <p:sp>
        <p:nvSpPr>
          <p:cNvPr id="33" name="Text 31"/>
          <p:cNvSpPr/>
          <p:nvPr/>
        </p:nvSpPr>
        <p:spPr>
          <a:xfrm>
            <a:off x="1316736" y="5469418"/>
            <a:ext cx="10058400" cy="131935"/>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Evaluate the BASE model and a deliberately-broken model. If they score the same, your harness is not measuring anything.</a:t>
            </a:r>
            <a:endParaRPr lang="en-US" sz="1150" dirty="0"/>
          </a:p>
        </p:txBody>
      </p:sp>
      <p:sp>
        <p:nvSpPr>
          <p:cNvPr id="34" name="Shape 32"/>
          <p:cNvSpPr/>
          <p:nvPr/>
        </p:nvSpPr>
        <p:spPr>
          <a:xfrm>
            <a:off x="502920" y="5802521"/>
            <a:ext cx="11155680" cy="643999"/>
          </a:xfrm>
          <a:prstGeom prst="roundRect">
            <a:avLst>
              <a:gd name="adj" fmla="val 993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5" name="Shape 33"/>
          <p:cNvSpPr/>
          <p:nvPr/>
        </p:nvSpPr>
        <p:spPr>
          <a:xfrm>
            <a:off x="749808" y="5923353"/>
            <a:ext cx="402336" cy="402336"/>
          </a:xfrm>
          <a:prstGeom prst="ellipse">
            <a:avLst/>
          </a:prstGeom>
          <a:solidFill>
            <a:srgbClr val="8FB573"/>
          </a:solidFill>
          <a:ln/>
        </p:spPr>
      </p:sp>
      <p:sp>
        <p:nvSpPr>
          <p:cNvPr id="36" name="Text 34"/>
          <p:cNvSpPr/>
          <p:nvPr/>
        </p:nvSpPr>
        <p:spPr>
          <a:xfrm>
            <a:off x="749808" y="5923353"/>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7</a:t>
            </a:r>
            <a:endParaRPr lang="en-US" sz="1500" dirty="0"/>
          </a:p>
        </p:txBody>
      </p:sp>
      <p:sp>
        <p:nvSpPr>
          <p:cNvPr id="37" name="Text 35"/>
          <p:cNvSpPr/>
          <p:nvPr/>
        </p:nvSpPr>
        <p:spPr>
          <a:xfrm>
            <a:off x="1316736" y="5930537"/>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Only then tune hyperparameters</a:t>
            </a:r>
            <a:endParaRPr lang="en-US" sz="1300" dirty="0"/>
          </a:p>
        </p:txBody>
      </p:sp>
      <p:sp>
        <p:nvSpPr>
          <p:cNvPr id="38" name="Text 36"/>
          <p:cNvSpPr/>
          <p:nvPr/>
        </p:nvSpPr>
        <p:spPr>
          <a:xfrm>
            <a:off x="1316736" y="6223145"/>
            <a:ext cx="10058400" cy="131935"/>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In that order. Hyperparameters are the last thing to suspect, and the first thing everyone reaches for.</a:t>
            </a:r>
            <a:endParaRPr lang="en-US" sz="1150" dirty="0"/>
          </a:p>
        </p:txBody>
      </p:sp>
      <p:sp>
        <p:nvSpPr>
          <p:cNvPr id="39" name="Text 3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177</a:t>
            </a:r>
            <a:endParaRPr lang="en-US" sz="95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OPS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Compute budgeting on free hardware</a:t>
            </a:r>
            <a:endParaRPr lang="en-US" sz="2900" dirty="0"/>
          </a:p>
        </p:txBody>
      </p:sp>
      <p:graphicFrame>
        <p:nvGraphicFramePr>
          <p:cNvPr id="179"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3840480"/>
                <a:gridCol w="2286000"/>
                <a:gridCol w="1737360"/>
                <a:gridCol w="3291840"/>
              </a:tblGrid>
              <a:tr h="33375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Where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Wall clock</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Notes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33756">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Sandbox + eval harness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Mac (write) · Asus (bulk)</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3–5 days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Mostly your time, not compute. Identical POSIX code on both.</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33756">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Data curation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Mac</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1–2 weeks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CPU/RAM bound. 48GB is the enabler.</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33756">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SFT run (0.5B, 10k examples)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Asus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20–40 min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Run many. This is your iteration loop.</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33756">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SFT run (1.5B, 10k examples)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Asus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2–3 hours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Overnight-adjacent. Use sparingly.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33756">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Rejection sampling generation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Mac</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6–12 hrs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Overnight. The teacher is the bottleneck.</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33756">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Rejection sampling execution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Asus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1–3 hrs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Docker is cheap on Linux; 8 cores in parallel.</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33756">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DPO run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Asus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30–60 min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Cheap. Iterate freely.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33756">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GRPO run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Asus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8–24 hrs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Generation and reward execution on one machine.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33756">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Merging</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Mac</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seconds–minutes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Effectively free. Sweep widely.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33756">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Quantization + serving</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Both</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1–2 hours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Mostly conversion and verification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5120640"/>
            <a:ext cx="3621024" cy="1097280"/>
          </a:xfrm>
          <a:prstGeom prst="roundRect">
            <a:avLst>
              <a:gd name="adj" fmla="val 583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6" name="Text 3"/>
          <p:cNvSpPr/>
          <p:nvPr/>
        </p:nvSpPr>
        <p:spPr>
          <a:xfrm>
            <a:off x="722376" y="526694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The daily rhythm</a:t>
            </a:r>
            <a:endParaRPr lang="en-US" sz="1250" dirty="0"/>
          </a:p>
        </p:txBody>
      </p:sp>
      <p:sp>
        <p:nvSpPr>
          <p:cNvPr id="7" name="Text 4"/>
          <p:cNvSpPr/>
          <p:nvPr/>
        </p:nvSpPr>
        <p:spPr>
          <a:xfrm>
            <a:off x="722376" y="5577840"/>
            <a:ext cx="3182112" cy="4937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Kick off generation before bed. Curate over coffee. Train before lunch. Evaluate after. Read rollouts in the evening.</a:t>
            </a:r>
            <a:endParaRPr lang="en-US" sz="1100" dirty="0"/>
          </a:p>
        </p:txBody>
      </p:sp>
      <p:sp>
        <p:nvSpPr>
          <p:cNvPr id="8" name="Shape 5"/>
          <p:cNvSpPr/>
          <p:nvPr/>
        </p:nvSpPr>
        <p:spPr>
          <a:xfrm>
            <a:off x="4270248" y="5120640"/>
            <a:ext cx="3621024" cy="1097280"/>
          </a:xfrm>
          <a:prstGeom prst="roundRect">
            <a:avLst>
              <a:gd name="adj" fmla="val 583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6"/>
          <p:cNvSpPr/>
          <p:nvPr/>
        </p:nvSpPr>
        <p:spPr>
          <a:xfrm>
            <a:off x="4489704" y="526694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Two machines means parallelism</a:t>
            </a:r>
            <a:endParaRPr lang="en-US" sz="1250" dirty="0"/>
          </a:p>
        </p:txBody>
      </p:sp>
      <p:sp>
        <p:nvSpPr>
          <p:cNvPr id="10" name="Text 7"/>
          <p:cNvSpPr/>
          <p:nvPr/>
        </p:nvSpPr>
        <p:spPr>
          <a:xfrm>
            <a:off x="4489704" y="5577840"/>
            <a:ext cx="3182112" cy="4937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Mac generates while the Asus trains and executes. Never leave one idle waiting on the other.</a:t>
            </a:r>
            <a:endParaRPr lang="en-US" sz="1100" dirty="0"/>
          </a:p>
        </p:txBody>
      </p:sp>
      <p:sp>
        <p:nvSpPr>
          <p:cNvPr id="11" name="Shape 8"/>
          <p:cNvSpPr/>
          <p:nvPr/>
        </p:nvSpPr>
        <p:spPr>
          <a:xfrm>
            <a:off x="8037576" y="5120640"/>
            <a:ext cx="3621024" cy="1097280"/>
          </a:xfrm>
          <a:prstGeom prst="roundRect">
            <a:avLst>
              <a:gd name="adj" fmla="val 583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2" name="Text 9"/>
          <p:cNvSpPr/>
          <p:nvPr/>
        </p:nvSpPr>
        <p:spPr>
          <a:xfrm>
            <a:off x="8257032" y="5266944"/>
            <a:ext cx="3182112" cy="292608"/>
          </a:xfrm>
          <a:prstGeom prst="rect">
            <a:avLst/>
          </a:prstGeom>
          <a:noFill/>
          <a:ln/>
        </p:spPr>
        <p:txBody>
          <a:bodyPr wrap="square" lIns="0" tIns="0" rIns="0" bIns="0" rtlCol="0" anchor="ctr"/>
          <a:lstStyle/>
          <a:p>
            <a:pPr indent="0" marL="0">
              <a:buNone/>
            </a:pPr>
            <a:r>
              <a:rPr lang="en-US" sz="1250" b="1" dirty="0">
                <a:solidFill>
                  <a:srgbClr val="8FB573"/>
                </a:solidFill>
                <a:latin typeface="Calibri" pitchFamily="34" charset="0"/>
                <a:ea typeface="Calibri" pitchFamily="34" charset="-122"/>
                <a:cs typeface="Calibri" pitchFamily="34" charset="-120"/>
              </a:rPr>
              <a:t>One OS family, one codebase</a:t>
            </a:r>
            <a:endParaRPr lang="en-US" sz="1250" dirty="0"/>
          </a:p>
        </p:txBody>
      </p:sp>
      <p:sp>
        <p:nvSpPr>
          <p:cNvPr id="13" name="Text 10"/>
          <p:cNvSpPr/>
          <p:nvPr/>
        </p:nvSpPr>
        <p:spPr>
          <a:xfrm>
            <a:off x="8257032" y="5577840"/>
            <a:ext cx="3182112" cy="493776"/>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Both machines are POSIX, so the sandbox and harness run unmodified on either. No branch, no WSL, no second code path.</a:t>
            </a:r>
            <a:endParaRPr lang="en-US" sz="1100" dirty="0"/>
          </a:p>
        </p:txBody>
      </p:sp>
      <p:sp>
        <p:nvSpPr>
          <p:cNvPr id="14" name="Text 11"/>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178</a:t>
            </a:r>
            <a:endParaRPr lang="en-US" sz="9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OPS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Reading training curves — the full reference</a:t>
            </a:r>
            <a:endParaRPr lang="en-US" sz="2900" dirty="0"/>
          </a:p>
        </p:txBody>
      </p:sp>
      <p:graphicFrame>
        <p:nvGraphicFramePr>
          <p:cNvPr id="18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651760"/>
                <a:gridCol w="3108960"/>
                <a:gridCol w="2651760"/>
                <a:gridCol w="2743200"/>
              </a:tblGrid>
              <a:tr h="36576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Signal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Healthy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Warning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Action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train/loss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Smooth decline, then flattening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Oscillation, spikes, NaN</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Lower LR; raise effective batch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eval/pass@1</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Rises, peaks, then declines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Flat from the start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Check trainable %, masking, template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grad_norm</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Stable or slowly declining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Steady climb</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Lower LR NOW — before the loss shows it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learning_rate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Warms up then decays as configured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Flat at peak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Scheduler misconfigured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output length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Roughly stable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Doubling (DPO) or collapsing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Verbosity bias, or truncation gaming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mean (GRPO)</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Gradual rise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Step-function jump</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 shortcut was found — read rollouts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reward std (GRPO)</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Non-zero, stable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Trending to zero</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Dead groups — refilter your problem set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KL from reference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Slow rise, then plateau</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Unbounded growth</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Raise beta; the leash is too loose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65760">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tokens/sec</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Constant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Dropping over time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Thermal throttling, or a memory leak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4892040"/>
            <a:ext cx="11155680" cy="566928"/>
          </a:xfrm>
          <a:prstGeom prst="roundRect">
            <a:avLst>
              <a:gd name="adj" fmla="val 9677"/>
            </a:avLst>
          </a:prstGeom>
          <a:solidFill>
            <a:srgbClr val="8FB573"/>
          </a:solidFill>
          <a:ln/>
        </p:spPr>
      </p:sp>
      <p:sp>
        <p:nvSpPr>
          <p:cNvPr id="6" name="Text 3"/>
          <p:cNvSpPr/>
          <p:nvPr/>
        </p:nvSpPr>
        <p:spPr>
          <a:xfrm>
            <a:off x="777240" y="489204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The loss curve describes optimization. Only the eval curve describes capability. Never confuse the two.</a:t>
            </a:r>
            <a:endParaRPr lang="en-US" sz="1450" dirty="0"/>
          </a:p>
        </p:txBody>
      </p:sp>
      <p:sp>
        <p:nvSpPr>
          <p:cNvPr id="7" name="Text 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179</a:t>
            </a:r>
            <a:endParaRPr lang="en-US" sz="95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2194560"/>
            <a:ext cx="10607040" cy="310896"/>
          </a:xfrm>
          <a:prstGeom prst="rect">
            <a:avLst/>
          </a:prstGeom>
          <a:noFill/>
          <a:ln/>
        </p:spPr>
        <p:txBody>
          <a:bodyPr wrap="square" lIns="0" tIns="0" rIns="0" bIns="0" rtlCol="0" anchor="ctr"/>
          <a:lstStyle/>
          <a:p>
            <a:pPr indent="0" marL="0">
              <a:buNone/>
            </a:pPr>
            <a:r>
              <a:rPr lang="en-US" sz="1250" b="1" spc="500" kern="0" dirty="0">
                <a:solidFill>
                  <a:srgbClr val="8FB573"/>
                </a:solidFill>
                <a:latin typeface="Calibri" pitchFamily="34" charset="0"/>
                <a:ea typeface="Calibri" pitchFamily="34" charset="-122"/>
                <a:cs typeface="Calibri" pitchFamily="34" charset="-120"/>
              </a:rPr>
              <a:t>THE JUNGLE, SUMMARIZED</a:t>
            </a:r>
            <a:endParaRPr lang="en-US" sz="1250" dirty="0"/>
          </a:p>
        </p:txBody>
      </p:sp>
      <p:sp>
        <p:nvSpPr>
          <p:cNvPr id="3" name="Text 1"/>
          <p:cNvSpPr/>
          <p:nvPr/>
        </p:nvSpPr>
        <p:spPr>
          <a:xfrm>
            <a:off x="777240" y="2560320"/>
            <a:ext cx="106070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Indexes and Laws</a:t>
            </a:r>
            <a:endParaRPr lang="en-US" sz="4000" dirty="0"/>
          </a:p>
        </p:txBody>
      </p:sp>
      <p:sp>
        <p:nvSpPr>
          <p:cNvPr id="4" name="Text 2"/>
          <p:cNvSpPr/>
          <p:nvPr/>
        </p:nvSpPr>
        <p:spPr>
          <a:xfrm>
            <a:off x="777240" y="3429000"/>
            <a:ext cx="10058400" cy="822960"/>
          </a:xfrm>
          <a:prstGeom prst="rect">
            <a:avLst/>
          </a:prstGeom>
          <a:noFill/>
          <a:ln/>
        </p:spPr>
        <p:txBody>
          <a:bodyPr wrap="square" lIns="0" tIns="0" rIns="0" bIns="0" rtlCol="0" anchor="t"/>
          <a:lstStyle/>
          <a:p>
            <a:pPr indent="0" marL="0">
              <a:buNone/>
            </a:pPr>
            <a:r>
              <a:rPr lang="en-US" sz="1550" i="1" dirty="0">
                <a:solidFill>
                  <a:srgbClr val="C9DDB4"/>
                </a:solidFill>
                <a:latin typeface="Calibri" pitchFamily="34" charset="0"/>
                <a:ea typeface="Calibri" pitchFamily="34" charset="-122"/>
                <a:cs typeface="Calibri" pitchFamily="34" charset="-120"/>
              </a:rPr>
              <a:t>Everything from here on is reference. Read the deck once front to back;</a:t>
            </a:r>
            <a:endParaRPr lang="en-US" sz="1550" dirty="0"/>
          </a:p>
          <a:p>
            <a:pPr indent="0" marL="0">
              <a:buNone/>
            </a:pPr>
            <a:r>
              <a:rPr lang="en-US" sz="1550" i="1" dirty="0">
                <a:solidFill>
                  <a:srgbClr val="C9DDB4"/>
                </a:solidFill>
                <a:latin typeface="Calibri" pitchFamily="34" charset="0"/>
                <a:ea typeface="Calibri" pitchFamily="34" charset="-122"/>
                <a:cs typeface="Calibri" pitchFamily="34" charset="-120"/>
              </a:rPr>
              <a:t>live in these last pages afterwards.</a:t>
            </a:r>
            <a:endParaRPr lang="en-US" sz="1550" dirty="0"/>
          </a:p>
        </p:txBody>
      </p:sp>
      <p:sp>
        <p:nvSpPr>
          <p:cNvPr id="5" name="Text 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180</a:t>
            </a:r>
            <a:endParaRPr lang="en-US" sz="9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SYNTHESIS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Diversions Index — what looks essential and is not</a:t>
            </a:r>
            <a:endParaRPr lang="en-US" sz="2900" dirty="0"/>
          </a:p>
        </p:txBody>
      </p:sp>
      <p:sp>
        <p:nvSpPr>
          <p:cNvPr id="4" name="Shape 2"/>
          <p:cNvSpPr/>
          <p:nvPr/>
        </p:nvSpPr>
        <p:spPr>
          <a:xfrm>
            <a:off x="502920" y="1261872"/>
            <a:ext cx="3621024" cy="1207008"/>
          </a:xfrm>
          <a:prstGeom prst="roundRect">
            <a:avLst>
              <a:gd name="adj" fmla="val 530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Text 3"/>
          <p:cNvSpPr/>
          <p:nvPr/>
        </p:nvSpPr>
        <p:spPr>
          <a:xfrm>
            <a:off x="704088" y="1389888"/>
            <a:ext cx="274320" cy="256032"/>
          </a:xfrm>
          <a:prstGeom prst="rect">
            <a:avLst/>
          </a:prstGeom>
          <a:noFill/>
          <a:ln/>
        </p:spPr>
        <p:txBody>
          <a:bodyPr wrap="square" lIns="0" tIns="0" rIns="0" bIns="0" rtlCol="0" anchor="ctr"/>
          <a:lstStyle/>
          <a:p>
            <a:pPr indent="0" marL="0">
              <a:buNone/>
            </a:pPr>
            <a:r>
              <a:rPr lang="en-US" sz="1300" b="1" dirty="0">
                <a:solidFill>
                  <a:srgbClr val="A8482A"/>
                </a:solidFill>
                <a:latin typeface="Calibri" pitchFamily="34" charset="0"/>
                <a:ea typeface="Calibri" pitchFamily="34" charset="-122"/>
                <a:cs typeface="Calibri" pitchFamily="34" charset="-120"/>
              </a:rPr>
              <a:t>X</a:t>
            </a:r>
            <a:endParaRPr lang="en-US" sz="1300" dirty="0"/>
          </a:p>
        </p:txBody>
      </p:sp>
      <p:sp>
        <p:nvSpPr>
          <p:cNvPr id="6" name="Text 4"/>
          <p:cNvSpPr/>
          <p:nvPr/>
        </p:nvSpPr>
        <p:spPr>
          <a:xfrm>
            <a:off x="1014984" y="1380744"/>
            <a:ext cx="2926080" cy="274320"/>
          </a:xfrm>
          <a:prstGeom prst="rect">
            <a:avLst/>
          </a:prstGeom>
          <a:noFill/>
          <a:ln/>
        </p:spPr>
        <p:txBody>
          <a:bodyPr wrap="square" lIns="0" tIns="0" rIns="0" bIns="0" rtlCol="0" anchor="ctr"/>
          <a:lstStyle/>
          <a:p>
            <a:pPr indent="0" marL="0">
              <a:buNone/>
            </a:pPr>
            <a:r>
              <a:rPr lang="en-US" sz="1150" b="1" dirty="0">
                <a:solidFill>
                  <a:srgbClr val="16211B"/>
                </a:solidFill>
                <a:latin typeface="Calibri" pitchFamily="34" charset="0"/>
                <a:ea typeface="Calibri" pitchFamily="34" charset="-122"/>
                <a:cs typeface="Calibri" pitchFamily="34" charset="-120"/>
              </a:rPr>
              <a:t>Chasing benchmark SOTA</a:t>
            </a:r>
            <a:endParaRPr lang="en-US" sz="1150" dirty="0"/>
          </a:p>
        </p:txBody>
      </p:sp>
      <p:sp>
        <p:nvSpPr>
          <p:cNvPr id="7" name="Text 5"/>
          <p:cNvSpPr/>
          <p:nvPr/>
        </p:nvSpPr>
        <p:spPr>
          <a:xfrm>
            <a:off x="722376" y="1682496"/>
            <a:ext cx="3200400" cy="713232"/>
          </a:xfrm>
          <a:prstGeom prst="rect">
            <a:avLst/>
          </a:prstGeom>
          <a:noFill/>
          <a:ln/>
        </p:spPr>
        <p:txBody>
          <a:bodyPr wrap="square" lIns="0" tIns="0" rIns="0" bIns="0" rtlCol="0" anchor="t"/>
          <a:lstStyle/>
          <a:p>
            <a:pPr indent="0" marL="0">
              <a:buNone/>
            </a:pPr>
            <a:r>
              <a:rPr lang="en-US" sz="1000" dirty="0">
                <a:solidFill>
                  <a:srgbClr val="6B7A70"/>
                </a:solidFill>
                <a:latin typeface="Calibri" pitchFamily="34" charset="0"/>
                <a:ea typeface="Calibri" pitchFamily="34" charset="-122"/>
                <a:cs typeface="Calibri" pitchFamily="34" charset="-120"/>
              </a:rPr>
              <a:t>You are learning a craft, not competing. A model that taught you five failure modes beat one that scored two points higher and taught you nothing.</a:t>
            </a:r>
            <a:endParaRPr lang="en-US" sz="1000" dirty="0"/>
          </a:p>
        </p:txBody>
      </p:sp>
      <p:sp>
        <p:nvSpPr>
          <p:cNvPr id="8" name="Shape 6"/>
          <p:cNvSpPr/>
          <p:nvPr/>
        </p:nvSpPr>
        <p:spPr>
          <a:xfrm>
            <a:off x="4270248" y="1261872"/>
            <a:ext cx="3621024" cy="1207008"/>
          </a:xfrm>
          <a:prstGeom prst="roundRect">
            <a:avLst>
              <a:gd name="adj" fmla="val 530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9" name="Text 7"/>
          <p:cNvSpPr/>
          <p:nvPr/>
        </p:nvSpPr>
        <p:spPr>
          <a:xfrm>
            <a:off x="4471416" y="1389888"/>
            <a:ext cx="274320" cy="256032"/>
          </a:xfrm>
          <a:prstGeom prst="rect">
            <a:avLst/>
          </a:prstGeom>
          <a:noFill/>
          <a:ln/>
        </p:spPr>
        <p:txBody>
          <a:bodyPr wrap="square" lIns="0" tIns="0" rIns="0" bIns="0" rtlCol="0" anchor="ctr"/>
          <a:lstStyle/>
          <a:p>
            <a:pPr indent="0" marL="0">
              <a:buNone/>
            </a:pPr>
            <a:r>
              <a:rPr lang="en-US" sz="1300" b="1" dirty="0">
                <a:solidFill>
                  <a:srgbClr val="A8482A"/>
                </a:solidFill>
                <a:latin typeface="Calibri" pitchFamily="34" charset="0"/>
                <a:ea typeface="Calibri" pitchFamily="34" charset="-122"/>
                <a:cs typeface="Calibri" pitchFamily="34" charset="-120"/>
              </a:rPr>
              <a:t>X</a:t>
            </a:r>
            <a:endParaRPr lang="en-US" sz="1300" dirty="0"/>
          </a:p>
        </p:txBody>
      </p:sp>
      <p:sp>
        <p:nvSpPr>
          <p:cNvPr id="10" name="Text 8"/>
          <p:cNvSpPr/>
          <p:nvPr/>
        </p:nvSpPr>
        <p:spPr>
          <a:xfrm>
            <a:off x="4782312" y="1380744"/>
            <a:ext cx="2926080" cy="274320"/>
          </a:xfrm>
          <a:prstGeom prst="rect">
            <a:avLst/>
          </a:prstGeom>
          <a:noFill/>
          <a:ln/>
        </p:spPr>
        <p:txBody>
          <a:bodyPr wrap="square" lIns="0" tIns="0" rIns="0" bIns="0" rtlCol="0" anchor="ctr"/>
          <a:lstStyle/>
          <a:p>
            <a:pPr indent="0" marL="0">
              <a:buNone/>
            </a:pPr>
            <a:r>
              <a:rPr lang="en-US" sz="1150" b="1" dirty="0">
                <a:solidFill>
                  <a:srgbClr val="16211B"/>
                </a:solidFill>
                <a:latin typeface="Calibri" pitchFamily="34" charset="0"/>
                <a:ea typeface="Calibri" pitchFamily="34" charset="-122"/>
                <a:cs typeface="Calibri" pitchFamily="34" charset="-120"/>
              </a:rPr>
              <a:t>Full fine-tuning</a:t>
            </a:r>
            <a:endParaRPr lang="en-US" sz="1150" dirty="0"/>
          </a:p>
        </p:txBody>
      </p:sp>
      <p:sp>
        <p:nvSpPr>
          <p:cNvPr id="11" name="Text 9"/>
          <p:cNvSpPr/>
          <p:nvPr/>
        </p:nvSpPr>
        <p:spPr>
          <a:xfrm>
            <a:off x="4489704" y="1682496"/>
            <a:ext cx="3200400" cy="713232"/>
          </a:xfrm>
          <a:prstGeom prst="rect">
            <a:avLst/>
          </a:prstGeom>
          <a:noFill/>
          <a:ln/>
        </p:spPr>
        <p:txBody>
          <a:bodyPr wrap="square" lIns="0" tIns="0" rIns="0" bIns="0" rtlCol="0" anchor="t"/>
          <a:lstStyle/>
          <a:p>
            <a:pPr indent="0" marL="0">
              <a:buNone/>
            </a:pPr>
            <a:r>
              <a:rPr lang="en-US" sz="1000" dirty="0">
                <a:solidFill>
                  <a:srgbClr val="6B7A70"/>
                </a:solidFill>
                <a:latin typeface="Calibri" pitchFamily="34" charset="0"/>
                <a:ea typeface="Calibri" pitchFamily="34" charset="-122"/>
                <a:cs typeface="Calibri" pitchFamily="34" charset="-120"/>
              </a:rPr>
              <a:t>LoRA teaches identical concepts at 1/20th the memory. Full FT is a resource decision, not a knowledge one.</a:t>
            </a:r>
            <a:endParaRPr lang="en-US" sz="1000" dirty="0"/>
          </a:p>
        </p:txBody>
      </p:sp>
      <p:sp>
        <p:nvSpPr>
          <p:cNvPr id="12" name="Shape 10"/>
          <p:cNvSpPr/>
          <p:nvPr/>
        </p:nvSpPr>
        <p:spPr>
          <a:xfrm>
            <a:off x="8037576" y="1261872"/>
            <a:ext cx="3621024" cy="1207008"/>
          </a:xfrm>
          <a:prstGeom prst="roundRect">
            <a:avLst>
              <a:gd name="adj" fmla="val 530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3" name="Text 11"/>
          <p:cNvSpPr/>
          <p:nvPr/>
        </p:nvSpPr>
        <p:spPr>
          <a:xfrm>
            <a:off x="8238744" y="1389888"/>
            <a:ext cx="274320" cy="256032"/>
          </a:xfrm>
          <a:prstGeom prst="rect">
            <a:avLst/>
          </a:prstGeom>
          <a:noFill/>
          <a:ln/>
        </p:spPr>
        <p:txBody>
          <a:bodyPr wrap="square" lIns="0" tIns="0" rIns="0" bIns="0" rtlCol="0" anchor="ctr"/>
          <a:lstStyle/>
          <a:p>
            <a:pPr indent="0" marL="0">
              <a:buNone/>
            </a:pPr>
            <a:r>
              <a:rPr lang="en-US" sz="1300" b="1" dirty="0">
                <a:solidFill>
                  <a:srgbClr val="A8482A"/>
                </a:solidFill>
                <a:latin typeface="Calibri" pitchFamily="34" charset="0"/>
                <a:ea typeface="Calibri" pitchFamily="34" charset="-122"/>
                <a:cs typeface="Calibri" pitchFamily="34" charset="-120"/>
              </a:rPr>
              <a:t>X</a:t>
            </a:r>
            <a:endParaRPr lang="en-US" sz="1300" dirty="0"/>
          </a:p>
        </p:txBody>
      </p:sp>
      <p:sp>
        <p:nvSpPr>
          <p:cNvPr id="14" name="Text 12"/>
          <p:cNvSpPr/>
          <p:nvPr/>
        </p:nvSpPr>
        <p:spPr>
          <a:xfrm>
            <a:off x="8549640" y="1380744"/>
            <a:ext cx="2926080" cy="274320"/>
          </a:xfrm>
          <a:prstGeom prst="rect">
            <a:avLst/>
          </a:prstGeom>
          <a:noFill/>
          <a:ln/>
        </p:spPr>
        <p:txBody>
          <a:bodyPr wrap="square" lIns="0" tIns="0" rIns="0" bIns="0" rtlCol="0" anchor="ctr"/>
          <a:lstStyle/>
          <a:p>
            <a:pPr indent="0" marL="0">
              <a:buNone/>
            </a:pPr>
            <a:r>
              <a:rPr lang="en-US" sz="1150" b="1" dirty="0">
                <a:solidFill>
                  <a:srgbClr val="16211B"/>
                </a:solidFill>
                <a:latin typeface="Calibri" pitchFamily="34" charset="0"/>
                <a:ea typeface="Calibri" pitchFamily="34" charset="-122"/>
                <a:cs typeface="Calibri" pitchFamily="34" charset="-120"/>
              </a:rPr>
              <a:t>Implementing PPO from scratch</a:t>
            </a:r>
            <a:endParaRPr lang="en-US" sz="1150" dirty="0"/>
          </a:p>
        </p:txBody>
      </p:sp>
      <p:sp>
        <p:nvSpPr>
          <p:cNvPr id="15" name="Text 13"/>
          <p:cNvSpPr/>
          <p:nvPr/>
        </p:nvSpPr>
        <p:spPr>
          <a:xfrm>
            <a:off x="8257032" y="1682496"/>
            <a:ext cx="3200400" cy="713232"/>
          </a:xfrm>
          <a:prstGeom prst="rect">
            <a:avLst/>
          </a:prstGeom>
          <a:noFill/>
          <a:ln/>
        </p:spPr>
        <p:txBody>
          <a:bodyPr wrap="square" lIns="0" tIns="0" rIns="0" bIns="0" rtlCol="0" anchor="t"/>
          <a:lstStyle/>
          <a:p>
            <a:pPr indent="0" marL="0">
              <a:buNone/>
            </a:pPr>
            <a:r>
              <a:rPr lang="en-US" sz="1000" dirty="0">
                <a:solidFill>
                  <a:srgbClr val="6B7A70"/>
                </a:solidFill>
                <a:latin typeface="Calibri" pitchFamily="34" charset="0"/>
                <a:ea typeface="Calibri" pitchFamily="34" charset="-122"/>
                <a:cs typeface="Calibri" pitchFamily="34" charset="-120"/>
              </a:rPr>
              <a:t>Superseded by DPO and GRPO for practitioners. Read the paper; do not spend a month on the implementation.</a:t>
            </a:r>
            <a:endParaRPr lang="en-US" sz="1000" dirty="0"/>
          </a:p>
        </p:txBody>
      </p:sp>
      <p:sp>
        <p:nvSpPr>
          <p:cNvPr id="16" name="Shape 14"/>
          <p:cNvSpPr/>
          <p:nvPr/>
        </p:nvSpPr>
        <p:spPr>
          <a:xfrm>
            <a:off x="502920" y="2596896"/>
            <a:ext cx="3621024" cy="1207008"/>
          </a:xfrm>
          <a:prstGeom prst="roundRect">
            <a:avLst>
              <a:gd name="adj" fmla="val 530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7" name="Text 15"/>
          <p:cNvSpPr/>
          <p:nvPr/>
        </p:nvSpPr>
        <p:spPr>
          <a:xfrm>
            <a:off x="704088" y="2724912"/>
            <a:ext cx="274320" cy="256032"/>
          </a:xfrm>
          <a:prstGeom prst="rect">
            <a:avLst/>
          </a:prstGeom>
          <a:noFill/>
          <a:ln/>
        </p:spPr>
        <p:txBody>
          <a:bodyPr wrap="square" lIns="0" tIns="0" rIns="0" bIns="0" rtlCol="0" anchor="ctr"/>
          <a:lstStyle/>
          <a:p>
            <a:pPr indent="0" marL="0">
              <a:buNone/>
            </a:pPr>
            <a:r>
              <a:rPr lang="en-US" sz="1300" b="1" dirty="0">
                <a:solidFill>
                  <a:srgbClr val="A8482A"/>
                </a:solidFill>
                <a:latin typeface="Calibri" pitchFamily="34" charset="0"/>
                <a:ea typeface="Calibri" pitchFamily="34" charset="-122"/>
                <a:cs typeface="Calibri" pitchFamily="34" charset="-120"/>
              </a:rPr>
              <a:t>X</a:t>
            </a:r>
            <a:endParaRPr lang="en-US" sz="1300" dirty="0"/>
          </a:p>
        </p:txBody>
      </p:sp>
      <p:sp>
        <p:nvSpPr>
          <p:cNvPr id="18" name="Text 16"/>
          <p:cNvSpPr/>
          <p:nvPr/>
        </p:nvSpPr>
        <p:spPr>
          <a:xfrm>
            <a:off x="1014984" y="2715768"/>
            <a:ext cx="2926080" cy="274320"/>
          </a:xfrm>
          <a:prstGeom prst="rect">
            <a:avLst/>
          </a:prstGeom>
          <a:noFill/>
          <a:ln/>
        </p:spPr>
        <p:txBody>
          <a:bodyPr wrap="square" lIns="0" tIns="0" rIns="0" bIns="0" rtlCol="0" anchor="ctr"/>
          <a:lstStyle/>
          <a:p>
            <a:pPr indent="0" marL="0">
              <a:buNone/>
            </a:pPr>
            <a:r>
              <a:rPr lang="en-US" sz="1150" b="1" dirty="0">
                <a:solidFill>
                  <a:srgbClr val="16211B"/>
                </a:solidFill>
                <a:latin typeface="Calibri" pitchFamily="34" charset="0"/>
                <a:ea typeface="Calibri" pitchFamily="34" charset="-122"/>
                <a:cs typeface="Calibri" pitchFamily="34" charset="-120"/>
              </a:rPr>
              <a:t>Writing your own trainer</a:t>
            </a:r>
            <a:endParaRPr lang="en-US" sz="1150" dirty="0"/>
          </a:p>
        </p:txBody>
      </p:sp>
      <p:sp>
        <p:nvSpPr>
          <p:cNvPr id="19" name="Text 17"/>
          <p:cNvSpPr/>
          <p:nvPr/>
        </p:nvSpPr>
        <p:spPr>
          <a:xfrm>
            <a:off x="722376" y="3017520"/>
            <a:ext cx="3200400" cy="713232"/>
          </a:xfrm>
          <a:prstGeom prst="rect">
            <a:avLst/>
          </a:prstGeom>
          <a:noFill/>
          <a:ln/>
        </p:spPr>
        <p:txBody>
          <a:bodyPr wrap="square" lIns="0" tIns="0" rIns="0" bIns="0" rtlCol="0" anchor="t"/>
          <a:lstStyle/>
          <a:p>
            <a:pPr indent="0" marL="0">
              <a:buNone/>
            </a:pPr>
            <a:r>
              <a:rPr lang="en-US" sz="1000" dirty="0">
                <a:solidFill>
                  <a:srgbClr val="6B7A70"/>
                </a:solidFill>
                <a:latin typeface="Calibri" pitchFamily="34" charset="0"/>
                <a:ea typeface="Calibri" pitchFamily="34" charset="-122"/>
                <a:cs typeface="Calibri" pitchFamily="34" charset="-120"/>
              </a:rPr>
              <a:t>TRL covers every method in this deck. Time on training infrastructure is time not spent on data and rewards.</a:t>
            </a:r>
            <a:endParaRPr lang="en-US" sz="1000" dirty="0"/>
          </a:p>
        </p:txBody>
      </p:sp>
      <p:sp>
        <p:nvSpPr>
          <p:cNvPr id="20" name="Shape 18"/>
          <p:cNvSpPr/>
          <p:nvPr/>
        </p:nvSpPr>
        <p:spPr>
          <a:xfrm>
            <a:off x="4270248" y="2596896"/>
            <a:ext cx="3621024" cy="1207008"/>
          </a:xfrm>
          <a:prstGeom prst="roundRect">
            <a:avLst>
              <a:gd name="adj" fmla="val 530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1" name="Text 19"/>
          <p:cNvSpPr/>
          <p:nvPr/>
        </p:nvSpPr>
        <p:spPr>
          <a:xfrm>
            <a:off x="4471416" y="2724912"/>
            <a:ext cx="274320" cy="256032"/>
          </a:xfrm>
          <a:prstGeom prst="rect">
            <a:avLst/>
          </a:prstGeom>
          <a:noFill/>
          <a:ln/>
        </p:spPr>
        <p:txBody>
          <a:bodyPr wrap="square" lIns="0" tIns="0" rIns="0" bIns="0" rtlCol="0" anchor="ctr"/>
          <a:lstStyle/>
          <a:p>
            <a:pPr indent="0" marL="0">
              <a:buNone/>
            </a:pPr>
            <a:r>
              <a:rPr lang="en-US" sz="1300" b="1" dirty="0">
                <a:solidFill>
                  <a:srgbClr val="A8482A"/>
                </a:solidFill>
                <a:latin typeface="Calibri" pitchFamily="34" charset="0"/>
                <a:ea typeface="Calibri" pitchFamily="34" charset="-122"/>
                <a:cs typeface="Calibri" pitchFamily="34" charset="-120"/>
              </a:rPr>
              <a:t>X</a:t>
            </a:r>
            <a:endParaRPr lang="en-US" sz="1300" dirty="0"/>
          </a:p>
        </p:txBody>
      </p:sp>
      <p:sp>
        <p:nvSpPr>
          <p:cNvPr id="22" name="Text 20"/>
          <p:cNvSpPr/>
          <p:nvPr/>
        </p:nvSpPr>
        <p:spPr>
          <a:xfrm>
            <a:off x="4782312" y="2715768"/>
            <a:ext cx="2926080" cy="274320"/>
          </a:xfrm>
          <a:prstGeom prst="rect">
            <a:avLst/>
          </a:prstGeom>
          <a:noFill/>
          <a:ln/>
        </p:spPr>
        <p:txBody>
          <a:bodyPr wrap="square" lIns="0" tIns="0" rIns="0" bIns="0" rtlCol="0" anchor="ctr"/>
          <a:lstStyle/>
          <a:p>
            <a:pPr indent="0" marL="0">
              <a:buNone/>
            </a:pPr>
            <a:r>
              <a:rPr lang="en-US" sz="1150" b="1" dirty="0">
                <a:solidFill>
                  <a:srgbClr val="16211B"/>
                </a:solidFill>
                <a:latin typeface="Calibri" pitchFamily="34" charset="0"/>
                <a:ea typeface="Calibri" pitchFamily="34" charset="-122"/>
                <a:cs typeface="Calibri" pitchFamily="34" charset="-120"/>
              </a:rPr>
              <a:t>Reading papers instead of running experiments</a:t>
            </a:r>
            <a:endParaRPr lang="en-US" sz="1150" dirty="0"/>
          </a:p>
        </p:txBody>
      </p:sp>
      <p:sp>
        <p:nvSpPr>
          <p:cNvPr id="23" name="Text 21"/>
          <p:cNvSpPr/>
          <p:nvPr/>
        </p:nvSpPr>
        <p:spPr>
          <a:xfrm>
            <a:off x="4489704" y="3017520"/>
            <a:ext cx="3200400" cy="713232"/>
          </a:xfrm>
          <a:prstGeom prst="rect">
            <a:avLst/>
          </a:prstGeom>
          <a:noFill/>
          <a:ln/>
        </p:spPr>
        <p:txBody>
          <a:bodyPr wrap="square" lIns="0" tIns="0" rIns="0" bIns="0" rtlCol="0" anchor="t"/>
          <a:lstStyle/>
          <a:p>
            <a:pPr indent="0" marL="0">
              <a:buNone/>
            </a:pPr>
            <a:r>
              <a:rPr lang="en-US" sz="1000" dirty="0">
                <a:solidFill>
                  <a:srgbClr val="6B7A70"/>
                </a:solidFill>
                <a:latin typeface="Calibri" pitchFamily="34" charset="0"/>
                <a:ea typeface="Calibri" pitchFamily="34" charset="-122"/>
                <a:cs typeface="Calibri" pitchFamily="34" charset="-120"/>
              </a:rPr>
              <a:t>The failure modes in this deck are not in the papers. They are in your rollout logs.</a:t>
            </a:r>
            <a:endParaRPr lang="en-US" sz="1000" dirty="0"/>
          </a:p>
        </p:txBody>
      </p:sp>
      <p:sp>
        <p:nvSpPr>
          <p:cNvPr id="24" name="Shape 22"/>
          <p:cNvSpPr/>
          <p:nvPr/>
        </p:nvSpPr>
        <p:spPr>
          <a:xfrm>
            <a:off x="8037576" y="2596896"/>
            <a:ext cx="3621024" cy="1207008"/>
          </a:xfrm>
          <a:prstGeom prst="roundRect">
            <a:avLst>
              <a:gd name="adj" fmla="val 530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Text 23"/>
          <p:cNvSpPr/>
          <p:nvPr/>
        </p:nvSpPr>
        <p:spPr>
          <a:xfrm>
            <a:off x="8238744" y="2724912"/>
            <a:ext cx="274320" cy="256032"/>
          </a:xfrm>
          <a:prstGeom prst="rect">
            <a:avLst/>
          </a:prstGeom>
          <a:noFill/>
          <a:ln/>
        </p:spPr>
        <p:txBody>
          <a:bodyPr wrap="square" lIns="0" tIns="0" rIns="0" bIns="0" rtlCol="0" anchor="ctr"/>
          <a:lstStyle/>
          <a:p>
            <a:pPr indent="0" marL="0">
              <a:buNone/>
            </a:pPr>
            <a:r>
              <a:rPr lang="en-US" sz="1300" b="1" dirty="0">
                <a:solidFill>
                  <a:srgbClr val="A8482A"/>
                </a:solidFill>
                <a:latin typeface="Calibri" pitchFamily="34" charset="0"/>
                <a:ea typeface="Calibri" pitchFamily="34" charset="-122"/>
                <a:cs typeface="Calibri" pitchFamily="34" charset="-120"/>
              </a:rPr>
              <a:t>X</a:t>
            </a:r>
            <a:endParaRPr lang="en-US" sz="1300" dirty="0"/>
          </a:p>
        </p:txBody>
      </p:sp>
      <p:sp>
        <p:nvSpPr>
          <p:cNvPr id="26" name="Text 24"/>
          <p:cNvSpPr/>
          <p:nvPr/>
        </p:nvSpPr>
        <p:spPr>
          <a:xfrm>
            <a:off x="8549640" y="2715768"/>
            <a:ext cx="2926080" cy="274320"/>
          </a:xfrm>
          <a:prstGeom prst="rect">
            <a:avLst/>
          </a:prstGeom>
          <a:noFill/>
          <a:ln/>
        </p:spPr>
        <p:txBody>
          <a:bodyPr wrap="square" lIns="0" tIns="0" rIns="0" bIns="0" rtlCol="0" anchor="ctr"/>
          <a:lstStyle/>
          <a:p>
            <a:pPr indent="0" marL="0">
              <a:buNone/>
            </a:pPr>
            <a:r>
              <a:rPr lang="en-US" sz="1150" b="1" dirty="0">
                <a:solidFill>
                  <a:srgbClr val="16211B"/>
                </a:solidFill>
                <a:latin typeface="Calibri" pitchFamily="34" charset="0"/>
                <a:ea typeface="Calibri" pitchFamily="34" charset="-122"/>
                <a:cs typeface="Calibri" pitchFamily="34" charset="-120"/>
              </a:rPr>
              <a:t>Scaling up too early</a:t>
            </a:r>
            <a:endParaRPr lang="en-US" sz="1150" dirty="0"/>
          </a:p>
        </p:txBody>
      </p:sp>
      <p:sp>
        <p:nvSpPr>
          <p:cNvPr id="27" name="Text 25"/>
          <p:cNvSpPr/>
          <p:nvPr/>
        </p:nvSpPr>
        <p:spPr>
          <a:xfrm>
            <a:off x="8257032" y="3017520"/>
            <a:ext cx="3200400" cy="713232"/>
          </a:xfrm>
          <a:prstGeom prst="rect">
            <a:avLst/>
          </a:prstGeom>
          <a:noFill/>
          <a:ln/>
        </p:spPr>
        <p:txBody>
          <a:bodyPr wrap="square" lIns="0" tIns="0" rIns="0" bIns="0" rtlCol="0" anchor="t"/>
          <a:lstStyle/>
          <a:p>
            <a:pPr indent="0" marL="0">
              <a:buNone/>
            </a:pPr>
            <a:r>
              <a:rPr lang="en-US" sz="1000" dirty="0">
                <a:solidFill>
                  <a:srgbClr val="6B7A70"/>
                </a:solidFill>
                <a:latin typeface="Calibri" pitchFamily="34" charset="0"/>
                <a:ea typeface="Calibri" pitchFamily="34" charset="-122"/>
                <a:cs typeface="Calibri" pitchFamily="34" charset="-120"/>
              </a:rPr>
              <a:t>Every problem you have at 7B, you also had at 0.5B — where it cost nothing to find.</a:t>
            </a:r>
            <a:endParaRPr lang="en-US" sz="1000" dirty="0"/>
          </a:p>
        </p:txBody>
      </p:sp>
      <p:sp>
        <p:nvSpPr>
          <p:cNvPr id="28" name="Shape 26"/>
          <p:cNvSpPr/>
          <p:nvPr/>
        </p:nvSpPr>
        <p:spPr>
          <a:xfrm>
            <a:off x="502920" y="3931920"/>
            <a:ext cx="3621024" cy="1207008"/>
          </a:xfrm>
          <a:prstGeom prst="roundRect">
            <a:avLst>
              <a:gd name="adj" fmla="val 530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9" name="Text 27"/>
          <p:cNvSpPr/>
          <p:nvPr/>
        </p:nvSpPr>
        <p:spPr>
          <a:xfrm>
            <a:off x="704088" y="4059936"/>
            <a:ext cx="274320" cy="256032"/>
          </a:xfrm>
          <a:prstGeom prst="rect">
            <a:avLst/>
          </a:prstGeom>
          <a:noFill/>
          <a:ln/>
        </p:spPr>
        <p:txBody>
          <a:bodyPr wrap="square" lIns="0" tIns="0" rIns="0" bIns="0" rtlCol="0" anchor="ctr"/>
          <a:lstStyle/>
          <a:p>
            <a:pPr indent="0" marL="0">
              <a:buNone/>
            </a:pPr>
            <a:r>
              <a:rPr lang="en-US" sz="1300" b="1" dirty="0">
                <a:solidFill>
                  <a:srgbClr val="A8482A"/>
                </a:solidFill>
                <a:latin typeface="Calibri" pitchFamily="34" charset="0"/>
                <a:ea typeface="Calibri" pitchFamily="34" charset="-122"/>
                <a:cs typeface="Calibri" pitchFamily="34" charset="-120"/>
              </a:rPr>
              <a:t>X</a:t>
            </a:r>
            <a:endParaRPr lang="en-US" sz="1300" dirty="0"/>
          </a:p>
        </p:txBody>
      </p:sp>
      <p:sp>
        <p:nvSpPr>
          <p:cNvPr id="30" name="Text 28"/>
          <p:cNvSpPr/>
          <p:nvPr/>
        </p:nvSpPr>
        <p:spPr>
          <a:xfrm>
            <a:off x="1014984" y="4050792"/>
            <a:ext cx="2926080" cy="274320"/>
          </a:xfrm>
          <a:prstGeom prst="rect">
            <a:avLst/>
          </a:prstGeom>
          <a:noFill/>
          <a:ln/>
        </p:spPr>
        <p:txBody>
          <a:bodyPr wrap="square" lIns="0" tIns="0" rIns="0" bIns="0" rtlCol="0" anchor="ctr"/>
          <a:lstStyle/>
          <a:p>
            <a:pPr indent="0" marL="0">
              <a:buNone/>
            </a:pPr>
            <a:r>
              <a:rPr lang="en-US" sz="1150" b="1" dirty="0">
                <a:solidFill>
                  <a:srgbClr val="16211B"/>
                </a:solidFill>
                <a:latin typeface="Calibri" pitchFamily="34" charset="0"/>
                <a:ea typeface="Calibri" pitchFamily="34" charset="-122"/>
                <a:cs typeface="Calibri" pitchFamily="34" charset="-120"/>
              </a:rPr>
              <a:t>Hyperparameter sweeps on dirty data</a:t>
            </a:r>
            <a:endParaRPr lang="en-US" sz="1150" dirty="0"/>
          </a:p>
        </p:txBody>
      </p:sp>
      <p:sp>
        <p:nvSpPr>
          <p:cNvPr id="31" name="Text 29"/>
          <p:cNvSpPr/>
          <p:nvPr/>
        </p:nvSpPr>
        <p:spPr>
          <a:xfrm>
            <a:off x="722376" y="4352544"/>
            <a:ext cx="3200400" cy="713232"/>
          </a:xfrm>
          <a:prstGeom prst="rect">
            <a:avLst/>
          </a:prstGeom>
          <a:noFill/>
          <a:ln/>
        </p:spPr>
        <p:txBody>
          <a:bodyPr wrap="square" lIns="0" tIns="0" rIns="0" bIns="0" rtlCol="0" anchor="t"/>
          <a:lstStyle/>
          <a:p>
            <a:pPr indent="0" marL="0">
              <a:buNone/>
            </a:pPr>
            <a:r>
              <a:rPr lang="en-US" sz="1000" dirty="0">
                <a:solidFill>
                  <a:srgbClr val="6B7A70"/>
                </a:solidFill>
                <a:latin typeface="Calibri" pitchFamily="34" charset="0"/>
                <a:ea typeface="Calibri" pitchFamily="34" charset="-122"/>
                <a:cs typeface="Calibri" pitchFamily="34" charset="-120"/>
              </a:rPr>
              <a:t>You will find the settings that best memorize noise. Fix the data first; the answers change.</a:t>
            </a:r>
            <a:endParaRPr lang="en-US" sz="1000" dirty="0"/>
          </a:p>
        </p:txBody>
      </p:sp>
      <p:sp>
        <p:nvSpPr>
          <p:cNvPr id="32" name="Shape 30"/>
          <p:cNvSpPr/>
          <p:nvPr/>
        </p:nvSpPr>
        <p:spPr>
          <a:xfrm>
            <a:off x="4270248" y="3931920"/>
            <a:ext cx="3621024" cy="1207008"/>
          </a:xfrm>
          <a:prstGeom prst="roundRect">
            <a:avLst>
              <a:gd name="adj" fmla="val 530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3" name="Text 31"/>
          <p:cNvSpPr/>
          <p:nvPr/>
        </p:nvSpPr>
        <p:spPr>
          <a:xfrm>
            <a:off x="4471416" y="4059936"/>
            <a:ext cx="274320" cy="256032"/>
          </a:xfrm>
          <a:prstGeom prst="rect">
            <a:avLst/>
          </a:prstGeom>
          <a:noFill/>
          <a:ln/>
        </p:spPr>
        <p:txBody>
          <a:bodyPr wrap="square" lIns="0" tIns="0" rIns="0" bIns="0" rtlCol="0" anchor="ctr"/>
          <a:lstStyle/>
          <a:p>
            <a:pPr indent="0" marL="0">
              <a:buNone/>
            </a:pPr>
            <a:r>
              <a:rPr lang="en-US" sz="1300" b="1" dirty="0">
                <a:solidFill>
                  <a:srgbClr val="A8482A"/>
                </a:solidFill>
                <a:latin typeface="Calibri" pitchFamily="34" charset="0"/>
                <a:ea typeface="Calibri" pitchFamily="34" charset="-122"/>
                <a:cs typeface="Calibri" pitchFamily="34" charset="-120"/>
              </a:rPr>
              <a:t>X</a:t>
            </a:r>
            <a:endParaRPr lang="en-US" sz="1300" dirty="0"/>
          </a:p>
        </p:txBody>
      </p:sp>
      <p:sp>
        <p:nvSpPr>
          <p:cNvPr id="34" name="Text 32"/>
          <p:cNvSpPr/>
          <p:nvPr/>
        </p:nvSpPr>
        <p:spPr>
          <a:xfrm>
            <a:off x="4782312" y="4050792"/>
            <a:ext cx="2926080" cy="274320"/>
          </a:xfrm>
          <a:prstGeom prst="rect">
            <a:avLst/>
          </a:prstGeom>
          <a:noFill/>
          <a:ln/>
        </p:spPr>
        <p:txBody>
          <a:bodyPr wrap="square" lIns="0" tIns="0" rIns="0" bIns="0" rtlCol="0" anchor="ctr"/>
          <a:lstStyle/>
          <a:p>
            <a:pPr indent="0" marL="0">
              <a:buNone/>
            </a:pPr>
            <a:r>
              <a:rPr lang="en-US" sz="1150" b="1" dirty="0">
                <a:solidFill>
                  <a:srgbClr val="16211B"/>
                </a:solidFill>
                <a:latin typeface="Calibri" pitchFamily="34" charset="0"/>
                <a:ea typeface="Calibri" pitchFamily="34" charset="-122"/>
                <a:cs typeface="Calibri" pitchFamily="34" charset="-120"/>
              </a:rPr>
              <a:t>Building a custom eval framework</a:t>
            </a:r>
            <a:endParaRPr lang="en-US" sz="1150" dirty="0"/>
          </a:p>
        </p:txBody>
      </p:sp>
      <p:sp>
        <p:nvSpPr>
          <p:cNvPr id="35" name="Text 33"/>
          <p:cNvSpPr/>
          <p:nvPr/>
        </p:nvSpPr>
        <p:spPr>
          <a:xfrm>
            <a:off x="4489704" y="4352544"/>
            <a:ext cx="3200400" cy="713232"/>
          </a:xfrm>
          <a:prstGeom prst="rect">
            <a:avLst/>
          </a:prstGeom>
          <a:noFill/>
          <a:ln/>
        </p:spPr>
        <p:txBody>
          <a:bodyPr wrap="square" lIns="0" tIns="0" rIns="0" bIns="0" rtlCol="0" anchor="t"/>
          <a:lstStyle/>
          <a:p>
            <a:pPr indent="0" marL="0">
              <a:buNone/>
            </a:pPr>
            <a:r>
              <a:rPr lang="en-US" sz="1000" dirty="0">
                <a:solidFill>
                  <a:srgbClr val="6B7A70"/>
                </a:solidFill>
                <a:latin typeface="Calibri" pitchFamily="34" charset="0"/>
                <a:ea typeface="Calibri" pitchFamily="34" charset="-122"/>
                <a:cs typeface="Calibri" pitchFamily="34" charset="-120"/>
              </a:rPr>
              <a:t>Wrap evalplus. Your custom set matters; your custom framework does not.</a:t>
            </a:r>
            <a:endParaRPr lang="en-US" sz="1000" dirty="0"/>
          </a:p>
        </p:txBody>
      </p:sp>
      <p:sp>
        <p:nvSpPr>
          <p:cNvPr id="36" name="Shape 34"/>
          <p:cNvSpPr/>
          <p:nvPr/>
        </p:nvSpPr>
        <p:spPr>
          <a:xfrm>
            <a:off x="8037576" y="3931920"/>
            <a:ext cx="3621024" cy="1207008"/>
          </a:xfrm>
          <a:prstGeom prst="roundRect">
            <a:avLst>
              <a:gd name="adj" fmla="val 530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7" name="Text 35"/>
          <p:cNvSpPr/>
          <p:nvPr/>
        </p:nvSpPr>
        <p:spPr>
          <a:xfrm>
            <a:off x="8238744" y="4059936"/>
            <a:ext cx="274320" cy="256032"/>
          </a:xfrm>
          <a:prstGeom prst="rect">
            <a:avLst/>
          </a:prstGeom>
          <a:noFill/>
          <a:ln/>
        </p:spPr>
        <p:txBody>
          <a:bodyPr wrap="square" lIns="0" tIns="0" rIns="0" bIns="0" rtlCol="0" anchor="ctr"/>
          <a:lstStyle/>
          <a:p>
            <a:pPr indent="0" marL="0">
              <a:buNone/>
            </a:pPr>
            <a:r>
              <a:rPr lang="en-US" sz="1300" b="1" dirty="0">
                <a:solidFill>
                  <a:srgbClr val="A8482A"/>
                </a:solidFill>
                <a:latin typeface="Calibri" pitchFamily="34" charset="0"/>
                <a:ea typeface="Calibri" pitchFamily="34" charset="-122"/>
                <a:cs typeface="Calibri" pitchFamily="34" charset="-120"/>
              </a:rPr>
              <a:t>X</a:t>
            </a:r>
            <a:endParaRPr lang="en-US" sz="1300" dirty="0"/>
          </a:p>
        </p:txBody>
      </p:sp>
      <p:sp>
        <p:nvSpPr>
          <p:cNvPr id="38" name="Text 36"/>
          <p:cNvSpPr/>
          <p:nvPr/>
        </p:nvSpPr>
        <p:spPr>
          <a:xfrm>
            <a:off x="8549640" y="4050792"/>
            <a:ext cx="2926080" cy="274320"/>
          </a:xfrm>
          <a:prstGeom prst="rect">
            <a:avLst/>
          </a:prstGeom>
          <a:noFill/>
          <a:ln/>
        </p:spPr>
        <p:txBody>
          <a:bodyPr wrap="square" lIns="0" tIns="0" rIns="0" bIns="0" rtlCol="0" anchor="ctr"/>
          <a:lstStyle/>
          <a:p>
            <a:pPr indent="0" marL="0">
              <a:buNone/>
            </a:pPr>
            <a:r>
              <a:rPr lang="en-US" sz="1150" b="1" dirty="0">
                <a:solidFill>
                  <a:srgbClr val="16211B"/>
                </a:solidFill>
                <a:latin typeface="Calibri" pitchFamily="34" charset="0"/>
                <a:ea typeface="Calibri" pitchFamily="34" charset="-122"/>
                <a:cs typeface="Calibri" pitchFamily="34" charset="-120"/>
              </a:rPr>
              <a:t>Perfect data filtering</a:t>
            </a:r>
            <a:endParaRPr lang="en-US" sz="1150" dirty="0"/>
          </a:p>
        </p:txBody>
      </p:sp>
      <p:sp>
        <p:nvSpPr>
          <p:cNvPr id="39" name="Text 37"/>
          <p:cNvSpPr/>
          <p:nvPr/>
        </p:nvSpPr>
        <p:spPr>
          <a:xfrm>
            <a:off x="8257032" y="4352544"/>
            <a:ext cx="3200400" cy="713232"/>
          </a:xfrm>
          <a:prstGeom prst="rect">
            <a:avLst/>
          </a:prstGeom>
          <a:noFill/>
          <a:ln/>
        </p:spPr>
        <p:txBody>
          <a:bodyPr wrap="square" lIns="0" tIns="0" rIns="0" bIns="0" rtlCol="0" anchor="t"/>
          <a:lstStyle/>
          <a:p>
            <a:pPr indent="0" marL="0">
              <a:buNone/>
            </a:pPr>
            <a:r>
              <a:rPr lang="en-US" sz="1000" dirty="0">
                <a:solidFill>
                  <a:srgbClr val="6B7A70"/>
                </a:solidFill>
                <a:latin typeface="Calibri" pitchFamily="34" charset="0"/>
                <a:ea typeface="Calibri" pitchFamily="34" charset="-122"/>
                <a:cs typeface="Calibri" pitchFamily="34" charset="-120"/>
              </a:rPr>
              <a:t>Ship at 90% clean. The last 10% costs more than the phase after it is worth.</a:t>
            </a:r>
            <a:endParaRPr lang="en-US" sz="1000" dirty="0"/>
          </a:p>
        </p:txBody>
      </p:sp>
      <p:sp>
        <p:nvSpPr>
          <p:cNvPr id="40" name="Shape 38"/>
          <p:cNvSpPr/>
          <p:nvPr/>
        </p:nvSpPr>
        <p:spPr>
          <a:xfrm>
            <a:off x="502920" y="5266944"/>
            <a:ext cx="3621024" cy="1207008"/>
          </a:xfrm>
          <a:prstGeom prst="roundRect">
            <a:avLst>
              <a:gd name="adj" fmla="val 530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41" name="Text 39"/>
          <p:cNvSpPr/>
          <p:nvPr/>
        </p:nvSpPr>
        <p:spPr>
          <a:xfrm>
            <a:off x="704088" y="5394960"/>
            <a:ext cx="274320" cy="256032"/>
          </a:xfrm>
          <a:prstGeom prst="rect">
            <a:avLst/>
          </a:prstGeom>
          <a:noFill/>
          <a:ln/>
        </p:spPr>
        <p:txBody>
          <a:bodyPr wrap="square" lIns="0" tIns="0" rIns="0" bIns="0" rtlCol="0" anchor="ctr"/>
          <a:lstStyle/>
          <a:p>
            <a:pPr indent="0" marL="0">
              <a:buNone/>
            </a:pPr>
            <a:r>
              <a:rPr lang="en-US" sz="1300" b="1" dirty="0">
                <a:solidFill>
                  <a:srgbClr val="A8482A"/>
                </a:solidFill>
                <a:latin typeface="Calibri" pitchFamily="34" charset="0"/>
                <a:ea typeface="Calibri" pitchFamily="34" charset="-122"/>
                <a:cs typeface="Calibri" pitchFamily="34" charset="-120"/>
              </a:rPr>
              <a:t>X</a:t>
            </a:r>
            <a:endParaRPr lang="en-US" sz="1300" dirty="0"/>
          </a:p>
        </p:txBody>
      </p:sp>
      <p:sp>
        <p:nvSpPr>
          <p:cNvPr id="42" name="Text 40"/>
          <p:cNvSpPr/>
          <p:nvPr/>
        </p:nvSpPr>
        <p:spPr>
          <a:xfrm>
            <a:off x="1014984" y="5385816"/>
            <a:ext cx="2926080" cy="274320"/>
          </a:xfrm>
          <a:prstGeom prst="rect">
            <a:avLst/>
          </a:prstGeom>
          <a:noFill/>
          <a:ln/>
        </p:spPr>
        <p:txBody>
          <a:bodyPr wrap="square" lIns="0" tIns="0" rIns="0" bIns="0" rtlCol="0" anchor="ctr"/>
          <a:lstStyle/>
          <a:p>
            <a:pPr indent="0" marL="0">
              <a:buNone/>
            </a:pPr>
            <a:r>
              <a:rPr lang="en-US" sz="1150" b="1" dirty="0">
                <a:solidFill>
                  <a:srgbClr val="16211B"/>
                </a:solidFill>
                <a:latin typeface="Calibri" pitchFamily="34" charset="0"/>
                <a:ea typeface="Calibri" pitchFamily="34" charset="-122"/>
                <a:cs typeface="Calibri" pitchFamily="34" charset="-120"/>
              </a:rPr>
              <a:t>Long-context / repo-level work</a:t>
            </a:r>
            <a:endParaRPr lang="en-US" sz="1150" dirty="0"/>
          </a:p>
        </p:txBody>
      </p:sp>
      <p:sp>
        <p:nvSpPr>
          <p:cNvPr id="43" name="Text 41"/>
          <p:cNvSpPr/>
          <p:nvPr/>
        </p:nvSpPr>
        <p:spPr>
          <a:xfrm>
            <a:off x="722376" y="5687568"/>
            <a:ext cx="3200400" cy="713232"/>
          </a:xfrm>
          <a:prstGeom prst="rect">
            <a:avLst/>
          </a:prstGeom>
          <a:noFill/>
          <a:ln/>
        </p:spPr>
        <p:txBody>
          <a:bodyPr wrap="square" lIns="0" tIns="0" rIns="0" bIns="0" rtlCol="0" anchor="t"/>
          <a:lstStyle/>
          <a:p>
            <a:pPr indent="0" marL="0">
              <a:buNone/>
            </a:pPr>
            <a:r>
              <a:rPr lang="en-US" sz="1000" dirty="0">
                <a:solidFill>
                  <a:srgbClr val="6B7A70"/>
                </a:solidFill>
                <a:latin typeface="Calibri" pitchFamily="34" charset="0"/>
                <a:ea typeface="Calibri" pitchFamily="34" charset="-122"/>
                <a:cs typeface="Calibri" pitchFamily="34" charset="-120"/>
              </a:rPr>
              <a:t>A genuinely different discipline. Deliberately out of scope until everything else works.</a:t>
            </a:r>
            <a:endParaRPr lang="en-US" sz="1000" dirty="0"/>
          </a:p>
        </p:txBody>
      </p:sp>
      <p:sp>
        <p:nvSpPr>
          <p:cNvPr id="44" name="Shape 42"/>
          <p:cNvSpPr/>
          <p:nvPr/>
        </p:nvSpPr>
        <p:spPr>
          <a:xfrm>
            <a:off x="4270248" y="5266944"/>
            <a:ext cx="3621024" cy="1207008"/>
          </a:xfrm>
          <a:prstGeom prst="roundRect">
            <a:avLst>
              <a:gd name="adj" fmla="val 530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45" name="Text 43"/>
          <p:cNvSpPr/>
          <p:nvPr/>
        </p:nvSpPr>
        <p:spPr>
          <a:xfrm>
            <a:off x="4471416" y="5394960"/>
            <a:ext cx="274320" cy="256032"/>
          </a:xfrm>
          <a:prstGeom prst="rect">
            <a:avLst/>
          </a:prstGeom>
          <a:noFill/>
          <a:ln/>
        </p:spPr>
        <p:txBody>
          <a:bodyPr wrap="square" lIns="0" tIns="0" rIns="0" bIns="0" rtlCol="0" anchor="ctr"/>
          <a:lstStyle/>
          <a:p>
            <a:pPr indent="0" marL="0">
              <a:buNone/>
            </a:pPr>
            <a:r>
              <a:rPr lang="en-US" sz="1300" b="1" dirty="0">
                <a:solidFill>
                  <a:srgbClr val="A8482A"/>
                </a:solidFill>
                <a:latin typeface="Calibri" pitchFamily="34" charset="0"/>
                <a:ea typeface="Calibri" pitchFamily="34" charset="-122"/>
                <a:cs typeface="Calibri" pitchFamily="34" charset="-120"/>
              </a:rPr>
              <a:t>X</a:t>
            </a:r>
            <a:endParaRPr lang="en-US" sz="1300" dirty="0"/>
          </a:p>
        </p:txBody>
      </p:sp>
      <p:sp>
        <p:nvSpPr>
          <p:cNvPr id="46" name="Text 44"/>
          <p:cNvSpPr/>
          <p:nvPr/>
        </p:nvSpPr>
        <p:spPr>
          <a:xfrm>
            <a:off x="4782312" y="5385816"/>
            <a:ext cx="2926080" cy="274320"/>
          </a:xfrm>
          <a:prstGeom prst="rect">
            <a:avLst/>
          </a:prstGeom>
          <a:noFill/>
          <a:ln/>
        </p:spPr>
        <p:txBody>
          <a:bodyPr wrap="square" lIns="0" tIns="0" rIns="0" bIns="0" rtlCol="0" anchor="ctr"/>
          <a:lstStyle/>
          <a:p>
            <a:pPr indent="0" marL="0">
              <a:buNone/>
            </a:pPr>
            <a:r>
              <a:rPr lang="en-US" sz="1150" b="1" dirty="0">
                <a:solidFill>
                  <a:srgbClr val="16211B"/>
                </a:solidFill>
                <a:latin typeface="Calibri" pitchFamily="34" charset="0"/>
                <a:ea typeface="Calibri" pitchFamily="34" charset="-122"/>
                <a:cs typeface="Calibri" pitchFamily="34" charset="-120"/>
              </a:rPr>
              <a:t>Multi-GPU and distributed training</a:t>
            </a:r>
            <a:endParaRPr lang="en-US" sz="1150" dirty="0"/>
          </a:p>
        </p:txBody>
      </p:sp>
      <p:sp>
        <p:nvSpPr>
          <p:cNvPr id="47" name="Text 45"/>
          <p:cNvSpPr/>
          <p:nvPr/>
        </p:nvSpPr>
        <p:spPr>
          <a:xfrm>
            <a:off x="4489704" y="5687568"/>
            <a:ext cx="3200400" cy="713232"/>
          </a:xfrm>
          <a:prstGeom prst="rect">
            <a:avLst/>
          </a:prstGeom>
          <a:noFill/>
          <a:ln/>
        </p:spPr>
        <p:txBody>
          <a:bodyPr wrap="square" lIns="0" tIns="0" rIns="0" bIns="0" rtlCol="0" anchor="t"/>
          <a:lstStyle/>
          <a:p>
            <a:pPr indent="0" marL="0">
              <a:buNone/>
            </a:pPr>
            <a:r>
              <a:rPr lang="en-US" sz="1000" dirty="0">
                <a:solidFill>
                  <a:srgbClr val="6B7A70"/>
                </a:solidFill>
                <a:latin typeface="Calibri" pitchFamily="34" charset="0"/>
                <a:ea typeface="Calibri" pitchFamily="34" charset="-122"/>
                <a:cs typeface="Calibri" pitchFamily="34" charset="-120"/>
              </a:rPr>
              <a:t>You have one GPU. The concepts transfer; the plumbing does not. Skip it.</a:t>
            </a:r>
            <a:endParaRPr lang="en-US" sz="1000" dirty="0"/>
          </a:p>
        </p:txBody>
      </p:sp>
      <p:sp>
        <p:nvSpPr>
          <p:cNvPr id="48" name="Shape 46"/>
          <p:cNvSpPr/>
          <p:nvPr/>
        </p:nvSpPr>
        <p:spPr>
          <a:xfrm>
            <a:off x="8037576" y="5266944"/>
            <a:ext cx="3621024" cy="1207008"/>
          </a:xfrm>
          <a:prstGeom prst="roundRect">
            <a:avLst>
              <a:gd name="adj" fmla="val 5303"/>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49" name="Text 47"/>
          <p:cNvSpPr/>
          <p:nvPr/>
        </p:nvSpPr>
        <p:spPr>
          <a:xfrm>
            <a:off x="8238744" y="5394960"/>
            <a:ext cx="274320" cy="256032"/>
          </a:xfrm>
          <a:prstGeom prst="rect">
            <a:avLst/>
          </a:prstGeom>
          <a:noFill/>
          <a:ln/>
        </p:spPr>
        <p:txBody>
          <a:bodyPr wrap="square" lIns="0" tIns="0" rIns="0" bIns="0" rtlCol="0" anchor="ctr"/>
          <a:lstStyle/>
          <a:p>
            <a:pPr indent="0" marL="0">
              <a:buNone/>
            </a:pPr>
            <a:r>
              <a:rPr lang="en-US" sz="1300" b="1" dirty="0">
                <a:solidFill>
                  <a:srgbClr val="A8482A"/>
                </a:solidFill>
                <a:latin typeface="Calibri" pitchFamily="34" charset="0"/>
                <a:ea typeface="Calibri" pitchFamily="34" charset="-122"/>
                <a:cs typeface="Calibri" pitchFamily="34" charset="-120"/>
              </a:rPr>
              <a:t>X</a:t>
            </a:r>
            <a:endParaRPr lang="en-US" sz="1300" dirty="0"/>
          </a:p>
        </p:txBody>
      </p:sp>
      <p:sp>
        <p:nvSpPr>
          <p:cNvPr id="50" name="Text 48"/>
          <p:cNvSpPr/>
          <p:nvPr/>
        </p:nvSpPr>
        <p:spPr>
          <a:xfrm>
            <a:off x="8549640" y="5385816"/>
            <a:ext cx="2926080" cy="274320"/>
          </a:xfrm>
          <a:prstGeom prst="rect">
            <a:avLst/>
          </a:prstGeom>
          <a:noFill/>
          <a:ln/>
        </p:spPr>
        <p:txBody>
          <a:bodyPr wrap="square" lIns="0" tIns="0" rIns="0" bIns="0" rtlCol="0" anchor="ctr"/>
          <a:lstStyle/>
          <a:p>
            <a:pPr indent="0" marL="0">
              <a:buNone/>
            </a:pPr>
            <a:r>
              <a:rPr lang="en-US" sz="1150" b="1" dirty="0">
                <a:solidFill>
                  <a:srgbClr val="16211B"/>
                </a:solidFill>
                <a:latin typeface="Calibri" pitchFamily="34" charset="0"/>
                <a:ea typeface="Calibri" pitchFamily="34" charset="-122"/>
                <a:cs typeface="Calibri" pitchFamily="34" charset="-120"/>
              </a:rPr>
              <a:t>Waiting until you 'understand the math'</a:t>
            </a:r>
            <a:endParaRPr lang="en-US" sz="1150" dirty="0"/>
          </a:p>
        </p:txBody>
      </p:sp>
      <p:sp>
        <p:nvSpPr>
          <p:cNvPr id="51" name="Text 49"/>
          <p:cNvSpPr/>
          <p:nvPr/>
        </p:nvSpPr>
        <p:spPr>
          <a:xfrm>
            <a:off x="8257032" y="5687568"/>
            <a:ext cx="3200400" cy="713232"/>
          </a:xfrm>
          <a:prstGeom prst="rect">
            <a:avLst/>
          </a:prstGeom>
          <a:noFill/>
          <a:ln/>
        </p:spPr>
        <p:txBody>
          <a:bodyPr wrap="square" lIns="0" tIns="0" rIns="0" bIns="0" rtlCol="0" anchor="t"/>
          <a:lstStyle/>
          <a:p>
            <a:pPr indent="0" marL="0">
              <a:buNone/>
            </a:pPr>
            <a:r>
              <a:rPr lang="en-US" sz="1000" dirty="0">
                <a:solidFill>
                  <a:srgbClr val="6B7A70"/>
                </a:solidFill>
                <a:latin typeface="Calibri" pitchFamily="34" charset="0"/>
                <a:ea typeface="Calibri" pitchFamily="34" charset="-122"/>
                <a:cs typeface="Calibri" pitchFamily="34" charset="-120"/>
              </a:rPr>
              <a:t>You will understand DPO's derivation faster after running it than before.</a:t>
            </a:r>
            <a:endParaRPr lang="en-US" sz="1000" dirty="0"/>
          </a:p>
        </p:txBody>
      </p:sp>
      <p:sp>
        <p:nvSpPr>
          <p:cNvPr id="52" name="Text 50"/>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181</a:t>
            </a:r>
            <a:endParaRPr lang="en-US" sz="95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SYNTHESIS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Trap Index  ·  1 of 3</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Setup through Data</a:t>
            </a:r>
            <a:endParaRPr lang="en-US" sz="1300" dirty="0"/>
          </a:p>
        </p:txBody>
      </p:sp>
      <p:graphicFrame>
        <p:nvGraphicFramePr>
          <p:cNvPr id="183"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55680" cy="914400"/>
        </p:xfrm>
        <a:graphic>
          <a:graphicData uri="http://schemas.openxmlformats.org/drawingml/2006/table">
            <a:tbl>
              <a:tblPr/>
              <a:tblGrid>
                <a:gridCol w="1051560"/>
                <a:gridCol w="2743200"/>
                <a:gridCol w="3291840"/>
                <a:gridCol w="4069080"/>
              </a:tblGrid>
              <a:tr h="26974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Phase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Trap</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The tell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The fix</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Setup</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CPU-only torch installed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cuda.is_available() False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Reinstall with the cuXXX index URL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Setup</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HF cache in home directory</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Disk fills in a week</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Set HF_HOME on day one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Setup</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bitsandbytes broken</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Fails at training, not install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Run python -m bitsandbytes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Chat template guessed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Fine-tune scores below base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apply_chat_template; print repr()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Wrong EOS token</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Generation never terminates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Decode a training example end to end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seq_len guessed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Silent truncation of 20%+</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Measure your data's p95</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Sandbox</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No timeout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Run hangs at a random step</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Wall-clock AND CPU limits, both</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Sandbox</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Kills process, not group</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Orphans accumulate overnight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os.setsid() + os.killpg()</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Sandbox</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Test file readable from cwd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Model reads it in Phase 9</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Tests outside cwd; flag file reads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Sandbox</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Env inherited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HF/W&amp;B tokens leak into codegen</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Explicit minimal env allowlist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Eval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Single seed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Gains appear then vanish</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Three seeds, report mean ± std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Eval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Naive pass@k</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Biased, high variance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Unbiased combinatorial estimator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Eval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First code block extracted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Points vanish inexplicably</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Take the LAST complete block</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Dedup before decontamination</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Contamination hidden by removal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Decontaminate FIRST, always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Split before dedup</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Val tracks train suspiciously well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Dedup, then split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9748">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Mixture computed in records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'80/20' behaves like 100/0</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Compute the ratio in tokens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Text 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182</a:t>
            </a:r>
            <a:endParaRPr lang="en-US" sz="9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SYNTHESIS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Trap Index  ·  2 of 3</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SFT through GRPO</a:t>
            </a:r>
            <a:endParaRPr lang="en-US" sz="1300" dirty="0"/>
          </a:p>
        </p:txBody>
      </p:sp>
      <p:graphicFrame>
        <p:nvGraphicFramePr>
          <p:cNvPr id="184"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55680" cy="914400"/>
        </p:xfrm>
        <a:graphic>
          <a:graphicData uri="http://schemas.openxmlformats.org/drawingml/2006/table">
            <a:tbl>
              <a:tblPr/>
              <a:tblGrid>
                <a:gridCol w="1051560"/>
                <a:gridCol w="2743200"/>
                <a:gridCol w="3291840"/>
                <a:gridCol w="4069080"/>
              </a:tblGrid>
              <a:tr h="25146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Phase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Trap</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The tell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The fix</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SFT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Full-FT learning rate on LoRA</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Barely moves off baseline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LoRA wants ~10x higher: 2e-4</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SFT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Loss over prompt tokens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Loss falls, behavior degrades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Decode a batch, inspect labels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SFT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response_template mismatch</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Masking silently disabled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Match the template byte for byte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SFT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Rank raised, alpha fixed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'Rank has no effect'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Set alpha = 2r and re-sweep</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SFT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target_modules typo</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0% trainable, run looks normal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print_trainable_parameters()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SFT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Checkpoint on best loss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Ships the most memorized model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Checkpoint on eval_pass_at_1</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SFT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Accumulation silently ignored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Noisy loss, poor results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Log the optimizer step count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SFT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fp16 on an Ampere card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NaN on step 1</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Use bf16</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RFT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Temperature 0</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N identical samples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0.8–1.0; diversity is the point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RFT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No per-problem cap</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One problem gives 50 examples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Keep k=2–4 per problem</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RFT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Difficulty collapse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Round 2 shows no gain</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Stratify the keep-set by difficulty</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DPO</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SFT learning rate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Model destroyed in ~50 steps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5e-6, not 2e-4</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DPO</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Multiple epochs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Peak at step 80 of 400</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One epoch; evaluate every 50 steps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DPO</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Cross-problem pairs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Learns ranking, not quality</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Pair within a single prompt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DPO</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Length unlogged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Output doubles unnoticed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Log mean output length always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GRPO</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Binary reward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Reward flat for hours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Fraction of tests passed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GRPO</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Dead groups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'Converged' but nothing learned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Filter to pass-rate 0.2–0.8</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51460">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GRPO</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KL beta = 0</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Drifts into gibberish</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beta ~0.04; log KL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Text 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183</a:t>
            </a:r>
            <a:endParaRPr lang="en-US" sz="95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SYNTHESIS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Trap Index  ·  3 of 3</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Repair through Serving, plus the cross-cutting ones</a:t>
            </a:r>
            <a:endParaRPr lang="en-US" sz="1300" dirty="0"/>
          </a:p>
        </p:txBody>
      </p:sp>
      <p:graphicFrame>
        <p:nvGraphicFramePr>
          <p:cNvPr id="18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55680" cy="914400"/>
        </p:xfrm>
        <a:graphic>
          <a:graphicData uri="http://schemas.openxmlformats.org/drawingml/2006/table">
            <a:tbl>
              <a:tblPr/>
              <a:tblGrid>
                <a:gridCol w="1051560"/>
                <a:gridCol w="2743200"/>
                <a:gridCol w="3291840"/>
                <a:gridCol w="4069080"/>
              </a:tblGrid>
              <a:tr h="26517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Phase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Trap</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The tell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The fix</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GRPO</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Penalty scored but not enforced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Model learns evasion, not avoidance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Sandbox must actually block it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GRPO</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Reward tuned on held-out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Excellent held-out score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Tune on dev; seal the test set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GRPO</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Trusting the reward curve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Reward up, capability down</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Plot pass@1 on the same axis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Repair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Reward final attempt only</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First-attempt quality declines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Weight first attempt 0.7 / repair 0.3</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Repair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Single merged metric</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Hides first-attempt regression</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Report both numbers separately</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Repair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Fix included in feedback</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Learns copying, not repair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Report what broke, never the fix</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Repair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Full untruncated tracebacks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Context consumed by stack frames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Exception, message, failing values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Merge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Different base models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Output is garbage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Merging requires a common ancestor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Merge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Merge not evaluated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Silently worse than components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Same three-seed protocol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Merge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Methods swept, weights not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Marginal gains only</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The mixing ratio matters more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Serve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Generic quantization curve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Quality drops unexpectedly</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Measure on YOUR eval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Serve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Below 4-bit on a small model</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Sharp quality cliff</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Q4_K_M is the practical floor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Serve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Eval the checkpoint, ship the quant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Two points vanish at launch</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Evaluate through the served endpoint</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Serve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Stop tokens wrong at serve time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Endless generation returns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Verify the serving config's template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Ops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Partial seeding</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Irreproducible, but looks seeded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Seed python, numpy, torch, cuda, loader</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Ops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Config written after the run</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Result cannot be regenerated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Commit the config BEFORE running</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Ops</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grad_norm not logged</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Divergence arrives with no warning</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950" dirty="0">
                          <a:solidFill>
                            <a:srgbClr val="16211B"/>
                          </a:solidFill>
                          <a:latin typeface="Calibri" pitchFamily="34" charset="0"/>
                          <a:ea typeface="Calibri" pitchFamily="34" charset="-122"/>
                          <a:cs typeface="Calibri" pitchFamily="34" charset="-120"/>
                        </a:rPr>
                        <a:t>Log it every step, every phase</a:t>
                      </a:r>
                      <a:endParaRPr lang="en-US" sz="9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Text 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184</a:t>
            </a:r>
            <a:endParaRPr lang="en-US" sz="9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502920" y="365760"/>
            <a:ext cx="11155680" cy="274320"/>
          </a:xfrm>
          <a:prstGeom prst="rect">
            <a:avLst/>
          </a:prstGeom>
          <a:noFill/>
          <a:ln/>
        </p:spPr>
        <p:txBody>
          <a:bodyPr wrap="square" lIns="0" tIns="0" rIns="0" bIns="0" rtlCol="0" anchor="ctr"/>
          <a:lstStyle/>
          <a:p>
            <a:pPr indent="0" marL="0">
              <a:buNone/>
            </a:pPr>
            <a:r>
              <a:rPr lang="en-US" sz="1150" b="1" spc="300" kern="0" dirty="0">
                <a:solidFill>
                  <a:srgbClr val="A8482A"/>
                </a:solidFill>
                <a:latin typeface="Calibri" pitchFamily="34" charset="0"/>
                <a:ea typeface="Calibri" pitchFamily="34" charset="-122"/>
                <a:cs typeface="Calibri" pitchFamily="34" charset="-120"/>
              </a:rPr>
              <a:t>THE FALSE POSITIVE INDEX  ·  1 of 2</a:t>
            </a:r>
            <a:endParaRPr lang="en-US" sz="1150" dirty="0"/>
          </a:p>
        </p:txBody>
      </p:sp>
      <p:sp>
        <p:nvSpPr>
          <p:cNvPr id="3" name="Text 1"/>
          <p:cNvSpPr/>
          <p:nvPr/>
        </p:nvSpPr>
        <p:spPr>
          <a:xfrm>
            <a:off x="502920" y="685800"/>
            <a:ext cx="11155680" cy="50292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Numbers that go UP while the model gets worse</a:t>
            </a:r>
            <a:endParaRPr lang="en-US" sz="2900" dirty="0"/>
          </a:p>
        </p:txBody>
      </p:sp>
      <p:sp>
        <p:nvSpPr>
          <p:cNvPr id="4" name="Text 2"/>
          <p:cNvSpPr/>
          <p:nvPr/>
        </p:nvSpPr>
        <p:spPr>
          <a:xfrm>
            <a:off x="502920" y="1207008"/>
            <a:ext cx="11155680" cy="292608"/>
          </a:xfrm>
          <a:prstGeom prst="rect">
            <a:avLst/>
          </a:prstGeom>
          <a:noFill/>
          <a:ln/>
        </p:spPr>
        <p:txBody>
          <a:bodyPr wrap="square" lIns="0" tIns="0" rIns="0" bIns="0" rtlCol="0" anchor="ctr"/>
          <a:lstStyle/>
          <a:p>
            <a:pPr indent="0" marL="0">
              <a:buNone/>
            </a:pPr>
            <a:r>
              <a:rPr lang="en-US" sz="1200" i="1" dirty="0">
                <a:solidFill>
                  <a:srgbClr val="C9DDB4"/>
                </a:solidFill>
                <a:latin typeface="Calibri" pitchFamily="34" charset="0"/>
                <a:ea typeface="Calibri" pitchFamily="34" charset="-122"/>
                <a:cs typeface="Calibri" pitchFamily="34" charset="-120"/>
              </a:rPr>
              <a:t>These do not fail. They succeed, incorrectly, and you believe them. This is the most expensive page in the deck.</a:t>
            </a:r>
            <a:endParaRPr lang="en-US" sz="1200" dirty="0"/>
          </a:p>
        </p:txBody>
      </p:sp>
      <p:sp>
        <p:nvSpPr>
          <p:cNvPr id="5" name="Shape 3"/>
          <p:cNvSpPr/>
          <p:nvPr/>
        </p:nvSpPr>
        <p:spPr>
          <a:xfrm>
            <a:off x="502920" y="1627632"/>
            <a:ext cx="11155680" cy="566928"/>
          </a:xfrm>
          <a:prstGeom prst="roundRect">
            <a:avLst>
              <a:gd name="adj" fmla="val 8065"/>
            </a:avLst>
          </a:prstGeom>
          <a:solidFill>
            <a:srgbClr val="1F3D2E"/>
          </a:solidFill>
          <a:ln/>
        </p:spPr>
      </p:sp>
      <p:sp>
        <p:nvSpPr>
          <p:cNvPr id="6" name="Text 4"/>
          <p:cNvSpPr/>
          <p:nvPr/>
        </p:nvSpPr>
        <p:spPr>
          <a:xfrm>
            <a:off x="731520" y="1673352"/>
            <a:ext cx="2286000" cy="219456"/>
          </a:xfrm>
          <a:prstGeom prst="rect">
            <a:avLst/>
          </a:prstGeom>
          <a:noFill/>
          <a:ln/>
        </p:spPr>
        <p:txBody>
          <a:bodyPr wrap="square" lIns="0" tIns="0" rIns="0" bIns="0" rtlCol="0" anchor="ctr"/>
          <a:lstStyle/>
          <a:p>
            <a:pPr indent="0" marL="0">
              <a:buNone/>
            </a:pPr>
            <a:r>
              <a:rPr lang="en-US" sz="1150" b="1" dirty="0">
                <a:solidFill>
                  <a:srgbClr val="D98E32"/>
                </a:solidFill>
                <a:latin typeface="Calibri" pitchFamily="34" charset="0"/>
                <a:ea typeface="Calibri" pitchFamily="34" charset="-122"/>
                <a:cs typeface="Calibri" pitchFamily="34" charset="-120"/>
              </a:rPr>
              <a:t>Contamination</a:t>
            </a:r>
            <a:endParaRPr lang="en-US" sz="1150" dirty="0"/>
          </a:p>
        </p:txBody>
      </p:sp>
      <p:sp>
        <p:nvSpPr>
          <p:cNvPr id="7" name="Text 5"/>
          <p:cNvSpPr/>
          <p:nvPr/>
        </p:nvSpPr>
        <p:spPr>
          <a:xfrm>
            <a:off x="731520" y="1901952"/>
            <a:ext cx="2377440" cy="237744"/>
          </a:xfrm>
          <a:prstGeom prst="rect">
            <a:avLst/>
          </a:prstGeom>
          <a:noFill/>
          <a:ln/>
        </p:spPr>
        <p:txBody>
          <a:bodyPr wrap="square" lIns="0" tIns="0" rIns="0" bIns="0" rtlCol="0" anchor="t"/>
          <a:lstStyle/>
          <a:p>
            <a:pPr indent="0" marL="0">
              <a:buNone/>
            </a:pPr>
            <a:r>
              <a:rPr lang="en-US" sz="850" dirty="0">
                <a:solidFill>
                  <a:srgbClr val="8FA396"/>
                </a:solidFill>
                <a:latin typeface="Calibri" pitchFamily="34" charset="0"/>
                <a:ea typeface="Calibri" pitchFamily="34" charset="-122"/>
                <a:cs typeface="Calibri" pitchFamily="34" charset="-120"/>
              </a:rPr>
              <a:t>Eval problems sit in your training data</a:t>
            </a:r>
            <a:endParaRPr lang="en-US" sz="850" dirty="0"/>
          </a:p>
        </p:txBody>
      </p:sp>
      <p:sp>
        <p:nvSpPr>
          <p:cNvPr id="8" name="Text 6"/>
          <p:cNvSpPr/>
          <p:nvPr/>
        </p:nvSpPr>
        <p:spPr>
          <a:xfrm>
            <a:off x="3246120" y="1783080"/>
            <a:ext cx="4023360" cy="274320"/>
          </a:xfrm>
          <a:prstGeom prst="rect">
            <a:avLst/>
          </a:prstGeom>
          <a:noFill/>
          <a:ln/>
        </p:spPr>
        <p:txBody>
          <a:bodyPr wrap="square" lIns="0" tIns="0" rIns="0" bIns="0" rtlCol="0" anchor="ctr"/>
          <a:lstStyle/>
          <a:p>
            <a:pPr indent="0" marL="0">
              <a:buNone/>
            </a:pPr>
            <a:r>
              <a:rPr lang="en-US" sz="1000" dirty="0">
                <a:solidFill>
                  <a:srgbClr val="C9DDB4"/>
                </a:solidFill>
                <a:latin typeface="Calibri" pitchFamily="34" charset="0"/>
                <a:ea typeface="Calibri" pitchFamily="34" charset="-122"/>
                <a:cs typeface="Calibri" pitchFamily="34" charset="-120"/>
              </a:rPr>
              <a:t>TELL   Strong HumanEval, weak LiveCodeBench</a:t>
            </a:r>
            <a:endParaRPr lang="en-US" sz="1000" dirty="0"/>
          </a:p>
        </p:txBody>
      </p:sp>
      <p:sp>
        <p:nvSpPr>
          <p:cNvPr id="9" name="Text 7"/>
          <p:cNvSpPr/>
          <p:nvPr/>
        </p:nvSpPr>
        <p:spPr>
          <a:xfrm>
            <a:off x="7406640" y="1783080"/>
            <a:ext cx="4114800" cy="274320"/>
          </a:xfrm>
          <a:prstGeom prst="rect">
            <a:avLst/>
          </a:prstGeom>
          <a:noFill/>
          <a:ln/>
        </p:spPr>
        <p:txBody>
          <a:bodyPr wrap="square" lIns="0" tIns="0" rIns="0" bIns="0" rtlCol="0" anchor="ctr"/>
          <a:lstStyle/>
          <a:p>
            <a:pPr indent="0" marL="0">
              <a:buNone/>
            </a:pPr>
            <a:r>
              <a:rPr lang="en-US" sz="1000" b="1" dirty="0">
                <a:solidFill>
                  <a:srgbClr val="8FB573"/>
                </a:solidFill>
                <a:latin typeface="Calibri" pitchFamily="34" charset="0"/>
                <a:ea typeface="Calibri" pitchFamily="34" charset="-122"/>
                <a:cs typeface="Calibri" pitchFamily="34" charset="-120"/>
              </a:rPr>
              <a:t>CHECK   Timestamped benchmark; n-gram + name + docstring check</a:t>
            </a:r>
            <a:endParaRPr lang="en-US" sz="1000" dirty="0"/>
          </a:p>
        </p:txBody>
      </p:sp>
      <p:sp>
        <p:nvSpPr>
          <p:cNvPr id="10" name="Shape 8"/>
          <p:cNvSpPr/>
          <p:nvPr/>
        </p:nvSpPr>
        <p:spPr>
          <a:xfrm>
            <a:off x="502920" y="2253996"/>
            <a:ext cx="11155680" cy="566928"/>
          </a:xfrm>
          <a:prstGeom prst="roundRect">
            <a:avLst>
              <a:gd name="adj" fmla="val 8065"/>
            </a:avLst>
          </a:prstGeom>
          <a:solidFill>
            <a:srgbClr val="1F3D2E"/>
          </a:solidFill>
          <a:ln/>
        </p:spPr>
      </p:sp>
      <p:sp>
        <p:nvSpPr>
          <p:cNvPr id="11" name="Text 9"/>
          <p:cNvSpPr/>
          <p:nvPr/>
        </p:nvSpPr>
        <p:spPr>
          <a:xfrm>
            <a:off x="731520" y="2299716"/>
            <a:ext cx="2286000" cy="219456"/>
          </a:xfrm>
          <a:prstGeom prst="rect">
            <a:avLst/>
          </a:prstGeom>
          <a:noFill/>
          <a:ln/>
        </p:spPr>
        <p:txBody>
          <a:bodyPr wrap="square" lIns="0" tIns="0" rIns="0" bIns="0" rtlCol="0" anchor="ctr"/>
          <a:lstStyle/>
          <a:p>
            <a:pPr indent="0" marL="0">
              <a:buNone/>
            </a:pPr>
            <a:r>
              <a:rPr lang="en-US" sz="1150" b="1" dirty="0">
                <a:solidFill>
                  <a:srgbClr val="D98E32"/>
                </a:solidFill>
                <a:latin typeface="Calibri" pitchFamily="34" charset="0"/>
                <a:ea typeface="Calibri" pitchFamily="34" charset="-122"/>
                <a:cs typeface="Calibri" pitchFamily="34" charset="-120"/>
              </a:rPr>
              <a:t>Template drift</a:t>
            </a:r>
            <a:endParaRPr lang="en-US" sz="1150" dirty="0"/>
          </a:p>
        </p:txBody>
      </p:sp>
      <p:sp>
        <p:nvSpPr>
          <p:cNvPr id="12" name="Text 10"/>
          <p:cNvSpPr/>
          <p:nvPr/>
        </p:nvSpPr>
        <p:spPr>
          <a:xfrm>
            <a:off x="731520" y="2528316"/>
            <a:ext cx="2377440" cy="237744"/>
          </a:xfrm>
          <a:prstGeom prst="rect">
            <a:avLst/>
          </a:prstGeom>
          <a:noFill/>
          <a:ln/>
        </p:spPr>
        <p:txBody>
          <a:bodyPr wrap="square" lIns="0" tIns="0" rIns="0" bIns="0" rtlCol="0" anchor="t"/>
          <a:lstStyle/>
          <a:p>
            <a:pPr indent="0" marL="0">
              <a:buNone/>
            </a:pPr>
            <a:r>
              <a:rPr lang="en-US" sz="850" dirty="0">
                <a:solidFill>
                  <a:srgbClr val="8FA396"/>
                </a:solidFill>
                <a:latin typeface="Calibri" pitchFamily="34" charset="0"/>
                <a:ea typeface="Calibri" pitchFamily="34" charset="-122"/>
                <a:cs typeface="Calibri" pitchFamily="34" charset="-120"/>
              </a:rPr>
              <a:t>You changed the prompt, not the model</a:t>
            </a:r>
            <a:endParaRPr lang="en-US" sz="850" dirty="0"/>
          </a:p>
        </p:txBody>
      </p:sp>
      <p:sp>
        <p:nvSpPr>
          <p:cNvPr id="13" name="Text 11"/>
          <p:cNvSpPr/>
          <p:nvPr/>
        </p:nvSpPr>
        <p:spPr>
          <a:xfrm>
            <a:off x="3246120" y="2409444"/>
            <a:ext cx="4023360" cy="274320"/>
          </a:xfrm>
          <a:prstGeom prst="rect">
            <a:avLst/>
          </a:prstGeom>
          <a:noFill/>
          <a:ln/>
        </p:spPr>
        <p:txBody>
          <a:bodyPr wrap="square" lIns="0" tIns="0" rIns="0" bIns="0" rtlCol="0" anchor="ctr"/>
          <a:lstStyle/>
          <a:p>
            <a:pPr indent="0" marL="0">
              <a:buNone/>
            </a:pPr>
            <a:r>
              <a:rPr lang="en-US" sz="1000" dirty="0">
                <a:solidFill>
                  <a:srgbClr val="C9DDB4"/>
                </a:solidFill>
                <a:latin typeface="Calibri" pitchFamily="34" charset="0"/>
                <a:ea typeface="Calibri" pitchFamily="34" charset="-122"/>
                <a:cs typeface="Calibri" pitchFamily="34" charset="-120"/>
              </a:rPr>
              <a:t>TELL   Multi-point jump with no weight change</a:t>
            </a:r>
            <a:endParaRPr lang="en-US" sz="1000" dirty="0"/>
          </a:p>
        </p:txBody>
      </p:sp>
      <p:sp>
        <p:nvSpPr>
          <p:cNvPr id="14" name="Text 12"/>
          <p:cNvSpPr/>
          <p:nvPr/>
        </p:nvSpPr>
        <p:spPr>
          <a:xfrm>
            <a:off x="7406640" y="2409444"/>
            <a:ext cx="4114800" cy="274320"/>
          </a:xfrm>
          <a:prstGeom prst="rect">
            <a:avLst/>
          </a:prstGeom>
          <a:noFill/>
          <a:ln/>
        </p:spPr>
        <p:txBody>
          <a:bodyPr wrap="square" lIns="0" tIns="0" rIns="0" bIns="0" rtlCol="0" anchor="ctr"/>
          <a:lstStyle/>
          <a:p>
            <a:pPr indent="0" marL="0">
              <a:buNone/>
            </a:pPr>
            <a:r>
              <a:rPr lang="en-US" sz="1000" b="1" dirty="0">
                <a:solidFill>
                  <a:srgbClr val="8FB573"/>
                </a:solidFill>
                <a:latin typeface="Calibri" pitchFamily="34" charset="0"/>
                <a:ea typeface="Calibri" pitchFamily="34" charset="-122"/>
                <a:cs typeface="Calibri" pitchFamily="34" charset="-120"/>
              </a:rPr>
              <a:t>CHECK   Diff the rendered prompt strings between runs</a:t>
            </a:r>
            <a:endParaRPr lang="en-US" sz="1000" dirty="0"/>
          </a:p>
        </p:txBody>
      </p:sp>
      <p:sp>
        <p:nvSpPr>
          <p:cNvPr id="15" name="Shape 13"/>
          <p:cNvSpPr/>
          <p:nvPr/>
        </p:nvSpPr>
        <p:spPr>
          <a:xfrm>
            <a:off x="502920" y="2880360"/>
            <a:ext cx="11155680" cy="566928"/>
          </a:xfrm>
          <a:prstGeom prst="roundRect">
            <a:avLst>
              <a:gd name="adj" fmla="val 8065"/>
            </a:avLst>
          </a:prstGeom>
          <a:solidFill>
            <a:srgbClr val="1F3D2E"/>
          </a:solidFill>
          <a:ln/>
        </p:spPr>
      </p:sp>
      <p:sp>
        <p:nvSpPr>
          <p:cNvPr id="16" name="Text 14"/>
          <p:cNvSpPr/>
          <p:nvPr/>
        </p:nvSpPr>
        <p:spPr>
          <a:xfrm>
            <a:off x="731520" y="2926080"/>
            <a:ext cx="2286000" cy="219456"/>
          </a:xfrm>
          <a:prstGeom prst="rect">
            <a:avLst/>
          </a:prstGeom>
          <a:noFill/>
          <a:ln/>
        </p:spPr>
        <p:txBody>
          <a:bodyPr wrap="square" lIns="0" tIns="0" rIns="0" bIns="0" rtlCol="0" anchor="ctr"/>
          <a:lstStyle/>
          <a:p>
            <a:pPr indent="0" marL="0">
              <a:buNone/>
            </a:pPr>
            <a:r>
              <a:rPr lang="en-US" sz="1150" b="1" dirty="0">
                <a:solidFill>
                  <a:srgbClr val="D98E32"/>
                </a:solidFill>
                <a:latin typeface="Calibri" pitchFamily="34" charset="0"/>
                <a:ea typeface="Calibri" pitchFamily="34" charset="-122"/>
                <a:cs typeface="Calibri" pitchFamily="34" charset="-120"/>
              </a:rPr>
              <a:t>Seed noise</a:t>
            </a:r>
            <a:endParaRPr lang="en-US" sz="1150" dirty="0"/>
          </a:p>
        </p:txBody>
      </p:sp>
      <p:sp>
        <p:nvSpPr>
          <p:cNvPr id="17" name="Text 15"/>
          <p:cNvSpPr/>
          <p:nvPr/>
        </p:nvSpPr>
        <p:spPr>
          <a:xfrm>
            <a:off x="731520" y="3154680"/>
            <a:ext cx="2377440" cy="237744"/>
          </a:xfrm>
          <a:prstGeom prst="rect">
            <a:avLst/>
          </a:prstGeom>
          <a:noFill/>
          <a:ln/>
        </p:spPr>
        <p:txBody>
          <a:bodyPr wrap="square" lIns="0" tIns="0" rIns="0" bIns="0" rtlCol="0" anchor="t"/>
          <a:lstStyle/>
          <a:p>
            <a:pPr indent="0" marL="0">
              <a:buNone/>
            </a:pPr>
            <a:r>
              <a:rPr lang="en-US" sz="850" dirty="0">
                <a:solidFill>
                  <a:srgbClr val="8FA396"/>
                </a:solidFill>
                <a:latin typeface="Calibri" pitchFamily="34" charset="0"/>
                <a:ea typeface="Calibri" pitchFamily="34" charset="-122"/>
                <a:cs typeface="Calibri" pitchFamily="34" charset="-120"/>
              </a:rPr>
              <a:t>One-seed variance read as signal</a:t>
            </a:r>
            <a:endParaRPr lang="en-US" sz="850" dirty="0"/>
          </a:p>
        </p:txBody>
      </p:sp>
      <p:sp>
        <p:nvSpPr>
          <p:cNvPr id="18" name="Text 16"/>
          <p:cNvSpPr/>
          <p:nvPr/>
        </p:nvSpPr>
        <p:spPr>
          <a:xfrm>
            <a:off x="3246120" y="3035808"/>
            <a:ext cx="4023360" cy="274320"/>
          </a:xfrm>
          <a:prstGeom prst="rect">
            <a:avLst/>
          </a:prstGeom>
          <a:noFill/>
          <a:ln/>
        </p:spPr>
        <p:txBody>
          <a:bodyPr wrap="square" lIns="0" tIns="0" rIns="0" bIns="0" rtlCol="0" anchor="ctr"/>
          <a:lstStyle/>
          <a:p>
            <a:pPr indent="0" marL="0">
              <a:buNone/>
            </a:pPr>
            <a:r>
              <a:rPr lang="en-US" sz="1000" dirty="0">
                <a:solidFill>
                  <a:srgbClr val="C9DDB4"/>
                </a:solidFill>
                <a:latin typeface="Calibri" pitchFamily="34" charset="0"/>
                <a:ea typeface="Calibri" pitchFamily="34" charset="-122"/>
                <a:cs typeface="Calibri" pitchFamily="34" charset="-120"/>
              </a:rPr>
              <a:t>TELL   Gains of 1–3 points appear and vanish</a:t>
            </a:r>
            <a:endParaRPr lang="en-US" sz="1000" dirty="0"/>
          </a:p>
        </p:txBody>
      </p:sp>
      <p:sp>
        <p:nvSpPr>
          <p:cNvPr id="19" name="Text 17"/>
          <p:cNvSpPr/>
          <p:nvPr/>
        </p:nvSpPr>
        <p:spPr>
          <a:xfrm>
            <a:off x="7406640" y="3035808"/>
            <a:ext cx="4114800" cy="274320"/>
          </a:xfrm>
          <a:prstGeom prst="rect">
            <a:avLst/>
          </a:prstGeom>
          <a:noFill/>
          <a:ln/>
        </p:spPr>
        <p:txBody>
          <a:bodyPr wrap="square" lIns="0" tIns="0" rIns="0" bIns="0" rtlCol="0" anchor="ctr"/>
          <a:lstStyle/>
          <a:p>
            <a:pPr indent="0" marL="0">
              <a:buNone/>
            </a:pPr>
            <a:r>
              <a:rPr lang="en-US" sz="1000" b="1" dirty="0">
                <a:solidFill>
                  <a:srgbClr val="8FB573"/>
                </a:solidFill>
                <a:latin typeface="Calibri" pitchFamily="34" charset="0"/>
                <a:ea typeface="Calibri" pitchFamily="34" charset="-122"/>
                <a:cs typeface="Calibri" pitchFamily="34" charset="-120"/>
              </a:rPr>
              <a:t>CHECK   Three seeds; report mean ± std</a:t>
            </a:r>
            <a:endParaRPr lang="en-US" sz="1000" dirty="0"/>
          </a:p>
        </p:txBody>
      </p:sp>
      <p:sp>
        <p:nvSpPr>
          <p:cNvPr id="20" name="Shape 18"/>
          <p:cNvSpPr/>
          <p:nvPr/>
        </p:nvSpPr>
        <p:spPr>
          <a:xfrm>
            <a:off x="502920" y="3506724"/>
            <a:ext cx="11155680" cy="566928"/>
          </a:xfrm>
          <a:prstGeom prst="roundRect">
            <a:avLst>
              <a:gd name="adj" fmla="val 8065"/>
            </a:avLst>
          </a:prstGeom>
          <a:solidFill>
            <a:srgbClr val="1F3D2E"/>
          </a:solidFill>
          <a:ln/>
        </p:spPr>
      </p:sp>
      <p:sp>
        <p:nvSpPr>
          <p:cNvPr id="21" name="Text 19"/>
          <p:cNvSpPr/>
          <p:nvPr/>
        </p:nvSpPr>
        <p:spPr>
          <a:xfrm>
            <a:off x="731520" y="3552444"/>
            <a:ext cx="2286000" cy="219456"/>
          </a:xfrm>
          <a:prstGeom prst="rect">
            <a:avLst/>
          </a:prstGeom>
          <a:noFill/>
          <a:ln/>
        </p:spPr>
        <p:txBody>
          <a:bodyPr wrap="square" lIns="0" tIns="0" rIns="0" bIns="0" rtlCol="0" anchor="ctr"/>
          <a:lstStyle/>
          <a:p>
            <a:pPr indent="0" marL="0">
              <a:buNone/>
            </a:pPr>
            <a:r>
              <a:rPr lang="en-US" sz="1150" b="1" dirty="0">
                <a:solidFill>
                  <a:srgbClr val="D98E32"/>
                </a:solidFill>
                <a:latin typeface="Calibri" pitchFamily="34" charset="0"/>
                <a:ea typeface="Calibri" pitchFamily="34" charset="-122"/>
                <a:cs typeface="Calibri" pitchFamily="34" charset="-120"/>
              </a:rPr>
              <a:t>Weak-test inflation</a:t>
            </a:r>
            <a:endParaRPr lang="en-US" sz="1150" dirty="0"/>
          </a:p>
        </p:txBody>
      </p:sp>
      <p:sp>
        <p:nvSpPr>
          <p:cNvPr id="22" name="Text 20"/>
          <p:cNvSpPr/>
          <p:nvPr/>
        </p:nvSpPr>
        <p:spPr>
          <a:xfrm>
            <a:off x="731520" y="3781044"/>
            <a:ext cx="2377440" cy="237744"/>
          </a:xfrm>
          <a:prstGeom prst="rect">
            <a:avLst/>
          </a:prstGeom>
          <a:noFill/>
          <a:ln/>
        </p:spPr>
        <p:txBody>
          <a:bodyPr wrap="square" lIns="0" tIns="0" rIns="0" bIns="0" rtlCol="0" anchor="t"/>
          <a:lstStyle/>
          <a:p>
            <a:pPr indent="0" marL="0">
              <a:buNone/>
            </a:pPr>
            <a:r>
              <a:rPr lang="en-US" sz="850" dirty="0">
                <a:solidFill>
                  <a:srgbClr val="8FA396"/>
                </a:solidFill>
                <a:latin typeface="Calibri" pitchFamily="34" charset="0"/>
                <a:ea typeface="Calibri" pitchFamily="34" charset="-122"/>
                <a:cs typeface="Calibri" pitchFamily="34" charset="-120"/>
              </a:rPr>
              <a:t>Wrong solutions pass shallow tests</a:t>
            </a:r>
            <a:endParaRPr lang="en-US" sz="850" dirty="0"/>
          </a:p>
        </p:txBody>
      </p:sp>
      <p:sp>
        <p:nvSpPr>
          <p:cNvPr id="23" name="Text 21"/>
          <p:cNvSpPr/>
          <p:nvPr/>
        </p:nvSpPr>
        <p:spPr>
          <a:xfrm>
            <a:off x="3246120" y="3662172"/>
            <a:ext cx="4023360" cy="274320"/>
          </a:xfrm>
          <a:prstGeom prst="rect">
            <a:avLst/>
          </a:prstGeom>
          <a:noFill/>
          <a:ln/>
        </p:spPr>
        <p:txBody>
          <a:bodyPr wrap="square" lIns="0" tIns="0" rIns="0" bIns="0" rtlCol="0" anchor="ctr"/>
          <a:lstStyle/>
          <a:p>
            <a:pPr indent="0" marL="0">
              <a:buNone/>
            </a:pPr>
            <a:r>
              <a:rPr lang="en-US" sz="1000" dirty="0">
                <a:solidFill>
                  <a:srgbClr val="C9DDB4"/>
                </a:solidFill>
                <a:latin typeface="Calibri" pitchFamily="34" charset="0"/>
                <a:ea typeface="Calibri" pitchFamily="34" charset="-122"/>
                <a:cs typeface="Calibri" pitchFamily="34" charset="-120"/>
              </a:rPr>
              <a:t>TELL   High base HumanEval, poor real use</a:t>
            </a:r>
            <a:endParaRPr lang="en-US" sz="1000" dirty="0"/>
          </a:p>
        </p:txBody>
      </p:sp>
      <p:sp>
        <p:nvSpPr>
          <p:cNvPr id="24" name="Text 22"/>
          <p:cNvSpPr/>
          <p:nvPr/>
        </p:nvSpPr>
        <p:spPr>
          <a:xfrm>
            <a:off x="7406640" y="3662172"/>
            <a:ext cx="4114800" cy="274320"/>
          </a:xfrm>
          <a:prstGeom prst="rect">
            <a:avLst/>
          </a:prstGeom>
          <a:noFill/>
          <a:ln/>
        </p:spPr>
        <p:txBody>
          <a:bodyPr wrap="square" lIns="0" tIns="0" rIns="0" bIns="0" rtlCol="0" anchor="ctr"/>
          <a:lstStyle/>
          <a:p>
            <a:pPr indent="0" marL="0">
              <a:buNone/>
            </a:pPr>
            <a:r>
              <a:rPr lang="en-US" sz="1000" b="1" dirty="0">
                <a:solidFill>
                  <a:srgbClr val="8FB573"/>
                </a:solidFill>
                <a:latin typeface="Calibri" pitchFamily="34" charset="0"/>
                <a:ea typeface="Calibri" pitchFamily="34" charset="-122"/>
                <a:cs typeface="Calibri" pitchFamily="34" charset="-120"/>
              </a:rPr>
              <a:t>CHECK   Use the + variants; test with known-bad code</a:t>
            </a:r>
            <a:endParaRPr lang="en-US" sz="1000" dirty="0"/>
          </a:p>
        </p:txBody>
      </p:sp>
      <p:sp>
        <p:nvSpPr>
          <p:cNvPr id="25" name="Shape 23"/>
          <p:cNvSpPr/>
          <p:nvPr/>
        </p:nvSpPr>
        <p:spPr>
          <a:xfrm>
            <a:off x="502920" y="4133088"/>
            <a:ext cx="11155680" cy="566928"/>
          </a:xfrm>
          <a:prstGeom prst="roundRect">
            <a:avLst>
              <a:gd name="adj" fmla="val 8065"/>
            </a:avLst>
          </a:prstGeom>
          <a:solidFill>
            <a:srgbClr val="1F3D2E"/>
          </a:solidFill>
          <a:ln/>
        </p:spPr>
      </p:sp>
      <p:sp>
        <p:nvSpPr>
          <p:cNvPr id="26" name="Text 24"/>
          <p:cNvSpPr/>
          <p:nvPr/>
        </p:nvSpPr>
        <p:spPr>
          <a:xfrm>
            <a:off x="731520" y="4178808"/>
            <a:ext cx="2286000" cy="219456"/>
          </a:xfrm>
          <a:prstGeom prst="rect">
            <a:avLst/>
          </a:prstGeom>
          <a:noFill/>
          <a:ln/>
        </p:spPr>
        <p:txBody>
          <a:bodyPr wrap="square" lIns="0" tIns="0" rIns="0" bIns="0" rtlCol="0" anchor="ctr"/>
          <a:lstStyle/>
          <a:p>
            <a:pPr indent="0" marL="0">
              <a:buNone/>
            </a:pPr>
            <a:r>
              <a:rPr lang="en-US" sz="1150" b="1" dirty="0">
                <a:solidFill>
                  <a:srgbClr val="D98E32"/>
                </a:solidFill>
                <a:latin typeface="Calibri" pitchFamily="34" charset="0"/>
                <a:ea typeface="Calibri" pitchFamily="34" charset="-122"/>
                <a:cs typeface="Calibri" pitchFamily="34" charset="-120"/>
              </a:rPr>
              <a:t>Memorization</a:t>
            </a:r>
            <a:endParaRPr lang="en-US" sz="1150" dirty="0"/>
          </a:p>
        </p:txBody>
      </p:sp>
      <p:sp>
        <p:nvSpPr>
          <p:cNvPr id="27" name="Text 25"/>
          <p:cNvSpPr/>
          <p:nvPr/>
        </p:nvSpPr>
        <p:spPr>
          <a:xfrm>
            <a:off x="731520" y="4407408"/>
            <a:ext cx="2377440" cy="237744"/>
          </a:xfrm>
          <a:prstGeom prst="rect">
            <a:avLst/>
          </a:prstGeom>
          <a:noFill/>
          <a:ln/>
        </p:spPr>
        <p:txBody>
          <a:bodyPr wrap="square" lIns="0" tIns="0" rIns="0" bIns="0" rtlCol="0" anchor="t"/>
          <a:lstStyle/>
          <a:p>
            <a:pPr indent="0" marL="0">
              <a:buNone/>
            </a:pPr>
            <a:r>
              <a:rPr lang="en-US" sz="850" dirty="0">
                <a:solidFill>
                  <a:srgbClr val="8FA396"/>
                </a:solidFill>
                <a:latin typeface="Calibri" pitchFamily="34" charset="0"/>
                <a:ea typeface="Calibri" pitchFamily="34" charset="-122"/>
                <a:cs typeface="Calibri" pitchFamily="34" charset="-120"/>
              </a:rPr>
              <a:t>Model memorized the training set</a:t>
            </a:r>
            <a:endParaRPr lang="en-US" sz="850" dirty="0"/>
          </a:p>
        </p:txBody>
      </p:sp>
      <p:sp>
        <p:nvSpPr>
          <p:cNvPr id="28" name="Text 26"/>
          <p:cNvSpPr/>
          <p:nvPr/>
        </p:nvSpPr>
        <p:spPr>
          <a:xfrm>
            <a:off x="3246120" y="4288536"/>
            <a:ext cx="4023360" cy="274320"/>
          </a:xfrm>
          <a:prstGeom prst="rect">
            <a:avLst/>
          </a:prstGeom>
          <a:noFill/>
          <a:ln/>
        </p:spPr>
        <p:txBody>
          <a:bodyPr wrap="square" lIns="0" tIns="0" rIns="0" bIns="0" rtlCol="0" anchor="ctr"/>
          <a:lstStyle/>
          <a:p>
            <a:pPr indent="0" marL="0">
              <a:buNone/>
            </a:pPr>
            <a:r>
              <a:rPr lang="en-US" sz="1000" dirty="0">
                <a:solidFill>
                  <a:srgbClr val="C9DDB4"/>
                </a:solidFill>
                <a:latin typeface="Calibri" pitchFamily="34" charset="0"/>
                <a:ea typeface="Calibri" pitchFamily="34" charset="-122"/>
                <a:cs typeface="Calibri" pitchFamily="34" charset="-120"/>
              </a:rPr>
              <a:t>TELL   Train loss beautiful, eval flat</a:t>
            </a:r>
            <a:endParaRPr lang="en-US" sz="1000" dirty="0"/>
          </a:p>
        </p:txBody>
      </p:sp>
      <p:sp>
        <p:nvSpPr>
          <p:cNvPr id="29" name="Text 27"/>
          <p:cNvSpPr/>
          <p:nvPr/>
        </p:nvSpPr>
        <p:spPr>
          <a:xfrm>
            <a:off x="7406640" y="4288536"/>
            <a:ext cx="4114800" cy="274320"/>
          </a:xfrm>
          <a:prstGeom prst="rect">
            <a:avLst/>
          </a:prstGeom>
          <a:noFill/>
          <a:ln/>
        </p:spPr>
        <p:txBody>
          <a:bodyPr wrap="square" lIns="0" tIns="0" rIns="0" bIns="0" rtlCol="0" anchor="ctr"/>
          <a:lstStyle/>
          <a:p>
            <a:pPr indent="0" marL="0">
              <a:buNone/>
            </a:pPr>
            <a:r>
              <a:rPr lang="en-US" sz="1000" b="1" dirty="0">
                <a:solidFill>
                  <a:srgbClr val="8FB573"/>
                </a:solidFill>
                <a:latin typeface="Calibri" pitchFamily="34" charset="0"/>
                <a:ea typeface="Calibri" pitchFamily="34" charset="-122"/>
                <a:cs typeface="Calibri" pitchFamily="34" charset="-120"/>
              </a:rPr>
              <a:t>CHECK   Checkpoint on eval; verify dedup</a:t>
            </a:r>
            <a:endParaRPr lang="en-US" sz="1000" dirty="0"/>
          </a:p>
        </p:txBody>
      </p:sp>
      <p:sp>
        <p:nvSpPr>
          <p:cNvPr id="30" name="Shape 28"/>
          <p:cNvSpPr/>
          <p:nvPr/>
        </p:nvSpPr>
        <p:spPr>
          <a:xfrm>
            <a:off x="502920" y="4759452"/>
            <a:ext cx="11155680" cy="566928"/>
          </a:xfrm>
          <a:prstGeom prst="roundRect">
            <a:avLst>
              <a:gd name="adj" fmla="val 8065"/>
            </a:avLst>
          </a:prstGeom>
          <a:solidFill>
            <a:srgbClr val="1F3D2E"/>
          </a:solidFill>
          <a:ln/>
        </p:spPr>
      </p:sp>
      <p:sp>
        <p:nvSpPr>
          <p:cNvPr id="31" name="Text 29"/>
          <p:cNvSpPr/>
          <p:nvPr/>
        </p:nvSpPr>
        <p:spPr>
          <a:xfrm>
            <a:off x="731520" y="4805172"/>
            <a:ext cx="2286000" cy="219456"/>
          </a:xfrm>
          <a:prstGeom prst="rect">
            <a:avLst/>
          </a:prstGeom>
          <a:noFill/>
          <a:ln/>
        </p:spPr>
        <p:txBody>
          <a:bodyPr wrap="square" lIns="0" tIns="0" rIns="0" bIns="0" rtlCol="0" anchor="ctr"/>
          <a:lstStyle/>
          <a:p>
            <a:pPr indent="0" marL="0">
              <a:buNone/>
            </a:pPr>
            <a:r>
              <a:rPr lang="en-US" sz="1150" b="1" dirty="0">
                <a:solidFill>
                  <a:srgbClr val="D98E32"/>
                </a:solidFill>
                <a:latin typeface="Calibri" pitchFamily="34" charset="0"/>
                <a:ea typeface="Calibri" pitchFamily="34" charset="-122"/>
                <a:cs typeface="Calibri" pitchFamily="34" charset="-120"/>
              </a:rPr>
              <a:t>Leaked near-duplicates</a:t>
            </a:r>
            <a:endParaRPr lang="en-US" sz="1150" dirty="0"/>
          </a:p>
        </p:txBody>
      </p:sp>
      <p:sp>
        <p:nvSpPr>
          <p:cNvPr id="32" name="Text 30"/>
          <p:cNvSpPr/>
          <p:nvPr/>
        </p:nvSpPr>
        <p:spPr>
          <a:xfrm>
            <a:off x="731520" y="5033772"/>
            <a:ext cx="2377440" cy="237744"/>
          </a:xfrm>
          <a:prstGeom prst="rect">
            <a:avLst/>
          </a:prstGeom>
          <a:noFill/>
          <a:ln/>
        </p:spPr>
        <p:txBody>
          <a:bodyPr wrap="square" lIns="0" tIns="0" rIns="0" bIns="0" rtlCol="0" anchor="t"/>
          <a:lstStyle/>
          <a:p>
            <a:pPr indent="0" marL="0">
              <a:buNone/>
            </a:pPr>
            <a:r>
              <a:rPr lang="en-US" sz="850" dirty="0">
                <a:solidFill>
                  <a:srgbClr val="8FA396"/>
                </a:solidFill>
                <a:latin typeface="Calibri" pitchFamily="34" charset="0"/>
                <a:ea typeface="Calibri" pitchFamily="34" charset="-122"/>
                <a:cs typeface="Calibri" pitchFamily="34" charset="-120"/>
              </a:rPr>
              <a:t>You split before deduplicating</a:t>
            </a:r>
            <a:endParaRPr lang="en-US" sz="850" dirty="0"/>
          </a:p>
        </p:txBody>
      </p:sp>
      <p:sp>
        <p:nvSpPr>
          <p:cNvPr id="33" name="Text 31"/>
          <p:cNvSpPr/>
          <p:nvPr/>
        </p:nvSpPr>
        <p:spPr>
          <a:xfrm>
            <a:off x="3246120" y="4914900"/>
            <a:ext cx="4023360" cy="274320"/>
          </a:xfrm>
          <a:prstGeom prst="rect">
            <a:avLst/>
          </a:prstGeom>
          <a:noFill/>
          <a:ln/>
        </p:spPr>
        <p:txBody>
          <a:bodyPr wrap="square" lIns="0" tIns="0" rIns="0" bIns="0" rtlCol="0" anchor="ctr"/>
          <a:lstStyle/>
          <a:p>
            <a:pPr indent="0" marL="0">
              <a:buNone/>
            </a:pPr>
            <a:r>
              <a:rPr lang="en-US" sz="1000" dirty="0">
                <a:solidFill>
                  <a:srgbClr val="C9DDB4"/>
                </a:solidFill>
                <a:latin typeface="Calibri" pitchFamily="34" charset="0"/>
                <a:ea typeface="Calibri" pitchFamily="34" charset="-122"/>
                <a:cs typeface="Calibri" pitchFamily="34" charset="-120"/>
              </a:rPr>
              <a:t>TELL   Val tracks train almost perfectly</a:t>
            </a:r>
            <a:endParaRPr lang="en-US" sz="1000" dirty="0"/>
          </a:p>
        </p:txBody>
      </p:sp>
      <p:sp>
        <p:nvSpPr>
          <p:cNvPr id="34" name="Text 32"/>
          <p:cNvSpPr/>
          <p:nvPr/>
        </p:nvSpPr>
        <p:spPr>
          <a:xfrm>
            <a:off x="7406640" y="4914900"/>
            <a:ext cx="4114800" cy="274320"/>
          </a:xfrm>
          <a:prstGeom prst="rect">
            <a:avLst/>
          </a:prstGeom>
          <a:noFill/>
          <a:ln/>
        </p:spPr>
        <p:txBody>
          <a:bodyPr wrap="square" lIns="0" tIns="0" rIns="0" bIns="0" rtlCol="0" anchor="ctr"/>
          <a:lstStyle/>
          <a:p>
            <a:pPr indent="0" marL="0">
              <a:buNone/>
            </a:pPr>
            <a:r>
              <a:rPr lang="en-US" sz="1000" b="1" dirty="0">
                <a:solidFill>
                  <a:srgbClr val="8FB573"/>
                </a:solidFill>
                <a:latin typeface="Calibri" pitchFamily="34" charset="0"/>
                <a:ea typeface="Calibri" pitchFamily="34" charset="-122"/>
                <a:cs typeface="Calibri" pitchFamily="34" charset="-120"/>
              </a:rPr>
              <a:t>CHECK   Dedup first; check cross-split overlap</a:t>
            </a:r>
            <a:endParaRPr lang="en-US" sz="1000" dirty="0"/>
          </a:p>
        </p:txBody>
      </p:sp>
      <p:sp>
        <p:nvSpPr>
          <p:cNvPr id="35" name="Shape 33"/>
          <p:cNvSpPr/>
          <p:nvPr/>
        </p:nvSpPr>
        <p:spPr>
          <a:xfrm>
            <a:off x="502920" y="5385816"/>
            <a:ext cx="11155680" cy="566928"/>
          </a:xfrm>
          <a:prstGeom prst="roundRect">
            <a:avLst>
              <a:gd name="adj" fmla="val 8065"/>
            </a:avLst>
          </a:prstGeom>
          <a:solidFill>
            <a:srgbClr val="1F3D2E"/>
          </a:solidFill>
          <a:ln/>
        </p:spPr>
      </p:sp>
      <p:sp>
        <p:nvSpPr>
          <p:cNvPr id="36" name="Text 34"/>
          <p:cNvSpPr/>
          <p:nvPr/>
        </p:nvSpPr>
        <p:spPr>
          <a:xfrm>
            <a:off x="731520" y="5431536"/>
            <a:ext cx="2286000" cy="219456"/>
          </a:xfrm>
          <a:prstGeom prst="rect">
            <a:avLst/>
          </a:prstGeom>
          <a:noFill/>
          <a:ln/>
        </p:spPr>
        <p:txBody>
          <a:bodyPr wrap="square" lIns="0" tIns="0" rIns="0" bIns="0" rtlCol="0" anchor="ctr"/>
          <a:lstStyle/>
          <a:p>
            <a:pPr indent="0" marL="0">
              <a:buNone/>
            </a:pPr>
            <a:r>
              <a:rPr lang="en-US" sz="1150" b="1" dirty="0">
                <a:solidFill>
                  <a:srgbClr val="D98E32"/>
                </a:solidFill>
                <a:latin typeface="Calibri" pitchFamily="34" charset="0"/>
                <a:ea typeface="Calibri" pitchFamily="34" charset="-122"/>
                <a:cs typeface="Calibri" pitchFamily="34" charset="-120"/>
              </a:rPr>
              <a:t>Diversity as skill</a:t>
            </a:r>
            <a:endParaRPr lang="en-US" sz="1150" dirty="0"/>
          </a:p>
        </p:txBody>
      </p:sp>
      <p:sp>
        <p:nvSpPr>
          <p:cNvPr id="37" name="Text 35"/>
          <p:cNvSpPr/>
          <p:nvPr/>
        </p:nvSpPr>
        <p:spPr>
          <a:xfrm>
            <a:off x="731520" y="5660136"/>
            <a:ext cx="2377440" cy="237744"/>
          </a:xfrm>
          <a:prstGeom prst="rect">
            <a:avLst/>
          </a:prstGeom>
          <a:noFill/>
          <a:ln/>
        </p:spPr>
        <p:txBody>
          <a:bodyPr wrap="square" lIns="0" tIns="0" rIns="0" bIns="0" rtlCol="0" anchor="t"/>
          <a:lstStyle/>
          <a:p>
            <a:pPr indent="0" marL="0">
              <a:buNone/>
            </a:pPr>
            <a:r>
              <a:rPr lang="en-US" sz="850" dirty="0">
                <a:solidFill>
                  <a:srgbClr val="8FA396"/>
                </a:solidFill>
                <a:latin typeface="Calibri" pitchFamily="34" charset="0"/>
                <a:ea typeface="Calibri" pitchFamily="34" charset="-122"/>
                <a:cs typeface="Calibri" pitchFamily="34" charset="-120"/>
              </a:rPr>
              <a:t>More variety, no more capability</a:t>
            </a:r>
            <a:endParaRPr lang="en-US" sz="850" dirty="0"/>
          </a:p>
        </p:txBody>
      </p:sp>
      <p:sp>
        <p:nvSpPr>
          <p:cNvPr id="38" name="Text 36"/>
          <p:cNvSpPr/>
          <p:nvPr/>
        </p:nvSpPr>
        <p:spPr>
          <a:xfrm>
            <a:off x="3246120" y="5541264"/>
            <a:ext cx="4023360" cy="274320"/>
          </a:xfrm>
          <a:prstGeom prst="rect">
            <a:avLst/>
          </a:prstGeom>
          <a:noFill/>
          <a:ln/>
        </p:spPr>
        <p:txBody>
          <a:bodyPr wrap="square" lIns="0" tIns="0" rIns="0" bIns="0" rtlCol="0" anchor="ctr"/>
          <a:lstStyle/>
          <a:p>
            <a:pPr indent="0" marL="0">
              <a:buNone/>
            </a:pPr>
            <a:r>
              <a:rPr lang="en-US" sz="1000" dirty="0">
                <a:solidFill>
                  <a:srgbClr val="C9DDB4"/>
                </a:solidFill>
                <a:latin typeface="Calibri" pitchFamily="34" charset="0"/>
                <a:ea typeface="Calibri" pitchFamily="34" charset="-122"/>
                <a:cs typeface="Calibri" pitchFamily="34" charset="-120"/>
              </a:rPr>
              <a:t>TELL   pass@10 rises, pass@1 flat</a:t>
            </a:r>
            <a:endParaRPr lang="en-US" sz="1000" dirty="0"/>
          </a:p>
        </p:txBody>
      </p:sp>
      <p:sp>
        <p:nvSpPr>
          <p:cNvPr id="39" name="Text 37"/>
          <p:cNvSpPr/>
          <p:nvPr/>
        </p:nvSpPr>
        <p:spPr>
          <a:xfrm>
            <a:off x="7406640" y="5541264"/>
            <a:ext cx="4114800" cy="274320"/>
          </a:xfrm>
          <a:prstGeom prst="rect">
            <a:avLst/>
          </a:prstGeom>
          <a:noFill/>
          <a:ln/>
        </p:spPr>
        <p:txBody>
          <a:bodyPr wrap="square" lIns="0" tIns="0" rIns="0" bIns="0" rtlCol="0" anchor="ctr"/>
          <a:lstStyle/>
          <a:p>
            <a:pPr indent="0" marL="0">
              <a:buNone/>
            </a:pPr>
            <a:r>
              <a:rPr lang="en-US" sz="1000" b="1" dirty="0">
                <a:solidFill>
                  <a:srgbClr val="8FB573"/>
                </a:solidFill>
                <a:latin typeface="Calibri" pitchFamily="34" charset="0"/>
                <a:ea typeface="Calibri" pitchFamily="34" charset="-122"/>
                <a:cs typeface="Calibri" pitchFamily="34" charset="-120"/>
              </a:rPr>
              <a:t>CHECK   Always report both k values</a:t>
            </a:r>
            <a:endParaRPr lang="en-US" sz="1000" dirty="0"/>
          </a:p>
        </p:txBody>
      </p:sp>
      <p:sp>
        <p:nvSpPr>
          <p:cNvPr id="40" name="Shape 38"/>
          <p:cNvSpPr/>
          <p:nvPr/>
        </p:nvSpPr>
        <p:spPr>
          <a:xfrm>
            <a:off x="502920" y="6012180"/>
            <a:ext cx="11155680" cy="566928"/>
          </a:xfrm>
          <a:prstGeom prst="roundRect">
            <a:avLst>
              <a:gd name="adj" fmla="val 8065"/>
            </a:avLst>
          </a:prstGeom>
          <a:solidFill>
            <a:srgbClr val="1F3D2E"/>
          </a:solidFill>
          <a:ln/>
        </p:spPr>
      </p:sp>
      <p:sp>
        <p:nvSpPr>
          <p:cNvPr id="41" name="Text 39"/>
          <p:cNvSpPr/>
          <p:nvPr/>
        </p:nvSpPr>
        <p:spPr>
          <a:xfrm>
            <a:off x="731520" y="6057900"/>
            <a:ext cx="2286000" cy="219456"/>
          </a:xfrm>
          <a:prstGeom prst="rect">
            <a:avLst/>
          </a:prstGeom>
          <a:noFill/>
          <a:ln/>
        </p:spPr>
        <p:txBody>
          <a:bodyPr wrap="square" lIns="0" tIns="0" rIns="0" bIns="0" rtlCol="0" anchor="ctr"/>
          <a:lstStyle/>
          <a:p>
            <a:pPr indent="0" marL="0">
              <a:buNone/>
            </a:pPr>
            <a:r>
              <a:rPr lang="en-US" sz="1150" b="1" dirty="0">
                <a:solidFill>
                  <a:srgbClr val="D98E32"/>
                </a:solidFill>
                <a:latin typeface="Calibri" pitchFamily="34" charset="0"/>
                <a:ea typeface="Calibri" pitchFamily="34" charset="-122"/>
                <a:cs typeface="Calibri" pitchFamily="34" charset="-120"/>
              </a:rPr>
              <a:t>Checkpoint cherry-pick</a:t>
            </a:r>
            <a:endParaRPr lang="en-US" sz="1150" dirty="0"/>
          </a:p>
        </p:txBody>
      </p:sp>
      <p:sp>
        <p:nvSpPr>
          <p:cNvPr id="42" name="Text 40"/>
          <p:cNvSpPr/>
          <p:nvPr/>
        </p:nvSpPr>
        <p:spPr>
          <a:xfrm>
            <a:off x="731520" y="6286500"/>
            <a:ext cx="2377440" cy="237744"/>
          </a:xfrm>
          <a:prstGeom prst="rect">
            <a:avLst/>
          </a:prstGeom>
          <a:noFill/>
          <a:ln/>
        </p:spPr>
        <p:txBody>
          <a:bodyPr wrap="square" lIns="0" tIns="0" rIns="0" bIns="0" rtlCol="0" anchor="t"/>
          <a:lstStyle/>
          <a:p>
            <a:pPr indent="0" marL="0">
              <a:buNone/>
            </a:pPr>
            <a:r>
              <a:rPr lang="en-US" sz="850" dirty="0">
                <a:solidFill>
                  <a:srgbClr val="8FA396"/>
                </a:solidFill>
                <a:latin typeface="Calibri" pitchFamily="34" charset="0"/>
                <a:ea typeface="Calibri" pitchFamily="34" charset="-122"/>
                <a:cs typeface="Calibri" pitchFamily="34" charset="-120"/>
              </a:rPr>
              <a:t>Overfit to the validation set</a:t>
            </a:r>
            <a:endParaRPr lang="en-US" sz="850" dirty="0"/>
          </a:p>
        </p:txBody>
      </p:sp>
      <p:sp>
        <p:nvSpPr>
          <p:cNvPr id="43" name="Text 41"/>
          <p:cNvSpPr/>
          <p:nvPr/>
        </p:nvSpPr>
        <p:spPr>
          <a:xfrm>
            <a:off x="3246120" y="6167628"/>
            <a:ext cx="4023360" cy="274320"/>
          </a:xfrm>
          <a:prstGeom prst="rect">
            <a:avLst/>
          </a:prstGeom>
          <a:noFill/>
          <a:ln/>
        </p:spPr>
        <p:txBody>
          <a:bodyPr wrap="square" lIns="0" tIns="0" rIns="0" bIns="0" rtlCol="0" anchor="ctr"/>
          <a:lstStyle/>
          <a:p>
            <a:pPr indent="0" marL="0">
              <a:buNone/>
            </a:pPr>
            <a:r>
              <a:rPr lang="en-US" sz="1000" dirty="0">
                <a:solidFill>
                  <a:srgbClr val="C9DDB4"/>
                </a:solidFill>
                <a:latin typeface="Calibri" pitchFamily="34" charset="0"/>
                <a:ea typeface="Calibri" pitchFamily="34" charset="-122"/>
                <a:cs typeface="Calibri" pitchFamily="34" charset="-120"/>
              </a:rPr>
              <a:t>TELL   Best-of-20 checkpoints looks great</a:t>
            </a:r>
            <a:endParaRPr lang="en-US" sz="1000" dirty="0"/>
          </a:p>
        </p:txBody>
      </p:sp>
      <p:sp>
        <p:nvSpPr>
          <p:cNvPr id="44" name="Text 42"/>
          <p:cNvSpPr/>
          <p:nvPr/>
        </p:nvSpPr>
        <p:spPr>
          <a:xfrm>
            <a:off x="7406640" y="6167628"/>
            <a:ext cx="4114800" cy="274320"/>
          </a:xfrm>
          <a:prstGeom prst="rect">
            <a:avLst/>
          </a:prstGeom>
          <a:noFill/>
          <a:ln/>
        </p:spPr>
        <p:txBody>
          <a:bodyPr wrap="square" lIns="0" tIns="0" rIns="0" bIns="0" rtlCol="0" anchor="ctr"/>
          <a:lstStyle/>
          <a:p>
            <a:pPr indent="0" marL="0">
              <a:buNone/>
            </a:pPr>
            <a:r>
              <a:rPr lang="en-US" sz="1000" b="1" dirty="0">
                <a:solidFill>
                  <a:srgbClr val="8FB573"/>
                </a:solidFill>
                <a:latin typeface="Calibri" pitchFamily="34" charset="0"/>
                <a:ea typeface="Calibri" pitchFamily="34" charset="-122"/>
                <a:cs typeface="Calibri" pitchFamily="34" charset="-120"/>
              </a:rPr>
              <a:t>CHECK   Select on val, report on sealed test</a:t>
            </a:r>
            <a:endParaRPr lang="en-US" sz="1000" dirty="0"/>
          </a:p>
        </p:txBody>
      </p:sp>
      <p:sp>
        <p:nvSpPr>
          <p:cNvPr id="45" name="Text 43"/>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185</a:t>
            </a:r>
            <a:endParaRPr lang="en-US" sz="95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502920" y="365760"/>
            <a:ext cx="11155680" cy="274320"/>
          </a:xfrm>
          <a:prstGeom prst="rect">
            <a:avLst/>
          </a:prstGeom>
          <a:noFill/>
          <a:ln/>
        </p:spPr>
        <p:txBody>
          <a:bodyPr wrap="square" lIns="0" tIns="0" rIns="0" bIns="0" rtlCol="0" anchor="ctr"/>
          <a:lstStyle/>
          <a:p>
            <a:pPr indent="0" marL="0">
              <a:buNone/>
            </a:pPr>
            <a:r>
              <a:rPr lang="en-US" sz="1150" b="1" spc="300" kern="0" dirty="0">
                <a:solidFill>
                  <a:srgbClr val="A8482A"/>
                </a:solidFill>
                <a:latin typeface="Calibri" pitchFamily="34" charset="0"/>
                <a:ea typeface="Calibri" pitchFamily="34" charset="-122"/>
                <a:cs typeface="Calibri" pitchFamily="34" charset="-120"/>
              </a:rPr>
              <a:t>THE FALSE POSITIVE INDEX  ·  2 of 2</a:t>
            </a:r>
            <a:endParaRPr lang="en-US" sz="1150" dirty="0"/>
          </a:p>
        </p:txBody>
      </p:sp>
      <p:sp>
        <p:nvSpPr>
          <p:cNvPr id="3" name="Text 1"/>
          <p:cNvSpPr/>
          <p:nvPr/>
        </p:nvSpPr>
        <p:spPr>
          <a:xfrm>
            <a:off x="502920" y="685800"/>
            <a:ext cx="11155680" cy="50292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The training-phase deceptions</a:t>
            </a:r>
            <a:endParaRPr lang="en-US" sz="2900" dirty="0"/>
          </a:p>
        </p:txBody>
      </p:sp>
      <p:sp>
        <p:nvSpPr>
          <p:cNvPr id="4" name="Text 2"/>
          <p:cNvSpPr/>
          <p:nvPr/>
        </p:nvSpPr>
        <p:spPr>
          <a:xfrm>
            <a:off x="3154680" y="1207008"/>
            <a:ext cx="2926080" cy="182880"/>
          </a:xfrm>
          <a:prstGeom prst="rect">
            <a:avLst/>
          </a:prstGeom>
          <a:noFill/>
          <a:ln/>
        </p:spPr>
        <p:txBody>
          <a:bodyPr wrap="square" lIns="0" tIns="0" rIns="0" bIns="0" rtlCol="0" anchor="ctr"/>
          <a:lstStyle/>
          <a:p>
            <a:pPr indent="0" marL="0">
              <a:buNone/>
            </a:pPr>
            <a:r>
              <a:rPr lang="en-US" sz="750" b="1" spc="150" kern="0" dirty="0">
                <a:solidFill>
                  <a:srgbClr val="2A5240"/>
                </a:solidFill>
                <a:latin typeface="Calibri" pitchFamily="34" charset="0"/>
                <a:ea typeface="Calibri" pitchFamily="34" charset="-122"/>
                <a:cs typeface="Calibri" pitchFamily="34" charset="-120"/>
              </a:rPr>
              <a:t>CAUSE</a:t>
            </a:r>
            <a:endParaRPr lang="en-US" sz="750" dirty="0"/>
          </a:p>
        </p:txBody>
      </p:sp>
      <p:sp>
        <p:nvSpPr>
          <p:cNvPr id="5" name="Text 3"/>
          <p:cNvSpPr/>
          <p:nvPr/>
        </p:nvSpPr>
        <p:spPr>
          <a:xfrm>
            <a:off x="6172200" y="1207008"/>
            <a:ext cx="2743200" cy="182880"/>
          </a:xfrm>
          <a:prstGeom prst="rect">
            <a:avLst/>
          </a:prstGeom>
          <a:noFill/>
          <a:ln/>
        </p:spPr>
        <p:txBody>
          <a:bodyPr wrap="square" lIns="0" tIns="0" rIns="0" bIns="0" rtlCol="0" anchor="ctr"/>
          <a:lstStyle/>
          <a:p>
            <a:pPr indent="0" marL="0">
              <a:buNone/>
            </a:pPr>
            <a:r>
              <a:rPr lang="en-US" sz="750" b="1" spc="150" kern="0" dirty="0">
                <a:solidFill>
                  <a:srgbClr val="2A5240"/>
                </a:solidFill>
                <a:latin typeface="Calibri" pitchFamily="34" charset="0"/>
                <a:ea typeface="Calibri" pitchFamily="34" charset="-122"/>
                <a:cs typeface="Calibri" pitchFamily="34" charset="-120"/>
              </a:rPr>
              <a:t>TELL</a:t>
            </a:r>
            <a:endParaRPr lang="en-US" sz="750" dirty="0"/>
          </a:p>
        </p:txBody>
      </p:sp>
      <p:sp>
        <p:nvSpPr>
          <p:cNvPr id="6" name="Text 4"/>
          <p:cNvSpPr/>
          <p:nvPr/>
        </p:nvSpPr>
        <p:spPr>
          <a:xfrm>
            <a:off x="9006840" y="1207008"/>
            <a:ext cx="2514600" cy="182880"/>
          </a:xfrm>
          <a:prstGeom prst="rect">
            <a:avLst/>
          </a:prstGeom>
          <a:noFill/>
          <a:ln/>
        </p:spPr>
        <p:txBody>
          <a:bodyPr wrap="square" lIns="0" tIns="0" rIns="0" bIns="0" rtlCol="0" anchor="ctr"/>
          <a:lstStyle/>
          <a:p>
            <a:pPr indent="0" marL="0">
              <a:buNone/>
            </a:pPr>
            <a:r>
              <a:rPr lang="en-US" sz="750" b="1" spc="150" kern="0" dirty="0">
                <a:solidFill>
                  <a:srgbClr val="2A5240"/>
                </a:solidFill>
                <a:latin typeface="Calibri" pitchFamily="34" charset="0"/>
                <a:ea typeface="Calibri" pitchFamily="34" charset="-122"/>
                <a:cs typeface="Calibri" pitchFamily="34" charset="-120"/>
              </a:rPr>
              <a:t>CHECK</a:t>
            </a:r>
            <a:endParaRPr lang="en-US" sz="750" dirty="0"/>
          </a:p>
        </p:txBody>
      </p:sp>
      <p:sp>
        <p:nvSpPr>
          <p:cNvPr id="7" name="Shape 5"/>
          <p:cNvSpPr/>
          <p:nvPr/>
        </p:nvSpPr>
        <p:spPr>
          <a:xfrm>
            <a:off x="502920" y="1426464"/>
            <a:ext cx="11155680" cy="384048"/>
          </a:xfrm>
          <a:prstGeom prst="roundRect">
            <a:avLst>
              <a:gd name="adj" fmla="val 11905"/>
            </a:avLst>
          </a:prstGeom>
          <a:solidFill>
            <a:srgbClr val="1F3D2E"/>
          </a:solidFill>
          <a:ln/>
        </p:spPr>
      </p:sp>
      <p:sp>
        <p:nvSpPr>
          <p:cNvPr id="8" name="Text 6"/>
          <p:cNvSpPr/>
          <p:nvPr/>
        </p:nvSpPr>
        <p:spPr>
          <a:xfrm>
            <a:off x="731520" y="1490472"/>
            <a:ext cx="2377440" cy="256032"/>
          </a:xfrm>
          <a:prstGeom prst="rect">
            <a:avLst/>
          </a:prstGeom>
          <a:noFill/>
          <a:ln/>
        </p:spPr>
        <p:txBody>
          <a:bodyPr wrap="square" lIns="0" tIns="0" rIns="0" bIns="0" rtlCol="0" anchor="ctr"/>
          <a:lstStyle/>
          <a:p>
            <a:pPr indent="0" marL="0">
              <a:buNone/>
            </a:pPr>
            <a:r>
              <a:rPr lang="en-US" sz="1050" b="1" dirty="0">
                <a:solidFill>
                  <a:srgbClr val="D98E32"/>
                </a:solidFill>
                <a:latin typeface="Calibri" pitchFamily="34" charset="0"/>
                <a:ea typeface="Calibri" pitchFamily="34" charset="-122"/>
                <a:cs typeface="Calibri" pitchFamily="34" charset="-120"/>
              </a:rPr>
              <a:t>Nothing was trained</a:t>
            </a:r>
            <a:endParaRPr lang="en-US" sz="1050" dirty="0"/>
          </a:p>
        </p:txBody>
      </p:sp>
      <p:sp>
        <p:nvSpPr>
          <p:cNvPr id="9" name="Text 7"/>
          <p:cNvSpPr/>
          <p:nvPr/>
        </p:nvSpPr>
        <p:spPr>
          <a:xfrm>
            <a:off x="3154680" y="1490472"/>
            <a:ext cx="2926080" cy="256032"/>
          </a:xfrm>
          <a:prstGeom prst="rect">
            <a:avLst/>
          </a:prstGeom>
          <a:noFill/>
          <a:ln/>
        </p:spPr>
        <p:txBody>
          <a:bodyPr wrap="square" lIns="0" tIns="0" rIns="0" bIns="0" rtlCol="0" anchor="ctr"/>
          <a:lstStyle/>
          <a:p>
            <a:pPr indent="0" marL="0">
              <a:buNone/>
            </a:pPr>
            <a:r>
              <a:rPr lang="en-US" sz="850" dirty="0">
                <a:solidFill>
                  <a:srgbClr val="8FA396"/>
                </a:solidFill>
                <a:latin typeface="Calibri" pitchFamily="34" charset="0"/>
                <a:ea typeface="Calibri" pitchFamily="34" charset="-122"/>
                <a:cs typeface="Calibri" pitchFamily="34" charset="-120"/>
              </a:rPr>
              <a:t>target_modules typo — 0% trainable</a:t>
            </a:r>
            <a:endParaRPr lang="en-US" sz="850" dirty="0"/>
          </a:p>
        </p:txBody>
      </p:sp>
      <p:sp>
        <p:nvSpPr>
          <p:cNvPr id="10" name="Text 8"/>
          <p:cNvSpPr/>
          <p:nvPr/>
        </p:nvSpPr>
        <p:spPr>
          <a:xfrm>
            <a:off x="6172200" y="1490472"/>
            <a:ext cx="2743200" cy="256032"/>
          </a:xfrm>
          <a:prstGeom prst="rect">
            <a:avLst/>
          </a:prstGeom>
          <a:noFill/>
          <a:ln/>
        </p:spPr>
        <p:txBody>
          <a:bodyPr wrap="square" lIns="0" tIns="0" rIns="0" bIns="0" rtlCol="0" anchor="ctr"/>
          <a:lstStyle/>
          <a:p>
            <a:pPr indent="0" marL="0">
              <a:buNone/>
            </a:pPr>
            <a:r>
              <a:rPr lang="en-US" sz="850" dirty="0">
                <a:solidFill>
                  <a:srgbClr val="C9DDB4"/>
                </a:solidFill>
                <a:latin typeface="Calibri" pitchFamily="34" charset="0"/>
                <a:ea typeface="Calibri" pitchFamily="34" charset="-122"/>
                <a:cs typeface="Calibri" pitchFamily="34" charset="-120"/>
              </a:rPr>
              <a:t>Small loss decrease, model unchanged</a:t>
            </a:r>
            <a:endParaRPr lang="en-US" sz="850" dirty="0"/>
          </a:p>
        </p:txBody>
      </p:sp>
      <p:sp>
        <p:nvSpPr>
          <p:cNvPr id="11" name="Text 9"/>
          <p:cNvSpPr/>
          <p:nvPr/>
        </p:nvSpPr>
        <p:spPr>
          <a:xfrm>
            <a:off x="9006840" y="1490472"/>
            <a:ext cx="2514600" cy="256032"/>
          </a:xfrm>
          <a:prstGeom prst="rect">
            <a:avLst/>
          </a:prstGeom>
          <a:noFill/>
          <a:ln/>
        </p:spPr>
        <p:txBody>
          <a:bodyPr wrap="square" lIns="0" tIns="0" rIns="0" bIns="0" rtlCol="0" anchor="ctr"/>
          <a:lstStyle/>
          <a:p>
            <a:pPr indent="0" marL="0">
              <a:buNone/>
            </a:pPr>
            <a:r>
              <a:rPr lang="en-US" sz="850" b="1" dirty="0">
                <a:solidFill>
                  <a:srgbClr val="8FB573"/>
                </a:solidFill>
                <a:latin typeface="Calibri" pitchFamily="34" charset="0"/>
                <a:ea typeface="Calibri" pitchFamily="34" charset="-122"/>
                <a:cs typeface="Calibri" pitchFamily="34" charset="-120"/>
              </a:rPr>
              <a:t>print_trainable_parameters()</a:t>
            </a:r>
            <a:endParaRPr lang="en-US" sz="850" dirty="0"/>
          </a:p>
        </p:txBody>
      </p:sp>
      <p:sp>
        <p:nvSpPr>
          <p:cNvPr id="12" name="Shape 10"/>
          <p:cNvSpPr/>
          <p:nvPr/>
        </p:nvSpPr>
        <p:spPr>
          <a:xfrm>
            <a:off x="502920" y="1842516"/>
            <a:ext cx="11155680" cy="384048"/>
          </a:xfrm>
          <a:prstGeom prst="roundRect">
            <a:avLst>
              <a:gd name="adj" fmla="val 11905"/>
            </a:avLst>
          </a:prstGeom>
          <a:solidFill>
            <a:srgbClr val="1F3D2E"/>
          </a:solidFill>
          <a:ln/>
        </p:spPr>
      </p:sp>
      <p:sp>
        <p:nvSpPr>
          <p:cNvPr id="13" name="Text 11"/>
          <p:cNvSpPr/>
          <p:nvPr/>
        </p:nvSpPr>
        <p:spPr>
          <a:xfrm>
            <a:off x="731520" y="1906524"/>
            <a:ext cx="2377440" cy="256032"/>
          </a:xfrm>
          <a:prstGeom prst="rect">
            <a:avLst/>
          </a:prstGeom>
          <a:noFill/>
          <a:ln/>
        </p:spPr>
        <p:txBody>
          <a:bodyPr wrap="square" lIns="0" tIns="0" rIns="0" bIns="0" rtlCol="0" anchor="ctr"/>
          <a:lstStyle/>
          <a:p>
            <a:pPr indent="0" marL="0">
              <a:buNone/>
            </a:pPr>
            <a:r>
              <a:rPr lang="en-US" sz="1050" b="1" dirty="0">
                <a:solidFill>
                  <a:srgbClr val="D98E32"/>
                </a:solidFill>
                <a:latin typeface="Calibri" pitchFamily="34" charset="0"/>
                <a:ea typeface="Calibri" pitchFamily="34" charset="-122"/>
                <a:cs typeface="Calibri" pitchFamily="34" charset="-120"/>
              </a:rPr>
              <a:t>Effective batch of 1</a:t>
            </a:r>
            <a:endParaRPr lang="en-US" sz="1050" dirty="0"/>
          </a:p>
        </p:txBody>
      </p:sp>
      <p:sp>
        <p:nvSpPr>
          <p:cNvPr id="14" name="Text 12"/>
          <p:cNvSpPr/>
          <p:nvPr/>
        </p:nvSpPr>
        <p:spPr>
          <a:xfrm>
            <a:off x="3154680" y="1906524"/>
            <a:ext cx="2926080" cy="256032"/>
          </a:xfrm>
          <a:prstGeom prst="rect">
            <a:avLst/>
          </a:prstGeom>
          <a:noFill/>
          <a:ln/>
        </p:spPr>
        <p:txBody>
          <a:bodyPr wrap="square" lIns="0" tIns="0" rIns="0" bIns="0" rtlCol="0" anchor="ctr"/>
          <a:lstStyle/>
          <a:p>
            <a:pPr indent="0" marL="0">
              <a:buNone/>
            </a:pPr>
            <a:r>
              <a:rPr lang="en-US" sz="850" dirty="0">
                <a:solidFill>
                  <a:srgbClr val="8FA396"/>
                </a:solidFill>
                <a:latin typeface="Calibri" pitchFamily="34" charset="0"/>
                <a:ea typeface="Calibri" pitchFamily="34" charset="-122"/>
                <a:cs typeface="Calibri" pitchFamily="34" charset="-120"/>
              </a:rPr>
              <a:t>Accumulation config silently ignored</a:t>
            </a:r>
            <a:endParaRPr lang="en-US" sz="850" dirty="0"/>
          </a:p>
        </p:txBody>
      </p:sp>
      <p:sp>
        <p:nvSpPr>
          <p:cNvPr id="15" name="Text 13"/>
          <p:cNvSpPr/>
          <p:nvPr/>
        </p:nvSpPr>
        <p:spPr>
          <a:xfrm>
            <a:off x="6172200" y="1906524"/>
            <a:ext cx="2743200" cy="256032"/>
          </a:xfrm>
          <a:prstGeom prst="rect">
            <a:avLst/>
          </a:prstGeom>
          <a:noFill/>
          <a:ln/>
        </p:spPr>
        <p:txBody>
          <a:bodyPr wrap="square" lIns="0" tIns="0" rIns="0" bIns="0" rtlCol="0" anchor="ctr"/>
          <a:lstStyle/>
          <a:p>
            <a:pPr indent="0" marL="0">
              <a:buNone/>
            </a:pPr>
            <a:r>
              <a:rPr lang="en-US" sz="850" dirty="0">
                <a:solidFill>
                  <a:srgbClr val="C9DDB4"/>
                </a:solidFill>
                <a:latin typeface="Calibri" pitchFamily="34" charset="0"/>
                <a:ea typeface="Calibri" pitchFamily="34" charset="-122"/>
                <a:cs typeface="Calibri" pitchFamily="34" charset="-120"/>
              </a:rPr>
              <a:t>Noisy loss, poor results, no error</a:t>
            </a:r>
            <a:endParaRPr lang="en-US" sz="850" dirty="0"/>
          </a:p>
        </p:txBody>
      </p:sp>
      <p:sp>
        <p:nvSpPr>
          <p:cNvPr id="16" name="Text 14"/>
          <p:cNvSpPr/>
          <p:nvPr/>
        </p:nvSpPr>
        <p:spPr>
          <a:xfrm>
            <a:off x="9006840" y="1906524"/>
            <a:ext cx="2514600" cy="256032"/>
          </a:xfrm>
          <a:prstGeom prst="rect">
            <a:avLst/>
          </a:prstGeom>
          <a:noFill/>
          <a:ln/>
        </p:spPr>
        <p:txBody>
          <a:bodyPr wrap="square" lIns="0" tIns="0" rIns="0" bIns="0" rtlCol="0" anchor="ctr"/>
          <a:lstStyle/>
          <a:p>
            <a:pPr indent="0" marL="0">
              <a:buNone/>
            </a:pPr>
            <a:r>
              <a:rPr lang="en-US" sz="850" b="1" dirty="0">
                <a:solidFill>
                  <a:srgbClr val="8FB573"/>
                </a:solidFill>
                <a:latin typeface="Calibri" pitchFamily="34" charset="0"/>
                <a:ea typeface="Calibri" pitchFamily="34" charset="-122"/>
                <a:cs typeface="Calibri" pitchFamily="34" charset="-120"/>
              </a:rPr>
              <a:t>Log the optimizer step count</a:t>
            </a:r>
            <a:endParaRPr lang="en-US" sz="850" dirty="0"/>
          </a:p>
        </p:txBody>
      </p:sp>
      <p:sp>
        <p:nvSpPr>
          <p:cNvPr id="17" name="Shape 15"/>
          <p:cNvSpPr/>
          <p:nvPr/>
        </p:nvSpPr>
        <p:spPr>
          <a:xfrm>
            <a:off x="502920" y="2258568"/>
            <a:ext cx="11155680" cy="384048"/>
          </a:xfrm>
          <a:prstGeom prst="roundRect">
            <a:avLst>
              <a:gd name="adj" fmla="val 11905"/>
            </a:avLst>
          </a:prstGeom>
          <a:solidFill>
            <a:srgbClr val="1F3D2E"/>
          </a:solidFill>
          <a:ln/>
        </p:spPr>
      </p:sp>
      <p:sp>
        <p:nvSpPr>
          <p:cNvPr id="18" name="Text 16"/>
          <p:cNvSpPr/>
          <p:nvPr/>
        </p:nvSpPr>
        <p:spPr>
          <a:xfrm>
            <a:off x="731520" y="2322576"/>
            <a:ext cx="2377440" cy="256032"/>
          </a:xfrm>
          <a:prstGeom prst="rect">
            <a:avLst/>
          </a:prstGeom>
          <a:noFill/>
          <a:ln/>
        </p:spPr>
        <p:txBody>
          <a:bodyPr wrap="square" lIns="0" tIns="0" rIns="0" bIns="0" rtlCol="0" anchor="ctr"/>
          <a:lstStyle/>
          <a:p>
            <a:pPr indent="0" marL="0">
              <a:buNone/>
            </a:pPr>
            <a:r>
              <a:rPr lang="en-US" sz="1050" b="1" dirty="0">
                <a:solidFill>
                  <a:srgbClr val="D98E32"/>
                </a:solidFill>
                <a:latin typeface="Calibri" pitchFamily="34" charset="0"/>
                <a:ea typeface="Calibri" pitchFamily="34" charset="-122"/>
                <a:cs typeface="Calibri" pitchFamily="34" charset="-120"/>
              </a:rPr>
              <a:t>Masking silently off</a:t>
            </a:r>
            <a:endParaRPr lang="en-US" sz="1050" dirty="0"/>
          </a:p>
        </p:txBody>
      </p:sp>
      <p:sp>
        <p:nvSpPr>
          <p:cNvPr id="19" name="Text 17"/>
          <p:cNvSpPr/>
          <p:nvPr/>
        </p:nvSpPr>
        <p:spPr>
          <a:xfrm>
            <a:off x="3154680" y="2322576"/>
            <a:ext cx="2926080" cy="256032"/>
          </a:xfrm>
          <a:prstGeom prst="rect">
            <a:avLst/>
          </a:prstGeom>
          <a:noFill/>
          <a:ln/>
        </p:spPr>
        <p:txBody>
          <a:bodyPr wrap="square" lIns="0" tIns="0" rIns="0" bIns="0" rtlCol="0" anchor="ctr"/>
          <a:lstStyle/>
          <a:p>
            <a:pPr indent="0" marL="0">
              <a:buNone/>
            </a:pPr>
            <a:r>
              <a:rPr lang="en-US" sz="850" dirty="0">
                <a:solidFill>
                  <a:srgbClr val="8FA396"/>
                </a:solidFill>
                <a:latin typeface="Calibri" pitchFamily="34" charset="0"/>
                <a:ea typeface="Calibri" pitchFamily="34" charset="-122"/>
                <a:cs typeface="Calibri" pitchFamily="34" charset="-120"/>
              </a:rPr>
              <a:t>response_template mismatch</a:t>
            </a:r>
            <a:endParaRPr lang="en-US" sz="850" dirty="0"/>
          </a:p>
        </p:txBody>
      </p:sp>
      <p:sp>
        <p:nvSpPr>
          <p:cNvPr id="20" name="Text 18"/>
          <p:cNvSpPr/>
          <p:nvPr/>
        </p:nvSpPr>
        <p:spPr>
          <a:xfrm>
            <a:off x="6172200" y="2322576"/>
            <a:ext cx="2743200" cy="256032"/>
          </a:xfrm>
          <a:prstGeom prst="rect">
            <a:avLst/>
          </a:prstGeom>
          <a:noFill/>
          <a:ln/>
        </p:spPr>
        <p:txBody>
          <a:bodyPr wrap="square" lIns="0" tIns="0" rIns="0" bIns="0" rtlCol="0" anchor="ctr"/>
          <a:lstStyle/>
          <a:p>
            <a:pPr indent="0" marL="0">
              <a:buNone/>
            </a:pPr>
            <a:r>
              <a:rPr lang="en-US" sz="850" dirty="0">
                <a:solidFill>
                  <a:srgbClr val="C9DDB4"/>
                </a:solidFill>
                <a:latin typeface="Calibri" pitchFamily="34" charset="0"/>
                <a:ea typeface="Calibri" pitchFamily="34" charset="-122"/>
                <a:cs typeface="Calibri" pitchFamily="34" charset="-120"/>
              </a:rPr>
              <a:t>Loss normal, behavior degrades</a:t>
            </a:r>
            <a:endParaRPr lang="en-US" sz="850" dirty="0"/>
          </a:p>
        </p:txBody>
      </p:sp>
      <p:sp>
        <p:nvSpPr>
          <p:cNvPr id="21" name="Text 19"/>
          <p:cNvSpPr/>
          <p:nvPr/>
        </p:nvSpPr>
        <p:spPr>
          <a:xfrm>
            <a:off x="9006840" y="2322576"/>
            <a:ext cx="2514600" cy="256032"/>
          </a:xfrm>
          <a:prstGeom prst="rect">
            <a:avLst/>
          </a:prstGeom>
          <a:noFill/>
          <a:ln/>
        </p:spPr>
        <p:txBody>
          <a:bodyPr wrap="square" lIns="0" tIns="0" rIns="0" bIns="0" rtlCol="0" anchor="ctr"/>
          <a:lstStyle/>
          <a:p>
            <a:pPr indent="0" marL="0">
              <a:buNone/>
            </a:pPr>
            <a:r>
              <a:rPr lang="en-US" sz="850" b="1" dirty="0">
                <a:solidFill>
                  <a:srgbClr val="8FB573"/>
                </a:solidFill>
                <a:latin typeface="Calibri" pitchFamily="34" charset="0"/>
                <a:ea typeface="Calibri" pitchFamily="34" charset="-122"/>
                <a:cs typeface="Calibri" pitchFamily="34" charset="-120"/>
              </a:rPr>
              <a:t>Decode a batch, inspect labels</a:t>
            </a:r>
            <a:endParaRPr lang="en-US" sz="850" dirty="0"/>
          </a:p>
        </p:txBody>
      </p:sp>
      <p:sp>
        <p:nvSpPr>
          <p:cNvPr id="22" name="Shape 20"/>
          <p:cNvSpPr/>
          <p:nvPr/>
        </p:nvSpPr>
        <p:spPr>
          <a:xfrm>
            <a:off x="502920" y="2674620"/>
            <a:ext cx="11155680" cy="384048"/>
          </a:xfrm>
          <a:prstGeom prst="roundRect">
            <a:avLst>
              <a:gd name="adj" fmla="val 11905"/>
            </a:avLst>
          </a:prstGeom>
          <a:solidFill>
            <a:srgbClr val="1F3D2E"/>
          </a:solidFill>
          <a:ln/>
        </p:spPr>
      </p:sp>
      <p:sp>
        <p:nvSpPr>
          <p:cNvPr id="23" name="Text 21"/>
          <p:cNvSpPr/>
          <p:nvPr/>
        </p:nvSpPr>
        <p:spPr>
          <a:xfrm>
            <a:off x="731520" y="2738628"/>
            <a:ext cx="2377440" cy="256032"/>
          </a:xfrm>
          <a:prstGeom prst="rect">
            <a:avLst/>
          </a:prstGeom>
          <a:noFill/>
          <a:ln/>
        </p:spPr>
        <p:txBody>
          <a:bodyPr wrap="square" lIns="0" tIns="0" rIns="0" bIns="0" rtlCol="0" anchor="ctr"/>
          <a:lstStyle/>
          <a:p>
            <a:pPr indent="0" marL="0">
              <a:buNone/>
            </a:pPr>
            <a:r>
              <a:rPr lang="en-US" sz="1050" b="1" dirty="0">
                <a:solidFill>
                  <a:srgbClr val="D98E32"/>
                </a:solidFill>
                <a:latin typeface="Calibri" pitchFamily="34" charset="0"/>
                <a:ea typeface="Calibri" pitchFamily="34" charset="-122"/>
                <a:cs typeface="Calibri" pitchFamily="34" charset="-120"/>
              </a:rPr>
              <a:t>Filter removed difficulty</a:t>
            </a:r>
            <a:endParaRPr lang="en-US" sz="1050" dirty="0"/>
          </a:p>
        </p:txBody>
      </p:sp>
      <p:sp>
        <p:nvSpPr>
          <p:cNvPr id="24" name="Text 22"/>
          <p:cNvSpPr/>
          <p:nvPr/>
        </p:nvSpPr>
        <p:spPr>
          <a:xfrm>
            <a:off x="3154680" y="2738628"/>
            <a:ext cx="2926080" cy="256032"/>
          </a:xfrm>
          <a:prstGeom prst="rect">
            <a:avLst/>
          </a:prstGeom>
          <a:noFill/>
          <a:ln/>
        </p:spPr>
        <p:txBody>
          <a:bodyPr wrap="square" lIns="0" tIns="0" rIns="0" bIns="0" rtlCol="0" anchor="ctr"/>
          <a:lstStyle/>
          <a:p>
            <a:pPr indent="0" marL="0">
              <a:buNone/>
            </a:pPr>
            <a:r>
              <a:rPr lang="en-US" sz="850" dirty="0">
                <a:solidFill>
                  <a:srgbClr val="8FA396"/>
                </a:solidFill>
                <a:latin typeface="Calibri" pitchFamily="34" charset="0"/>
                <a:ea typeface="Calibri" pitchFamily="34" charset="-122"/>
                <a:cs typeface="Calibri" pitchFamily="34" charset="-120"/>
              </a:rPr>
              <a:t>You filtered hardness, not noise</a:t>
            </a:r>
            <a:endParaRPr lang="en-US" sz="850" dirty="0"/>
          </a:p>
        </p:txBody>
      </p:sp>
      <p:sp>
        <p:nvSpPr>
          <p:cNvPr id="25" name="Text 23"/>
          <p:cNvSpPr/>
          <p:nvPr/>
        </p:nvSpPr>
        <p:spPr>
          <a:xfrm>
            <a:off x="6172200" y="2738628"/>
            <a:ext cx="2743200" cy="256032"/>
          </a:xfrm>
          <a:prstGeom prst="rect">
            <a:avLst/>
          </a:prstGeom>
          <a:noFill/>
          <a:ln/>
        </p:spPr>
        <p:txBody>
          <a:bodyPr wrap="square" lIns="0" tIns="0" rIns="0" bIns="0" rtlCol="0" anchor="ctr"/>
          <a:lstStyle/>
          <a:p>
            <a:pPr indent="0" marL="0">
              <a:buNone/>
            </a:pPr>
            <a:r>
              <a:rPr lang="en-US" sz="850" dirty="0">
                <a:solidFill>
                  <a:srgbClr val="C9DDB4"/>
                </a:solidFill>
                <a:latin typeface="Calibri" pitchFamily="34" charset="0"/>
                <a:ea typeface="Calibri" pitchFamily="34" charset="-122"/>
                <a:cs typeface="Calibri" pitchFamily="34" charset="-120"/>
              </a:rPr>
              <a:t>Score rises after filtering</a:t>
            </a:r>
            <a:endParaRPr lang="en-US" sz="850" dirty="0"/>
          </a:p>
        </p:txBody>
      </p:sp>
      <p:sp>
        <p:nvSpPr>
          <p:cNvPr id="26" name="Text 24"/>
          <p:cNvSpPr/>
          <p:nvPr/>
        </p:nvSpPr>
        <p:spPr>
          <a:xfrm>
            <a:off x="9006840" y="2738628"/>
            <a:ext cx="2514600" cy="256032"/>
          </a:xfrm>
          <a:prstGeom prst="rect">
            <a:avLst/>
          </a:prstGeom>
          <a:noFill/>
          <a:ln/>
        </p:spPr>
        <p:txBody>
          <a:bodyPr wrap="square" lIns="0" tIns="0" rIns="0" bIns="0" rtlCol="0" anchor="ctr"/>
          <a:lstStyle/>
          <a:p>
            <a:pPr indent="0" marL="0">
              <a:buNone/>
            </a:pPr>
            <a:r>
              <a:rPr lang="en-US" sz="850" b="1" dirty="0">
                <a:solidFill>
                  <a:srgbClr val="8FB573"/>
                </a:solidFill>
                <a:latin typeface="Calibri" pitchFamily="34" charset="0"/>
                <a:ea typeface="Calibri" pitchFamily="34" charset="-122"/>
                <a:cs typeface="Calibri" pitchFamily="34" charset="-120"/>
              </a:rPr>
              <a:t>Difficulty histogram before/after</a:t>
            </a:r>
            <a:endParaRPr lang="en-US" sz="850" dirty="0"/>
          </a:p>
        </p:txBody>
      </p:sp>
      <p:sp>
        <p:nvSpPr>
          <p:cNvPr id="27" name="Shape 25"/>
          <p:cNvSpPr/>
          <p:nvPr/>
        </p:nvSpPr>
        <p:spPr>
          <a:xfrm>
            <a:off x="502920" y="3090672"/>
            <a:ext cx="11155680" cy="384048"/>
          </a:xfrm>
          <a:prstGeom prst="roundRect">
            <a:avLst>
              <a:gd name="adj" fmla="val 11905"/>
            </a:avLst>
          </a:prstGeom>
          <a:solidFill>
            <a:srgbClr val="1F3D2E"/>
          </a:solidFill>
          <a:ln/>
        </p:spPr>
      </p:sp>
      <p:sp>
        <p:nvSpPr>
          <p:cNvPr id="28" name="Text 26"/>
          <p:cNvSpPr/>
          <p:nvPr/>
        </p:nvSpPr>
        <p:spPr>
          <a:xfrm>
            <a:off x="731520" y="3154680"/>
            <a:ext cx="2377440" cy="256032"/>
          </a:xfrm>
          <a:prstGeom prst="rect">
            <a:avLst/>
          </a:prstGeom>
          <a:noFill/>
          <a:ln/>
        </p:spPr>
        <p:txBody>
          <a:bodyPr wrap="square" lIns="0" tIns="0" rIns="0" bIns="0" rtlCol="0" anchor="ctr"/>
          <a:lstStyle/>
          <a:p>
            <a:pPr indent="0" marL="0">
              <a:buNone/>
            </a:pPr>
            <a:r>
              <a:rPr lang="en-US" sz="1050" b="1" dirty="0">
                <a:solidFill>
                  <a:srgbClr val="D98E32"/>
                </a:solidFill>
                <a:latin typeface="Calibri" pitchFamily="34" charset="0"/>
                <a:ea typeface="Calibri" pitchFamily="34" charset="-122"/>
                <a:cs typeface="Calibri" pitchFamily="34" charset="-120"/>
              </a:rPr>
              <a:t>Duplicate inflation</a:t>
            </a:r>
            <a:endParaRPr lang="en-US" sz="1050" dirty="0"/>
          </a:p>
        </p:txBody>
      </p:sp>
      <p:sp>
        <p:nvSpPr>
          <p:cNvPr id="29" name="Text 27"/>
          <p:cNvSpPr/>
          <p:nvPr/>
        </p:nvSpPr>
        <p:spPr>
          <a:xfrm>
            <a:off x="3154680" y="3154680"/>
            <a:ext cx="2926080" cy="256032"/>
          </a:xfrm>
          <a:prstGeom prst="rect">
            <a:avLst/>
          </a:prstGeom>
          <a:noFill/>
          <a:ln/>
        </p:spPr>
        <p:txBody>
          <a:bodyPr wrap="square" lIns="0" tIns="0" rIns="0" bIns="0" rtlCol="0" anchor="ctr"/>
          <a:lstStyle/>
          <a:p>
            <a:pPr indent="0" marL="0">
              <a:buNone/>
            </a:pPr>
            <a:r>
              <a:rPr lang="en-US" sz="850" dirty="0">
                <a:solidFill>
                  <a:srgbClr val="8FA396"/>
                </a:solidFill>
                <a:latin typeface="Calibri" pitchFamily="34" charset="0"/>
                <a:ea typeface="Calibri" pitchFamily="34" charset="-122"/>
                <a:cs typeface="Calibri" pitchFamily="34" charset="-120"/>
              </a:rPr>
              <a:t>Near-identical passers counted twice</a:t>
            </a:r>
            <a:endParaRPr lang="en-US" sz="850" dirty="0"/>
          </a:p>
        </p:txBody>
      </p:sp>
      <p:sp>
        <p:nvSpPr>
          <p:cNvPr id="30" name="Text 28"/>
          <p:cNvSpPr/>
          <p:nvPr/>
        </p:nvSpPr>
        <p:spPr>
          <a:xfrm>
            <a:off x="6172200" y="3154680"/>
            <a:ext cx="2743200" cy="256032"/>
          </a:xfrm>
          <a:prstGeom prst="rect">
            <a:avLst/>
          </a:prstGeom>
          <a:noFill/>
          <a:ln/>
        </p:spPr>
        <p:txBody>
          <a:bodyPr wrap="square" lIns="0" tIns="0" rIns="0" bIns="0" rtlCol="0" anchor="ctr"/>
          <a:lstStyle/>
          <a:p>
            <a:pPr indent="0" marL="0">
              <a:buNone/>
            </a:pPr>
            <a:r>
              <a:rPr lang="en-US" sz="850" dirty="0">
                <a:solidFill>
                  <a:srgbClr val="C9DDB4"/>
                </a:solidFill>
                <a:latin typeface="Calibri" pitchFamily="34" charset="0"/>
                <a:ea typeface="Calibri" pitchFamily="34" charset="-122"/>
                <a:cs typeface="Calibri" pitchFamily="34" charset="-120"/>
              </a:rPr>
              <a:t>'50k examples' from 3k problems</a:t>
            </a:r>
            <a:endParaRPr lang="en-US" sz="850" dirty="0"/>
          </a:p>
        </p:txBody>
      </p:sp>
      <p:sp>
        <p:nvSpPr>
          <p:cNvPr id="31" name="Text 29"/>
          <p:cNvSpPr/>
          <p:nvPr/>
        </p:nvSpPr>
        <p:spPr>
          <a:xfrm>
            <a:off x="9006840" y="3154680"/>
            <a:ext cx="2514600" cy="256032"/>
          </a:xfrm>
          <a:prstGeom prst="rect">
            <a:avLst/>
          </a:prstGeom>
          <a:noFill/>
          <a:ln/>
        </p:spPr>
        <p:txBody>
          <a:bodyPr wrap="square" lIns="0" tIns="0" rIns="0" bIns="0" rtlCol="0" anchor="ctr"/>
          <a:lstStyle/>
          <a:p>
            <a:pPr indent="0" marL="0">
              <a:buNone/>
            </a:pPr>
            <a:r>
              <a:rPr lang="en-US" sz="850" b="1" dirty="0">
                <a:solidFill>
                  <a:srgbClr val="8FB573"/>
                </a:solidFill>
                <a:latin typeface="Calibri" pitchFamily="34" charset="0"/>
                <a:ea typeface="Calibri" pitchFamily="34" charset="-122"/>
                <a:cs typeface="Calibri" pitchFamily="34" charset="-120"/>
              </a:rPr>
              <a:t>Dedup survivors, then recount</a:t>
            </a:r>
            <a:endParaRPr lang="en-US" sz="850" dirty="0"/>
          </a:p>
        </p:txBody>
      </p:sp>
      <p:sp>
        <p:nvSpPr>
          <p:cNvPr id="32" name="Shape 30"/>
          <p:cNvSpPr/>
          <p:nvPr/>
        </p:nvSpPr>
        <p:spPr>
          <a:xfrm>
            <a:off x="502920" y="3506724"/>
            <a:ext cx="11155680" cy="384048"/>
          </a:xfrm>
          <a:prstGeom prst="roundRect">
            <a:avLst>
              <a:gd name="adj" fmla="val 11905"/>
            </a:avLst>
          </a:prstGeom>
          <a:solidFill>
            <a:srgbClr val="1F3D2E"/>
          </a:solidFill>
          <a:ln/>
        </p:spPr>
      </p:sp>
      <p:sp>
        <p:nvSpPr>
          <p:cNvPr id="33" name="Text 31"/>
          <p:cNvSpPr/>
          <p:nvPr/>
        </p:nvSpPr>
        <p:spPr>
          <a:xfrm>
            <a:off x="731520" y="3570732"/>
            <a:ext cx="2377440" cy="256032"/>
          </a:xfrm>
          <a:prstGeom prst="rect">
            <a:avLst/>
          </a:prstGeom>
          <a:noFill/>
          <a:ln/>
        </p:spPr>
        <p:txBody>
          <a:bodyPr wrap="square" lIns="0" tIns="0" rIns="0" bIns="0" rtlCol="0" anchor="ctr"/>
          <a:lstStyle/>
          <a:p>
            <a:pPr indent="0" marL="0">
              <a:buNone/>
            </a:pPr>
            <a:r>
              <a:rPr lang="en-US" sz="1050" b="1" dirty="0">
                <a:solidFill>
                  <a:srgbClr val="D98E32"/>
                </a:solidFill>
                <a:latin typeface="Calibri" pitchFamily="34" charset="0"/>
                <a:ea typeface="Calibri" pitchFamily="34" charset="-122"/>
                <a:cs typeface="Calibri" pitchFamily="34" charset="-120"/>
              </a:rPr>
              <a:t>Verbosity bias</a:t>
            </a:r>
            <a:endParaRPr lang="en-US" sz="1050" dirty="0"/>
          </a:p>
        </p:txBody>
      </p:sp>
      <p:sp>
        <p:nvSpPr>
          <p:cNvPr id="34" name="Text 32"/>
          <p:cNvSpPr/>
          <p:nvPr/>
        </p:nvSpPr>
        <p:spPr>
          <a:xfrm>
            <a:off x="3154680" y="3570732"/>
            <a:ext cx="2926080" cy="256032"/>
          </a:xfrm>
          <a:prstGeom prst="rect">
            <a:avLst/>
          </a:prstGeom>
          <a:noFill/>
          <a:ln/>
        </p:spPr>
        <p:txBody>
          <a:bodyPr wrap="square" lIns="0" tIns="0" rIns="0" bIns="0" rtlCol="0" anchor="ctr"/>
          <a:lstStyle/>
          <a:p>
            <a:pPr indent="0" marL="0">
              <a:buNone/>
            </a:pPr>
            <a:r>
              <a:rPr lang="en-US" sz="850" dirty="0">
                <a:solidFill>
                  <a:srgbClr val="8FA396"/>
                </a:solidFill>
                <a:latin typeface="Calibri" pitchFamily="34" charset="0"/>
                <a:ea typeface="Calibri" pitchFamily="34" charset="-122"/>
                <a:cs typeface="Calibri" pitchFamily="34" charset="-120"/>
              </a:rPr>
              <a:t>Model learned longer looks better</a:t>
            </a:r>
            <a:endParaRPr lang="en-US" sz="850" dirty="0"/>
          </a:p>
        </p:txBody>
      </p:sp>
      <p:sp>
        <p:nvSpPr>
          <p:cNvPr id="35" name="Text 33"/>
          <p:cNvSpPr/>
          <p:nvPr/>
        </p:nvSpPr>
        <p:spPr>
          <a:xfrm>
            <a:off x="6172200" y="3570732"/>
            <a:ext cx="2743200" cy="256032"/>
          </a:xfrm>
          <a:prstGeom prst="rect">
            <a:avLst/>
          </a:prstGeom>
          <a:noFill/>
          <a:ln/>
        </p:spPr>
        <p:txBody>
          <a:bodyPr wrap="square" lIns="0" tIns="0" rIns="0" bIns="0" rtlCol="0" anchor="ctr"/>
          <a:lstStyle/>
          <a:p>
            <a:pPr indent="0" marL="0">
              <a:buNone/>
            </a:pPr>
            <a:r>
              <a:rPr lang="en-US" sz="850" dirty="0">
                <a:solidFill>
                  <a:srgbClr val="C9DDB4"/>
                </a:solidFill>
                <a:latin typeface="Calibri" pitchFamily="34" charset="0"/>
                <a:ea typeface="Calibri" pitchFamily="34" charset="-122"/>
                <a:cs typeface="Calibri" pitchFamily="34" charset="-120"/>
              </a:rPr>
              <a:t>Judge score up, pass@1 flat</a:t>
            </a:r>
            <a:endParaRPr lang="en-US" sz="850" dirty="0"/>
          </a:p>
        </p:txBody>
      </p:sp>
      <p:sp>
        <p:nvSpPr>
          <p:cNvPr id="36" name="Text 34"/>
          <p:cNvSpPr/>
          <p:nvPr/>
        </p:nvSpPr>
        <p:spPr>
          <a:xfrm>
            <a:off x="9006840" y="3570732"/>
            <a:ext cx="2514600" cy="256032"/>
          </a:xfrm>
          <a:prstGeom prst="rect">
            <a:avLst/>
          </a:prstGeom>
          <a:noFill/>
          <a:ln/>
        </p:spPr>
        <p:txBody>
          <a:bodyPr wrap="square" lIns="0" tIns="0" rIns="0" bIns="0" rtlCol="0" anchor="ctr"/>
          <a:lstStyle/>
          <a:p>
            <a:pPr indent="0" marL="0">
              <a:buNone/>
            </a:pPr>
            <a:r>
              <a:rPr lang="en-US" sz="850" b="1" dirty="0">
                <a:solidFill>
                  <a:srgbClr val="8FB573"/>
                </a:solidFill>
                <a:latin typeface="Calibri" pitchFamily="34" charset="0"/>
                <a:ea typeface="Calibri" pitchFamily="34" charset="-122"/>
                <a:cs typeface="Calibri" pitchFamily="34" charset="-120"/>
              </a:rPr>
              <a:t>Log mean output length every run</a:t>
            </a:r>
            <a:endParaRPr lang="en-US" sz="850" dirty="0"/>
          </a:p>
        </p:txBody>
      </p:sp>
      <p:sp>
        <p:nvSpPr>
          <p:cNvPr id="37" name="Shape 35"/>
          <p:cNvSpPr/>
          <p:nvPr/>
        </p:nvSpPr>
        <p:spPr>
          <a:xfrm>
            <a:off x="502920" y="3922776"/>
            <a:ext cx="11155680" cy="384048"/>
          </a:xfrm>
          <a:prstGeom prst="roundRect">
            <a:avLst>
              <a:gd name="adj" fmla="val 11905"/>
            </a:avLst>
          </a:prstGeom>
          <a:solidFill>
            <a:srgbClr val="1F3D2E"/>
          </a:solidFill>
          <a:ln/>
        </p:spPr>
      </p:sp>
      <p:sp>
        <p:nvSpPr>
          <p:cNvPr id="38" name="Text 36"/>
          <p:cNvSpPr/>
          <p:nvPr/>
        </p:nvSpPr>
        <p:spPr>
          <a:xfrm>
            <a:off x="731520" y="3986784"/>
            <a:ext cx="2377440" cy="256032"/>
          </a:xfrm>
          <a:prstGeom prst="rect">
            <a:avLst/>
          </a:prstGeom>
          <a:noFill/>
          <a:ln/>
        </p:spPr>
        <p:txBody>
          <a:bodyPr wrap="square" lIns="0" tIns="0" rIns="0" bIns="0" rtlCol="0" anchor="ctr"/>
          <a:lstStyle/>
          <a:p>
            <a:pPr indent="0" marL="0">
              <a:buNone/>
            </a:pPr>
            <a:r>
              <a:rPr lang="en-US" sz="1050" b="1" dirty="0">
                <a:solidFill>
                  <a:srgbClr val="D98E32"/>
                </a:solidFill>
                <a:latin typeface="Calibri" pitchFamily="34" charset="0"/>
                <a:ea typeface="Calibri" pitchFamily="34" charset="-122"/>
                <a:cs typeface="Calibri" pitchFamily="34" charset="-120"/>
              </a:rPr>
              <a:t>Judge-verifier divergence</a:t>
            </a:r>
            <a:endParaRPr lang="en-US" sz="1050" dirty="0"/>
          </a:p>
        </p:txBody>
      </p:sp>
      <p:sp>
        <p:nvSpPr>
          <p:cNvPr id="39" name="Text 37"/>
          <p:cNvSpPr/>
          <p:nvPr/>
        </p:nvSpPr>
        <p:spPr>
          <a:xfrm>
            <a:off x="3154680" y="3986784"/>
            <a:ext cx="2926080" cy="256032"/>
          </a:xfrm>
          <a:prstGeom prst="rect">
            <a:avLst/>
          </a:prstGeom>
          <a:noFill/>
          <a:ln/>
        </p:spPr>
        <p:txBody>
          <a:bodyPr wrap="square" lIns="0" tIns="0" rIns="0" bIns="0" rtlCol="0" anchor="ctr"/>
          <a:lstStyle/>
          <a:p>
            <a:pPr indent="0" marL="0">
              <a:buNone/>
            </a:pPr>
            <a:r>
              <a:rPr lang="en-US" sz="850" dirty="0">
                <a:solidFill>
                  <a:srgbClr val="8FA396"/>
                </a:solidFill>
                <a:latin typeface="Calibri" pitchFamily="34" charset="0"/>
                <a:ea typeface="Calibri" pitchFamily="34" charset="-122"/>
                <a:cs typeface="Calibri" pitchFamily="34" charset="-120"/>
              </a:rPr>
              <a:t>You optimized for the judge</a:t>
            </a:r>
            <a:endParaRPr lang="en-US" sz="850" dirty="0"/>
          </a:p>
        </p:txBody>
      </p:sp>
      <p:sp>
        <p:nvSpPr>
          <p:cNvPr id="40" name="Text 38"/>
          <p:cNvSpPr/>
          <p:nvPr/>
        </p:nvSpPr>
        <p:spPr>
          <a:xfrm>
            <a:off x="6172200" y="3986784"/>
            <a:ext cx="2743200" cy="256032"/>
          </a:xfrm>
          <a:prstGeom prst="rect">
            <a:avLst/>
          </a:prstGeom>
          <a:noFill/>
          <a:ln/>
        </p:spPr>
        <p:txBody>
          <a:bodyPr wrap="square" lIns="0" tIns="0" rIns="0" bIns="0" rtlCol="0" anchor="ctr"/>
          <a:lstStyle/>
          <a:p>
            <a:pPr indent="0" marL="0">
              <a:buNone/>
            </a:pPr>
            <a:r>
              <a:rPr lang="en-US" sz="850" dirty="0">
                <a:solidFill>
                  <a:srgbClr val="C9DDB4"/>
                </a:solidFill>
                <a:latin typeface="Calibri" pitchFamily="34" charset="0"/>
                <a:ea typeface="Calibri" pitchFamily="34" charset="-122"/>
                <a:cs typeface="Calibri" pitchFamily="34" charset="-120"/>
              </a:rPr>
              <a:t>Judge loves it, tests disagree</a:t>
            </a:r>
            <a:endParaRPr lang="en-US" sz="850" dirty="0"/>
          </a:p>
        </p:txBody>
      </p:sp>
      <p:sp>
        <p:nvSpPr>
          <p:cNvPr id="41" name="Text 39"/>
          <p:cNvSpPr/>
          <p:nvPr/>
        </p:nvSpPr>
        <p:spPr>
          <a:xfrm>
            <a:off x="9006840" y="3986784"/>
            <a:ext cx="2514600" cy="256032"/>
          </a:xfrm>
          <a:prstGeom prst="rect">
            <a:avLst/>
          </a:prstGeom>
          <a:noFill/>
          <a:ln/>
        </p:spPr>
        <p:txBody>
          <a:bodyPr wrap="square" lIns="0" tIns="0" rIns="0" bIns="0" rtlCol="0" anchor="ctr"/>
          <a:lstStyle/>
          <a:p>
            <a:pPr indent="0" marL="0">
              <a:buNone/>
            </a:pPr>
            <a:r>
              <a:rPr lang="en-US" sz="850" b="1" dirty="0">
                <a:solidFill>
                  <a:srgbClr val="8FB573"/>
                </a:solidFill>
                <a:latin typeface="Calibri" pitchFamily="34" charset="0"/>
                <a:ea typeface="Calibri" pitchFamily="34" charset="-122"/>
                <a:cs typeface="Calibri" pitchFamily="34" charset="-120"/>
              </a:rPr>
              <a:t>Verifier is truth; judge is advisory</a:t>
            </a:r>
            <a:endParaRPr lang="en-US" sz="850" dirty="0"/>
          </a:p>
        </p:txBody>
      </p:sp>
      <p:sp>
        <p:nvSpPr>
          <p:cNvPr id="42" name="Shape 40"/>
          <p:cNvSpPr/>
          <p:nvPr/>
        </p:nvSpPr>
        <p:spPr>
          <a:xfrm>
            <a:off x="502920" y="4338828"/>
            <a:ext cx="11155680" cy="384048"/>
          </a:xfrm>
          <a:prstGeom prst="roundRect">
            <a:avLst>
              <a:gd name="adj" fmla="val 11905"/>
            </a:avLst>
          </a:prstGeom>
          <a:solidFill>
            <a:srgbClr val="1F3D2E"/>
          </a:solidFill>
          <a:ln/>
        </p:spPr>
      </p:sp>
      <p:sp>
        <p:nvSpPr>
          <p:cNvPr id="43" name="Text 41"/>
          <p:cNvSpPr/>
          <p:nvPr/>
        </p:nvSpPr>
        <p:spPr>
          <a:xfrm>
            <a:off x="731520" y="4402836"/>
            <a:ext cx="2377440" cy="256032"/>
          </a:xfrm>
          <a:prstGeom prst="rect">
            <a:avLst/>
          </a:prstGeom>
          <a:noFill/>
          <a:ln/>
        </p:spPr>
        <p:txBody>
          <a:bodyPr wrap="square" lIns="0" tIns="0" rIns="0" bIns="0" rtlCol="0" anchor="ctr"/>
          <a:lstStyle/>
          <a:p>
            <a:pPr indent="0" marL="0">
              <a:buNone/>
            </a:pPr>
            <a:r>
              <a:rPr lang="en-US" sz="1050" b="1" dirty="0">
                <a:solidFill>
                  <a:srgbClr val="D98E32"/>
                </a:solidFill>
                <a:latin typeface="Calibri" pitchFamily="34" charset="0"/>
                <a:ea typeface="Calibri" pitchFamily="34" charset="-122"/>
                <a:cs typeface="Calibri" pitchFamily="34" charset="-120"/>
              </a:rPr>
              <a:t>Reward hacking</a:t>
            </a:r>
            <a:endParaRPr lang="en-US" sz="1050" dirty="0"/>
          </a:p>
        </p:txBody>
      </p:sp>
      <p:sp>
        <p:nvSpPr>
          <p:cNvPr id="44" name="Text 42"/>
          <p:cNvSpPr/>
          <p:nvPr/>
        </p:nvSpPr>
        <p:spPr>
          <a:xfrm>
            <a:off x="3154680" y="4402836"/>
            <a:ext cx="2926080" cy="256032"/>
          </a:xfrm>
          <a:prstGeom prst="rect">
            <a:avLst/>
          </a:prstGeom>
          <a:noFill/>
          <a:ln/>
        </p:spPr>
        <p:txBody>
          <a:bodyPr wrap="square" lIns="0" tIns="0" rIns="0" bIns="0" rtlCol="0" anchor="ctr"/>
          <a:lstStyle/>
          <a:p>
            <a:pPr indent="0" marL="0">
              <a:buNone/>
            </a:pPr>
            <a:r>
              <a:rPr lang="en-US" sz="850" dirty="0">
                <a:solidFill>
                  <a:srgbClr val="8FA396"/>
                </a:solidFill>
                <a:latin typeface="Calibri" pitchFamily="34" charset="0"/>
                <a:ea typeface="Calibri" pitchFamily="34" charset="-122"/>
                <a:cs typeface="Calibri" pitchFamily="34" charset="-120"/>
              </a:rPr>
              <a:t>Model found a shortcut</a:t>
            </a:r>
            <a:endParaRPr lang="en-US" sz="850" dirty="0"/>
          </a:p>
        </p:txBody>
      </p:sp>
      <p:sp>
        <p:nvSpPr>
          <p:cNvPr id="45" name="Text 43"/>
          <p:cNvSpPr/>
          <p:nvPr/>
        </p:nvSpPr>
        <p:spPr>
          <a:xfrm>
            <a:off x="6172200" y="4402836"/>
            <a:ext cx="2743200" cy="256032"/>
          </a:xfrm>
          <a:prstGeom prst="rect">
            <a:avLst/>
          </a:prstGeom>
          <a:noFill/>
          <a:ln/>
        </p:spPr>
        <p:txBody>
          <a:bodyPr wrap="square" lIns="0" tIns="0" rIns="0" bIns="0" rtlCol="0" anchor="ctr"/>
          <a:lstStyle/>
          <a:p>
            <a:pPr indent="0" marL="0">
              <a:buNone/>
            </a:pPr>
            <a:r>
              <a:rPr lang="en-US" sz="850" dirty="0">
                <a:solidFill>
                  <a:srgbClr val="C9DDB4"/>
                </a:solidFill>
                <a:latin typeface="Calibri" pitchFamily="34" charset="0"/>
                <a:ea typeface="Calibri" pitchFamily="34" charset="-122"/>
                <a:cs typeface="Calibri" pitchFamily="34" charset="-120"/>
              </a:rPr>
              <a:t>Reward climbing, held-out falling</a:t>
            </a:r>
            <a:endParaRPr lang="en-US" sz="850" dirty="0"/>
          </a:p>
        </p:txBody>
      </p:sp>
      <p:sp>
        <p:nvSpPr>
          <p:cNvPr id="46" name="Text 44"/>
          <p:cNvSpPr/>
          <p:nvPr/>
        </p:nvSpPr>
        <p:spPr>
          <a:xfrm>
            <a:off x="9006840" y="4402836"/>
            <a:ext cx="2514600" cy="256032"/>
          </a:xfrm>
          <a:prstGeom prst="rect">
            <a:avLst/>
          </a:prstGeom>
          <a:noFill/>
          <a:ln/>
        </p:spPr>
        <p:txBody>
          <a:bodyPr wrap="square" lIns="0" tIns="0" rIns="0" bIns="0" rtlCol="0" anchor="ctr"/>
          <a:lstStyle/>
          <a:p>
            <a:pPr indent="0" marL="0">
              <a:buNone/>
            </a:pPr>
            <a:r>
              <a:rPr lang="en-US" sz="850" b="1" dirty="0">
                <a:solidFill>
                  <a:srgbClr val="8FB573"/>
                </a:solidFill>
                <a:latin typeface="Calibri" pitchFamily="34" charset="0"/>
                <a:ea typeface="Calibri" pitchFamily="34" charset="-122"/>
                <a:cs typeface="Calibri" pitchFamily="34" charset="-120"/>
              </a:rPr>
              <a:t>Read rollouts; plot both on one axis</a:t>
            </a:r>
            <a:endParaRPr lang="en-US" sz="850" dirty="0"/>
          </a:p>
        </p:txBody>
      </p:sp>
      <p:sp>
        <p:nvSpPr>
          <p:cNvPr id="47" name="Shape 45"/>
          <p:cNvSpPr/>
          <p:nvPr/>
        </p:nvSpPr>
        <p:spPr>
          <a:xfrm>
            <a:off x="502920" y="4754880"/>
            <a:ext cx="11155680" cy="384048"/>
          </a:xfrm>
          <a:prstGeom prst="roundRect">
            <a:avLst>
              <a:gd name="adj" fmla="val 11905"/>
            </a:avLst>
          </a:prstGeom>
          <a:solidFill>
            <a:srgbClr val="1F3D2E"/>
          </a:solidFill>
          <a:ln/>
        </p:spPr>
      </p:sp>
      <p:sp>
        <p:nvSpPr>
          <p:cNvPr id="48" name="Text 46"/>
          <p:cNvSpPr/>
          <p:nvPr/>
        </p:nvSpPr>
        <p:spPr>
          <a:xfrm>
            <a:off x="731520" y="4818888"/>
            <a:ext cx="2377440" cy="256032"/>
          </a:xfrm>
          <a:prstGeom prst="rect">
            <a:avLst/>
          </a:prstGeom>
          <a:noFill/>
          <a:ln/>
        </p:spPr>
        <p:txBody>
          <a:bodyPr wrap="square" lIns="0" tIns="0" rIns="0" bIns="0" rtlCol="0" anchor="ctr"/>
          <a:lstStyle/>
          <a:p>
            <a:pPr indent="0" marL="0">
              <a:buNone/>
            </a:pPr>
            <a:r>
              <a:rPr lang="en-US" sz="1050" b="1" dirty="0">
                <a:solidFill>
                  <a:srgbClr val="D98E32"/>
                </a:solidFill>
                <a:latin typeface="Calibri" pitchFamily="34" charset="0"/>
                <a:ea typeface="Calibri" pitchFamily="34" charset="-122"/>
                <a:cs typeface="Calibri" pitchFamily="34" charset="-120"/>
              </a:rPr>
              <a:t>Dead-group illusion</a:t>
            </a:r>
            <a:endParaRPr lang="en-US" sz="1050" dirty="0"/>
          </a:p>
        </p:txBody>
      </p:sp>
      <p:sp>
        <p:nvSpPr>
          <p:cNvPr id="49" name="Text 47"/>
          <p:cNvSpPr/>
          <p:nvPr/>
        </p:nvSpPr>
        <p:spPr>
          <a:xfrm>
            <a:off x="3154680" y="4818888"/>
            <a:ext cx="2926080" cy="256032"/>
          </a:xfrm>
          <a:prstGeom prst="rect">
            <a:avLst/>
          </a:prstGeom>
          <a:noFill/>
          <a:ln/>
        </p:spPr>
        <p:txBody>
          <a:bodyPr wrap="square" lIns="0" tIns="0" rIns="0" bIns="0" rtlCol="0" anchor="ctr"/>
          <a:lstStyle/>
          <a:p>
            <a:pPr indent="0" marL="0">
              <a:buNone/>
            </a:pPr>
            <a:r>
              <a:rPr lang="en-US" sz="850" dirty="0">
                <a:solidFill>
                  <a:srgbClr val="8FA396"/>
                </a:solidFill>
                <a:latin typeface="Calibri" pitchFamily="34" charset="0"/>
                <a:ea typeface="Calibri" pitchFamily="34" charset="-122"/>
                <a:cs typeface="Calibri" pitchFamily="34" charset="-120"/>
              </a:rPr>
              <a:t>Zero variance means zero gradient</a:t>
            </a:r>
            <a:endParaRPr lang="en-US" sz="850" dirty="0"/>
          </a:p>
        </p:txBody>
      </p:sp>
      <p:sp>
        <p:nvSpPr>
          <p:cNvPr id="50" name="Text 48"/>
          <p:cNvSpPr/>
          <p:nvPr/>
        </p:nvSpPr>
        <p:spPr>
          <a:xfrm>
            <a:off x="6172200" y="4818888"/>
            <a:ext cx="2743200" cy="256032"/>
          </a:xfrm>
          <a:prstGeom prst="rect">
            <a:avLst/>
          </a:prstGeom>
          <a:noFill/>
          <a:ln/>
        </p:spPr>
        <p:txBody>
          <a:bodyPr wrap="square" lIns="0" tIns="0" rIns="0" bIns="0" rtlCol="0" anchor="ctr"/>
          <a:lstStyle/>
          <a:p>
            <a:pPr indent="0" marL="0">
              <a:buNone/>
            </a:pPr>
            <a:r>
              <a:rPr lang="en-US" sz="850" dirty="0">
                <a:solidFill>
                  <a:srgbClr val="C9DDB4"/>
                </a:solidFill>
                <a:latin typeface="Calibri" pitchFamily="34" charset="0"/>
                <a:ea typeface="Calibri" pitchFamily="34" charset="-122"/>
                <a:cs typeface="Calibri" pitchFamily="34" charset="-120"/>
              </a:rPr>
              <a:t>Reward stable, 'converged'</a:t>
            </a:r>
            <a:endParaRPr lang="en-US" sz="850" dirty="0"/>
          </a:p>
        </p:txBody>
      </p:sp>
      <p:sp>
        <p:nvSpPr>
          <p:cNvPr id="51" name="Text 49"/>
          <p:cNvSpPr/>
          <p:nvPr/>
        </p:nvSpPr>
        <p:spPr>
          <a:xfrm>
            <a:off x="9006840" y="4818888"/>
            <a:ext cx="2514600" cy="256032"/>
          </a:xfrm>
          <a:prstGeom prst="rect">
            <a:avLst/>
          </a:prstGeom>
          <a:noFill/>
          <a:ln/>
        </p:spPr>
        <p:txBody>
          <a:bodyPr wrap="square" lIns="0" tIns="0" rIns="0" bIns="0" rtlCol="0" anchor="ctr"/>
          <a:lstStyle/>
          <a:p>
            <a:pPr indent="0" marL="0">
              <a:buNone/>
            </a:pPr>
            <a:r>
              <a:rPr lang="en-US" sz="850" b="1" dirty="0">
                <a:solidFill>
                  <a:srgbClr val="8FB573"/>
                </a:solidFill>
                <a:latin typeface="Calibri" pitchFamily="34" charset="0"/>
                <a:ea typeface="Calibri" pitchFamily="34" charset="-122"/>
                <a:cs typeface="Calibri" pitchFamily="34" charset="-120"/>
              </a:rPr>
              <a:t>Log fraction of groups with std = 0</a:t>
            </a:r>
            <a:endParaRPr lang="en-US" sz="850" dirty="0"/>
          </a:p>
        </p:txBody>
      </p:sp>
      <p:sp>
        <p:nvSpPr>
          <p:cNvPr id="52" name="Shape 50"/>
          <p:cNvSpPr/>
          <p:nvPr/>
        </p:nvSpPr>
        <p:spPr>
          <a:xfrm>
            <a:off x="502920" y="5170932"/>
            <a:ext cx="11155680" cy="384048"/>
          </a:xfrm>
          <a:prstGeom prst="roundRect">
            <a:avLst>
              <a:gd name="adj" fmla="val 11905"/>
            </a:avLst>
          </a:prstGeom>
          <a:solidFill>
            <a:srgbClr val="1F3D2E"/>
          </a:solidFill>
          <a:ln/>
        </p:spPr>
      </p:sp>
      <p:sp>
        <p:nvSpPr>
          <p:cNvPr id="53" name="Text 51"/>
          <p:cNvSpPr/>
          <p:nvPr/>
        </p:nvSpPr>
        <p:spPr>
          <a:xfrm>
            <a:off x="731520" y="5234940"/>
            <a:ext cx="2377440" cy="256032"/>
          </a:xfrm>
          <a:prstGeom prst="rect">
            <a:avLst/>
          </a:prstGeom>
          <a:noFill/>
          <a:ln/>
        </p:spPr>
        <p:txBody>
          <a:bodyPr wrap="square" lIns="0" tIns="0" rIns="0" bIns="0" rtlCol="0" anchor="ctr"/>
          <a:lstStyle/>
          <a:p>
            <a:pPr indent="0" marL="0">
              <a:buNone/>
            </a:pPr>
            <a:r>
              <a:rPr lang="en-US" sz="1050" b="1" dirty="0">
                <a:solidFill>
                  <a:srgbClr val="D98E32"/>
                </a:solidFill>
                <a:latin typeface="Calibri" pitchFamily="34" charset="0"/>
                <a:ea typeface="Calibri" pitchFamily="34" charset="-122"/>
                <a:cs typeface="Calibri" pitchFamily="34" charset="-120"/>
              </a:rPr>
              <a:t>Synthetic self-agreement</a:t>
            </a:r>
            <a:endParaRPr lang="en-US" sz="1050" dirty="0"/>
          </a:p>
        </p:txBody>
      </p:sp>
      <p:sp>
        <p:nvSpPr>
          <p:cNvPr id="54" name="Text 52"/>
          <p:cNvSpPr/>
          <p:nvPr/>
        </p:nvSpPr>
        <p:spPr>
          <a:xfrm>
            <a:off x="3154680" y="5234940"/>
            <a:ext cx="2926080" cy="256032"/>
          </a:xfrm>
          <a:prstGeom prst="rect">
            <a:avLst/>
          </a:prstGeom>
          <a:noFill/>
          <a:ln/>
        </p:spPr>
        <p:txBody>
          <a:bodyPr wrap="square" lIns="0" tIns="0" rIns="0" bIns="0" rtlCol="0" anchor="ctr"/>
          <a:lstStyle/>
          <a:p>
            <a:pPr indent="0" marL="0">
              <a:buNone/>
            </a:pPr>
            <a:r>
              <a:rPr lang="en-US" sz="850" dirty="0">
                <a:solidFill>
                  <a:srgbClr val="8FA396"/>
                </a:solidFill>
                <a:latin typeface="Calibri" pitchFamily="34" charset="0"/>
                <a:ea typeface="Calibri" pitchFamily="34" charset="-122"/>
                <a:cs typeface="Calibri" pitchFamily="34" charset="-120"/>
              </a:rPr>
              <a:t>Teacher grades its own output</a:t>
            </a:r>
            <a:endParaRPr lang="en-US" sz="850" dirty="0"/>
          </a:p>
        </p:txBody>
      </p:sp>
      <p:sp>
        <p:nvSpPr>
          <p:cNvPr id="55" name="Text 53"/>
          <p:cNvSpPr/>
          <p:nvPr/>
        </p:nvSpPr>
        <p:spPr>
          <a:xfrm>
            <a:off x="6172200" y="5234940"/>
            <a:ext cx="2743200" cy="256032"/>
          </a:xfrm>
          <a:prstGeom prst="rect">
            <a:avLst/>
          </a:prstGeom>
          <a:noFill/>
          <a:ln/>
        </p:spPr>
        <p:txBody>
          <a:bodyPr wrap="square" lIns="0" tIns="0" rIns="0" bIns="0" rtlCol="0" anchor="ctr"/>
          <a:lstStyle/>
          <a:p>
            <a:pPr indent="0" marL="0">
              <a:buNone/>
            </a:pPr>
            <a:r>
              <a:rPr lang="en-US" sz="850" dirty="0">
                <a:solidFill>
                  <a:srgbClr val="C9DDB4"/>
                </a:solidFill>
                <a:latin typeface="Calibri" pitchFamily="34" charset="0"/>
                <a:ea typeface="Calibri" pitchFamily="34" charset="-122"/>
                <a:cs typeface="Calibri" pitchFamily="34" charset="-120"/>
              </a:rPr>
              <a:t>Teacher-rated quality is excellent</a:t>
            </a:r>
            <a:endParaRPr lang="en-US" sz="850" dirty="0"/>
          </a:p>
        </p:txBody>
      </p:sp>
      <p:sp>
        <p:nvSpPr>
          <p:cNvPr id="56" name="Text 54"/>
          <p:cNvSpPr/>
          <p:nvPr/>
        </p:nvSpPr>
        <p:spPr>
          <a:xfrm>
            <a:off x="9006840" y="5234940"/>
            <a:ext cx="2514600" cy="256032"/>
          </a:xfrm>
          <a:prstGeom prst="rect">
            <a:avLst/>
          </a:prstGeom>
          <a:noFill/>
          <a:ln/>
        </p:spPr>
        <p:txBody>
          <a:bodyPr wrap="square" lIns="0" tIns="0" rIns="0" bIns="0" rtlCol="0" anchor="ctr"/>
          <a:lstStyle/>
          <a:p>
            <a:pPr indent="0" marL="0">
              <a:buNone/>
            </a:pPr>
            <a:r>
              <a:rPr lang="en-US" sz="850" b="1" dirty="0">
                <a:solidFill>
                  <a:srgbClr val="8FB573"/>
                </a:solidFill>
                <a:latin typeface="Calibri" pitchFamily="34" charset="0"/>
                <a:ea typeface="Calibri" pitchFamily="34" charset="-122"/>
                <a:cs typeface="Calibri" pitchFamily="34" charset="-120"/>
              </a:rPr>
              <a:t>Grade with execution, not the generator</a:t>
            </a:r>
            <a:endParaRPr lang="en-US" sz="850" dirty="0"/>
          </a:p>
        </p:txBody>
      </p:sp>
      <p:sp>
        <p:nvSpPr>
          <p:cNvPr id="57" name="Shape 55"/>
          <p:cNvSpPr/>
          <p:nvPr/>
        </p:nvSpPr>
        <p:spPr>
          <a:xfrm>
            <a:off x="502920" y="5586984"/>
            <a:ext cx="11155680" cy="384048"/>
          </a:xfrm>
          <a:prstGeom prst="roundRect">
            <a:avLst>
              <a:gd name="adj" fmla="val 11905"/>
            </a:avLst>
          </a:prstGeom>
          <a:solidFill>
            <a:srgbClr val="1F3D2E"/>
          </a:solidFill>
          <a:ln/>
        </p:spPr>
      </p:sp>
      <p:sp>
        <p:nvSpPr>
          <p:cNvPr id="58" name="Text 56"/>
          <p:cNvSpPr/>
          <p:nvPr/>
        </p:nvSpPr>
        <p:spPr>
          <a:xfrm>
            <a:off x="731520" y="5650992"/>
            <a:ext cx="2377440" cy="256032"/>
          </a:xfrm>
          <a:prstGeom prst="rect">
            <a:avLst/>
          </a:prstGeom>
          <a:noFill/>
          <a:ln/>
        </p:spPr>
        <p:txBody>
          <a:bodyPr wrap="square" lIns="0" tIns="0" rIns="0" bIns="0" rtlCol="0" anchor="ctr"/>
          <a:lstStyle/>
          <a:p>
            <a:pPr indent="0" marL="0">
              <a:buNone/>
            </a:pPr>
            <a:r>
              <a:rPr lang="en-US" sz="1050" b="1" dirty="0">
                <a:solidFill>
                  <a:srgbClr val="D98E32"/>
                </a:solidFill>
                <a:latin typeface="Calibri" pitchFamily="34" charset="0"/>
                <a:ea typeface="Calibri" pitchFamily="34" charset="-122"/>
                <a:cs typeface="Calibri" pitchFamily="34" charset="-120"/>
              </a:rPr>
              <a:t>Recovery illusion</a:t>
            </a:r>
            <a:endParaRPr lang="en-US" sz="1050" dirty="0"/>
          </a:p>
        </p:txBody>
      </p:sp>
      <p:sp>
        <p:nvSpPr>
          <p:cNvPr id="59" name="Text 57"/>
          <p:cNvSpPr/>
          <p:nvPr/>
        </p:nvSpPr>
        <p:spPr>
          <a:xfrm>
            <a:off x="3154680" y="5650992"/>
            <a:ext cx="2926080" cy="256032"/>
          </a:xfrm>
          <a:prstGeom prst="rect">
            <a:avLst/>
          </a:prstGeom>
          <a:noFill/>
          <a:ln/>
        </p:spPr>
        <p:txBody>
          <a:bodyPr wrap="square" lIns="0" tIns="0" rIns="0" bIns="0" rtlCol="0" anchor="ctr"/>
          <a:lstStyle/>
          <a:p>
            <a:pPr indent="0" marL="0">
              <a:buNone/>
            </a:pPr>
            <a:r>
              <a:rPr lang="en-US" sz="850" dirty="0">
                <a:solidFill>
                  <a:srgbClr val="8FA396"/>
                </a:solidFill>
                <a:latin typeface="Calibri" pitchFamily="34" charset="0"/>
                <a:ea typeface="Calibri" pitchFamily="34" charset="-122"/>
                <a:cs typeface="Calibri" pitchFamily="34" charset="-120"/>
              </a:rPr>
              <a:t>Degenerate high-reward mode found</a:t>
            </a:r>
            <a:endParaRPr lang="en-US" sz="850" dirty="0"/>
          </a:p>
        </p:txBody>
      </p:sp>
      <p:sp>
        <p:nvSpPr>
          <p:cNvPr id="60" name="Text 58"/>
          <p:cNvSpPr/>
          <p:nvPr/>
        </p:nvSpPr>
        <p:spPr>
          <a:xfrm>
            <a:off x="6172200" y="5650992"/>
            <a:ext cx="2743200" cy="256032"/>
          </a:xfrm>
          <a:prstGeom prst="rect">
            <a:avLst/>
          </a:prstGeom>
          <a:noFill/>
          <a:ln/>
        </p:spPr>
        <p:txBody>
          <a:bodyPr wrap="square" lIns="0" tIns="0" rIns="0" bIns="0" rtlCol="0" anchor="ctr"/>
          <a:lstStyle/>
          <a:p>
            <a:pPr indent="0" marL="0">
              <a:buNone/>
            </a:pPr>
            <a:r>
              <a:rPr lang="en-US" sz="850" dirty="0">
                <a:solidFill>
                  <a:srgbClr val="C9DDB4"/>
                </a:solidFill>
                <a:latin typeface="Calibri" pitchFamily="34" charset="0"/>
                <a:ea typeface="Calibri" pitchFamily="34" charset="-122"/>
                <a:cs typeface="Calibri" pitchFamily="34" charset="-120"/>
              </a:rPr>
              <a:t>Reward recovers after a collapse</a:t>
            </a:r>
            <a:endParaRPr lang="en-US" sz="850" dirty="0"/>
          </a:p>
        </p:txBody>
      </p:sp>
      <p:sp>
        <p:nvSpPr>
          <p:cNvPr id="61" name="Text 59"/>
          <p:cNvSpPr/>
          <p:nvPr/>
        </p:nvSpPr>
        <p:spPr>
          <a:xfrm>
            <a:off x="9006840" y="5650992"/>
            <a:ext cx="2514600" cy="256032"/>
          </a:xfrm>
          <a:prstGeom prst="rect">
            <a:avLst/>
          </a:prstGeom>
          <a:noFill/>
          <a:ln/>
        </p:spPr>
        <p:txBody>
          <a:bodyPr wrap="square" lIns="0" tIns="0" rIns="0" bIns="0" rtlCol="0" anchor="ctr"/>
          <a:lstStyle/>
          <a:p>
            <a:pPr indent="0" marL="0">
              <a:buNone/>
            </a:pPr>
            <a:r>
              <a:rPr lang="en-US" sz="850" b="1" dirty="0">
                <a:solidFill>
                  <a:srgbClr val="8FB573"/>
                </a:solidFill>
                <a:latin typeface="Calibri" pitchFamily="34" charset="0"/>
                <a:ea typeface="Calibri" pitchFamily="34" charset="-122"/>
                <a:cs typeface="Calibri" pitchFamily="34" charset="-120"/>
              </a:rPr>
              <a:t>Check output diversity; read samples</a:t>
            </a:r>
            <a:endParaRPr lang="en-US" sz="850" dirty="0"/>
          </a:p>
        </p:txBody>
      </p:sp>
      <p:sp>
        <p:nvSpPr>
          <p:cNvPr id="62" name="Shape 60"/>
          <p:cNvSpPr/>
          <p:nvPr/>
        </p:nvSpPr>
        <p:spPr>
          <a:xfrm>
            <a:off x="502920" y="6003036"/>
            <a:ext cx="11155680" cy="384048"/>
          </a:xfrm>
          <a:prstGeom prst="roundRect">
            <a:avLst>
              <a:gd name="adj" fmla="val 11905"/>
            </a:avLst>
          </a:prstGeom>
          <a:solidFill>
            <a:srgbClr val="1F3D2E"/>
          </a:solidFill>
          <a:ln/>
        </p:spPr>
      </p:sp>
      <p:sp>
        <p:nvSpPr>
          <p:cNvPr id="63" name="Text 61"/>
          <p:cNvSpPr/>
          <p:nvPr/>
        </p:nvSpPr>
        <p:spPr>
          <a:xfrm>
            <a:off x="731520" y="6067044"/>
            <a:ext cx="2377440" cy="256032"/>
          </a:xfrm>
          <a:prstGeom prst="rect">
            <a:avLst/>
          </a:prstGeom>
          <a:noFill/>
          <a:ln/>
        </p:spPr>
        <p:txBody>
          <a:bodyPr wrap="square" lIns="0" tIns="0" rIns="0" bIns="0" rtlCol="0" anchor="ctr"/>
          <a:lstStyle/>
          <a:p>
            <a:pPr indent="0" marL="0">
              <a:buNone/>
            </a:pPr>
            <a:r>
              <a:rPr lang="en-US" sz="1050" b="1" dirty="0">
                <a:solidFill>
                  <a:srgbClr val="D98E32"/>
                </a:solidFill>
                <a:latin typeface="Calibri" pitchFamily="34" charset="0"/>
                <a:ea typeface="Calibri" pitchFamily="34" charset="-122"/>
                <a:cs typeface="Calibri" pitchFamily="34" charset="-120"/>
              </a:rPr>
              <a:t>Baseline sandbagging</a:t>
            </a:r>
            <a:endParaRPr lang="en-US" sz="1050" dirty="0"/>
          </a:p>
        </p:txBody>
      </p:sp>
      <p:sp>
        <p:nvSpPr>
          <p:cNvPr id="64" name="Text 62"/>
          <p:cNvSpPr/>
          <p:nvPr/>
        </p:nvSpPr>
        <p:spPr>
          <a:xfrm>
            <a:off x="3154680" y="6067044"/>
            <a:ext cx="2926080" cy="256032"/>
          </a:xfrm>
          <a:prstGeom prst="rect">
            <a:avLst/>
          </a:prstGeom>
          <a:noFill/>
          <a:ln/>
        </p:spPr>
        <p:txBody>
          <a:bodyPr wrap="square" lIns="0" tIns="0" rIns="0" bIns="0" rtlCol="0" anchor="ctr"/>
          <a:lstStyle/>
          <a:p>
            <a:pPr indent="0" marL="0">
              <a:buNone/>
            </a:pPr>
            <a:r>
              <a:rPr lang="en-US" sz="850" dirty="0">
                <a:solidFill>
                  <a:srgbClr val="8FA396"/>
                </a:solidFill>
                <a:latin typeface="Calibri" pitchFamily="34" charset="0"/>
                <a:ea typeface="Calibri" pitchFamily="34" charset="-122"/>
                <a:cs typeface="Calibri" pitchFamily="34" charset="-120"/>
              </a:rPr>
              <a:t>Your baseline used a worse prompt</a:t>
            </a:r>
            <a:endParaRPr lang="en-US" sz="850" dirty="0"/>
          </a:p>
        </p:txBody>
      </p:sp>
      <p:sp>
        <p:nvSpPr>
          <p:cNvPr id="65" name="Text 63"/>
          <p:cNvSpPr/>
          <p:nvPr/>
        </p:nvSpPr>
        <p:spPr>
          <a:xfrm>
            <a:off x="6172200" y="6067044"/>
            <a:ext cx="2743200" cy="256032"/>
          </a:xfrm>
          <a:prstGeom prst="rect">
            <a:avLst/>
          </a:prstGeom>
          <a:noFill/>
          <a:ln/>
        </p:spPr>
        <p:txBody>
          <a:bodyPr wrap="square" lIns="0" tIns="0" rIns="0" bIns="0" rtlCol="0" anchor="ctr"/>
          <a:lstStyle/>
          <a:p>
            <a:pPr indent="0" marL="0">
              <a:buNone/>
            </a:pPr>
            <a:r>
              <a:rPr lang="en-US" sz="850" dirty="0">
                <a:solidFill>
                  <a:srgbClr val="C9DDB4"/>
                </a:solidFill>
                <a:latin typeface="Calibri" pitchFamily="34" charset="0"/>
                <a:ea typeface="Calibri" pitchFamily="34" charset="-122"/>
                <a:cs typeface="Calibri" pitchFamily="34" charset="-120"/>
              </a:rPr>
              <a:t>Huge gain over baseline</a:t>
            </a:r>
            <a:endParaRPr lang="en-US" sz="850" dirty="0"/>
          </a:p>
        </p:txBody>
      </p:sp>
      <p:sp>
        <p:nvSpPr>
          <p:cNvPr id="66" name="Text 64"/>
          <p:cNvSpPr/>
          <p:nvPr/>
        </p:nvSpPr>
        <p:spPr>
          <a:xfrm>
            <a:off x="9006840" y="6067044"/>
            <a:ext cx="2514600" cy="256032"/>
          </a:xfrm>
          <a:prstGeom prst="rect">
            <a:avLst/>
          </a:prstGeom>
          <a:noFill/>
          <a:ln/>
        </p:spPr>
        <p:txBody>
          <a:bodyPr wrap="square" lIns="0" tIns="0" rIns="0" bIns="0" rtlCol="0" anchor="ctr"/>
          <a:lstStyle/>
          <a:p>
            <a:pPr indent="0" marL="0">
              <a:buNone/>
            </a:pPr>
            <a:r>
              <a:rPr lang="en-US" sz="850" b="1" dirty="0">
                <a:solidFill>
                  <a:srgbClr val="8FB573"/>
                </a:solidFill>
                <a:latin typeface="Calibri" pitchFamily="34" charset="0"/>
                <a:ea typeface="Calibri" pitchFamily="34" charset="-122"/>
                <a:cs typeface="Calibri" pitchFamily="34" charset="-120"/>
              </a:rPr>
              <a:t>Baseline gets the same template and effort</a:t>
            </a:r>
            <a:endParaRPr lang="en-US" sz="850" dirty="0"/>
          </a:p>
        </p:txBody>
      </p:sp>
      <p:sp>
        <p:nvSpPr>
          <p:cNvPr id="67" name="Text 65"/>
          <p:cNvSpPr/>
          <p:nvPr/>
        </p:nvSpPr>
        <p:spPr>
          <a:xfrm>
            <a:off x="502920" y="6419088"/>
            <a:ext cx="11155680" cy="274320"/>
          </a:xfrm>
          <a:prstGeom prst="rect">
            <a:avLst/>
          </a:prstGeom>
          <a:noFill/>
          <a:ln/>
        </p:spPr>
        <p:txBody>
          <a:bodyPr wrap="square" lIns="0" tIns="0" rIns="0" bIns="0" rtlCol="0" anchor="ctr"/>
          <a:lstStyle/>
          <a:p>
            <a:pPr indent="0" marL="0">
              <a:buNone/>
            </a:pPr>
            <a:r>
              <a:rPr lang="en-US" sz="1050" i="1" dirty="0">
                <a:solidFill>
                  <a:srgbClr val="C9DDB4"/>
                </a:solidFill>
                <a:latin typeface="Calibri" pitchFamily="34" charset="0"/>
                <a:ea typeface="Calibri" pitchFamily="34" charset="-122"/>
                <a:cs typeface="Calibri" pitchFamily="34" charset="-120"/>
              </a:rPr>
              <a:t>The pattern is universal: every one makes a number rise. Only held-out pass@1, on a sealed set, is not fooled.</a:t>
            </a:r>
            <a:endParaRPr lang="en-US" sz="1050" dirty="0"/>
          </a:p>
        </p:txBody>
      </p:sp>
      <p:sp>
        <p:nvSpPr>
          <p:cNvPr id="68" name="Text 66"/>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186</a:t>
            </a:r>
            <a:endParaRPr lang="en-US" sz="9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SYNTHESIS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The general laws — what transfers to any domain</a:t>
            </a:r>
            <a:endParaRPr lang="en-US" sz="2900" dirty="0"/>
          </a:p>
        </p:txBody>
      </p:sp>
      <p:sp>
        <p:nvSpPr>
          <p:cNvPr id="4" name="Text 2"/>
          <p:cNvSpPr/>
          <p:nvPr/>
        </p:nvSpPr>
        <p:spPr>
          <a:xfrm>
            <a:off x="502920" y="1280160"/>
            <a:ext cx="411480" cy="274320"/>
          </a:xfrm>
          <a:prstGeom prst="rect">
            <a:avLst/>
          </a:prstGeom>
          <a:noFill/>
          <a:ln/>
        </p:spPr>
        <p:txBody>
          <a:bodyPr wrap="square" lIns="0" tIns="0" rIns="0" bIns="0" rtlCol="0" anchor="ctr"/>
          <a:lstStyle/>
          <a:p>
            <a:pPr indent="0" marL="0">
              <a:buNone/>
            </a:pPr>
            <a:r>
              <a:rPr lang="en-US" sz="1500" b="1" dirty="0">
                <a:solidFill>
                  <a:srgbClr val="8FB573"/>
                </a:solidFill>
                <a:latin typeface="Cambria" pitchFamily="34" charset="0"/>
                <a:ea typeface="Cambria" pitchFamily="34" charset="-122"/>
                <a:cs typeface="Cambria" pitchFamily="34" charset="-120"/>
              </a:rPr>
              <a:t>1.</a:t>
            </a:r>
            <a:endParaRPr lang="en-US" sz="1500" dirty="0"/>
          </a:p>
        </p:txBody>
      </p:sp>
      <p:sp>
        <p:nvSpPr>
          <p:cNvPr id="5" name="Text 3"/>
          <p:cNvSpPr/>
          <p:nvPr/>
        </p:nvSpPr>
        <p:spPr>
          <a:xfrm>
            <a:off x="960120" y="1280160"/>
            <a:ext cx="3474720" cy="274320"/>
          </a:xfrm>
          <a:prstGeom prst="rect">
            <a:avLst/>
          </a:prstGeom>
          <a:noFill/>
          <a:ln/>
        </p:spPr>
        <p:txBody>
          <a:bodyPr wrap="square" lIns="0" tIns="0" rIns="0" bIns="0" rtlCol="0" anchor="ctr"/>
          <a:lstStyle/>
          <a:p>
            <a:pPr indent="0" marL="0">
              <a:buNone/>
            </a:pPr>
            <a:r>
              <a:rPr lang="en-US" sz="1350" b="1" dirty="0">
                <a:solidFill>
                  <a:srgbClr val="16211B"/>
                </a:solidFill>
                <a:latin typeface="Cambria" pitchFamily="34" charset="0"/>
                <a:ea typeface="Cambria" pitchFamily="34" charset="-122"/>
                <a:cs typeface="Cambria" pitchFamily="34" charset="-120"/>
              </a:rPr>
              <a:t>Build the ruler first</a:t>
            </a:r>
            <a:endParaRPr lang="en-US" sz="1350" dirty="0"/>
          </a:p>
        </p:txBody>
      </p:sp>
      <p:sp>
        <p:nvSpPr>
          <p:cNvPr id="6" name="Text 4"/>
          <p:cNvSpPr/>
          <p:nvPr/>
        </p:nvSpPr>
        <p:spPr>
          <a:xfrm>
            <a:off x="4572000" y="1261872"/>
            <a:ext cx="7086600" cy="56692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Sandbox and eval before any gradient step. You cannot improve what you cannot measure, and you cannot measure with an instrument you have not tested.</a:t>
            </a:r>
            <a:endParaRPr lang="en-US" sz="1100" dirty="0"/>
          </a:p>
        </p:txBody>
      </p:sp>
      <p:sp>
        <p:nvSpPr>
          <p:cNvPr id="7" name="Text 5"/>
          <p:cNvSpPr/>
          <p:nvPr/>
        </p:nvSpPr>
        <p:spPr>
          <a:xfrm>
            <a:off x="502920" y="1828800"/>
            <a:ext cx="411480" cy="274320"/>
          </a:xfrm>
          <a:prstGeom prst="rect">
            <a:avLst/>
          </a:prstGeom>
          <a:noFill/>
          <a:ln/>
        </p:spPr>
        <p:txBody>
          <a:bodyPr wrap="square" lIns="0" tIns="0" rIns="0" bIns="0" rtlCol="0" anchor="ctr"/>
          <a:lstStyle/>
          <a:p>
            <a:pPr indent="0" marL="0">
              <a:buNone/>
            </a:pPr>
            <a:r>
              <a:rPr lang="en-US" sz="1500" b="1" dirty="0">
                <a:solidFill>
                  <a:srgbClr val="8FB573"/>
                </a:solidFill>
                <a:latin typeface="Cambria" pitchFamily="34" charset="0"/>
                <a:ea typeface="Cambria" pitchFamily="34" charset="-122"/>
                <a:cs typeface="Cambria" pitchFamily="34" charset="-120"/>
              </a:rPr>
              <a:t>2.</a:t>
            </a:r>
            <a:endParaRPr lang="en-US" sz="1500" dirty="0"/>
          </a:p>
        </p:txBody>
      </p:sp>
      <p:sp>
        <p:nvSpPr>
          <p:cNvPr id="8" name="Text 6"/>
          <p:cNvSpPr/>
          <p:nvPr/>
        </p:nvSpPr>
        <p:spPr>
          <a:xfrm>
            <a:off x="960120" y="1828800"/>
            <a:ext cx="3474720" cy="274320"/>
          </a:xfrm>
          <a:prstGeom prst="rect">
            <a:avLst/>
          </a:prstGeom>
          <a:noFill/>
          <a:ln/>
        </p:spPr>
        <p:txBody>
          <a:bodyPr wrap="square" lIns="0" tIns="0" rIns="0" bIns="0" rtlCol="0" anchor="ctr"/>
          <a:lstStyle/>
          <a:p>
            <a:pPr indent="0" marL="0">
              <a:buNone/>
            </a:pPr>
            <a:r>
              <a:rPr lang="en-US" sz="1350" b="1" dirty="0">
                <a:solidFill>
                  <a:srgbClr val="16211B"/>
                </a:solidFill>
                <a:latin typeface="Cambria" pitchFamily="34" charset="0"/>
                <a:ea typeface="Cambria" pitchFamily="34" charset="-122"/>
                <a:cs typeface="Cambria" pitchFamily="34" charset="-120"/>
              </a:rPr>
              <a:t>Data beats hyperparameters</a:t>
            </a:r>
            <a:endParaRPr lang="en-US" sz="1350" dirty="0"/>
          </a:p>
        </p:txBody>
      </p:sp>
      <p:sp>
        <p:nvSpPr>
          <p:cNvPr id="9" name="Text 7"/>
          <p:cNvSpPr/>
          <p:nvPr/>
        </p:nvSpPr>
        <p:spPr>
          <a:xfrm>
            <a:off x="4572000" y="1810512"/>
            <a:ext cx="7086600" cy="56692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Every time, by a wide margin. If you are tuning learning rates before you have deduplicated, you are optimizing the wrong variable.</a:t>
            </a:r>
            <a:endParaRPr lang="en-US" sz="1100" dirty="0"/>
          </a:p>
        </p:txBody>
      </p:sp>
      <p:sp>
        <p:nvSpPr>
          <p:cNvPr id="10" name="Text 8"/>
          <p:cNvSpPr/>
          <p:nvPr/>
        </p:nvSpPr>
        <p:spPr>
          <a:xfrm>
            <a:off x="502920" y="2377440"/>
            <a:ext cx="411480" cy="274320"/>
          </a:xfrm>
          <a:prstGeom prst="rect">
            <a:avLst/>
          </a:prstGeom>
          <a:noFill/>
          <a:ln/>
        </p:spPr>
        <p:txBody>
          <a:bodyPr wrap="square" lIns="0" tIns="0" rIns="0" bIns="0" rtlCol="0" anchor="ctr"/>
          <a:lstStyle/>
          <a:p>
            <a:pPr indent="0" marL="0">
              <a:buNone/>
            </a:pPr>
            <a:r>
              <a:rPr lang="en-US" sz="1500" b="1" dirty="0">
                <a:solidFill>
                  <a:srgbClr val="8FB573"/>
                </a:solidFill>
                <a:latin typeface="Cambria" pitchFamily="34" charset="0"/>
                <a:ea typeface="Cambria" pitchFamily="34" charset="-122"/>
                <a:cs typeface="Cambria" pitchFamily="34" charset="-120"/>
              </a:rPr>
              <a:t>3.</a:t>
            </a:r>
            <a:endParaRPr lang="en-US" sz="1500" dirty="0"/>
          </a:p>
        </p:txBody>
      </p:sp>
      <p:sp>
        <p:nvSpPr>
          <p:cNvPr id="11" name="Text 9"/>
          <p:cNvSpPr/>
          <p:nvPr/>
        </p:nvSpPr>
        <p:spPr>
          <a:xfrm>
            <a:off x="960120" y="2377440"/>
            <a:ext cx="3474720" cy="274320"/>
          </a:xfrm>
          <a:prstGeom prst="rect">
            <a:avLst/>
          </a:prstGeom>
          <a:noFill/>
          <a:ln/>
        </p:spPr>
        <p:txBody>
          <a:bodyPr wrap="square" lIns="0" tIns="0" rIns="0" bIns="0" rtlCol="0" anchor="ctr"/>
          <a:lstStyle/>
          <a:p>
            <a:pPr indent="0" marL="0">
              <a:buNone/>
            </a:pPr>
            <a:r>
              <a:rPr lang="en-US" sz="1350" b="1" dirty="0">
                <a:solidFill>
                  <a:srgbClr val="16211B"/>
                </a:solidFill>
                <a:latin typeface="Cambria" pitchFamily="34" charset="0"/>
                <a:ea typeface="Cambria" pitchFamily="34" charset="-122"/>
                <a:cs typeface="Cambria" pitchFamily="34" charset="-120"/>
              </a:rPr>
              <a:t>The metric is not the goal</a:t>
            </a:r>
            <a:endParaRPr lang="en-US" sz="1350" dirty="0"/>
          </a:p>
        </p:txBody>
      </p:sp>
      <p:sp>
        <p:nvSpPr>
          <p:cNvPr id="12" name="Text 10"/>
          <p:cNvSpPr/>
          <p:nvPr/>
        </p:nvSpPr>
        <p:spPr>
          <a:xfrm>
            <a:off x="4572000" y="2359152"/>
            <a:ext cx="7086600" cy="56692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Loss proxies capability. Reward proxies capability. Both diverge from it under optimization pressure — and optimization pressure is exactly what you are applying.</a:t>
            </a:r>
            <a:endParaRPr lang="en-US" sz="1100" dirty="0"/>
          </a:p>
        </p:txBody>
      </p:sp>
      <p:sp>
        <p:nvSpPr>
          <p:cNvPr id="13" name="Text 11"/>
          <p:cNvSpPr/>
          <p:nvPr/>
        </p:nvSpPr>
        <p:spPr>
          <a:xfrm>
            <a:off x="502920" y="2926080"/>
            <a:ext cx="411480" cy="274320"/>
          </a:xfrm>
          <a:prstGeom prst="rect">
            <a:avLst/>
          </a:prstGeom>
          <a:noFill/>
          <a:ln/>
        </p:spPr>
        <p:txBody>
          <a:bodyPr wrap="square" lIns="0" tIns="0" rIns="0" bIns="0" rtlCol="0" anchor="ctr"/>
          <a:lstStyle/>
          <a:p>
            <a:pPr indent="0" marL="0">
              <a:buNone/>
            </a:pPr>
            <a:r>
              <a:rPr lang="en-US" sz="1500" b="1" dirty="0">
                <a:solidFill>
                  <a:srgbClr val="8FB573"/>
                </a:solidFill>
                <a:latin typeface="Cambria" pitchFamily="34" charset="0"/>
                <a:ea typeface="Cambria" pitchFamily="34" charset="-122"/>
                <a:cs typeface="Cambria" pitchFamily="34" charset="-120"/>
              </a:rPr>
              <a:t>4.</a:t>
            </a:r>
            <a:endParaRPr lang="en-US" sz="1500" dirty="0"/>
          </a:p>
        </p:txBody>
      </p:sp>
      <p:sp>
        <p:nvSpPr>
          <p:cNvPr id="14" name="Text 12"/>
          <p:cNvSpPr/>
          <p:nvPr/>
        </p:nvSpPr>
        <p:spPr>
          <a:xfrm>
            <a:off x="960120" y="2926080"/>
            <a:ext cx="3474720" cy="274320"/>
          </a:xfrm>
          <a:prstGeom prst="rect">
            <a:avLst/>
          </a:prstGeom>
          <a:noFill/>
          <a:ln/>
        </p:spPr>
        <p:txBody>
          <a:bodyPr wrap="square" lIns="0" tIns="0" rIns="0" bIns="0" rtlCol="0" anchor="ctr"/>
          <a:lstStyle/>
          <a:p>
            <a:pPr indent="0" marL="0">
              <a:buNone/>
            </a:pPr>
            <a:r>
              <a:rPr lang="en-US" sz="1350" b="1" dirty="0">
                <a:solidFill>
                  <a:srgbClr val="16211B"/>
                </a:solidFill>
                <a:latin typeface="Cambria" pitchFamily="34" charset="0"/>
                <a:ea typeface="Cambria" pitchFamily="34" charset="-122"/>
                <a:cs typeface="Cambria" pitchFamily="34" charset="-120"/>
              </a:rPr>
              <a:t>Read your samples</a:t>
            </a:r>
            <a:endParaRPr lang="en-US" sz="1350" dirty="0"/>
          </a:p>
        </p:txBody>
      </p:sp>
      <p:sp>
        <p:nvSpPr>
          <p:cNvPr id="15" name="Text 13"/>
          <p:cNvSpPr/>
          <p:nvPr/>
        </p:nvSpPr>
        <p:spPr>
          <a:xfrm>
            <a:off x="4572000" y="2907792"/>
            <a:ext cx="7086600" cy="56692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Every failure mode in this deck is invisible in aggregate metrics and obvious in twenty rollouts. Make samples easy to look at, then look at them.</a:t>
            </a:r>
            <a:endParaRPr lang="en-US" sz="1100" dirty="0"/>
          </a:p>
        </p:txBody>
      </p:sp>
      <p:sp>
        <p:nvSpPr>
          <p:cNvPr id="16" name="Text 14"/>
          <p:cNvSpPr/>
          <p:nvPr/>
        </p:nvSpPr>
        <p:spPr>
          <a:xfrm>
            <a:off x="502920" y="3474720"/>
            <a:ext cx="411480" cy="274320"/>
          </a:xfrm>
          <a:prstGeom prst="rect">
            <a:avLst/>
          </a:prstGeom>
          <a:noFill/>
          <a:ln/>
        </p:spPr>
        <p:txBody>
          <a:bodyPr wrap="square" lIns="0" tIns="0" rIns="0" bIns="0" rtlCol="0" anchor="ctr"/>
          <a:lstStyle/>
          <a:p>
            <a:pPr indent="0" marL="0">
              <a:buNone/>
            </a:pPr>
            <a:r>
              <a:rPr lang="en-US" sz="1500" b="1" dirty="0">
                <a:solidFill>
                  <a:srgbClr val="8FB573"/>
                </a:solidFill>
                <a:latin typeface="Cambria" pitchFamily="34" charset="0"/>
                <a:ea typeface="Cambria" pitchFamily="34" charset="-122"/>
                <a:cs typeface="Cambria" pitchFamily="34" charset="-120"/>
              </a:rPr>
              <a:t>5.</a:t>
            </a:r>
            <a:endParaRPr lang="en-US" sz="1500" dirty="0"/>
          </a:p>
        </p:txBody>
      </p:sp>
      <p:sp>
        <p:nvSpPr>
          <p:cNvPr id="17" name="Text 15"/>
          <p:cNvSpPr/>
          <p:nvPr/>
        </p:nvSpPr>
        <p:spPr>
          <a:xfrm>
            <a:off x="960120" y="3474720"/>
            <a:ext cx="3474720" cy="274320"/>
          </a:xfrm>
          <a:prstGeom prst="rect">
            <a:avLst/>
          </a:prstGeom>
          <a:noFill/>
          <a:ln/>
        </p:spPr>
        <p:txBody>
          <a:bodyPr wrap="square" lIns="0" tIns="0" rIns="0" bIns="0" rtlCol="0" anchor="ctr"/>
          <a:lstStyle/>
          <a:p>
            <a:pPr indent="0" marL="0">
              <a:buNone/>
            </a:pPr>
            <a:r>
              <a:rPr lang="en-US" sz="1350" b="1" dirty="0">
                <a:solidFill>
                  <a:srgbClr val="16211B"/>
                </a:solidFill>
                <a:latin typeface="Cambria" pitchFamily="34" charset="0"/>
                <a:ea typeface="Cambria" pitchFamily="34" charset="-122"/>
                <a:cs typeface="Cambria" pitchFamily="34" charset="-120"/>
              </a:rPr>
              <a:t>Small and fast wins</a:t>
            </a:r>
            <a:endParaRPr lang="en-US" sz="1350" dirty="0"/>
          </a:p>
        </p:txBody>
      </p:sp>
      <p:sp>
        <p:nvSpPr>
          <p:cNvPr id="18" name="Text 16"/>
          <p:cNvSpPr/>
          <p:nvPr/>
        </p:nvSpPr>
        <p:spPr>
          <a:xfrm>
            <a:off x="4572000" y="3456432"/>
            <a:ext cx="7086600" cy="56692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Experiments per week determines how fast you learn. Optimize for loop speed over model size until the loop is boring.</a:t>
            </a:r>
            <a:endParaRPr lang="en-US" sz="1100" dirty="0"/>
          </a:p>
        </p:txBody>
      </p:sp>
      <p:sp>
        <p:nvSpPr>
          <p:cNvPr id="19" name="Text 17"/>
          <p:cNvSpPr/>
          <p:nvPr/>
        </p:nvSpPr>
        <p:spPr>
          <a:xfrm>
            <a:off x="502920" y="4023360"/>
            <a:ext cx="411480" cy="274320"/>
          </a:xfrm>
          <a:prstGeom prst="rect">
            <a:avLst/>
          </a:prstGeom>
          <a:noFill/>
          <a:ln/>
        </p:spPr>
        <p:txBody>
          <a:bodyPr wrap="square" lIns="0" tIns="0" rIns="0" bIns="0" rtlCol="0" anchor="ctr"/>
          <a:lstStyle/>
          <a:p>
            <a:pPr indent="0" marL="0">
              <a:buNone/>
            </a:pPr>
            <a:r>
              <a:rPr lang="en-US" sz="1500" b="1" dirty="0">
                <a:solidFill>
                  <a:srgbClr val="8FB573"/>
                </a:solidFill>
                <a:latin typeface="Cambria" pitchFamily="34" charset="0"/>
                <a:ea typeface="Cambria" pitchFamily="34" charset="-122"/>
                <a:cs typeface="Cambria" pitchFamily="34" charset="-120"/>
              </a:rPr>
              <a:t>6.</a:t>
            </a:r>
            <a:endParaRPr lang="en-US" sz="1500" dirty="0"/>
          </a:p>
        </p:txBody>
      </p:sp>
      <p:sp>
        <p:nvSpPr>
          <p:cNvPr id="20" name="Text 18"/>
          <p:cNvSpPr/>
          <p:nvPr/>
        </p:nvSpPr>
        <p:spPr>
          <a:xfrm>
            <a:off x="960120" y="4023360"/>
            <a:ext cx="3474720" cy="274320"/>
          </a:xfrm>
          <a:prstGeom prst="rect">
            <a:avLst/>
          </a:prstGeom>
          <a:noFill/>
          <a:ln/>
        </p:spPr>
        <p:txBody>
          <a:bodyPr wrap="square" lIns="0" tIns="0" rIns="0" bIns="0" rtlCol="0" anchor="ctr"/>
          <a:lstStyle/>
          <a:p>
            <a:pPr indent="0" marL="0">
              <a:buNone/>
            </a:pPr>
            <a:r>
              <a:rPr lang="en-US" sz="1350" b="1" dirty="0">
                <a:solidFill>
                  <a:srgbClr val="16211B"/>
                </a:solidFill>
                <a:latin typeface="Cambria" pitchFamily="34" charset="0"/>
                <a:ea typeface="Cambria" pitchFamily="34" charset="-122"/>
                <a:cs typeface="Cambria" pitchFamily="34" charset="-120"/>
              </a:rPr>
              <a:t>Verifiable rewards changed everything</a:t>
            </a:r>
            <a:endParaRPr lang="en-US" sz="1350" dirty="0"/>
          </a:p>
        </p:txBody>
      </p:sp>
      <p:sp>
        <p:nvSpPr>
          <p:cNvPr id="21" name="Text 19"/>
          <p:cNvSpPr/>
          <p:nvPr/>
        </p:nvSpPr>
        <p:spPr>
          <a:xfrm>
            <a:off x="4572000" y="4005072"/>
            <a:ext cx="7086600" cy="56692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Wherever an answer can be checked mechanically, you can train on it. Finding that verifier is the real design work in any new domain.</a:t>
            </a:r>
            <a:endParaRPr lang="en-US" sz="1100" dirty="0"/>
          </a:p>
        </p:txBody>
      </p:sp>
      <p:sp>
        <p:nvSpPr>
          <p:cNvPr id="22" name="Text 20"/>
          <p:cNvSpPr/>
          <p:nvPr/>
        </p:nvSpPr>
        <p:spPr>
          <a:xfrm>
            <a:off x="502920" y="4572000"/>
            <a:ext cx="411480" cy="274320"/>
          </a:xfrm>
          <a:prstGeom prst="rect">
            <a:avLst/>
          </a:prstGeom>
          <a:noFill/>
          <a:ln/>
        </p:spPr>
        <p:txBody>
          <a:bodyPr wrap="square" lIns="0" tIns="0" rIns="0" bIns="0" rtlCol="0" anchor="ctr"/>
          <a:lstStyle/>
          <a:p>
            <a:pPr indent="0" marL="0">
              <a:buNone/>
            </a:pPr>
            <a:r>
              <a:rPr lang="en-US" sz="1500" b="1" dirty="0">
                <a:solidFill>
                  <a:srgbClr val="8FB573"/>
                </a:solidFill>
                <a:latin typeface="Cambria" pitchFamily="34" charset="0"/>
                <a:ea typeface="Cambria" pitchFamily="34" charset="-122"/>
                <a:cs typeface="Cambria" pitchFamily="34" charset="-120"/>
              </a:rPr>
              <a:t>7.</a:t>
            </a:r>
            <a:endParaRPr lang="en-US" sz="1500" dirty="0"/>
          </a:p>
        </p:txBody>
      </p:sp>
      <p:sp>
        <p:nvSpPr>
          <p:cNvPr id="23" name="Text 21"/>
          <p:cNvSpPr/>
          <p:nvPr/>
        </p:nvSpPr>
        <p:spPr>
          <a:xfrm>
            <a:off x="960120" y="4572000"/>
            <a:ext cx="3474720" cy="274320"/>
          </a:xfrm>
          <a:prstGeom prst="rect">
            <a:avLst/>
          </a:prstGeom>
          <a:noFill/>
          <a:ln/>
        </p:spPr>
        <p:txBody>
          <a:bodyPr wrap="square" lIns="0" tIns="0" rIns="0" bIns="0" rtlCol="0" anchor="ctr"/>
          <a:lstStyle/>
          <a:p>
            <a:pPr indent="0" marL="0">
              <a:buNone/>
            </a:pPr>
            <a:r>
              <a:rPr lang="en-US" sz="1350" b="1" dirty="0">
                <a:solidFill>
                  <a:srgbClr val="16211B"/>
                </a:solidFill>
                <a:latin typeface="Cambria" pitchFamily="34" charset="0"/>
                <a:ea typeface="Cambria" pitchFamily="34" charset="-122"/>
                <a:cs typeface="Cambria" pitchFamily="34" charset="-120"/>
              </a:rPr>
              <a:t>Every reward term is an attack surface</a:t>
            </a:r>
            <a:endParaRPr lang="en-US" sz="1350" dirty="0"/>
          </a:p>
        </p:txBody>
      </p:sp>
      <p:sp>
        <p:nvSpPr>
          <p:cNvPr id="24" name="Text 22"/>
          <p:cNvSpPr/>
          <p:nvPr/>
        </p:nvSpPr>
        <p:spPr>
          <a:xfrm>
            <a:off x="4572000" y="4553712"/>
            <a:ext cx="7086600" cy="56692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The model will find what you actually rewarded, not what you meant. Assume it, and build the detection before the run.</a:t>
            </a:r>
            <a:endParaRPr lang="en-US" sz="1100" dirty="0"/>
          </a:p>
        </p:txBody>
      </p:sp>
      <p:sp>
        <p:nvSpPr>
          <p:cNvPr id="25" name="Text 23"/>
          <p:cNvSpPr/>
          <p:nvPr/>
        </p:nvSpPr>
        <p:spPr>
          <a:xfrm>
            <a:off x="502920" y="5120640"/>
            <a:ext cx="411480" cy="274320"/>
          </a:xfrm>
          <a:prstGeom prst="rect">
            <a:avLst/>
          </a:prstGeom>
          <a:noFill/>
          <a:ln/>
        </p:spPr>
        <p:txBody>
          <a:bodyPr wrap="square" lIns="0" tIns="0" rIns="0" bIns="0" rtlCol="0" anchor="ctr"/>
          <a:lstStyle/>
          <a:p>
            <a:pPr indent="0" marL="0">
              <a:buNone/>
            </a:pPr>
            <a:r>
              <a:rPr lang="en-US" sz="1500" b="1" dirty="0">
                <a:solidFill>
                  <a:srgbClr val="8FB573"/>
                </a:solidFill>
                <a:latin typeface="Cambria" pitchFamily="34" charset="0"/>
                <a:ea typeface="Cambria" pitchFamily="34" charset="-122"/>
                <a:cs typeface="Cambria" pitchFamily="34" charset="-120"/>
              </a:rPr>
              <a:t>8.</a:t>
            </a:r>
            <a:endParaRPr lang="en-US" sz="1500" dirty="0"/>
          </a:p>
        </p:txBody>
      </p:sp>
      <p:sp>
        <p:nvSpPr>
          <p:cNvPr id="26" name="Text 24"/>
          <p:cNvSpPr/>
          <p:nvPr/>
        </p:nvSpPr>
        <p:spPr>
          <a:xfrm>
            <a:off x="960120" y="5120640"/>
            <a:ext cx="3474720" cy="274320"/>
          </a:xfrm>
          <a:prstGeom prst="rect">
            <a:avLst/>
          </a:prstGeom>
          <a:noFill/>
          <a:ln/>
        </p:spPr>
        <p:txBody>
          <a:bodyPr wrap="square" lIns="0" tIns="0" rIns="0" bIns="0" rtlCol="0" anchor="ctr"/>
          <a:lstStyle/>
          <a:p>
            <a:pPr indent="0" marL="0">
              <a:buNone/>
            </a:pPr>
            <a:r>
              <a:rPr lang="en-US" sz="1350" b="1" dirty="0">
                <a:solidFill>
                  <a:srgbClr val="16211B"/>
                </a:solidFill>
                <a:latin typeface="Cambria" pitchFamily="34" charset="0"/>
                <a:ea typeface="Cambria" pitchFamily="34" charset="-122"/>
                <a:cs typeface="Cambria" pitchFamily="34" charset="-120"/>
              </a:rPr>
              <a:t>Three seeds or it did not happen</a:t>
            </a:r>
            <a:endParaRPr lang="en-US" sz="1350" dirty="0"/>
          </a:p>
        </p:txBody>
      </p:sp>
      <p:sp>
        <p:nvSpPr>
          <p:cNvPr id="27" name="Text 25"/>
          <p:cNvSpPr/>
          <p:nvPr/>
        </p:nvSpPr>
        <p:spPr>
          <a:xfrm>
            <a:off x="4572000" y="5102352"/>
            <a:ext cx="7086600" cy="56692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Most reported improvements are noise. This one habit eliminates more wasted work than any other.</a:t>
            </a:r>
            <a:endParaRPr lang="en-US" sz="1100" dirty="0"/>
          </a:p>
        </p:txBody>
      </p:sp>
      <p:sp>
        <p:nvSpPr>
          <p:cNvPr id="28" name="Text 26"/>
          <p:cNvSpPr/>
          <p:nvPr/>
        </p:nvSpPr>
        <p:spPr>
          <a:xfrm>
            <a:off x="502920" y="5669280"/>
            <a:ext cx="411480" cy="274320"/>
          </a:xfrm>
          <a:prstGeom prst="rect">
            <a:avLst/>
          </a:prstGeom>
          <a:noFill/>
          <a:ln/>
        </p:spPr>
        <p:txBody>
          <a:bodyPr wrap="square" lIns="0" tIns="0" rIns="0" bIns="0" rtlCol="0" anchor="ctr"/>
          <a:lstStyle/>
          <a:p>
            <a:pPr indent="0" marL="0">
              <a:buNone/>
            </a:pPr>
            <a:r>
              <a:rPr lang="en-US" sz="1500" b="1" dirty="0">
                <a:solidFill>
                  <a:srgbClr val="8FB573"/>
                </a:solidFill>
                <a:latin typeface="Cambria" pitchFamily="34" charset="0"/>
                <a:ea typeface="Cambria" pitchFamily="34" charset="-122"/>
                <a:cs typeface="Cambria" pitchFamily="34" charset="-120"/>
              </a:rPr>
              <a:t>9.</a:t>
            </a:r>
            <a:endParaRPr lang="en-US" sz="1500" dirty="0"/>
          </a:p>
        </p:txBody>
      </p:sp>
      <p:sp>
        <p:nvSpPr>
          <p:cNvPr id="29" name="Text 27"/>
          <p:cNvSpPr/>
          <p:nvPr/>
        </p:nvSpPr>
        <p:spPr>
          <a:xfrm>
            <a:off x="960120" y="5669280"/>
            <a:ext cx="3474720" cy="274320"/>
          </a:xfrm>
          <a:prstGeom prst="rect">
            <a:avLst/>
          </a:prstGeom>
          <a:noFill/>
          <a:ln/>
        </p:spPr>
        <p:txBody>
          <a:bodyPr wrap="square" lIns="0" tIns="0" rIns="0" bIns="0" rtlCol="0" anchor="ctr"/>
          <a:lstStyle/>
          <a:p>
            <a:pPr indent="0" marL="0">
              <a:buNone/>
            </a:pPr>
            <a:r>
              <a:rPr lang="en-US" sz="1350" b="1" dirty="0">
                <a:solidFill>
                  <a:srgbClr val="16211B"/>
                </a:solidFill>
                <a:latin typeface="Cambria" pitchFamily="34" charset="0"/>
                <a:ea typeface="Cambria" pitchFamily="34" charset="-122"/>
                <a:cs typeface="Cambria" pitchFamily="34" charset="-120"/>
              </a:rPr>
              <a:t>Order is not negotiable</a:t>
            </a:r>
            <a:endParaRPr lang="en-US" sz="1350" dirty="0"/>
          </a:p>
        </p:txBody>
      </p:sp>
      <p:sp>
        <p:nvSpPr>
          <p:cNvPr id="30" name="Text 28"/>
          <p:cNvSpPr/>
          <p:nvPr/>
        </p:nvSpPr>
        <p:spPr>
          <a:xfrm>
            <a:off x="4572000" y="5650992"/>
            <a:ext cx="7086600" cy="566928"/>
          </a:xfrm>
          <a:prstGeom prst="rect">
            <a:avLst/>
          </a:prstGeom>
          <a:noFill/>
          <a:ln/>
        </p:spPr>
        <p:txBody>
          <a:bodyPr wrap="square" lIns="0" tIns="0" rIns="0" bIns="0" rtlCol="0" anchor="t"/>
          <a:lstStyle/>
          <a:p>
            <a:pPr indent="0" marL="0">
              <a:buNone/>
            </a:pPr>
            <a:r>
              <a:rPr lang="en-US" sz="1100" dirty="0">
                <a:solidFill>
                  <a:srgbClr val="6B7A70"/>
                </a:solidFill>
                <a:latin typeface="Calibri" pitchFamily="34" charset="0"/>
                <a:ea typeface="Calibri" pitchFamily="34" charset="-122"/>
                <a:cs typeface="Calibri" pitchFamily="34" charset="-120"/>
              </a:rPr>
              <a:t>Decontaminate before dedup. Dedup before split. Eval before train. Data before hyperparameters. Getting the order wrong invalidates results silently.</a:t>
            </a:r>
            <a:endParaRPr lang="en-US" sz="1100" dirty="0"/>
          </a:p>
        </p:txBody>
      </p:sp>
      <p:sp>
        <p:nvSpPr>
          <p:cNvPr id="31" name="Text 29"/>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187</a:t>
            </a:r>
            <a:endParaRPr lang="en-US" sz="95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SYNTHESIS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A twelve-week schedule</a:t>
            </a:r>
            <a:endParaRPr lang="en-US" sz="2900" dirty="0"/>
          </a:p>
        </p:txBody>
      </p:sp>
      <p:sp>
        <p:nvSpPr>
          <p:cNvPr id="4" name="Text 2"/>
          <p:cNvSpPr/>
          <p:nvPr/>
        </p:nvSpPr>
        <p:spPr>
          <a:xfrm>
            <a:off x="502920" y="1042416"/>
            <a:ext cx="11155680" cy="310896"/>
          </a:xfrm>
          <a:prstGeom prst="rect">
            <a:avLst/>
          </a:prstGeom>
          <a:noFill/>
          <a:ln/>
        </p:spPr>
        <p:txBody>
          <a:bodyPr wrap="square" lIns="0" tIns="0" rIns="0" bIns="0" rtlCol="0" anchor="ctr"/>
          <a:lstStyle/>
          <a:p>
            <a:pPr indent="0" marL="0">
              <a:buNone/>
            </a:pPr>
            <a:r>
              <a:rPr lang="en-US" sz="1300" i="1" dirty="0">
                <a:solidFill>
                  <a:srgbClr val="6B7A70"/>
                </a:solidFill>
                <a:latin typeface="Calibri" pitchFamily="34" charset="0"/>
                <a:ea typeface="Calibri" pitchFamily="34" charset="-122"/>
                <a:cs typeface="Calibri" pitchFamily="34" charset="-120"/>
              </a:rPr>
              <a:t>Assumes evenings and weekends, not full time. Compress freely if you have more hours.</a:t>
            </a:r>
            <a:endParaRPr lang="en-US" sz="1300" dirty="0"/>
          </a:p>
        </p:txBody>
      </p:sp>
      <p:graphicFrame>
        <p:nvGraphicFramePr>
          <p:cNvPr id="189"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55680" cy="914400"/>
        </p:xfrm>
        <a:graphic>
          <a:graphicData uri="http://schemas.openxmlformats.org/drawingml/2006/table">
            <a:tbl>
              <a:tblPr/>
              <a:tblGrid>
                <a:gridCol w="914400"/>
                <a:gridCol w="2377440"/>
                <a:gridCol w="4572000"/>
                <a:gridCol w="329184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Week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Phase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Deliverable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Gate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Setup + Model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Both environments working; base model loads and generates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All smoke tests pass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Sandbox</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executor.py + adversarial suite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Survives all 12 adversarial tests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Eval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harness.py + baseline table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Reproducible pass@1 ± std, 3 seeds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Curated, deduped, decontaminated v1</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Curated-10k beats raw-100k</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SFT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First fine-tuned adapter</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Beats baseline across 3 seeds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SFT ablations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Rank, LR, epochs, mixture swept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You can explain each result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RFT</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Rejection-sampled dataset + model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Beats SFT; difficulty distribution healthy</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DPO</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Preference-optimized model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Beats RFT; output length tracked</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10–11</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GRPO</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RLVR model + reward-hack log</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Two documented hacks with fixes</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84048">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12</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Repair + Merge + Serve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Quantized on-device model</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50" dirty="0">
                          <a:solidFill>
                            <a:srgbClr val="16211B"/>
                          </a:solidFill>
                          <a:latin typeface="Calibri" pitchFamily="34" charset="0"/>
                          <a:ea typeface="Calibri" pitchFamily="34" charset="-122"/>
                          <a:cs typeface="Calibri" pitchFamily="34" charset="-120"/>
                        </a:rPr>
                        <a:t>Runs in your editor; sealed test opened once</a:t>
                      </a:r>
                      <a:endParaRPr lang="en-US" sz="105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6" name="Shape 3"/>
          <p:cNvSpPr/>
          <p:nvPr/>
        </p:nvSpPr>
        <p:spPr>
          <a:xfrm>
            <a:off x="502920" y="5532120"/>
            <a:ext cx="11155680" cy="566928"/>
          </a:xfrm>
          <a:prstGeom prst="roundRect">
            <a:avLst>
              <a:gd name="adj" fmla="val 9677"/>
            </a:avLst>
          </a:prstGeom>
          <a:solidFill>
            <a:srgbClr val="D98E32"/>
          </a:solidFill>
          <a:ln/>
        </p:spPr>
      </p:sp>
      <p:sp>
        <p:nvSpPr>
          <p:cNvPr id="7" name="Text 4"/>
          <p:cNvSpPr/>
          <p:nvPr/>
        </p:nvSpPr>
        <p:spPr>
          <a:xfrm>
            <a:off x="777240" y="553212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If a week slips, cut ablations — never cut the eval harness or the data phase. Those two carry everything else.</a:t>
            </a:r>
            <a:endParaRPr lang="en-US" sz="1450" dirty="0"/>
          </a:p>
        </p:txBody>
      </p:sp>
      <p:sp>
        <p:nvSpPr>
          <p:cNvPr id="8" name="Text 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188</a:t>
            </a:r>
            <a:endParaRPr lang="en-US" sz="95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SYNTHESIS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What to do first tomorrow</a:t>
            </a:r>
            <a:endParaRPr lang="en-US" sz="2900" dirty="0"/>
          </a:p>
        </p:txBody>
      </p:sp>
      <p:sp>
        <p:nvSpPr>
          <p:cNvPr id="4" name="Shape 2"/>
          <p:cNvSpPr/>
          <p:nvPr/>
        </p:nvSpPr>
        <p:spPr>
          <a:xfrm>
            <a:off x="502920" y="128016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5" name="Shape 3"/>
          <p:cNvSpPr/>
          <p:nvPr/>
        </p:nvSpPr>
        <p:spPr>
          <a:xfrm>
            <a:off x="749808" y="1412748"/>
            <a:ext cx="402336" cy="402336"/>
          </a:xfrm>
          <a:prstGeom prst="ellipse">
            <a:avLst/>
          </a:prstGeom>
          <a:solidFill>
            <a:srgbClr val="8FB573"/>
          </a:solidFill>
          <a:ln/>
        </p:spPr>
      </p:sp>
      <p:sp>
        <p:nvSpPr>
          <p:cNvPr id="6" name="Text 4"/>
          <p:cNvSpPr/>
          <p:nvPr/>
        </p:nvSpPr>
        <p:spPr>
          <a:xfrm>
            <a:off x="749808" y="141274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16736" y="14081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Create the repo and the directory structure</a:t>
            </a:r>
            <a:endParaRPr lang="en-US" sz="1300" dirty="0"/>
          </a:p>
        </p:txBody>
      </p:sp>
      <p:sp>
        <p:nvSpPr>
          <p:cNvPr id="8" name="Text 6"/>
          <p:cNvSpPr/>
          <p:nvPr/>
        </p:nvSpPr>
        <p:spPr>
          <a:xfrm>
            <a:off x="1316736" y="1700784"/>
            <a:ext cx="10058400" cy="1554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Twenty minutes. data/ src/ configs/ results/ checkpoints/. Commit the empty structure so the shape exists before the content.</a:t>
            </a:r>
            <a:endParaRPr lang="en-US" sz="1150" dirty="0"/>
          </a:p>
        </p:txBody>
      </p:sp>
      <p:sp>
        <p:nvSpPr>
          <p:cNvPr id="9" name="Shape 7"/>
          <p:cNvSpPr/>
          <p:nvPr/>
        </p:nvSpPr>
        <p:spPr>
          <a:xfrm>
            <a:off x="502920" y="205740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0" name="Shape 8"/>
          <p:cNvSpPr/>
          <p:nvPr/>
        </p:nvSpPr>
        <p:spPr>
          <a:xfrm>
            <a:off x="749808" y="2189988"/>
            <a:ext cx="402336" cy="402336"/>
          </a:xfrm>
          <a:prstGeom prst="ellipse">
            <a:avLst/>
          </a:prstGeom>
          <a:solidFill>
            <a:srgbClr val="8FB573"/>
          </a:solidFill>
          <a:ln/>
        </p:spPr>
      </p:sp>
      <p:sp>
        <p:nvSpPr>
          <p:cNvPr id="11" name="Text 9"/>
          <p:cNvSpPr/>
          <p:nvPr/>
        </p:nvSpPr>
        <p:spPr>
          <a:xfrm>
            <a:off x="749808" y="218998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316736" y="218541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Set HF_HOME before you download anything</a:t>
            </a:r>
            <a:endParaRPr lang="en-US" sz="1300" dirty="0"/>
          </a:p>
        </p:txBody>
      </p:sp>
      <p:sp>
        <p:nvSpPr>
          <p:cNvPr id="13" name="Text 11"/>
          <p:cNvSpPr/>
          <p:nvPr/>
        </p:nvSpPr>
        <p:spPr>
          <a:xfrm>
            <a:off x="1316736" y="2478024"/>
            <a:ext cx="10058400" cy="1554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One line in your shell profile. This is the single cheapest mistake to avoid and it is unfixable in hindsight without re-downloading everything.</a:t>
            </a:r>
            <a:endParaRPr lang="en-US" sz="1150" dirty="0"/>
          </a:p>
        </p:txBody>
      </p:sp>
      <p:sp>
        <p:nvSpPr>
          <p:cNvPr id="14" name="Shape 12"/>
          <p:cNvSpPr/>
          <p:nvPr/>
        </p:nvSpPr>
        <p:spPr>
          <a:xfrm>
            <a:off x="502920" y="283464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15" name="Shape 13"/>
          <p:cNvSpPr/>
          <p:nvPr/>
        </p:nvSpPr>
        <p:spPr>
          <a:xfrm>
            <a:off x="749808" y="2967228"/>
            <a:ext cx="402336" cy="402336"/>
          </a:xfrm>
          <a:prstGeom prst="ellipse">
            <a:avLst/>
          </a:prstGeom>
          <a:solidFill>
            <a:srgbClr val="8FB573"/>
          </a:solidFill>
          <a:ln/>
        </p:spPr>
      </p:sp>
      <p:sp>
        <p:nvSpPr>
          <p:cNvPr id="16" name="Text 14"/>
          <p:cNvSpPr/>
          <p:nvPr/>
        </p:nvSpPr>
        <p:spPr>
          <a:xfrm>
            <a:off x="749808" y="296722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316736" y="296265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Get both environments to pass their smoke tests</a:t>
            </a:r>
            <a:endParaRPr lang="en-US" sz="1300" dirty="0"/>
          </a:p>
        </p:txBody>
      </p:sp>
      <p:sp>
        <p:nvSpPr>
          <p:cNvPr id="18" name="Text 16"/>
          <p:cNvSpPr/>
          <p:nvPr/>
        </p:nvSpPr>
        <p:spPr>
          <a:xfrm>
            <a:off x="1316736" y="3255264"/>
            <a:ext cx="10058400" cy="1554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torch.cuda.is_available() on the Asus, MLX generating on the Mac. Do not proceed until both are green.</a:t>
            </a:r>
            <a:endParaRPr lang="en-US" sz="1150" dirty="0"/>
          </a:p>
        </p:txBody>
      </p:sp>
      <p:sp>
        <p:nvSpPr>
          <p:cNvPr id="19" name="Shape 17"/>
          <p:cNvSpPr/>
          <p:nvPr/>
        </p:nvSpPr>
        <p:spPr>
          <a:xfrm>
            <a:off x="502920" y="361188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0" name="Shape 18"/>
          <p:cNvSpPr/>
          <p:nvPr/>
        </p:nvSpPr>
        <p:spPr>
          <a:xfrm>
            <a:off x="749808" y="3744468"/>
            <a:ext cx="402336" cy="402336"/>
          </a:xfrm>
          <a:prstGeom prst="ellipse">
            <a:avLst/>
          </a:prstGeom>
          <a:solidFill>
            <a:srgbClr val="8FB573"/>
          </a:solidFill>
          <a:ln/>
        </p:spPr>
      </p:sp>
      <p:sp>
        <p:nvSpPr>
          <p:cNvPr id="21" name="Text 19"/>
          <p:cNvSpPr/>
          <p:nvPr/>
        </p:nvSpPr>
        <p:spPr>
          <a:xfrm>
            <a:off x="749808" y="374446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316736" y="373989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Write executor.py and its adversarial test suite</a:t>
            </a:r>
            <a:endParaRPr lang="en-US" sz="1300" dirty="0"/>
          </a:p>
        </p:txBody>
      </p:sp>
      <p:sp>
        <p:nvSpPr>
          <p:cNvPr id="23" name="Text 21"/>
          <p:cNvSpPr/>
          <p:nvPr/>
        </p:nvSpPr>
        <p:spPr>
          <a:xfrm>
            <a:off x="1316736" y="4032504"/>
            <a:ext cx="10058400" cy="1554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Before any model code. This is the trust boundary and it becomes your reward function. It is the most reused file in the project.</a:t>
            </a:r>
            <a:endParaRPr lang="en-US" sz="1150" dirty="0"/>
          </a:p>
        </p:txBody>
      </p:sp>
      <p:sp>
        <p:nvSpPr>
          <p:cNvPr id="24" name="Shape 22"/>
          <p:cNvSpPr/>
          <p:nvPr/>
        </p:nvSpPr>
        <p:spPr>
          <a:xfrm>
            <a:off x="502920" y="438912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25" name="Shape 23"/>
          <p:cNvSpPr/>
          <p:nvPr/>
        </p:nvSpPr>
        <p:spPr>
          <a:xfrm>
            <a:off x="749808" y="4521708"/>
            <a:ext cx="402336" cy="402336"/>
          </a:xfrm>
          <a:prstGeom prst="ellipse">
            <a:avLst/>
          </a:prstGeom>
          <a:solidFill>
            <a:srgbClr val="8FB573"/>
          </a:solidFill>
          <a:ln/>
        </p:spPr>
      </p:sp>
      <p:sp>
        <p:nvSpPr>
          <p:cNvPr id="26" name="Text 24"/>
          <p:cNvSpPr/>
          <p:nvPr/>
        </p:nvSpPr>
        <p:spPr>
          <a:xfrm>
            <a:off x="749808" y="452170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5</a:t>
            </a:r>
            <a:endParaRPr lang="en-US" sz="1500" dirty="0"/>
          </a:p>
        </p:txBody>
      </p:sp>
      <p:sp>
        <p:nvSpPr>
          <p:cNvPr id="27" name="Text 25"/>
          <p:cNvSpPr/>
          <p:nvPr/>
        </p:nvSpPr>
        <p:spPr>
          <a:xfrm>
            <a:off x="1316736" y="451713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Write harness.py and produce results/00-baseline.md</a:t>
            </a:r>
            <a:endParaRPr lang="en-US" sz="1300" dirty="0"/>
          </a:p>
        </p:txBody>
      </p:sp>
      <p:sp>
        <p:nvSpPr>
          <p:cNvPr id="28" name="Text 26"/>
          <p:cNvSpPr/>
          <p:nvPr/>
        </p:nvSpPr>
        <p:spPr>
          <a:xfrm>
            <a:off x="1316736" y="4809744"/>
            <a:ext cx="10058400" cy="1554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One command, one number, three seeds. Everything after this is 'better than that'.</a:t>
            </a:r>
            <a:endParaRPr lang="en-US" sz="1150" dirty="0"/>
          </a:p>
        </p:txBody>
      </p:sp>
      <p:sp>
        <p:nvSpPr>
          <p:cNvPr id="29" name="Shape 27"/>
          <p:cNvSpPr/>
          <p:nvPr/>
        </p:nvSpPr>
        <p:spPr>
          <a:xfrm>
            <a:off x="502920" y="5166360"/>
            <a:ext cx="11155680" cy="667512"/>
          </a:xfrm>
          <a:prstGeom prst="roundRect">
            <a:avLst>
              <a:gd name="adj" fmla="val 9589"/>
            </a:avLst>
          </a:prstGeom>
          <a:solidFill>
            <a:srgbClr val="FFFFFF"/>
          </a:solidFill>
          <a:ln w="12700">
            <a:solidFill>
              <a:srgbClr val="EFEAE0"/>
            </a:solidFill>
            <a:prstDash val="solid"/>
          </a:ln>
          <a:effectLst>
            <a:outerShdw sx="100000" sy="100000" kx="0" ky="0" algn="bl" rotWithShape="0" blurRad="50800" dist="12700" dir="5400000">
              <a:srgbClr val="000000">
                <a:alpha val="6000"/>
              </a:srgbClr>
            </a:outerShdw>
          </a:effectLst>
        </p:spPr>
      </p:sp>
      <p:sp>
        <p:nvSpPr>
          <p:cNvPr id="30" name="Shape 28"/>
          <p:cNvSpPr/>
          <p:nvPr/>
        </p:nvSpPr>
        <p:spPr>
          <a:xfrm>
            <a:off x="749808" y="5298948"/>
            <a:ext cx="402336" cy="402336"/>
          </a:xfrm>
          <a:prstGeom prst="ellipse">
            <a:avLst/>
          </a:prstGeom>
          <a:solidFill>
            <a:srgbClr val="8FB573"/>
          </a:solidFill>
          <a:ln/>
        </p:spPr>
      </p:sp>
      <p:sp>
        <p:nvSpPr>
          <p:cNvPr id="31" name="Text 29"/>
          <p:cNvSpPr/>
          <p:nvPr/>
        </p:nvSpPr>
        <p:spPr>
          <a:xfrm>
            <a:off x="749808" y="5298948"/>
            <a:ext cx="402336" cy="402336"/>
          </a:xfrm>
          <a:prstGeom prst="rect">
            <a:avLst/>
          </a:prstGeom>
          <a:noFill/>
          <a:ln/>
        </p:spPr>
        <p:txBody>
          <a:bodyPr wrap="square" lIns="0" tIns="0" rIns="0" bIns="0" rtlCol="0" anchor="ctr"/>
          <a:lstStyle/>
          <a:p>
            <a:pPr algn="ctr" indent="0" marL="0">
              <a:buNone/>
            </a:pPr>
            <a:r>
              <a:rPr lang="en-US" sz="1500" b="1" dirty="0">
                <a:solidFill>
                  <a:srgbClr val="14291F"/>
                </a:solidFill>
                <a:latin typeface="Cambria" pitchFamily="34" charset="0"/>
                <a:ea typeface="Cambria" pitchFamily="34" charset="-122"/>
                <a:cs typeface="Cambria" pitchFamily="34" charset="-120"/>
              </a:rPr>
              <a:t>6</a:t>
            </a:r>
            <a:endParaRPr lang="en-US" sz="1500" dirty="0"/>
          </a:p>
        </p:txBody>
      </p:sp>
      <p:sp>
        <p:nvSpPr>
          <p:cNvPr id="32" name="Text 30"/>
          <p:cNvSpPr/>
          <p:nvPr/>
        </p:nvSpPr>
        <p:spPr>
          <a:xfrm>
            <a:off x="1316736" y="5294376"/>
            <a:ext cx="10058400" cy="274320"/>
          </a:xfrm>
          <a:prstGeom prst="rect">
            <a:avLst/>
          </a:prstGeom>
          <a:noFill/>
          <a:ln/>
        </p:spPr>
        <p:txBody>
          <a:bodyPr wrap="square" lIns="0" tIns="0" rIns="0" bIns="0" rtlCol="0" anchor="ctr"/>
          <a:lstStyle/>
          <a:p>
            <a:pPr indent="0" marL="0">
              <a:buNone/>
            </a:pPr>
            <a:r>
              <a:rPr lang="en-US" sz="1300" b="1" dirty="0">
                <a:solidFill>
                  <a:srgbClr val="16211B"/>
                </a:solidFill>
                <a:latin typeface="Calibri" pitchFamily="34" charset="0"/>
                <a:ea typeface="Calibri" pitchFamily="34" charset="-122"/>
                <a:cs typeface="Calibri" pitchFamily="34" charset="-120"/>
              </a:rPr>
              <a:t>Only then download a training dataset</a:t>
            </a:r>
            <a:endParaRPr lang="en-US" sz="1300" dirty="0"/>
          </a:p>
        </p:txBody>
      </p:sp>
      <p:sp>
        <p:nvSpPr>
          <p:cNvPr id="33" name="Text 31"/>
          <p:cNvSpPr/>
          <p:nvPr/>
        </p:nvSpPr>
        <p:spPr>
          <a:xfrm>
            <a:off x="1316736" y="5586984"/>
            <a:ext cx="10058400" cy="155448"/>
          </a:xfrm>
          <a:prstGeom prst="rect">
            <a:avLst/>
          </a:prstGeom>
          <a:noFill/>
          <a:ln/>
        </p:spPr>
        <p:txBody>
          <a:bodyPr wrap="square" lIns="0" tIns="0" rIns="0" bIns="0" rtlCol="0" anchor="t"/>
          <a:lstStyle/>
          <a:p>
            <a:pPr indent="0" marL="0">
              <a:buNone/>
            </a:pPr>
            <a:r>
              <a:rPr lang="en-US" sz="1150" dirty="0">
                <a:solidFill>
                  <a:srgbClr val="6B7A70"/>
                </a:solidFill>
                <a:latin typeface="Calibri" pitchFamily="34" charset="0"/>
                <a:ea typeface="Calibri" pitchFamily="34" charset="-122"/>
                <a:cs typeface="Calibri" pitchFamily="34" charset="-120"/>
              </a:rPr>
              <a:t>In that order. The temptation is to start with the model — resist it. Everything you build before the model makes the model work.</a:t>
            </a:r>
            <a:endParaRPr lang="en-US" sz="1150" dirty="0"/>
          </a:p>
        </p:txBody>
      </p:sp>
      <p:sp>
        <p:nvSpPr>
          <p:cNvPr id="34" name="Shape 32"/>
          <p:cNvSpPr/>
          <p:nvPr/>
        </p:nvSpPr>
        <p:spPr>
          <a:xfrm>
            <a:off x="502920" y="5943600"/>
            <a:ext cx="11155680" cy="566928"/>
          </a:xfrm>
          <a:prstGeom prst="roundRect">
            <a:avLst>
              <a:gd name="adj" fmla="val 9677"/>
            </a:avLst>
          </a:prstGeom>
          <a:solidFill>
            <a:srgbClr val="8FB573"/>
          </a:solidFill>
          <a:ln/>
        </p:spPr>
      </p:sp>
      <p:sp>
        <p:nvSpPr>
          <p:cNvPr id="35" name="Text 33"/>
          <p:cNvSpPr/>
          <p:nvPr/>
        </p:nvSpPr>
        <p:spPr>
          <a:xfrm>
            <a:off x="777240" y="5943600"/>
            <a:ext cx="10607040" cy="566928"/>
          </a:xfrm>
          <a:prstGeom prst="rect">
            <a:avLst/>
          </a:prstGeom>
          <a:noFill/>
          <a:ln/>
        </p:spPr>
        <p:txBody>
          <a:bodyPr wrap="square" lIns="0" tIns="0" rIns="0" bIns="0" rtlCol="0" anchor="ctr"/>
          <a:lstStyle/>
          <a:p>
            <a:pPr indent="0" marL="0">
              <a:buNone/>
            </a:pPr>
            <a:r>
              <a:rPr lang="en-US" sz="1450" b="1" dirty="0">
                <a:solidFill>
                  <a:srgbClr val="14291F"/>
                </a:solidFill>
                <a:latin typeface="Cambria" pitchFamily="34" charset="0"/>
                <a:ea typeface="Cambria" pitchFamily="34" charset="-122"/>
                <a:cs typeface="Cambria" pitchFamily="34" charset="-120"/>
              </a:rPr>
              <a:t>Notice that nothing on this list trains a model. That is the point.</a:t>
            </a:r>
            <a:endParaRPr lang="en-US" sz="1450" dirty="0"/>
          </a:p>
        </p:txBody>
      </p:sp>
      <p:sp>
        <p:nvSpPr>
          <p:cNvPr id="36" name="Text 34"/>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189</a:t>
            </a:r>
            <a:endParaRPr lang="en-US" sz="95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EFEAE0"/>
        </a:solidFill>
      </p:bgPr>
    </p:bg>
    <p:spTree>
      <p:nvGrpSpPr>
        <p:cNvPr id="1" name=""/>
        <p:cNvGrpSpPr/>
        <p:nvPr/>
      </p:nvGrpSpPr>
      <p:grpSpPr>
        <a:xfrm>
          <a:off x="0" y="0"/>
          <a:ext cx="0" cy="0"/>
          <a:chOff x="0" y="0"/>
          <a:chExt cx="0" cy="0"/>
        </a:xfrm>
      </p:grpSpPr>
      <p:sp>
        <p:nvSpPr>
          <p:cNvPr id="2" name="Text 0"/>
          <p:cNvSpPr/>
          <p:nvPr/>
        </p:nvSpPr>
        <p:spPr>
          <a:xfrm>
            <a:off x="502920" y="292608"/>
            <a:ext cx="11155680" cy="237744"/>
          </a:xfrm>
          <a:prstGeom prst="rect">
            <a:avLst/>
          </a:prstGeom>
          <a:noFill/>
          <a:ln/>
        </p:spPr>
        <p:txBody>
          <a:bodyPr wrap="square" lIns="0" tIns="0" rIns="0" bIns="0" rtlCol="0" anchor="ctr"/>
          <a:lstStyle/>
          <a:p>
            <a:pPr indent="0" marL="0">
              <a:buNone/>
            </a:pPr>
            <a:r>
              <a:rPr lang="en-US" sz="1050" b="1" spc="220" kern="0" dirty="0">
                <a:solidFill>
                  <a:srgbClr val="8FB573"/>
                </a:solidFill>
                <a:latin typeface="Calibri" pitchFamily="34" charset="0"/>
                <a:ea typeface="Calibri" pitchFamily="34" charset="-122"/>
                <a:cs typeface="Calibri" pitchFamily="34" charset="-120"/>
              </a:rPr>
              <a:t>SYNTHESIS</a:t>
            </a:r>
            <a:endParaRPr lang="en-US" sz="1050" dirty="0"/>
          </a:p>
        </p:txBody>
      </p:sp>
      <p:sp>
        <p:nvSpPr>
          <p:cNvPr id="3" name="Text 1"/>
          <p:cNvSpPr/>
          <p:nvPr/>
        </p:nvSpPr>
        <p:spPr>
          <a:xfrm>
            <a:off x="502920" y="548640"/>
            <a:ext cx="11155680" cy="512064"/>
          </a:xfrm>
          <a:prstGeom prst="rect">
            <a:avLst/>
          </a:prstGeom>
          <a:noFill/>
          <a:ln/>
        </p:spPr>
        <p:txBody>
          <a:bodyPr wrap="square" lIns="0" tIns="0" rIns="0" bIns="0" rtlCol="0" anchor="ctr"/>
          <a:lstStyle/>
          <a:p>
            <a:pPr indent="0" marL="0">
              <a:buNone/>
            </a:pPr>
            <a:r>
              <a:rPr lang="en-US" sz="2900" b="1" dirty="0">
                <a:solidFill>
                  <a:srgbClr val="16211B"/>
                </a:solidFill>
                <a:latin typeface="Cambria" pitchFamily="34" charset="0"/>
                <a:ea typeface="Cambria" pitchFamily="34" charset="-122"/>
                <a:cs typeface="Cambria" pitchFamily="34" charset="-120"/>
              </a:rPr>
              <a:t>Further reading, ranked by usefulness to you</a:t>
            </a:r>
            <a:endParaRPr lang="en-US" sz="2900" dirty="0"/>
          </a:p>
        </p:txBody>
      </p:sp>
      <p:graphicFrame>
        <p:nvGraphicFramePr>
          <p:cNvPr id="19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55680" cy="914400"/>
        </p:xfrm>
        <a:graphic>
          <a:graphicData uri="http://schemas.openxmlformats.org/drawingml/2006/table">
            <a:tbl>
              <a:tblPr/>
              <a:tblGrid>
                <a:gridCol w="2103120"/>
                <a:gridCol w="4572000"/>
                <a:gridCol w="4480560"/>
              </a:tblGrid>
              <a:tr h="34290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Priority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What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Why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1F3D2E"/>
                    </a:solidFill>
                  </a:tcPr>
                </a:tc>
              </a:tr>
              <a:tr h="34290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Read first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TRL documentation — SFTTrainer, DPOTrainer, GRPOTrainer</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You will use these daily. The docs are better than most tutorials.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Read first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QLoRA paper (Dettmers et al.)</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NF4, double quantization, paged optimizers. Directly explains why your 4GB card works.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Read first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Unsloth documentation and notebooks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Practical, current, and tuned for exactly your constraints.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Read early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DPO paper (Rafailov et al.)</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The derivation is worth understanding once. Read it AFTER running DPO, not before.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Read early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DeepSeekMath (GRPO) and DeepSeek-R1</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GRPO's origin and the clearest demonstration of RLVR at scale.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Read early</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EvalPlus paper</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Why weak tests inflate scores. Changes how you think about verification.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Read when relevant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LoRA paper (Hu et al.)</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The original. Short, readable, and the intuition still holds.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Read when relevant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Magicoder / OSS-Instruct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The synthetic data recipe you will actually use.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Read when relevant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TIES / DARE merging papers</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Short. Read them the day you start Phase 11.</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Read when relevant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STaR (self-taught reasoner)</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The formal framing of the RFT loop you built in Phase 7.</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Skip for now</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PPO / InstructGPT</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Historically essential, practically superseded. Understand the shape, skip the implementation.</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r h="342900">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Skip for now</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Anything about training at scale</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c>
                  <a:txBody>
                    <a:bodyPr/>
                    <a:lstStyle/>
                    <a:p>
                      <a:pPr indent="0" marL="0">
                        <a:buNone/>
                      </a:pPr>
                      <a:r>
                        <a:rPr lang="en-US" sz="1000" dirty="0">
                          <a:solidFill>
                            <a:srgbClr val="16211B"/>
                          </a:solidFill>
                          <a:latin typeface="Calibri" pitchFamily="34" charset="0"/>
                          <a:ea typeface="Calibri" pitchFamily="34" charset="-122"/>
                          <a:cs typeface="Calibri" pitchFamily="34" charset="-120"/>
                        </a:rPr>
                        <a:t>Different discipline. Nothing transfers to a single 4GB card.</a:t>
                      </a:r>
                      <a:endParaRPr lang="en-US" sz="1000" dirty="0">
                        <a:latin typeface="Calibri" charset="0"/>
                        <a:ea typeface="Calibri" charset="0"/>
                        <a:cs typeface="Calibri" charset="0"/>
                      </a:endParaRPr>
                    </a:p>
                  </a:txBody>
                  <a:tcPr marL="91440" marR="91440" marT="45720" marB="45720" anchor="ctr">
                    <a:lnL w="12700" cap="flat" cmpd="sng" algn="ctr">
                      <a:solidFill>
                        <a:srgbClr val="EFEAE0"/>
                      </a:solidFill>
                      <a:prstDash val="solid"/>
                      <a:round/>
                      <a:headEnd type="none" w="med" len="med"/>
                      <a:tailEnd type="none" w="med" len="med"/>
                    </a:lnL>
                    <a:lnR w="12700" cap="flat" cmpd="sng" algn="ctr">
                      <a:solidFill>
                        <a:srgbClr val="EFEAE0"/>
                      </a:solidFill>
                      <a:prstDash val="solid"/>
                      <a:round/>
                      <a:headEnd type="none" w="med" len="med"/>
                      <a:tailEnd type="none" w="med" len="med"/>
                    </a:lnR>
                    <a:lnT w="12700" cap="flat" cmpd="sng" algn="ctr">
                      <a:solidFill>
                        <a:srgbClr val="EFEAE0"/>
                      </a:solidFill>
                      <a:prstDash val="solid"/>
                      <a:round/>
                      <a:headEnd type="none" w="med" len="med"/>
                      <a:tailEnd type="none" w="med" len="med"/>
                    </a:lnT>
                    <a:lnB w="12700" cap="flat" cmpd="sng" algn="ctr">
                      <a:solidFill>
                        <a:srgbClr val="EFEAE0"/>
                      </a:solidFill>
                      <a:prstDash val="solid"/>
                      <a:round/>
                      <a:headEnd type="none" w="med" len="med"/>
                      <a:tailEnd type="none" w="med" len="med"/>
                    </a:lnB>
                    <a:solidFill>
                      <a:srgbClr val="FFFFFF"/>
                    </a:solidFill>
                  </a:tcPr>
                </a:tc>
              </a:tr>
            </a:tbl>
          </a:graphicData>
        </a:graphic>
      </p:graphicFrame>
      <p:sp>
        <p:nvSpPr>
          <p:cNvPr id="5" name="Shape 2"/>
          <p:cNvSpPr/>
          <p:nvPr/>
        </p:nvSpPr>
        <p:spPr>
          <a:xfrm>
            <a:off x="502920" y="5486400"/>
            <a:ext cx="11155680" cy="868680"/>
          </a:xfrm>
          <a:prstGeom prst="roundRect">
            <a:avLst>
              <a:gd name="adj" fmla="val 7368"/>
            </a:avLst>
          </a:prstGeom>
          <a:solidFill>
            <a:srgbClr val="1F3D2E"/>
          </a:solidFill>
          <a:ln/>
        </p:spPr>
      </p:sp>
      <p:sp>
        <p:nvSpPr>
          <p:cNvPr id="6" name="Shape 3"/>
          <p:cNvSpPr/>
          <p:nvPr/>
        </p:nvSpPr>
        <p:spPr>
          <a:xfrm>
            <a:off x="740664" y="5669280"/>
            <a:ext cx="292608" cy="292608"/>
          </a:xfrm>
          <a:prstGeom prst="ellipse">
            <a:avLst/>
          </a:prstGeom>
          <a:solidFill>
            <a:srgbClr val="1F3D2E"/>
          </a:solidFill>
          <a:ln/>
        </p:spPr>
      </p:sp>
      <p:sp>
        <p:nvSpPr>
          <p:cNvPr id="7" name="Text 4"/>
          <p:cNvSpPr/>
          <p:nvPr/>
        </p:nvSpPr>
        <p:spPr>
          <a:xfrm>
            <a:off x="740664" y="5669280"/>
            <a:ext cx="292608" cy="292608"/>
          </a:xfrm>
          <a:prstGeom prst="rect">
            <a:avLst/>
          </a:prstGeom>
          <a:noFill/>
          <a:ln/>
        </p:spPr>
        <p:txBody>
          <a:bodyPr wrap="square" lIns="0" tIns="0" rIns="0" bIns="0" rtlCol="0" anchor="ctr"/>
          <a:lstStyle/>
          <a:p>
            <a:pPr algn="ctr" indent="0" marL="0">
              <a:buNone/>
            </a:pPr>
            <a:r>
              <a:rPr lang="en-US" sz="1500" b="1" dirty="0">
                <a:solidFill>
                  <a:srgbClr val="C9DDB4"/>
                </a:solidFill>
                <a:latin typeface="Calibri" pitchFamily="34" charset="0"/>
                <a:ea typeface="Calibri" pitchFamily="34" charset="-122"/>
                <a:cs typeface="Calibri" pitchFamily="34" charset="-120"/>
              </a:rPr>
              <a:t>i</a:t>
            </a:r>
            <a:endParaRPr lang="en-US" sz="1500" dirty="0"/>
          </a:p>
        </p:txBody>
      </p:sp>
      <p:sp>
        <p:nvSpPr>
          <p:cNvPr id="8" name="Text 5"/>
          <p:cNvSpPr/>
          <p:nvPr/>
        </p:nvSpPr>
        <p:spPr>
          <a:xfrm>
            <a:off x="1133856" y="5687568"/>
            <a:ext cx="3840480" cy="256032"/>
          </a:xfrm>
          <a:prstGeom prst="rect">
            <a:avLst/>
          </a:prstGeom>
          <a:noFill/>
          <a:ln/>
        </p:spPr>
        <p:txBody>
          <a:bodyPr wrap="square" lIns="0" tIns="0" rIns="0" bIns="0" rtlCol="0" anchor="ctr"/>
          <a:lstStyle/>
          <a:p>
            <a:pPr indent="0" marL="0">
              <a:buNone/>
            </a:pPr>
            <a:r>
              <a:rPr lang="en-US" sz="1100" b="1" spc="140" kern="0" dirty="0">
                <a:solidFill>
                  <a:srgbClr val="16211B"/>
                </a:solidFill>
                <a:latin typeface="Calibri" pitchFamily="34" charset="0"/>
                <a:ea typeface="Calibri" pitchFamily="34" charset="-122"/>
                <a:cs typeface="Calibri" pitchFamily="34" charset="-120"/>
              </a:rPr>
              <a:t>FIELD NOTE</a:t>
            </a:r>
            <a:endParaRPr lang="en-US" sz="1100" dirty="0"/>
          </a:p>
        </p:txBody>
      </p:sp>
      <p:sp>
        <p:nvSpPr>
          <p:cNvPr id="9" name="Text 6"/>
          <p:cNvSpPr/>
          <p:nvPr/>
        </p:nvSpPr>
        <p:spPr>
          <a:xfrm>
            <a:off x="740664" y="6062472"/>
            <a:ext cx="10680192" cy="118872"/>
          </a:xfrm>
          <a:prstGeom prst="rect">
            <a:avLst/>
          </a:prstGeom>
          <a:noFill/>
          <a:ln/>
        </p:spPr>
        <p:txBody>
          <a:bodyPr wrap="square" lIns="0" tIns="0" rIns="0" bIns="0" rtlCol="0" anchor="t"/>
          <a:lstStyle/>
          <a:p>
            <a:pPr indent="0" marL="0">
              <a:buNone/>
            </a:pPr>
            <a:r>
              <a:rPr lang="en-US" sz="1150" i="1" dirty="0">
                <a:solidFill>
                  <a:srgbClr val="C9DDB4"/>
                </a:solidFill>
                <a:latin typeface="Calibri" pitchFamily="34" charset="0"/>
                <a:ea typeface="Calibri" pitchFamily="34" charset="-122"/>
                <a:cs typeface="Calibri" pitchFamily="34" charset="-120"/>
              </a:rPr>
              <a:t>The ordering matters more than the list. Papers read before you have the corresponding problem are entertainment; the same paper read the day you hit the problem is a solution.</a:t>
            </a:r>
            <a:endParaRPr lang="en-US" sz="1150" dirty="0"/>
          </a:p>
        </p:txBody>
      </p:sp>
      <p:sp>
        <p:nvSpPr>
          <p:cNvPr id="10" name="Text 7"/>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190</a:t>
            </a:r>
            <a:endParaRPr lang="en-US" sz="9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14291F"/>
        </a:solidFill>
      </p:bgPr>
    </p:bg>
    <p:spTree>
      <p:nvGrpSpPr>
        <p:cNvPr id="1" name=""/>
        <p:cNvGrpSpPr/>
        <p:nvPr/>
      </p:nvGrpSpPr>
      <p:grpSpPr>
        <a:xfrm>
          <a:off x="0" y="0"/>
          <a:ext cx="0" cy="0"/>
          <a:chOff x="0" y="0"/>
          <a:chExt cx="0" cy="0"/>
        </a:xfrm>
      </p:grpSpPr>
      <p:sp>
        <p:nvSpPr>
          <p:cNvPr id="2" name="Text 0"/>
          <p:cNvSpPr/>
          <p:nvPr/>
        </p:nvSpPr>
        <p:spPr>
          <a:xfrm>
            <a:off x="777240" y="1965960"/>
            <a:ext cx="1060704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map is not the jungle.</a:t>
            </a:r>
            <a:endParaRPr lang="en-US" sz="3800" dirty="0"/>
          </a:p>
        </p:txBody>
      </p:sp>
      <p:sp>
        <p:nvSpPr>
          <p:cNvPr id="3" name="Text 1"/>
          <p:cNvSpPr/>
          <p:nvPr/>
        </p:nvSpPr>
        <p:spPr>
          <a:xfrm>
            <a:off x="777240" y="2834640"/>
            <a:ext cx="9875520" cy="1188720"/>
          </a:xfrm>
          <a:prstGeom prst="rect">
            <a:avLst/>
          </a:prstGeom>
          <a:noFill/>
          <a:ln/>
        </p:spPr>
        <p:txBody>
          <a:bodyPr wrap="square" lIns="0" tIns="0" rIns="0" bIns="0" rtlCol="0" anchor="t"/>
          <a:lstStyle/>
          <a:p>
            <a:pPr indent="0" marL="0">
              <a:buNone/>
            </a:pPr>
            <a:r>
              <a:rPr lang="en-US" sz="1500" i="1" dirty="0">
                <a:solidFill>
                  <a:srgbClr val="C9DDB4"/>
                </a:solidFill>
                <a:latin typeface="Calibri" pitchFamily="34" charset="0"/>
                <a:ea typeface="Calibri" pitchFamily="34" charset="-122"/>
                <a:cs typeface="Calibri" pitchFamily="34" charset="-120"/>
              </a:rPr>
              <a:t>Everything in this guide was learned by doing it badly first. The traps are marked because I walked into them, and the field notes are the only part that took real time to earn. Your numbers will differ from mine — overwrite them as you go, and the deck becomes your lab notebook rather than my travelogue.</a:t>
            </a:r>
            <a:endParaRPr lang="en-US" sz="1500" dirty="0"/>
          </a:p>
        </p:txBody>
      </p:sp>
      <p:sp>
        <p:nvSpPr>
          <p:cNvPr id="4" name="Shape 2"/>
          <p:cNvSpPr/>
          <p:nvPr/>
        </p:nvSpPr>
        <p:spPr>
          <a:xfrm>
            <a:off x="777240" y="4297680"/>
            <a:ext cx="10058400" cy="1188720"/>
          </a:xfrm>
          <a:prstGeom prst="roundRect">
            <a:avLst>
              <a:gd name="adj" fmla="val 5385"/>
            </a:avLst>
          </a:prstGeom>
          <a:solidFill>
            <a:srgbClr val="1F3D2E"/>
          </a:solidFill>
          <a:ln/>
        </p:spPr>
      </p:sp>
      <p:sp>
        <p:nvSpPr>
          <p:cNvPr id="5" name="Text 3"/>
          <p:cNvSpPr/>
          <p:nvPr/>
        </p:nvSpPr>
        <p:spPr>
          <a:xfrm>
            <a:off x="1097280" y="4462272"/>
            <a:ext cx="9418320" cy="256032"/>
          </a:xfrm>
          <a:prstGeom prst="rect">
            <a:avLst/>
          </a:prstGeom>
          <a:noFill/>
          <a:ln/>
        </p:spPr>
        <p:txBody>
          <a:bodyPr wrap="square" lIns="0" tIns="0" rIns="0" bIns="0" rtlCol="0" anchor="ctr"/>
          <a:lstStyle/>
          <a:p>
            <a:pPr indent="0" marL="0">
              <a:buNone/>
            </a:pPr>
            <a:r>
              <a:rPr lang="en-US" sz="1050" b="1" spc="250" kern="0" dirty="0">
                <a:solidFill>
                  <a:srgbClr val="8FB573"/>
                </a:solidFill>
                <a:latin typeface="Calibri" pitchFamily="34" charset="0"/>
                <a:ea typeface="Calibri" pitchFamily="34" charset="-122"/>
                <a:cs typeface="Calibri" pitchFamily="34" charset="-120"/>
              </a:rPr>
              <a:t>START HERE</a:t>
            </a:r>
            <a:endParaRPr lang="en-US" sz="1050" dirty="0"/>
          </a:p>
        </p:txBody>
      </p:sp>
      <p:sp>
        <p:nvSpPr>
          <p:cNvPr id="6" name="Text 4"/>
          <p:cNvSpPr/>
          <p:nvPr/>
        </p:nvSpPr>
        <p:spPr>
          <a:xfrm>
            <a:off x="1097280" y="4736592"/>
            <a:ext cx="9418320" cy="640080"/>
          </a:xfrm>
          <a:prstGeom prst="rect">
            <a:avLst/>
          </a:prstGeom>
          <a:noFill/>
          <a:ln/>
        </p:spPr>
        <p:txBody>
          <a:bodyPr wrap="square" lIns="0" tIns="0" rIns="0" bIns="0" rtlCol="0" anchor="t"/>
          <a:lstStyle/>
          <a:p>
            <a:pPr indent="0" marL="0">
              <a:buNone/>
            </a:pPr>
            <a:r>
              <a:rPr lang="en-US" sz="1400" b="1" dirty="0">
                <a:solidFill>
                  <a:srgbClr val="C9DDB4"/>
                </a:solidFill>
                <a:latin typeface="Calibri" pitchFamily="34" charset="0"/>
                <a:ea typeface="Calibri" pitchFamily="34" charset="-122"/>
                <a:cs typeface="Calibri" pitchFamily="34" charset="-120"/>
              </a:rPr>
              <a:t>Build the sandbox. Build the eval harness. Benchmark Qwen2.5-Coder-0.5B.</a:t>
            </a:r>
            <a:endParaRPr lang="en-US" sz="1400" dirty="0"/>
          </a:p>
          <a:p>
            <a:pPr indent="0" marL="0">
              <a:buNone/>
            </a:pPr>
            <a:r>
              <a:rPr lang="en-US" sz="1400" b="1" dirty="0">
                <a:solidFill>
                  <a:srgbClr val="C9DDB4"/>
                </a:solidFill>
                <a:latin typeface="Calibri" pitchFamily="34" charset="0"/>
                <a:ea typeface="Calibri" pitchFamily="34" charset="-122"/>
                <a:cs typeface="Calibri" pitchFamily="34" charset="-120"/>
              </a:rPr>
              <a:t>Everything after that has a number to beat.</a:t>
            </a:r>
            <a:endParaRPr lang="en-US" sz="1400" dirty="0"/>
          </a:p>
        </p:txBody>
      </p:sp>
      <p:sp>
        <p:nvSpPr>
          <p:cNvPr id="8" name="Text 5"/>
          <p:cNvSpPr/>
          <p:nvPr/>
        </p:nvSpPr>
        <p:spPr>
          <a:xfrm>
            <a:off x="11356848" y="6345936"/>
            <a:ext cx="457200" cy="274320"/>
          </a:xfrm>
          <a:prstGeom prst="rect">
            <a:avLst/>
          </a:prstGeom>
          <a:noFill/>
          <a:ln/>
        </p:spPr>
        <p:txBody>
          <a:bodyPr wrap="square" lIns="0" tIns="0" rIns="0" bIns="0" rtlCol="0" anchor="ctr"/>
          <a:lstStyle/>
          <a:p>
            <a:pPr algn="r" indent="0" marL="0">
              <a:buNone/>
            </a:pPr>
            <a:r>
              <a:rPr lang="en-US" sz="950" dirty="0">
                <a:solidFill>
                  <a:srgbClr val="6B7A70"/>
                </a:solidFill>
                <a:latin typeface="Calibri" pitchFamily="34" charset="0"/>
                <a:ea typeface="Calibri" pitchFamily="34" charset="-122"/>
                <a:cs typeface="Calibri" pitchFamily="34" charset="-120"/>
              </a:rPr>
              <a:t>191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191</Slides>
  <Notes>191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191</vt:i4>
      </vt:variant>
    </vt:vector>
  </HeadingPairs>
  <TitlesOfParts>
    <vt:vector size="19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vector>
  </TitlesOfParts>
  <Company>Field Guide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Field Guide to Post-Training a Code Model</dc:title>
  <dc:subject>PptxGenJS Presentation</dc:subject>
  <dc:creator>ULTRON</dc:creator>
  <cp:lastModifiedBy>ULTRON</cp:lastModifiedBy>
  <cp:revision>1</cp:revision>
  <dcterms:created xsi:type="dcterms:W3CDTF">2026-09-14T06:48:54Z</dcterms:created>
  <dcterms:modified xsi:type="dcterms:W3CDTF">2026-09-14T06:48:54Z</dcterms:modified>
</cp:coreProperties>
</file>